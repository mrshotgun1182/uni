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7" y="5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15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8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8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5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6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5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2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99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4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6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3935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50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1861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80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6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59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3B568-9BA2-4EAE-B4D0-C42268165AC0}" type="datetimeFigureOut">
              <a:rPr lang="en-US" smtClean="0"/>
              <a:t>5/12/2024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A4F525-BBE9-45B1-816A-F50C7736D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7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191000" y="3200400"/>
            <a:ext cx="8001000" cy="1216025"/>
          </a:xfrm>
        </p:spPr>
        <p:txBody>
          <a:bodyPr/>
          <a:lstStyle/>
          <a:p>
            <a:r>
              <a:rPr lang="fa-IR" altLang="en-US" sz="3400"/>
              <a:t>                            </a:t>
            </a:r>
            <a:endParaRPr lang="en-US" altLang="en-US" sz="3400"/>
          </a:p>
        </p:txBody>
      </p:sp>
      <p:sp>
        <p:nvSpPr>
          <p:cNvPr id="26634" name="WordArt 10" descr="White marble"/>
          <p:cNvSpPr>
            <a:spLocks noChangeArrowheads="1" noChangeShapeType="1" noTextEdit="1"/>
          </p:cNvSpPr>
          <p:nvPr/>
        </p:nvSpPr>
        <p:spPr bwMode="auto">
          <a:xfrm>
            <a:off x="7848601" y="228600"/>
            <a:ext cx="2105025" cy="685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  <a:contourClr>
                <a:srgbClr val="FFCC99"/>
              </a:contourClr>
            </a:sp3d>
          </a:bodyPr>
          <a:lstStyle/>
          <a:p>
            <a:pPr algn="ctr"/>
            <a:r>
              <a:rPr lang="fa-IR" sz="7200" b="1" kern="10" dirty="0" smtClean="0">
                <a:ln w="9525">
                  <a:round/>
                  <a:headEnd/>
                  <a:tailE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latin typeface="Arial" panose="020B0604020202020204" pitchFamily="34" charset="0"/>
              </a:rPr>
              <a:t>فصل 5</a:t>
            </a:r>
            <a:endParaRPr lang="en-US" sz="7200" b="1" kern="10" dirty="0">
              <a:ln w="9525">
                <a:round/>
                <a:headEnd/>
                <a:tailEnd/>
              </a:ln>
              <a:blipFill dpi="0" rotWithShape="0">
                <a:blip r:embed="rId2"/>
                <a:srcRect/>
                <a:tile tx="0" ty="0" sx="100000" sy="100000" flip="none" algn="tl"/>
              </a:blipFill>
              <a:latin typeface="Arial" panose="020B0604020202020204" pitchFamily="34" charset="0"/>
            </a:endParaRPr>
          </a:p>
        </p:txBody>
      </p:sp>
      <p:sp>
        <p:nvSpPr>
          <p:cNvPr id="26635" name="WordArt 11"/>
          <p:cNvSpPr>
            <a:spLocks noChangeArrowheads="1" noChangeShapeType="1" noTextEdit="1"/>
          </p:cNvSpPr>
          <p:nvPr/>
        </p:nvSpPr>
        <p:spPr bwMode="auto">
          <a:xfrm>
            <a:off x="1963947" y="2553419"/>
            <a:ext cx="7696200" cy="118325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  <a:cs typeface="+mj-cs"/>
              </a:rPr>
              <a:t>طراحی نرم افزار بی درنگ                 </a:t>
            </a:r>
            <a:endParaRPr lang="en-US" sz="4800" kern="10" dirty="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3736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80" name="Rectangle 4"/>
          <p:cNvSpPr>
            <a:spLocks noChangeArrowheads="1"/>
          </p:cNvSpPr>
          <p:nvPr/>
        </p:nvSpPr>
        <p:spPr bwMode="auto">
          <a:xfrm>
            <a:off x="707365" y="700178"/>
            <a:ext cx="10403457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966788" indent="-4953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347788" indent="-4381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93863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93913" indent="-398463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51113" indent="-398463" algn="r" rtl="1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3008313" indent="-398463" algn="r" rtl="1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65513" indent="-398463" algn="r" rtl="1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922713" indent="-398463" algn="r" rtl="1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6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:</a:t>
            </a:r>
            <a:r>
              <a:rPr lang="fa-IR" altLang="en-US" sz="36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اهداف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كلي</a:t>
            </a:r>
            <a:endParaRPr lang="fa-IR" altLang="en-US" sz="4800" dirty="0">
              <a:solidFill>
                <a:schemeClr val="tx2"/>
              </a:solidFill>
              <a:latin typeface="Arial" panose="020B0604020202020204" pitchFamily="34" charset="0"/>
              <a:cs typeface="Badr" panose="00000400000000000000" pitchFamily="2" charset="-78"/>
            </a:endParaRPr>
          </a:p>
          <a:p>
            <a:pPr algn="l" rt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معرفی </a:t>
            </a: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تکنیکهای طراحی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سیستمهای</a:t>
            </a:r>
            <a:r>
              <a:rPr lang="en-US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 </a:t>
            </a: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بی درنگ وتوصیف چندمعماری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کلی</a:t>
            </a:r>
            <a:r>
              <a:rPr lang="en-US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این سیستمها.</a:t>
            </a:r>
          </a:p>
        </p:txBody>
      </p:sp>
    </p:spTree>
    <p:extLst>
      <p:ext uri="{BB962C8B-B14F-4D97-AF65-F5344CB8AC3E}">
        <p14:creationId xmlns:p14="http://schemas.microsoft.com/office/powerpoint/2010/main" val="275557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381000"/>
            <a:ext cx="11076318" cy="5105400"/>
          </a:xfrm>
        </p:spPr>
        <p:txBody>
          <a:bodyPr>
            <a:normAutofit/>
          </a:bodyPr>
          <a:lstStyle/>
          <a:p>
            <a:pPr marL="571500" indent="-571500" algn="r" rtl="1">
              <a:buNone/>
            </a:pPr>
            <a:endParaRPr lang="fa-IR" altLang="en-US" sz="3600" dirty="0">
              <a:solidFill>
                <a:schemeClr val="tx2"/>
              </a:solidFill>
              <a:cs typeface="Badr" panose="00000400000000000000" pitchFamily="2" charset="-78"/>
            </a:endParaRPr>
          </a:p>
          <a:p>
            <a:pPr marL="571500" indent="-571500" algn="r" rtl="1">
              <a:buFont typeface="Wingdings" panose="05000000000000000000" pitchFamily="2" charset="2"/>
              <a:buChar char="Ø"/>
            </a:pPr>
            <a:endParaRPr lang="fa-IR" altLang="en-US" sz="3600" dirty="0">
              <a:solidFill>
                <a:schemeClr val="tx2"/>
              </a:solidFill>
              <a:latin typeface="Arial" panose="020B0604020202020204" pitchFamily="34" charset="0"/>
              <a:cs typeface="Badr" panose="00000400000000000000" pitchFamily="2" charset="-78"/>
            </a:endParaRPr>
          </a:p>
          <a:p>
            <a:pPr marL="571500" indent="-571500" algn="r" rtl="1">
              <a:buFont typeface="Wingdings" panose="05000000000000000000" pitchFamily="2" charset="2"/>
              <a:buChar char="Ø"/>
            </a:pP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درک مفهوم سیستم بی درنگ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و</a:t>
            </a:r>
            <a:r>
              <a:rPr lang="en-US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پی </a:t>
            </a: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بردن به علت پیاده سازی آن.  </a:t>
            </a:r>
          </a:p>
          <a:p>
            <a:pPr marL="571500" indent="-571500" algn="r" rtl="1">
              <a:buFont typeface="Wingdings" panose="05000000000000000000" pitchFamily="2" charset="2"/>
              <a:buChar char="Ø"/>
            </a:pP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آشنایی بافرآیندطراحی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سیستمهای</a:t>
            </a:r>
            <a:r>
              <a:rPr lang="en-US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بی </a:t>
            </a: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درنگ.</a:t>
            </a:r>
          </a:p>
          <a:p>
            <a:pPr marL="571500" indent="-571500" algn="r" rtl="1"/>
            <a:endParaRPr lang="en-US" altLang="en-US" sz="3600" dirty="0">
              <a:cs typeface="Badr" panose="00000400000000000000" pitchFamily="2" charset="-78"/>
            </a:endParaRPr>
          </a:p>
        </p:txBody>
      </p:sp>
      <p:sp>
        <p:nvSpPr>
          <p:cNvPr id="721924" name="WordArt 4"/>
          <p:cNvSpPr>
            <a:spLocks noChangeArrowheads="1" noChangeShapeType="1" noTextEdit="1"/>
          </p:cNvSpPr>
          <p:nvPr/>
        </p:nvSpPr>
        <p:spPr bwMode="auto">
          <a:xfrm>
            <a:off x="3276601" y="762001"/>
            <a:ext cx="7191375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دراین فصل مفاهیم زیر درک می شود:</a:t>
            </a:r>
            <a:endParaRPr lang="en-US" sz="48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2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943154" y="1886310"/>
            <a:ext cx="11271849" cy="3810000"/>
          </a:xfrm>
        </p:spPr>
        <p:txBody>
          <a:bodyPr>
            <a:normAutofit/>
          </a:bodyPr>
          <a:lstStyle/>
          <a:p>
            <a:pPr algn="r" rtl="1">
              <a:buFont typeface="Wingdings" panose="05000000000000000000" pitchFamily="2" charset="2"/>
              <a:buChar char="Ø"/>
            </a:pP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درک نقش سیستم عامل بی درنگ.</a:t>
            </a:r>
          </a:p>
          <a:p>
            <a:pPr algn="r" rtl="1">
              <a:buFont typeface="Wingdings" panose="05000000000000000000" pitchFamily="2" charset="2"/>
              <a:buChar char="Ø"/>
            </a:pP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درک معماریهای متداول برای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سیستم</a:t>
            </a:r>
            <a:r>
              <a:rPr lang="en-US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های </a:t>
            </a:r>
            <a:r>
              <a:rPr lang="fa-IR" altLang="en-US" sz="4800" dirty="0">
                <a:solidFill>
                  <a:schemeClr val="tx2"/>
                </a:solidFill>
                <a:latin typeface="Arial" panose="020B0604020202020204" pitchFamily="34" charset="0"/>
                <a:cs typeface="Badr" panose="00000400000000000000" pitchFamily="2" charset="-78"/>
              </a:rPr>
              <a:t>کنترل نظارت و سیستمهای جمع  آوری داده ها.</a:t>
            </a:r>
          </a:p>
          <a:p>
            <a:pPr algn="r" rtl="1">
              <a:buFont typeface="Wingdings" panose="05000000000000000000" pitchFamily="2" charset="2"/>
              <a:buNone/>
            </a:pPr>
            <a:endParaRPr lang="en-US" altLang="en-US" sz="4800" dirty="0">
              <a:solidFill>
                <a:schemeClr val="tx2"/>
              </a:solidFill>
              <a:latin typeface="Arial" panose="020B0604020202020204" pitchFamily="34" charset="0"/>
              <a:cs typeface="Badr" panose="00000400000000000000" pitchFamily="2" charset="-78"/>
            </a:endParaRPr>
          </a:p>
          <a:p>
            <a:pPr algn="r" rtl="1"/>
            <a:endParaRPr lang="en-US" altLang="en-US" sz="4800" dirty="0">
              <a:cs typeface="Bad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10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52600"/>
            <a:ext cx="11116574" cy="5105400"/>
          </a:xfrm>
        </p:spPr>
        <p:txBody>
          <a:bodyPr>
            <a:normAutofit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latin typeface="Arial" panose="020B0604020202020204" pitchFamily="34" charset="0"/>
                <a:cs typeface="Badr" panose="00000400000000000000" pitchFamily="2" charset="-78"/>
              </a:rPr>
              <a:t>سیستم بی درنگ یک سیستم نرم </a:t>
            </a:r>
            <a:r>
              <a:rPr lang="fa-IR" altLang="en-US" sz="4800" dirty="0" smtClean="0">
                <a:latin typeface="Arial" panose="020B0604020202020204" pitchFamily="34" charset="0"/>
                <a:cs typeface="Badr" panose="00000400000000000000" pitchFamily="2" charset="-78"/>
              </a:rPr>
              <a:t>افزاری</a:t>
            </a:r>
            <a:r>
              <a:rPr lang="en-US" altLang="en-US" sz="4800" dirty="0" smtClean="0"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latin typeface="Arial" panose="020B0604020202020204" pitchFamily="34" charset="0"/>
                <a:cs typeface="Badr" panose="00000400000000000000" pitchFamily="2" charset="-78"/>
              </a:rPr>
              <a:t>است </a:t>
            </a:r>
            <a:r>
              <a:rPr lang="fa-IR" altLang="en-US" sz="4800" dirty="0">
                <a:latin typeface="Arial" panose="020B0604020202020204" pitchFamily="34" charset="0"/>
                <a:cs typeface="Badr" panose="00000400000000000000" pitchFamily="2" charset="-78"/>
              </a:rPr>
              <a:t>که رویدادهارا درزمان بی درنگ پاسخ می دهد وصحت آن فقط به نتایج </a:t>
            </a:r>
            <a:r>
              <a:rPr lang="fa-IR" altLang="en-US" sz="4800" dirty="0" smtClean="0">
                <a:latin typeface="Arial" panose="020B0604020202020204" pitchFamily="34" charset="0"/>
                <a:cs typeface="Badr" panose="00000400000000000000" pitchFamily="2" charset="-78"/>
              </a:rPr>
              <a:t>آن</a:t>
            </a:r>
            <a:r>
              <a:rPr lang="en-US" altLang="en-US" sz="4800" dirty="0" smtClean="0">
                <a:latin typeface="Arial" panose="020B0604020202020204" pitchFamily="34" charset="0"/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latin typeface="Arial" panose="020B0604020202020204" pitchFamily="34" charset="0"/>
                <a:cs typeface="Badr" panose="00000400000000000000" pitchFamily="2" charset="-78"/>
              </a:rPr>
              <a:t>بستگی </a:t>
            </a:r>
            <a:r>
              <a:rPr lang="fa-IR" altLang="en-US" sz="4800" dirty="0">
                <a:latin typeface="Arial" panose="020B0604020202020204" pitchFamily="34" charset="0"/>
                <a:cs typeface="Badr" panose="00000400000000000000" pitchFamily="2" charset="-78"/>
              </a:rPr>
              <a:t>ندارد،بلکه به زمان تولیداین نتایج وابسته است</a:t>
            </a:r>
            <a:r>
              <a:rPr lang="fa-IR" altLang="en-US" sz="4800" dirty="0">
                <a:latin typeface="Arial" panose="020B0604020202020204" pitchFamily="34" charset="0"/>
              </a:rPr>
              <a:t>.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726020" name="WordArt 4"/>
          <p:cNvSpPr>
            <a:spLocks noChangeArrowheads="1" noChangeShapeType="1" noTextEdit="1"/>
          </p:cNvSpPr>
          <p:nvPr/>
        </p:nvSpPr>
        <p:spPr bwMode="auto">
          <a:xfrm>
            <a:off x="5334001" y="685801"/>
            <a:ext cx="4924425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i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سیستم بی درنگ چیست:</a:t>
            </a:r>
            <a:endParaRPr lang="en-US" sz="4800" b="1" i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42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4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3962400" y="457200"/>
            <a:ext cx="8229600" cy="1143000"/>
          </a:xfrm>
        </p:spPr>
        <p:txBody>
          <a:bodyPr/>
          <a:lstStyle/>
          <a:p>
            <a:pPr algn="r">
              <a:buFont typeface="Wingdings" panose="05000000000000000000" pitchFamily="2" charset="2"/>
              <a:buNone/>
            </a:pPr>
            <a:r>
              <a:rPr lang="fa-IR" altLang="en-US" sz="3000"/>
              <a:t> </a:t>
            </a:r>
            <a:endParaRPr lang="en-US" altLang="en-US" sz="3400"/>
          </a:p>
        </p:txBody>
      </p:sp>
      <p:sp>
        <p:nvSpPr>
          <p:cNvPr id="96265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524000"/>
            <a:ext cx="9144000" cy="53340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19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2100" i="1" dirty="0"/>
          </a:p>
          <a:p>
            <a:pPr>
              <a:buFont typeface="Wingdings" panose="05000000000000000000" pitchFamily="2" charset="2"/>
              <a:buNone/>
            </a:pPr>
            <a:endParaRPr lang="fa-IR" altLang="en-US" sz="2100" i="1" dirty="0"/>
          </a:p>
          <a:p>
            <a:pPr algn="ctr">
              <a:buFont typeface="Wingdings" panose="05000000000000000000" pitchFamily="2" charset="2"/>
              <a:buNone/>
            </a:pPr>
            <a:r>
              <a:rPr lang="fa-IR" altLang="en-US" sz="3600" i="1" dirty="0" smtClean="0"/>
              <a:t>مدل </a:t>
            </a:r>
            <a:r>
              <a:rPr lang="fa-IR" altLang="en-US" sz="3600" i="1" dirty="0"/>
              <a:t>کلی سیستم بی درنگ</a:t>
            </a:r>
          </a:p>
          <a:p>
            <a:pPr>
              <a:buFont typeface="Wingdings" panose="05000000000000000000" pitchFamily="2" charset="2"/>
              <a:buNone/>
            </a:pPr>
            <a:r>
              <a:rPr lang="fa-IR" altLang="en-US" sz="1900" dirty="0"/>
              <a:t>                            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900" dirty="0"/>
          </a:p>
        </p:txBody>
      </p:sp>
      <p:sp>
        <p:nvSpPr>
          <p:cNvPr id="96424" name="Oval 168"/>
          <p:cNvSpPr>
            <a:spLocks noChangeArrowheads="1"/>
          </p:cNvSpPr>
          <p:nvPr/>
        </p:nvSpPr>
        <p:spPr bwMode="auto">
          <a:xfrm>
            <a:off x="2209800" y="2362200"/>
            <a:ext cx="9144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25" name="Oval 169"/>
          <p:cNvSpPr>
            <a:spLocks noChangeArrowheads="1"/>
          </p:cNvSpPr>
          <p:nvPr/>
        </p:nvSpPr>
        <p:spPr bwMode="auto">
          <a:xfrm>
            <a:off x="3429000" y="2362200"/>
            <a:ext cx="9144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26" name="Oval 170"/>
          <p:cNvSpPr>
            <a:spLocks noChangeArrowheads="1"/>
          </p:cNvSpPr>
          <p:nvPr/>
        </p:nvSpPr>
        <p:spPr bwMode="auto">
          <a:xfrm>
            <a:off x="4648200" y="2362200"/>
            <a:ext cx="9906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28" name="Oval 172"/>
          <p:cNvSpPr>
            <a:spLocks noChangeArrowheads="1"/>
          </p:cNvSpPr>
          <p:nvPr/>
        </p:nvSpPr>
        <p:spPr bwMode="auto">
          <a:xfrm>
            <a:off x="9525000" y="2286000"/>
            <a:ext cx="838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29" name="Oval 173"/>
          <p:cNvSpPr>
            <a:spLocks noChangeArrowheads="1"/>
          </p:cNvSpPr>
          <p:nvPr/>
        </p:nvSpPr>
        <p:spPr bwMode="auto">
          <a:xfrm>
            <a:off x="8305800" y="2286000"/>
            <a:ext cx="10668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30" name="Oval 174"/>
          <p:cNvSpPr>
            <a:spLocks noChangeArrowheads="1"/>
          </p:cNvSpPr>
          <p:nvPr/>
        </p:nvSpPr>
        <p:spPr bwMode="auto">
          <a:xfrm>
            <a:off x="5867400" y="2362200"/>
            <a:ext cx="9906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32" name="Oval 176"/>
          <p:cNvSpPr>
            <a:spLocks noChangeArrowheads="1"/>
          </p:cNvSpPr>
          <p:nvPr/>
        </p:nvSpPr>
        <p:spPr bwMode="auto">
          <a:xfrm>
            <a:off x="7086600" y="2286000"/>
            <a:ext cx="1066800" cy="533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33" name="Rectangle 177"/>
          <p:cNvSpPr>
            <a:spLocks noChangeArrowheads="1"/>
          </p:cNvSpPr>
          <p:nvPr/>
        </p:nvSpPr>
        <p:spPr bwMode="auto">
          <a:xfrm>
            <a:off x="5257800" y="3733800"/>
            <a:ext cx="22098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سیستم کنترل بی درنگ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34" name="Line 178"/>
          <p:cNvSpPr>
            <a:spLocks noChangeShapeType="1"/>
          </p:cNvSpPr>
          <p:nvPr/>
        </p:nvSpPr>
        <p:spPr bwMode="auto">
          <a:xfrm flipH="1">
            <a:off x="7162800" y="2667000"/>
            <a:ext cx="24384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36" name="Line 180"/>
          <p:cNvSpPr>
            <a:spLocks noChangeShapeType="1"/>
          </p:cNvSpPr>
          <p:nvPr/>
        </p:nvSpPr>
        <p:spPr bwMode="auto">
          <a:xfrm flipH="1">
            <a:off x="6629400" y="2819400"/>
            <a:ext cx="838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38" name="Line 182"/>
          <p:cNvSpPr>
            <a:spLocks noChangeShapeType="1"/>
          </p:cNvSpPr>
          <p:nvPr/>
        </p:nvSpPr>
        <p:spPr bwMode="auto">
          <a:xfrm flipH="1">
            <a:off x="6858000" y="2667000"/>
            <a:ext cx="16002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40" name="Line 184"/>
          <p:cNvSpPr>
            <a:spLocks noChangeShapeType="1"/>
          </p:cNvSpPr>
          <p:nvPr/>
        </p:nvSpPr>
        <p:spPr bwMode="auto">
          <a:xfrm>
            <a:off x="6324600" y="2819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41" name="Line 185"/>
          <p:cNvSpPr>
            <a:spLocks noChangeShapeType="1"/>
          </p:cNvSpPr>
          <p:nvPr/>
        </p:nvSpPr>
        <p:spPr bwMode="auto">
          <a:xfrm>
            <a:off x="5334000" y="2819400"/>
            <a:ext cx="685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43" name="Line 187"/>
          <p:cNvSpPr>
            <a:spLocks noChangeShapeType="1"/>
          </p:cNvSpPr>
          <p:nvPr/>
        </p:nvSpPr>
        <p:spPr bwMode="auto">
          <a:xfrm>
            <a:off x="4114800" y="2743200"/>
            <a:ext cx="1752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44" name="Line 188"/>
          <p:cNvSpPr>
            <a:spLocks noChangeShapeType="1"/>
          </p:cNvSpPr>
          <p:nvPr/>
        </p:nvSpPr>
        <p:spPr bwMode="auto">
          <a:xfrm>
            <a:off x="2895600" y="2743200"/>
            <a:ext cx="2362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47" name="AutoShape 191"/>
          <p:cNvSpPr>
            <a:spLocks noChangeArrowheads="1"/>
          </p:cNvSpPr>
          <p:nvPr/>
        </p:nvSpPr>
        <p:spPr bwMode="auto">
          <a:xfrm>
            <a:off x="5257800" y="4953000"/>
            <a:ext cx="990600" cy="3810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محرک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49" name="AutoShape 193"/>
          <p:cNvSpPr>
            <a:spLocks noChangeArrowheads="1"/>
          </p:cNvSpPr>
          <p:nvPr/>
        </p:nvSpPr>
        <p:spPr bwMode="auto">
          <a:xfrm>
            <a:off x="6705600" y="4953000"/>
            <a:ext cx="990600" cy="3810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محرک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50" name="AutoShape 194"/>
          <p:cNvSpPr>
            <a:spLocks noChangeArrowheads="1"/>
          </p:cNvSpPr>
          <p:nvPr/>
        </p:nvSpPr>
        <p:spPr bwMode="auto">
          <a:xfrm>
            <a:off x="8153400" y="4953000"/>
            <a:ext cx="990600" cy="3810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محرک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52" name="AutoShape 196"/>
          <p:cNvSpPr>
            <a:spLocks noChangeArrowheads="1"/>
          </p:cNvSpPr>
          <p:nvPr/>
        </p:nvSpPr>
        <p:spPr bwMode="auto">
          <a:xfrm>
            <a:off x="3886200" y="4953000"/>
            <a:ext cx="914400" cy="3810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محرک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96453" name="Line 197"/>
          <p:cNvSpPr>
            <a:spLocks noChangeShapeType="1"/>
          </p:cNvSpPr>
          <p:nvPr/>
        </p:nvSpPr>
        <p:spPr bwMode="auto">
          <a:xfrm flipH="1">
            <a:off x="4343400" y="42672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54" name="Line 198"/>
          <p:cNvSpPr>
            <a:spLocks noChangeShapeType="1"/>
          </p:cNvSpPr>
          <p:nvPr/>
        </p:nvSpPr>
        <p:spPr bwMode="auto">
          <a:xfrm>
            <a:off x="5867400" y="4267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55" name="Line 199"/>
          <p:cNvSpPr>
            <a:spLocks noChangeShapeType="1"/>
          </p:cNvSpPr>
          <p:nvPr/>
        </p:nvSpPr>
        <p:spPr bwMode="auto">
          <a:xfrm>
            <a:off x="7086600" y="4267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56" name="Line 200"/>
          <p:cNvSpPr>
            <a:spLocks noChangeShapeType="1"/>
          </p:cNvSpPr>
          <p:nvPr/>
        </p:nvSpPr>
        <p:spPr bwMode="auto">
          <a:xfrm>
            <a:off x="7315200" y="4267200"/>
            <a:ext cx="1371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57" name="Line 201"/>
          <p:cNvSpPr>
            <a:spLocks noChangeShapeType="1"/>
          </p:cNvSpPr>
          <p:nvPr/>
        </p:nvSpPr>
        <p:spPr bwMode="auto">
          <a:xfrm>
            <a:off x="10439400" y="1905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58" name="Line 202"/>
          <p:cNvSpPr>
            <a:spLocks noChangeShapeType="1"/>
          </p:cNvSpPr>
          <p:nvPr/>
        </p:nvSpPr>
        <p:spPr bwMode="auto">
          <a:xfrm flipH="1">
            <a:off x="2133600" y="1905000"/>
            <a:ext cx="830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59" name="Line 203"/>
          <p:cNvSpPr>
            <a:spLocks noChangeShapeType="1"/>
          </p:cNvSpPr>
          <p:nvPr/>
        </p:nvSpPr>
        <p:spPr bwMode="auto">
          <a:xfrm>
            <a:off x="2133600" y="19050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60" name="Line 204"/>
          <p:cNvSpPr>
            <a:spLocks noChangeShapeType="1"/>
          </p:cNvSpPr>
          <p:nvPr/>
        </p:nvSpPr>
        <p:spPr bwMode="auto">
          <a:xfrm>
            <a:off x="2133600" y="5638800"/>
            <a:ext cx="830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461" name="WordArt 205"/>
          <p:cNvSpPr>
            <a:spLocks noChangeArrowheads="1" noChangeShapeType="1" noTextEdit="1"/>
          </p:cNvSpPr>
          <p:nvPr/>
        </p:nvSpPr>
        <p:spPr bwMode="auto">
          <a:xfrm>
            <a:off x="3657601" y="914400"/>
            <a:ext cx="6715125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000" b="1" i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مدل سیستم بی درنگ با سنسور ومحرک:</a:t>
            </a:r>
            <a:endParaRPr lang="en-US" sz="4000" b="1" i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14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1752600"/>
            <a:ext cx="11622657" cy="4953000"/>
          </a:xfrm>
        </p:spPr>
        <p:txBody>
          <a:bodyPr>
            <a:normAutofit/>
          </a:bodyPr>
          <a:lstStyle/>
          <a:p>
            <a:pPr algn="r" rtl="1">
              <a:lnSpc>
                <a:spcPct val="90000"/>
              </a:lnSpc>
              <a:buSzPct val="130000"/>
              <a:buFont typeface="Wingdings" panose="05000000000000000000" pitchFamily="2" charset="2"/>
              <a:buChar char="Ø"/>
            </a:pPr>
            <a:r>
              <a:rPr lang="fa-IR" altLang="en-US" sz="4400" dirty="0">
                <a:cs typeface="Badr" panose="00000400000000000000" pitchFamily="2" charset="-78"/>
              </a:rPr>
              <a:t>تحریک های دوره ای: </a:t>
            </a:r>
          </a:p>
          <a:p>
            <a:pPr algn="r" rtl="1">
              <a:lnSpc>
                <a:spcPct val="90000"/>
              </a:lnSpc>
              <a:buSzPct val="130000"/>
              <a:buFont typeface="Wingdings" panose="05000000000000000000" pitchFamily="2" charset="2"/>
              <a:buNone/>
            </a:pPr>
            <a:r>
              <a:rPr lang="fa-IR" altLang="en-US" sz="4400" dirty="0">
                <a:cs typeface="Badr" panose="00000400000000000000" pitchFamily="2" charset="-78"/>
              </a:rPr>
              <a:t>         این تحریک ها درفواصل </a:t>
            </a:r>
            <a:r>
              <a:rPr lang="fa-IR" altLang="en-US" sz="4400" dirty="0" smtClean="0">
                <a:cs typeface="Badr" panose="00000400000000000000" pitchFamily="2" charset="-78"/>
              </a:rPr>
              <a:t>زمانی</a:t>
            </a:r>
            <a:r>
              <a:rPr lang="en-US" altLang="en-US" sz="4400" dirty="0" smtClean="0">
                <a:cs typeface="Badr" panose="00000400000000000000" pitchFamily="2" charset="-78"/>
              </a:rPr>
              <a:t> </a:t>
            </a:r>
            <a:r>
              <a:rPr lang="fa-IR" altLang="en-US" sz="4400" dirty="0" smtClean="0">
                <a:cs typeface="Badr" panose="00000400000000000000" pitchFamily="2" charset="-78"/>
              </a:rPr>
              <a:t>معینی </a:t>
            </a:r>
            <a:r>
              <a:rPr lang="fa-IR" altLang="en-US" sz="4400" dirty="0">
                <a:cs typeface="Badr" panose="00000400000000000000" pitchFamily="2" charset="-78"/>
              </a:rPr>
              <a:t>رخ می دهندبه عنوان </a:t>
            </a:r>
            <a:r>
              <a:rPr lang="fa-IR" altLang="en-US" sz="4400" dirty="0" smtClean="0">
                <a:cs typeface="Badr" panose="00000400000000000000" pitchFamily="2" charset="-78"/>
              </a:rPr>
              <a:t>مثال</a:t>
            </a:r>
            <a:r>
              <a:rPr lang="en-US" altLang="en-US" sz="4400" dirty="0" smtClean="0">
                <a:cs typeface="Badr" panose="00000400000000000000" pitchFamily="2" charset="-78"/>
              </a:rPr>
              <a:t> </a:t>
            </a:r>
            <a:r>
              <a:rPr lang="fa-IR" altLang="en-US" sz="4400" dirty="0" smtClean="0">
                <a:cs typeface="Badr" panose="00000400000000000000" pitchFamily="2" charset="-78"/>
              </a:rPr>
              <a:t>،</a:t>
            </a:r>
            <a:r>
              <a:rPr lang="fa-IR" altLang="en-US" sz="4400" dirty="0">
                <a:cs typeface="Badr" panose="00000400000000000000" pitchFamily="2" charset="-78"/>
              </a:rPr>
              <a:t>سیستم ممکن است سنسوری </a:t>
            </a:r>
            <a:r>
              <a:rPr lang="fa-IR" altLang="en-US" sz="4400" dirty="0" smtClean="0">
                <a:cs typeface="Badr" panose="00000400000000000000" pitchFamily="2" charset="-78"/>
              </a:rPr>
              <a:t>رادرهر5میلی </a:t>
            </a:r>
            <a:r>
              <a:rPr lang="fa-IR" altLang="en-US" sz="4400" dirty="0">
                <a:cs typeface="Badr" panose="00000400000000000000" pitchFamily="2" charset="-78"/>
              </a:rPr>
              <a:t>ثانیه امتحان کند </a:t>
            </a:r>
            <a:r>
              <a:rPr lang="fa-IR" altLang="en-US" sz="4400" dirty="0" smtClean="0">
                <a:cs typeface="Badr" panose="00000400000000000000" pitchFamily="2" charset="-78"/>
              </a:rPr>
              <a:t>وبرحسب </a:t>
            </a:r>
            <a:r>
              <a:rPr lang="fa-IR" altLang="en-US" sz="4400" dirty="0">
                <a:cs typeface="Badr" panose="00000400000000000000" pitchFamily="2" charset="-78"/>
              </a:rPr>
              <a:t>مقدارآن،پاسخ دهد.</a:t>
            </a:r>
          </a:p>
        </p:txBody>
      </p:sp>
      <p:sp>
        <p:nvSpPr>
          <p:cNvPr id="700420" name="WordArt 4"/>
          <p:cNvSpPr>
            <a:spLocks noChangeArrowheads="1" noChangeShapeType="1" noTextEdit="1"/>
          </p:cNvSpPr>
          <p:nvPr/>
        </p:nvSpPr>
        <p:spPr bwMode="auto">
          <a:xfrm>
            <a:off x="1981201" y="533400"/>
            <a:ext cx="8334375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دو دسته ازتحریک ها درسیستم بی درنگ:</a:t>
            </a:r>
            <a:endParaRPr lang="en-US" sz="48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90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9049" y="792193"/>
            <a:ext cx="10665125" cy="5105400"/>
          </a:xfrm>
        </p:spPr>
        <p:txBody>
          <a:bodyPr/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تحریک های غیردوره ای: </a:t>
            </a:r>
          </a:p>
          <a:p>
            <a:pPr algn="r" rtl="1">
              <a:buSzPct val="130000"/>
              <a:buFont typeface="Wingdings" panose="05000000000000000000" pitchFamily="2" charset="2"/>
              <a:buNone/>
            </a:pPr>
            <a:r>
              <a:rPr lang="fa-IR" altLang="en-US" sz="4800" dirty="0">
                <a:cs typeface="Badr" panose="00000400000000000000" pitchFamily="2" charset="-78"/>
              </a:rPr>
              <a:t>         این تحریک هابه طورنامنظم </a:t>
            </a:r>
            <a:r>
              <a:rPr lang="fa-IR" altLang="en-US" sz="4800" dirty="0" smtClean="0">
                <a:cs typeface="Badr" panose="00000400000000000000" pitchFamily="2" charset="-78"/>
              </a:rPr>
              <a:t>اتفاق</a:t>
            </a:r>
            <a:r>
              <a:rPr lang="en-US" altLang="en-US" sz="4800" dirty="0" smtClean="0"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cs typeface="Badr" panose="00000400000000000000" pitchFamily="2" charset="-78"/>
              </a:rPr>
              <a:t>می </a:t>
            </a:r>
            <a:r>
              <a:rPr lang="fa-IR" altLang="en-US" sz="4800" dirty="0">
                <a:cs typeface="Badr" panose="00000400000000000000" pitchFamily="2" charset="-78"/>
              </a:rPr>
              <a:t>افتد.ومعمولاً توسط </a:t>
            </a:r>
            <a:r>
              <a:rPr lang="fa-IR" altLang="en-US" sz="4800" dirty="0" smtClean="0">
                <a:cs typeface="Badr" panose="00000400000000000000" pitchFamily="2" charset="-78"/>
              </a:rPr>
              <a:t>راهکاروقفه</a:t>
            </a:r>
            <a:r>
              <a:rPr lang="en-US" altLang="en-US" sz="4800" dirty="0" smtClean="0"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cs typeface="Badr" panose="00000400000000000000" pitchFamily="2" charset="-78"/>
              </a:rPr>
              <a:t>کامپیوترخبرداده </a:t>
            </a:r>
            <a:r>
              <a:rPr lang="fa-IR" altLang="en-US" sz="4800" dirty="0">
                <a:cs typeface="Badr" panose="00000400000000000000" pitchFamily="2" charset="-78"/>
              </a:rPr>
              <a:t>می شوند. </a:t>
            </a:r>
            <a:endParaRPr lang="en-US" altLang="en-US" sz="4800" dirty="0">
              <a:cs typeface="Badr" panose="00000400000000000000" pitchFamily="2" charset="-78"/>
            </a:endParaRPr>
          </a:p>
          <a:p>
            <a:pPr algn="r" rtl="1"/>
            <a:endParaRPr lang="en-US" altLang="en-US" sz="4800" dirty="0">
              <a:cs typeface="Bad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0363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350626" y="1856118"/>
            <a:ext cx="10685252" cy="5105400"/>
          </a:xfrm>
        </p:spPr>
        <p:txBody>
          <a:bodyPr/>
          <a:lstStyle/>
          <a:p>
            <a:pPr marL="571500" indent="-571500"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000" dirty="0">
                <a:cs typeface="Badr" panose="00000400000000000000" pitchFamily="2" charset="-78"/>
              </a:rPr>
              <a:t>شناسایی تحریکی که سیستم </a:t>
            </a:r>
            <a:r>
              <a:rPr lang="fa-IR" altLang="en-US" sz="4000" dirty="0" smtClean="0">
                <a:cs typeface="Badr" panose="00000400000000000000" pitchFamily="2" charset="-78"/>
              </a:rPr>
              <a:t>باید </a:t>
            </a:r>
            <a:r>
              <a:rPr lang="fa-IR" altLang="en-US" sz="4000" dirty="0">
                <a:cs typeface="Badr" panose="00000400000000000000" pitchFamily="2" charset="-78"/>
              </a:rPr>
              <a:t>پردازش </a:t>
            </a:r>
            <a:r>
              <a:rPr lang="fa-IR" altLang="en-US" sz="4000" dirty="0" smtClean="0">
                <a:cs typeface="Badr" panose="00000400000000000000" pitchFamily="2" charset="-78"/>
              </a:rPr>
              <a:t>کند</a:t>
            </a:r>
            <a:r>
              <a:rPr lang="en-US" altLang="en-US" sz="4000" dirty="0" smtClean="0">
                <a:cs typeface="Badr" panose="00000400000000000000" pitchFamily="2" charset="-78"/>
              </a:rPr>
              <a:t> </a:t>
            </a:r>
            <a:r>
              <a:rPr lang="fa-IR" altLang="en-US" sz="4000" dirty="0" smtClean="0">
                <a:cs typeface="Badr" panose="00000400000000000000" pitchFamily="2" charset="-78"/>
              </a:rPr>
              <a:t>وپاسخ </a:t>
            </a:r>
            <a:r>
              <a:rPr lang="fa-IR" altLang="en-US" sz="4000" dirty="0">
                <a:cs typeface="Badr" panose="00000400000000000000" pitchFamily="2" charset="-78"/>
              </a:rPr>
              <a:t>مربوط. </a:t>
            </a:r>
          </a:p>
          <a:p>
            <a:pPr marL="571500" indent="-571500"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000" dirty="0">
                <a:cs typeface="Badr" panose="00000400000000000000" pitchFamily="2" charset="-78"/>
              </a:rPr>
              <a:t>محدودیت های زمانی مربوط به هرتحریک وپاسخ شناسایی شود.</a:t>
            </a:r>
          </a:p>
          <a:p>
            <a:pPr marL="571500" indent="-571500"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000" dirty="0">
                <a:cs typeface="Badr" panose="00000400000000000000" pitchFamily="2" charset="-78"/>
              </a:rPr>
              <a:t>یک کامپیوتربرای اجرای </a:t>
            </a:r>
            <a:r>
              <a:rPr lang="fa-IR" altLang="en-US" sz="4000" dirty="0" smtClean="0">
                <a:cs typeface="Badr" panose="00000400000000000000" pitchFamily="2" charset="-78"/>
              </a:rPr>
              <a:t>سیستمانتخاب </a:t>
            </a:r>
            <a:r>
              <a:rPr lang="fa-IR" altLang="en-US" sz="4000" dirty="0">
                <a:cs typeface="Badr" panose="00000400000000000000" pitchFamily="2" charset="-78"/>
              </a:rPr>
              <a:t>شوددارای اجزابی درنگ.</a:t>
            </a:r>
          </a:p>
        </p:txBody>
      </p:sp>
      <p:sp>
        <p:nvSpPr>
          <p:cNvPr id="701444" name="WordArt 4"/>
          <p:cNvSpPr>
            <a:spLocks noChangeArrowheads="1" noChangeShapeType="1" noTextEdit="1"/>
          </p:cNvSpPr>
          <p:nvPr/>
        </p:nvSpPr>
        <p:spPr bwMode="auto">
          <a:xfrm>
            <a:off x="5638801" y="457201"/>
            <a:ext cx="4695825" cy="7715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54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مراحل فرآیندطراحی:</a:t>
            </a:r>
            <a:endParaRPr lang="en-US" sz="54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0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33556" y="1378789"/>
            <a:ext cx="9736346" cy="5105400"/>
          </a:xfrm>
        </p:spPr>
        <p:txBody>
          <a:bodyPr/>
          <a:lstStyle/>
          <a:p>
            <a:pPr marL="571500" indent="-571500"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000" dirty="0">
                <a:cs typeface="Badr" panose="00000400000000000000" pitchFamily="2" charset="-78"/>
              </a:rPr>
              <a:t>تحریک وپاسخ </a:t>
            </a:r>
            <a:r>
              <a:rPr lang="fa-IR" altLang="en-US" sz="4000" dirty="0" smtClean="0">
                <a:cs typeface="Badr" panose="00000400000000000000" pitchFamily="2" charset="-78"/>
              </a:rPr>
              <a:t>درتعدادی ازفرآیندهای  </a:t>
            </a:r>
            <a:r>
              <a:rPr lang="fa-IR" altLang="en-US" sz="4000" dirty="0">
                <a:cs typeface="Badr" panose="00000400000000000000" pitchFamily="2" charset="-78"/>
              </a:rPr>
              <a:t>همزمان </a:t>
            </a:r>
            <a:r>
              <a:rPr lang="fa-IR" altLang="en-US" sz="4000" dirty="0" smtClean="0">
                <a:cs typeface="Badr" panose="00000400000000000000" pitchFamily="2" charset="-78"/>
              </a:rPr>
              <a:t>که </a:t>
            </a:r>
            <a:r>
              <a:rPr lang="fa-IR" altLang="en-US" sz="4000" dirty="0">
                <a:cs typeface="Badr" panose="00000400000000000000" pitchFamily="2" charset="-78"/>
              </a:rPr>
              <a:t>ترکیب </a:t>
            </a:r>
            <a:r>
              <a:rPr lang="fa-IR" altLang="en-US" sz="4000" dirty="0" smtClean="0">
                <a:cs typeface="Badr" panose="00000400000000000000" pitchFamily="2" charset="-78"/>
              </a:rPr>
              <a:t>میشوند</a:t>
            </a:r>
            <a:r>
              <a:rPr lang="fa-IR" altLang="en-US" sz="4000" dirty="0">
                <a:cs typeface="Badr" panose="00000400000000000000" pitchFamily="2" charset="-78"/>
              </a:rPr>
              <a:t>.</a:t>
            </a:r>
          </a:p>
          <a:p>
            <a:pPr marL="571500" indent="-571500"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000" dirty="0">
                <a:cs typeface="Badr" panose="00000400000000000000" pitchFamily="2" charset="-78"/>
              </a:rPr>
              <a:t>برای هرتحریک </a:t>
            </a:r>
            <a:r>
              <a:rPr lang="fa-IR" altLang="en-US" sz="4000" dirty="0" smtClean="0">
                <a:cs typeface="Badr" panose="00000400000000000000" pitchFamily="2" charset="-78"/>
              </a:rPr>
              <a:t>وپاسخ، الگوریتم</a:t>
            </a:r>
            <a:r>
              <a:rPr lang="en-US" altLang="en-US" sz="4000" dirty="0" smtClean="0">
                <a:cs typeface="Badr" panose="00000400000000000000" pitchFamily="2" charset="-78"/>
              </a:rPr>
              <a:t> </a:t>
            </a:r>
            <a:r>
              <a:rPr lang="fa-IR" altLang="en-US" sz="4000" dirty="0" smtClean="0">
                <a:cs typeface="Badr" panose="00000400000000000000" pitchFamily="2" charset="-78"/>
              </a:rPr>
              <a:t>هایی </a:t>
            </a:r>
            <a:r>
              <a:rPr lang="fa-IR" altLang="en-US" sz="4000" dirty="0">
                <a:cs typeface="Badr" panose="00000400000000000000" pitchFamily="2" charset="-78"/>
              </a:rPr>
              <a:t>طرح شود.</a:t>
            </a:r>
          </a:p>
          <a:p>
            <a:pPr marL="571500" indent="-571500"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000" dirty="0">
                <a:cs typeface="Badr" panose="00000400000000000000" pitchFamily="2" charset="-78"/>
              </a:rPr>
              <a:t>طراحی سیستم زمانبندی برای </a:t>
            </a:r>
            <a:r>
              <a:rPr lang="fa-IR" altLang="en-US" sz="4000" dirty="0" smtClean="0">
                <a:cs typeface="Badr" panose="00000400000000000000" pitchFamily="2" charset="-78"/>
              </a:rPr>
              <a:t>به</a:t>
            </a:r>
            <a:r>
              <a:rPr lang="en-US" altLang="en-US" sz="4000" dirty="0" smtClean="0">
                <a:cs typeface="Badr" panose="00000400000000000000" pitchFamily="2" charset="-78"/>
              </a:rPr>
              <a:t> </a:t>
            </a:r>
            <a:r>
              <a:rPr lang="fa-IR" altLang="en-US" sz="4000" dirty="0" smtClean="0">
                <a:cs typeface="Badr" panose="00000400000000000000" pitchFamily="2" charset="-78"/>
              </a:rPr>
              <a:t>موقع </a:t>
            </a:r>
            <a:r>
              <a:rPr lang="fa-IR" altLang="en-US" sz="4000" dirty="0">
                <a:cs typeface="Badr" panose="00000400000000000000" pitchFamily="2" charset="-78"/>
              </a:rPr>
              <a:t>شروع شدن فرآیند.</a:t>
            </a:r>
            <a:endParaRPr lang="en-US" altLang="en-US" sz="4000" dirty="0">
              <a:cs typeface="Badr" panose="00000400000000000000" pitchFamily="2" charset="-78"/>
            </a:endParaRPr>
          </a:p>
          <a:p>
            <a:pPr marL="571500" indent="-571500" algn="r" rtl="1"/>
            <a:endParaRPr lang="en-US" altLang="en-US" sz="4000" dirty="0">
              <a:cs typeface="Bad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0348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146540"/>
            <a:ext cx="11501887" cy="3733800"/>
          </a:xfrm>
        </p:spPr>
        <p:txBody>
          <a:bodyPr>
            <a:normAutofit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 طراحی معماری سیستم بی درنگ شامل سازماندهی سیستم به صورت مجموعه ای ازفرایندهای همزمان </a:t>
            </a:r>
            <a:r>
              <a:rPr lang="fa-IR" altLang="en-US" sz="4800" dirty="0" smtClean="0">
                <a:cs typeface="Badr" panose="00000400000000000000" pitchFamily="2" charset="-78"/>
              </a:rPr>
              <a:t>هستندکه به </a:t>
            </a:r>
            <a:r>
              <a:rPr lang="fa-IR" altLang="en-US" sz="4800" dirty="0">
                <a:cs typeface="Badr" panose="00000400000000000000" pitchFamily="2" charset="-78"/>
              </a:rPr>
              <a:t>هردسته </a:t>
            </a:r>
            <a:r>
              <a:rPr lang="fa-IR" altLang="en-US" sz="4800" dirty="0" smtClean="0">
                <a:cs typeface="Badr" panose="00000400000000000000" pitchFamily="2" charset="-78"/>
              </a:rPr>
              <a:t>از</a:t>
            </a:r>
            <a:r>
              <a:rPr lang="en-US" altLang="en-US" sz="4800" dirty="0" smtClean="0"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cs typeface="Badr" panose="00000400000000000000" pitchFamily="2" charset="-78"/>
              </a:rPr>
              <a:t>محرک </a:t>
            </a:r>
            <a:r>
              <a:rPr lang="fa-IR" altLang="en-US" sz="4800" dirty="0">
                <a:cs typeface="Badr" panose="00000400000000000000" pitchFamily="2" charset="-78"/>
              </a:rPr>
              <a:t>وپاسخ هافرآیندی منتسب می شود. </a:t>
            </a:r>
            <a:endParaRPr lang="en-US" altLang="en-US" sz="4800" dirty="0">
              <a:cs typeface="Badr" panose="00000400000000000000" pitchFamily="2" charset="-78"/>
            </a:endParaRPr>
          </a:p>
          <a:p>
            <a:pPr algn="r" rtl="1"/>
            <a:endParaRPr lang="en-US" altLang="en-US" sz="4800" dirty="0">
              <a:cs typeface="Badr" panose="00000400000000000000" pitchFamily="2" charset="-78"/>
            </a:endParaRPr>
          </a:p>
        </p:txBody>
      </p:sp>
      <p:sp>
        <p:nvSpPr>
          <p:cNvPr id="730116" name="WordArt 4"/>
          <p:cNvSpPr>
            <a:spLocks noChangeArrowheads="1" noChangeShapeType="1" noTextEdit="1"/>
          </p:cNvSpPr>
          <p:nvPr/>
        </p:nvSpPr>
        <p:spPr bwMode="auto">
          <a:xfrm>
            <a:off x="5943601" y="838201"/>
            <a:ext cx="4467225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طراحی سیستم چیست:</a:t>
            </a:r>
            <a:endParaRPr lang="en-US" sz="48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57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7200"/>
            <a:ext cx="8610600" cy="1524000"/>
          </a:xfrm>
        </p:spPr>
        <p:txBody>
          <a:bodyPr/>
          <a:lstStyle/>
          <a:p>
            <a:pPr algn="r">
              <a:buFont typeface="Wingdings" panose="05000000000000000000" pitchFamily="2" charset="2"/>
              <a:buNone/>
            </a:pPr>
            <a:r>
              <a:rPr lang="fa-IR" altLang="en-US" sz="2800"/>
              <a:t/>
            </a:r>
            <a:br>
              <a:rPr lang="fa-IR" altLang="en-US" sz="2800"/>
            </a:br>
            <a:r>
              <a:rPr lang="fa-IR" altLang="en-US" sz="2600"/>
              <a:t>                </a:t>
            </a:r>
            <a:r>
              <a:rPr lang="fa-IR" altLang="en-US" sz="3000"/>
              <a:t>                                                   </a:t>
            </a:r>
            <a:endParaRPr lang="en-US" altLang="en-US" sz="300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52600"/>
            <a:ext cx="9144000" cy="5105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fa-IR" altLang="en-US" sz="21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2100" dirty="0"/>
          </a:p>
          <a:p>
            <a:pPr>
              <a:buFont typeface="Wingdings" panose="05000000000000000000" pitchFamily="2" charset="2"/>
              <a:buNone/>
            </a:pPr>
            <a:r>
              <a:rPr lang="fa-IR" altLang="en-US" dirty="0"/>
              <a:t>        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fa-IR" altLang="en-US" dirty="0"/>
              <a:t>                     </a:t>
            </a:r>
            <a:r>
              <a:rPr lang="fa-IR" altLang="en-US" sz="2000" dirty="0"/>
              <a:t>پاسخ                                                        تحریک</a:t>
            </a:r>
          </a:p>
          <a:p>
            <a:pPr>
              <a:buFont typeface="Wingdings" panose="05000000000000000000" pitchFamily="2" charset="2"/>
              <a:buNone/>
            </a:pPr>
            <a:endParaRPr lang="fa-IR" altLang="en-US" sz="2000" dirty="0"/>
          </a:p>
          <a:p>
            <a:pPr>
              <a:buFont typeface="Wingdings" panose="05000000000000000000" pitchFamily="2" charset="2"/>
              <a:buNone/>
            </a:pPr>
            <a:endParaRPr lang="fa-IR" altLang="en-US" dirty="0"/>
          </a:p>
          <a:p>
            <a:pPr>
              <a:buFont typeface="Wingdings" panose="05000000000000000000" pitchFamily="2" charset="2"/>
              <a:buNone/>
            </a:pPr>
            <a:endParaRPr lang="fa-IR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fa-IR" altLang="en-US" sz="3600" dirty="0" smtClean="0"/>
              <a:t>فرایندهای </a:t>
            </a:r>
            <a:r>
              <a:rPr lang="fa-IR" altLang="en-US" sz="3600" dirty="0"/>
              <a:t>کنترل تحریک/محرک             </a:t>
            </a:r>
          </a:p>
          <a:p>
            <a:pPr>
              <a:buFont typeface="Wingdings" panose="05000000000000000000" pitchFamily="2" charset="2"/>
              <a:buNone/>
            </a:pPr>
            <a:endParaRPr lang="fa-IR" altLang="en-US" sz="36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21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21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2100" dirty="0"/>
          </a:p>
          <a:p>
            <a:pPr>
              <a:buFont typeface="Wingdings" panose="05000000000000000000" pitchFamily="2" charset="2"/>
              <a:buNone/>
            </a:pPr>
            <a:endParaRPr lang="fa-IR" altLang="en-US" sz="2100" dirty="0"/>
          </a:p>
          <a:p>
            <a:pPr>
              <a:buFont typeface="Wingdings" panose="05000000000000000000" pitchFamily="2" charset="2"/>
              <a:buNone/>
            </a:pPr>
            <a:endParaRPr lang="en-US" altLang="en-US" sz="2100" dirty="0"/>
          </a:p>
        </p:txBody>
      </p:sp>
      <p:sp>
        <p:nvSpPr>
          <p:cNvPr id="153614" name="Oval 14"/>
          <p:cNvSpPr>
            <a:spLocks noChangeArrowheads="1"/>
          </p:cNvSpPr>
          <p:nvPr/>
        </p:nvSpPr>
        <p:spPr bwMode="auto">
          <a:xfrm>
            <a:off x="2667000" y="2286000"/>
            <a:ext cx="12192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3615" name="AutoShape 15"/>
          <p:cNvSpPr>
            <a:spLocks noChangeArrowheads="1"/>
          </p:cNvSpPr>
          <p:nvPr/>
        </p:nvSpPr>
        <p:spPr bwMode="auto">
          <a:xfrm>
            <a:off x="6934200" y="2286000"/>
            <a:ext cx="1752600" cy="6858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محرک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3616" name="AutoShape 16"/>
          <p:cNvSpPr>
            <a:spLocks noChangeArrowheads="1"/>
          </p:cNvSpPr>
          <p:nvPr/>
        </p:nvSpPr>
        <p:spPr bwMode="auto">
          <a:xfrm>
            <a:off x="2514600" y="3733800"/>
            <a:ext cx="1371600" cy="7620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کنترل 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3618" name="AutoShape 18"/>
          <p:cNvSpPr>
            <a:spLocks noChangeArrowheads="1"/>
          </p:cNvSpPr>
          <p:nvPr/>
        </p:nvSpPr>
        <p:spPr bwMode="auto">
          <a:xfrm>
            <a:off x="4648200" y="3733800"/>
            <a:ext cx="1524000" cy="7620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پردازنده 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3619" name="AutoShape 19"/>
          <p:cNvSpPr>
            <a:spLocks noChangeArrowheads="1"/>
          </p:cNvSpPr>
          <p:nvPr/>
        </p:nvSpPr>
        <p:spPr bwMode="auto">
          <a:xfrm>
            <a:off x="7010400" y="3810000"/>
            <a:ext cx="1676400" cy="6858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کنترل محرک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3620" name="Line 20"/>
          <p:cNvSpPr>
            <a:spLocks noChangeShapeType="1"/>
          </p:cNvSpPr>
          <p:nvPr/>
        </p:nvSpPr>
        <p:spPr bwMode="auto">
          <a:xfrm>
            <a:off x="3276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1" name="Line 21"/>
          <p:cNvSpPr>
            <a:spLocks noChangeShapeType="1"/>
          </p:cNvSpPr>
          <p:nvPr/>
        </p:nvSpPr>
        <p:spPr bwMode="auto">
          <a:xfrm>
            <a:off x="3886200" y="4114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2" name="Line 22"/>
          <p:cNvSpPr>
            <a:spLocks noChangeShapeType="1"/>
          </p:cNvSpPr>
          <p:nvPr/>
        </p:nvSpPr>
        <p:spPr bwMode="auto">
          <a:xfrm>
            <a:off x="6172200" y="4191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3" name="Line 23"/>
          <p:cNvSpPr>
            <a:spLocks noChangeShapeType="1"/>
          </p:cNvSpPr>
          <p:nvPr/>
        </p:nvSpPr>
        <p:spPr bwMode="auto">
          <a:xfrm flipV="1">
            <a:off x="7772400" y="2971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4" name="Line 24"/>
          <p:cNvSpPr>
            <a:spLocks noChangeShapeType="1"/>
          </p:cNvSpPr>
          <p:nvPr/>
        </p:nvSpPr>
        <p:spPr bwMode="auto">
          <a:xfrm>
            <a:off x="2133600" y="1981200"/>
            <a:ext cx="746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5" name="Line 25"/>
          <p:cNvSpPr>
            <a:spLocks noChangeShapeType="1"/>
          </p:cNvSpPr>
          <p:nvPr/>
        </p:nvSpPr>
        <p:spPr bwMode="auto">
          <a:xfrm>
            <a:off x="9601200" y="1981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6" name="Line 26"/>
          <p:cNvSpPr>
            <a:spLocks noChangeShapeType="1"/>
          </p:cNvSpPr>
          <p:nvPr/>
        </p:nvSpPr>
        <p:spPr bwMode="auto">
          <a:xfrm>
            <a:off x="2057400" y="19812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7" name="Line 27"/>
          <p:cNvSpPr>
            <a:spLocks noChangeShapeType="1"/>
          </p:cNvSpPr>
          <p:nvPr/>
        </p:nvSpPr>
        <p:spPr bwMode="auto">
          <a:xfrm flipH="1">
            <a:off x="2057400" y="19812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8" name="Line 28"/>
          <p:cNvSpPr>
            <a:spLocks noChangeShapeType="1"/>
          </p:cNvSpPr>
          <p:nvPr/>
        </p:nvSpPr>
        <p:spPr bwMode="auto">
          <a:xfrm>
            <a:off x="2057400" y="4953000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29" name="WordArt 29"/>
          <p:cNvSpPr>
            <a:spLocks noChangeArrowheads="1" noChangeShapeType="1" noTextEdit="1"/>
          </p:cNvSpPr>
          <p:nvPr/>
        </p:nvSpPr>
        <p:spPr bwMode="auto">
          <a:xfrm>
            <a:off x="3886201" y="914400"/>
            <a:ext cx="5972175" cy="6286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4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تحریک وپردازش پاسخ درسیستم:</a:t>
            </a:r>
            <a:endParaRPr lang="en-US" sz="44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72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89" name="Rectangle 17"/>
          <p:cNvSpPr>
            <a:spLocks noGrp="1" noChangeArrowheads="1"/>
          </p:cNvSpPr>
          <p:nvPr>
            <p:ph type="body" idx="4294967295"/>
          </p:nvPr>
        </p:nvSpPr>
        <p:spPr>
          <a:xfrm>
            <a:off x="3614738" y="1752600"/>
            <a:ext cx="8577262" cy="51054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700"/>
          </a:p>
        </p:txBody>
      </p:sp>
      <p:sp>
        <p:nvSpPr>
          <p:cNvPr id="156690" name="Rectangle 18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752600"/>
            <a:ext cx="9144000" cy="5105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3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a-IR" altLang="en-US" sz="32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a-IR" altLang="en-US" sz="32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a-IR" altLang="en-US" sz="32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2000" dirty="0"/>
              <a:t>              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2000" dirty="0"/>
              <a:t>                                            اجرای فرآیندها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3600" dirty="0" smtClean="0"/>
              <a:t>قطعات </a:t>
            </a:r>
            <a:r>
              <a:rPr lang="fa-IR" altLang="en-US" sz="3600" dirty="0"/>
              <a:t>مجری بی درنگ</a:t>
            </a:r>
            <a:endParaRPr lang="en-US" altLang="en-US" sz="3600" dirty="0"/>
          </a:p>
        </p:txBody>
      </p:sp>
      <p:sp>
        <p:nvSpPr>
          <p:cNvPr id="156677" name="AutoShape 5"/>
          <p:cNvSpPr>
            <a:spLocks noChangeArrowheads="1"/>
          </p:cNvSpPr>
          <p:nvPr/>
        </p:nvSpPr>
        <p:spPr bwMode="auto">
          <a:xfrm>
            <a:off x="2590800" y="4191000"/>
            <a:ext cx="1981200" cy="9144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فرآیندهای منتظر منابع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7924800" y="4114800"/>
            <a:ext cx="17526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لیست منابع موجود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79" name="Rectangle 7"/>
          <p:cNvSpPr>
            <a:spLocks noChangeArrowheads="1"/>
          </p:cNvSpPr>
          <p:nvPr/>
        </p:nvSpPr>
        <p:spPr bwMode="auto">
          <a:xfrm>
            <a:off x="2743200" y="2895600"/>
            <a:ext cx="1600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ساعت بی درنگ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0" name="Rectangle 8"/>
          <p:cNvSpPr>
            <a:spLocks noChangeArrowheads="1"/>
          </p:cNvSpPr>
          <p:nvPr/>
        </p:nvSpPr>
        <p:spPr bwMode="auto">
          <a:xfrm>
            <a:off x="2895600" y="5257800"/>
            <a:ext cx="13716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لیست آماده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1" name="Rectangle 9"/>
          <p:cNvSpPr>
            <a:spLocks noChangeArrowheads="1"/>
          </p:cNvSpPr>
          <p:nvPr/>
        </p:nvSpPr>
        <p:spPr bwMode="auto">
          <a:xfrm>
            <a:off x="5410200" y="1905000"/>
            <a:ext cx="1676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اطلاعات زمانبندی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2" name="Rectangle 10"/>
          <p:cNvSpPr>
            <a:spLocks noChangeArrowheads="1"/>
          </p:cNvSpPr>
          <p:nvPr/>
        </p:nvSpPr>
        <p:spPr bwMode="auto">
          <a:xfrm>
            <a:off x="5105400" y="3581400"/>
            <a:ext cx="19812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خواسته های منبع فرایند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3" name="Rectangle 11"/>
          <p:cNvSpPr>
            <a:spLocks noChangeArrowheads="1"/>
          </p:cNvSpPr>
          <p:nvPr/>
        </p:nvSpPr>
        <p:spPr bwMode="auto">
          <a:xfrm>
            <a:off x="7924800" y="5257800"/>
            <a:ext cx="17526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لیست پردازنده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4" name="AutoShape 12"/>
          <p:cNvSpPr>
            <a:spLocks noChangeArrowheads="1"/>
          </p:cNvSpPr>
          <p:nvPr/>
        </p:nvSpPr>
        <p:spPr bwMode="auto">
          <a:xfrm>
            <a:off x="5486400" y="5257800"/>
            <a:ext cx="1295400" cy="5334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توزیع کننده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5" name="AutoShape 13"/>
          <p:cNvSpPr>
            <a:spLocks noChangeArrowheads="1"/>
          </p:cNvSpPr>
          <p:nvPr/>
        </p:nvSpPr>
        <p:spPr bwMode="auto">
          <a:xfrm>
            <a:off x="5486400" y="4419600"/>
            <a:ext cx="1295400" cy="5334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مدیرمنبع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7" name="AutoShape 15"/>
          <p:cNvSpPr>
            <a:spLocks noChangeArrowheads="1"/>
          </p:cNvSpPr>
          <p:nvPr/>
        </p:nvSpPr>
        <p:spPr bwMode="auto">
          <a:xfrm>
            <a:off x="5486400" y="2895600"/>
            <a:ext cx="1219200" cy="533400"/>
          </a:xfrm>
          <a:prstGeom prst="flowChartAlternate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زمانبند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88" name="Rectangle 16"/>
          <p:cNvSpPr>
            <a:spLocks noChangeArrowheads="1"/>
          </p:cNvSpPr>
          <p:nvPr/>
        </p:nvSpPr>
        <p:spPr bwMode="auto">
          <a:xfrm>
            <a:off x="7848600" y="2895600"/>
            <a:ext cx="1676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 eaLnBrk="0" hangingPunct="0"/>
            <a:r>
              <a:rPr lang="fa-IR" altLang="en-US" sz="2000">
                <a:latin typeface="Arial" panose="020B0604020202020204" pitchFamily="34" charset="0"/>
              </a:rPr>
              <a:t>اداره کننده استثنا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56694" name="Line 22"/>
          <p:cNvSpPr>
            <a:spLocks noChangeShapeType="1"/>
          </p:cNvSpPr>
          <p:nvPr/>
        </p:nvSpPr>
        <p:spPr bwMode="auto">
          <a:xfrm flipV="1">
            <a:off x="6172200" y="5791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696" name="Line 24"/>
          <p:cNvSpPr>
            <a:spLocks noChangeShapeType="1"/>
          </p:cNvSpPr>
          <p:nvPr/>
        </p:nvSpPr>
        <p:spPr bwMode="auto">
          <a:xfrm>
            <a:off x="4267200" y="5562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0" name="Line 28"/>
          <p:cNvSpPr>
            <a:spLocks noChangeShapeType="1"/>
          </p:cNvSpPr>
          <p:nvPr/>
        </p:nvSpPr>
        <p:spPr bwMode="auto">
          <a:xfrm flipH="1">
            <a:off x="6781800" y="46482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1" name="Line 29"/>
          <p:cNvSpPr>
            <a:spLocks noChangeShapeType="1"/>
          </p:cNvSpPr>
          <p:nvPr/>
        </p:nvSpPr>
        <p:spPr bwMode="auto">
          <a:xfrm>
            <a:off x="4572000" y="4648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2" name="Line 30"/>
          <p:cNvSpPr>
            <a:spLocks noChangeShapeType="1"/>
          </p:cNvSpPr>
          <p:nvPr/>
        </p:nvSpPr>
        <p:spPr bwMode="auto">
          <a:xfrm>
            <a:off x="6096000" y="4191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3" name="Line 31"/>
          <p:cNvSpPr>
            <a:spLocks noChangeShapeType="1"/>
          </p:cNvSpPr>
          <p:nvPr/>
        </p:nvSpPr>
        <p:spPr bwMode="auto">
          <a:xfrm flipH="1">
            <a:off x="6705600" y="3200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4" name="Line 32"/>
          <p:cNvSpPr>
            <a:spLocks noChangeShapeType="1"/>
          </p:cNvSpPr>
          <p:nvPr/>
        </p:nvSpPr>
        <p:spPr bwMode="auto">
          <a:xfrm>
            <a:off x="4343400" y="3200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6" name="Line 34"/>
          <p:cNvSpPr>
            <a:spLocks noChangeShapeType="1"/>
          </p:cNvSpPr>
          <p:nvPr/>
        </p:nvSpPr>
        <p:spPr bwMode="auto">
          <a:xfrm>
            <a:off x="6172200" y="2514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7" name="Line 35"/>
          <p:cNvSpPr>
            <a:spLocks noChangeShapeType="1"/>
          </p:cNvSpPr>
          <p:nvPr/>
        </p:nvSpPr>
        <p:spPr bwMode="auto">
          <a:xfrm>
            <a:off x="6172200" y="5943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08" name="Line 36"/>
          <p:cNvSpPr>
            <a:spLocks noChangeShapeType="1"/>
          </p:cNvSpPr>
          <p:nvPr/>
        </p:nvSpPr>
        <p:spPr bwMode="auto">
          <a:xfrm flipH="1">
            <a:off x="4114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0" name="Line 38"/>
          <p:cNvSpPr>
            <a:spLocks noChangeShapeType="1"/>
          </p:cNvSpPr>
          <p:nvPr/>
        </p:nvSpPr>
        <p:spPr bwMode="auto">
          <a:xfrm flipH="1">
            <a:off x="6781800" y="5486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1" name="Line 39"/>
          <p:cNvSpPr>
            <a:spLocks noChangeShapeType="1"/>
          </p:cNvSpPr>
          <p:nvPr/>
        </p:nvSpPr>
        <p:spPr bwMode="auto">
          <a:xfrm flipH="1">
            <a:off x="4267200" y="4876800"/>
            <a:ext cx="1219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2" name="Line 40"/>
          <p:cNvSpPr>
            <a:spLocks noChangeShapeType="1"/>
          </p:cNvSpPr>
          <p:nvPr/>
        </p:nvSpPr>
        <p:spPr bwMode="auto">
          <a:xfrm flipV="1">
            <a:off x="6781800" y="48006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3" name="Line 41"/>
          <p:cNvSpPr>
            <a:spLocks noChangeShapeType="1"/>
          </p:cNvSpPr>
          <p:nvPr/>
        </p:nvSpPr>
        <p:spPr bwMode="auto">
          <a:xfrm>
            <a:off x="9982200" y="18288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4" name="Line 42"/>
          <p:cNvSpPr>
            <a:spLocks noChangeShapeType="1"/>
          </p:cNvSpPr>
          <p:nvPr/>
        </p:nvSpPr>
        <p:spPr bwMode="auto">
          <a:xfrm flipH="1">
            <a:off x="2209800" y="62484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5" name="Line 43"/>
          <p:cNvSpPr>
            <a:spLocks noChangeShapeType="1"/>
          </p:cNvSpPr>
          <p:nvPr/>
        </p:nvSpPr>
        <p:spPr bwMode="auto">
          <a:xfrm flipV="1">
            <a:off x="2209800" y="1828800"/>
            <a:ext cx="0" cy="441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6" name="Line 44"/>
          <p:cNvSpPr>
            <a:spLocks noChangeShapeType="1"/>
          </p:cNvSpPr>
          <p:nvPr/>
        </p:nvSpPr>
        <p:spPr bwMode="auto">
          <a:xfrm>
            <a:off x="2209800" y="18288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6717" name="WordArt 45"/>
          <p:cNvSpPr>
            <a:spLocks noChangeArrowheads="1" noChangeShapeType="1" noTextEdit="1"/>
          </p:cNvSpPr>
          <p:nvPr/>
        </p:nvSpPr>
        <p:spPr bwMode="auto">
          <a:xfrm>
            <a:off x="4495801" y="762000"/>
            <a:ext cx="5857875" cy="5905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0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قطعات سیستم های عامل بی درنگ:</a:t>
            </a:r>
            <a:endParaRPr lang="en-US" sz="40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14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752600"/>
            <a:ext cx="10898038" cy="5105400"/>
          </a:xfrm>
        </p:spPr>
        <p:txBody>
          <a:bodyPr>
            <a:normAutofit/>
          </a:bodyPr>
          <a:lstStyle/>
          <a:p>
            <a:pPr algn="r" rtl="1">
              <a:buSzPct val="150000"/>
              <a:buFont typeface="Wingdings" panose="05000000000000000000" pitchFamily="2" charset="2"/>
              <a:buChar char=""/>
            </a:pPr>
            <a:r>
              <a:rPr lang="fa-IR" altLang="en-US" sz="4400" dirty="0">
                <a:cs typeface="Badr" panose="00000400000000000000" pitchFamily="2" charset="-78"/>
              </a:rPr>
              <a:t>سیستم عامل بی درنگ مسئول </a:t>
            </a:r>
            <a:r>
              <a:rPr lang="fa-IR" altLang="en-US" sz="4400" dirty="0" smtClean="0">
                <a:cs typeface="Badr" panose="00000400000000000000" pitchFamily="2" charset="-78"/>
              </a:rPr>
              <a:t>مدیریت</a:t>
            </a:r>
            <a:r>
              <a:rPr lang="en-US" altLang="en-US" sz="4400" dirty="0" smtClean="0">
                <a:cs typeface="Badr" panose="00000400000000000000" pitchFamily="2" charset="-78"/>
              </a:rPr>
              <a:t> </a:t>
            </a:r>
            <a:r>
              <a:rPr lang="fa-IR" altLang="en-US" sz="4400" dirty="0" smtClean="0">
                <a:cs typeface="Badr" panose="00000400000000000000" pitchFamily="2" charset="-78"/>
              </a:rPr>
              <a:t>منابع </a:t>
            </a:r>
            <a:r>
              <a:rPr lang="fa-IR" altLang="en-US" sz="4400" dirty="0">
                <a:cs typeface="Badr" panose="00000400000000000000" pitchFamily="2" charset="-78"/>
              </a:rPr>
              <a:t>وفرآینداست وهمواره شامل </a:t>
            </a:r>
            <a:r>
              <a:rPr lang="fa-IR" altLang="en-US" sz="4400" dirty="0" smtClean="0">
                <a:cs typeface="Badr" panose="00000400000000000000" pitchFamily="2" charset="-78"/>
              </a:rPr>
              <a:t>زمان</a:t>
            </a:r>
            <a:r>
              <a:rPr lang="en-US" altLang="en-US" sz="4400" dirty="0" smtClean="0">
                <a:cs typeface="Badr" panose="00000400000000000000" pitchFamily="2" charset="-78"/>
              </a:rPr>
              <a:t> </a:t>
            </a:r>
            <a:r>
              <a:rPr lang="fa-IR" altLang="en-US" sz="4400" dirty="0" smtClean="0">
                <a:cs typeface="Badr" panose="00000400000000000000" pitchFamily="2" charset="-78"/>
              </a:rPr>
              <a:t>بندی </a:t>
            </a:r>
            <a:r>
              <a:rPr lang="fa-IR" altLang="en-US" sz="4400" dirty="0">
                <a:cs typeface="Badr" panose="00000400000000000000" pitchFamily="2" charset="-78"/>
              </a:rPr>
              <a:t>است که تصمیم می گیرد کدام فرایند </a:t>
            </a:r>
            <a:br>
              <a:rPr lang="fa-IR" altLang="en-US" sz="4400" dirty="0">
                <a:cs typeface="Badr" panose="00000400000000000000" pitchFamily="2" charset="-78"/>
              </a:rPr>
            </a:br>
            <a:r>
              <a:rPr lang="fa-IR" altLang="en-US" sz="4400" dirty="0">
                <a:cs typeface="Badr" panose="00000400000000000000" pitchFamily="2" charset="-78"/>
              </a:rPr>
              <a:t>  براساس اولویت برای اجرازمان بندی شود</a:t>
            </a:r>
            <a:r>
              <a:rPr lang="fa-IR" altLang="en-US" sz="4800" dirty="0">
                <a:cs typeface="Badr" panose="00000400000000000000" pitchFamily="2" charset="-78"/>
              </a:rPr>
              <a:t>.</a:t>
            </a:r>
            <a:endParaRPr lang="en-US" altLang="en-US" sz="4800" dirty="0">
              <a:cs typeface="Badr" panose="00000400000000000000" pitchFamily="2" charset="-78"/>
            </a:endParaRPr>
          </a:p>
        </p:txBody>
      </p:sp>
      <p:sp>
        <p:nvSpPr>
          <p:cNvPr id="719876" name="WordArt 4"/>
          <p:cNvSpPr>
            <a:spLocks noChangeArrowheads="1" noChangeShapeType="1" noTextEdit="1"/>
          </p:cNvSpPr>
          <p:nvPr/>
        </p:nvSpPr>
        <p:spPr bwMode="auto">
          <a:xfrm>
            <a:off x="4724401" y="762001"/>
            <a:ext cx="4467225" cy="657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4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سیستم عامل بی درنگ :</a:t>
            </a:r>
            <a:endParaRPr lang="en-US" sz="44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747622" y="2032959"/>
            <a:ext cx="11070566" cy="4191000"/>
          </a:xfrm>
        </p:spPr>
        <p:txBody>
          <a:bodyPr>
            <a:normAutofit lnSpcReduction="10000"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ساعت بی درنگ </a:t>
            </a:r>
          </a:p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اداره کننده وقفه</a:t>
            </a:r>
          </a:p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 زمان بند</a:t>
            </a:r>
          </a:p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مدیر منابع</a:t>
            </a:r>
          </a:p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توزیع کننده</a:t>
            </a:r>
          </a:p>
          <a:p>
            <a:pPr algn="r" rtl="1">
              <a:buSzPct val="130000"/>
              <a:buFont typeface="Wingdings" panose="05000000000000000000" pitchFamily="2" charset="2"/>
              <a:buChar char="Ø"/>
            </a:pPr>
            <a:endParaRPr lang="en-US" altLang="en-US" sz="4800" dirty="0">
              <a:cs typeface="Badr" panose="00000400000000000000" pitchFamily="2" charset="-78"/>
            </a:endParaRPr>
          </a:p>
        </p:txBody>
      </p:sp>
      <p:sp>
        <p:nvSpPr>
          <p:cNvPr id="702468" name="WordArt 4"/>
          <p:cNvSpPr>
            <a:spLocks noChangeArrowheads="1" noChangeShapeType="1" noTextEdit="1"/>
          </p:cNvSpPr>
          <p:nvPr/>
        </p:nvSpPr>
        <p:spPr bwMode="auto">
          <a:xfrm>
            <a:off x="3429000" y="838200"/>
            <a:ext cx="592455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1"/>
            <a:r>
              <a:rPr lang="fa-IR" sz="4000" b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قطعات</a:t>
            </a:r>
            <a:r>
              <a:rPr lang="en-US" sz="4000" b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RTOS </a:t>
            </a:r>
            <a:r>
              <a:rPr lang="fa-IR" sz="4000" b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برای تمام سیستم ها:</a:t>
            </a:r>
            <a:endParaRPr lang="en-US" sz="4000" b="1" kern="10" dirty="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23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2362200"/>
            <a:ext cx="11036060" cy="3657600"/>
          </a:xfrm>
        </p:spPr>
        <p:txBody>
          <a:bodyPr>
            <a:normAutofit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5300" dirty="0">
                <a:cs typeface="Badr" panose="00000400000000000000" pitchFamily="2" charset="-78"/>
              </a:rPr>
              <a:t>سطح وقفه: بالاترین سطح اولویت </a:t>
            </a:r>
            <a:r>
              <a:rPr lang="fa-IR" altLang="en-US" sz="5300" dirty="0" smtClean="0">
                <a:cs typeface="Badr" panose="00000400000000000000" pitchFamily="2" charset="-78"/>
              </a:rPr>
              <a:t>است.به</a:t>
            </a:r>
            <a:r>
              <a:rPr lang="en-US" altLang="en-US" sz="5300" dirty="0" smtClean="0">
                <a:cs typeface="Badr" panose="00000400000000000000" pitchFamily="2" charset="-78"/>
              </a:rPr>
              <a:t> </a:t>
            </a:r>
            <a:r>
              <a:rPr lang="fa-IR" altLang="en-US" sz="5300" dirty="0" smtClean="0">
                <a:cs typeface="Badr" panose="00000400000000000000" pitchFamily="2" charset="-78"/>
              </a:rPr>
              <a:t>فرآیندهایی </a:t>
            </a:r>
            <a:r>
              <a:rPr lang="fa-IR" altLang="en-US" sz="5300" dirty="0">
                <a:cs typeface="Badr" panose="00000400000000000000" pitchFamily="2" charset="-78"/>
              </a:rPr>
              <a:t>تخصیص می </a:t>
            </a:r>
            <a:r>
              <a:rPr lang="fa-IR" altLang="en-US" sz="5300" dirty="0" smtClean="0">
                <a:cs typeface="Badr" panose="00000400000000000000" pitchFamily="2" charset="-78"/>
              </a:rPr>
              <a:t>یابد</a:t>
            </a:r>
            <a:r>
              <a:rPr lang="en-US" altLang="en-US" sz="5300" dirty="0" smtClean="0">
                <a:cs typeface="Badr" panose="00000400000000000000" pitchFamily="2" charset="-78"/>
              </a:rPr>
              <a:t>  </a:t>
            </a:r>
            <a:r>
              <a:rPr lang="fa-IR" altLang="en-US" sz="5300" dirty="0" smtClean="0">
                <a:cs typeface="Badr" panose="00000400000000000000" pitchFamily="2" charset="-78"/>
              </a:rPr>
              <a:t>که </a:t>
            </a:r>
            <a:r>
              <a:rPr lang="fa-IR" altLang="en-US" sz="5300" dirty="0">
                <a:cs typeface="Badr" panose="00000400000000000000" pitchFamily="2" charset="-78"/>
              </a:rPr>
              <a:t>به پاسخ خیلی سریع نیاز دارند.</a:t>
            </a:r>
          </a:p>
          <a:p>
            <a:pPr algn="r" rtl="1">
              <a:buSzPct val="130000"/>
              <a:buFont typeface="Wingdings" panose="05000000000000000000" pitchFamily="2" charset="2"/>
              <a:buNone/>
            </a:pPr>
            <a:endParaRPr lang="fa-IR" altLang="en-US" sz="3600" dirty="0">
              <a:cs typeface="Badr" panose="00000400000000000000" pitchFamily="2" charset="-78"/>
            </a:endParaRPr>
          </a:p>
          <a:p>
            <a:pPr algn="r" rtl="1">
              <a:buSzPct val="130000"/>
              <a:buFont typeface="Wingdings" panose="05000000000000000000" pitchFamily="2" charset="2"/>
              <a:buChar char="Ø"/>
            </a:pPr>
            <a:endParaRPr lang="en-US" altLang="en-US" sz="3600" dirty="0">
              <a:cs typeface="Badr" panose="00000400000000000000" pitchFamily="2" charset="-78"/>
            </a:endParaRPr>
          </a:p>
        </p:txBody>
      </p:sp>
      <p:sp>
        <p:nvSpPr>
          <p:cNvPr id="703492" name="WordArt 4"/>
          <p:cNvSpPr>
            <a:spLocks noChangeArrowheads="1" noChangeShapeType="1" noTextEdit="1"/>
          </p:cNvSpPr>
          <p:nvPr/>
        </p:nvSpPr>
        <p:spPr bwMode="auto">
          <a:xfrm>
            <a:off x="1600200" y="685800"/>
            <a:ext cx="9067800" cy="6286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1"/>
            <a:r>
              <a:rPr lang="fa-IR" sz="4400" b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دوسطح اولویت که توسط</a:t>
            </a:r>
            <a:r>
              <a:rPr lang="en-US" sz="4400" b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RTOS</a:t>
            </a:r>
            <a:r>
              <a:rPr lang="fa-IR" sz="4400" b="1" kern="10" dirty="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مدیریت می شود:</a:t>
            </a:r>
            <a:endParaRPr lang="en-US" sz="4400" b="1" kern="10" dirty="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4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06747" y="1223513"/>
            <a:ext cx="9144000" cy="4724400"/>
          </a:xfrm>
        </p:spPr>
        <p:txBody>
          <a:bodyPr>
            <a:normAutofit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سطح ساعت: این سطح ازاولویت به فرآیندهای دوره ای تخصیص می یابد.</a:t>
            </a:r>
          </a:p>
          <a:p>
            <a:pPr algn="r" rtl="1">
              <a:buSzPct val="130000"/>
              <a:buFont typeface="Wingdings" panose="05000000000000000000" pitchFamily="2" charset="2"/>
              <a:buNone/>
            </a:pPr>
            <a:r>
              <a:rPr lang="fa-IR" altLang="en-US" sz="4800" dirty="0">
                <a:cs typeface="Badr" panose="00000400000000000000" pitchFamily="2" charset="-78"/>
              </a:rPr>
              <a:t>   البته ممکن است سطحی مثل </a:t>
            </a:r>
            <a:r>
              <a:rPr lang="fa-IR" altLang="en-US" sz="4800" dirty="0" smtClean="0">
                <a:cs typeface="Badr" panose="00000400000000000000" pitchFamily="2" charset="-78"/>
              </a:rPr>
              <a:t>فرآیندخود-کنترلی </a:t>
            </a:r>
            <a:r>
              <a:rPr lang="fa-IR" altLang="en-US" sz="4800" dirty="0">
                <a:cs typeface="Badr" panose="00000400000000000000" pitchFamily="2" charset="-78"/>
              </a:rPr>
              <a:t>نیزتخصیص داده شود.</a:t>
            </a:r>
            <a:endParaRPr lang="en-US" altLang="en-US" sz="4800" dirty="0">
              <a:cs typeface="Bad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067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2209800"/>
            <a:ext cx="11128075" cy="4495800"/>
          </a:xfrm>
        </p:spPr>
        <p:txBody>
          <a:bodyPr>
            <a:normAutofit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زمان بندی بدون قبضه کردن: وقتی فرآیندی برای اجرازمان بندی شد، آن قدراجرامی شودتاکامل گرددیابه </a:t>
            </a:r>
            <a:r>
              <a:rPr lang="fa-IR" altLang="en-US" sz="4800" dirty="0" smtClean="0">
                <a:cs typeface="Badr" panose="00000400000000000000" pitchFamily="2" charset="-78"/>
              </a:rPr>
              <a:t>دلایلی</a:t>
            </a:r>
            <a:r>
              <a:rPr lang="en-US" altLang="en-US" sz="4800" dirty="0" smtClean="0"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cs typeface="Badr" panose="00000400000000000000" pitchFamily="2" charset="-78"/>
              </a:rPr>
              <a:t>مثل </a:t>
            </a:r>
            <a:r>
              <a:rPr lang="fa-IR" altLang="en-US" sz="4800" dirty="0">
                <a:cs typeface="Badr" panose="00000400000000000000" pitchFamily="2" charset="-78"/>
              </a:rPr>
              <a:t>انتظاربرای ورودی،مسدود شود.</a:t>
            </a:r>
          </a:p>
          <a:p>
            <a:pPr algn="r" rtl="1">
              <a:buSzPct val="130000"/>
              <a:buFont typeface="Wingdings" panose="05000000000000000000" pitchFamily="2" charset="2"/>
              <a:buNone/>
            </a:pPr>
            <a:endParaRPr lang="fa-IR" altLang="en-US" sz="4800" dirty="0">
              <a:cs typeface="Badr" panose="00000400000000000000" pitchFamily="2" charset="-78"/>
            </a:endParaRPr>
          </a:p>
          <a:p>
            <a:pPr algn="r" rtl="1">
              <a:buSzPct val="130000"/>
              <a:buFont typeface="Wingdings" panose="05000000000000000000" pitchFamily="2" charset="2"/>
              <a:buNone/>
            </a:pPr>
            <a:endParaRPr lang="en-US" altLang="en-US" sz="3600" dirty="0">
              <a:cs typeface="Badr" panose="00000400000000000000" pitchFamily="2" charset="-78"/>
            </a:endParaRPr>
          </a:p>
        </p:txBody>
      </p:sp>
      <p:sp>
        <p:nvSpPr>
          <p:cNvPr id="704516" name="WordArt 4"/>
          <p:cNvSpPr>
            <a:spLocks noChangeArrowheads="1" noChangeShapeType="1" noTextEdit="1"/>
          </p:cNvSpPr>
          <p:nvPr/>
        </p:nvSpPr>
        <p:spPr bwMode="auto">
          <a:xfrm>
            <a:off x="5105400" y="533400"/>
            <a:ext cx="520065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i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دوراهبردزمان بندی مؤثر:</a:t>
            </a:r>
            <a:endParaRPr lang="en-US" sz="4800" b="1" i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88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1752600"/>
            <a:ext cx="11415623" cy="5105400"/>
          </a:xfrm>
        </p:spPr>
        <p:txBody>
          <a:bodyPr>
            <a:normAutofit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زمان بندی قبضه کردن: اجرای </a:t>
            </a:r>
            <a:r>
              <a:rPr lang="fa-IR" altLang="en-US" sz="4800" dirty="0" smtClean="0">
                <a:cs typeface="Badr" panose="00000400000000000000" pitchFamily="2" charset="-78"/>
              </a:rPr>
              <a:t>فرآیند </a:t>
            </a:r>
            <a:r>
              <a:rPr lang="fa-IR" altLang="en-US" sz="4800" dirty="0">
                <a:cs typeface="Badr" panose="00000400000000000000" pitchFamily="2" charset="-78"/>
              </a:rPr>
              <a:t>درحال اجراممکن است توسط </a:t>
            </a:r>
            <a:r>
              <a:rPr lang="fa-IR" altLang="en-US" sz="4800" dirty="0" smtClean="0">
                <a:cs typeface="Badr" panose="00000400000000000000" pitchFamily="2" charset="-78"/>
              </a:rPr>
              <a:t>فرآیندبا</a:t>
            </a:r>
            <a:r>
              <a:rPr lang="en-US" altLang="en-US" sz="4800" dirty="0" smtClean="0"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cs typeface="Badr" panose="00000400000000000000" pitchFamily="2" charset="-78"/>
              </a:rPr>
              <a:t>اولویت </a:t>
            </a:r>
            <a:r>
              <a:rPr lang="fa-IR" altLang="en-US" sz="4800" dirty="0">
                <a:cs typeface="Badr" panose="00000400000000000000" pitchFamily="2" charset="-78"/>
              </a:rPr>
              <a:t>بالاترمتوقف شود.فرآینداولویت</a:t>
            </a:r>
          </a:p>
          <a:p>
            <a:pPr algn="r" rtl="1">
              <a:buSzPct val="130000"/>
              <a:buFont typeface="Wingdings" panose="05000000000000000000" pitchFamily="2" charset="2"/>
              <a:buNone/>
            </a:pPr>
            <a:r>
              <a:rPr lang="fa-IR" altLang="en-US" sz="4800" dirty="0">
                <a:cs typeface="Badr" panose="00000400000000000000" pitchFamily="2" charset="-78"/>
              </a:rPr>
              <a:t>    بالاتراجرای فرآیندبااولویت پایین </a:t>
            </a:r>
            <a:r>
              <a:rPr lang="fa-IR" altLang="en-US" sz="4800" dirty="0" smtClean="0">
                <a:cs typeface="Badr" panose="00000400000000000000" pitchFamily="2" charset="-78"/>
              </a:rPr>
              <a:t>تررا </a:t>
            </a:r>
            <a:r>
              <a:rPr lang="fa-IR" altLang="en-US" sz="4800" dirty="0">
                <a:cs typeface="Badr" panose="00000400000000000000" pitchFamily="2" charset="-78"/>
              </a:rPr>
              <a:t>خاتمه می دهد.</a:t>
            </a:r>
            <a:endParaRPr lang="en-US" altLang="en-US" sz="4800" dirty="0">
              <a:cs typeface="Bad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1647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1828800"/>
            <a:ext cx="11381117" cy="4724400"/>
          </a:xfrm>
        </p:spPr>
        <p:txBody>
          <a:bodyPr>
            <a:normAutofit/>
          </a:bodyPr>
          <a:lstStyle/>
          <a:p>
            <a:pPr algn="r" rtl="1">
              <a:buSzPct val="150000"/>
              <a:buFont typeface="Wingdings" panose="05000000000000000000" pitchFamily="2" charset="2"/>
              <a:buChar char=""/>
            </a:pPr>
            <a:r>
              <a:rPr lang="fa-IR" altLang="en-US" sz="4800" dirty="0">
                <a:cs typeface="Badr" panose="00000400000000000000" pitchFamily="2" charset="-78"/>
              </a:rPr>
              <a:t>سیستم های کنترلی وناظر، به طوردوره ای مجموعه ای ازسنسور هایی راامتحان می کنند  که اطلاعات راازمحیط سیستم به بدست می </a:t>
            </a:r>
            <a:r>
              <a:rPr lang="fa-IR" altLang="en-US" sz="4800" dirty="0" smtClean="0">
                <a:cs typeface="Badr" panose="00000400000000000000" pitchFamily="2" charset="-78"/>
              </a:rPr>
              <a:t>آورندو از </a:t>
            </a:r>
            <a:r>
              <a:rPr lang="fa-IR" altLang="en-US" sz="4800" dirty="0">
                <a:cs typeface="Badr" panose="00000400000000000000" pitchFamily="2" charset="-78"/>
              </a:rPr>
              <a:t>طریق ارسال </a:t>
            </a:r>
            <a:r>
              <a:rPr lang="fa-IR" altLang="en-US" sz="4800" dirty="0" smtClean="0">
                <a:cs typeface="Badr" panose="00000400000000000000" pitchFamily="2" charset="-78"/>
              </a:rPr>
              <a:t>فرمانهایی </a:t>
            </a:r>
            <a:r>
              <a:rPr lang="fa-IR" altLang="en-US" sz="4800" dirty="0">
                <a:cs typeface="Badr" panose="00000400000000000000" pitchFamily="2" charset="-78"/>
              </a:rPr>
              <a:t>به محرکها،فعالیتهایی راانجام می دهند.</a:t>
            </a:r>
            <a:endParaRPr lang="en-US" altLang="en-US" sz="4800" dirty="0">
              <a:cs typeface="Badr" panose="00000400000000000000" pitchFamily="2" charset="-78"/>
            </a:endParaRPr>
          </a:p>
        </p:txBody>
      </p:sp>
      <p:sp>
        <p:nvSpPr>
          <p:cNvPr id="716806" name="WordArt 6"/>
          <p:cNvSpPr>
            <a:spLocks noChangeArrowheads="1" noChangeShapeType="1" noTextEdit="1"/>
          </p:cNvSpPr>
          <p:nvPr/>
        </p:nvSpPr>
        <p:spPr bwMode="auto">
          <a:xfrm>
            <a:off x="5181600" y="609601"/>
            <a:ext cx="527685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سیستم های کنترلی وناظر:</a:t>
            </a:r>
            <a:endParaRPr lang="en-US" sz="48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050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8574" y="2317630"/>
            <a:ext cx="11007305" cy="3352800"/>
          </a:xfrm>
        </p:spPr>
        <p:txBody>
          <a:bodyPr>
            <a:normAutofit/>
          </a:bodyPr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خرابی منبع تغذیه: این تحریک </a:t>
            </a:r>
            <a:r>
              <a:rPr lang="fa-IR" altLang="en-US" sz="4800" dirty="0" smtClean="0">
                <a:cs typeface="Badr" panose="00000400000000000000" pitchFamily="2" charset="-78"/>
              </a:rPr>
              <a:t>توسط</a:t>
            </a:r>
            <a:r>
              <a:rPr lang="en-US" altLang="en-US" sz="4800" dirty="0" smtClean="0"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cs typeface="Badr" panose="00000400000000000000" pitchFamily="2" charset="-78"/>
              </a:rPr>
              <a:t>ناظرمدارتولیدمی </a:t>
            </a:r>
            <a:r>
              <a:rPr lang="fa-IR" altLang="en-US" sz="4800" dirty="0">
                <a:cs typeface="Badr" panose="00000400000000000000" pitchFamily="2" charset="-78"/>
              </a:rPr>
              <a:t>شود.وپاسخش </a:t>
            </a:r>
            <a:r>
              <a:rPr lang="fa-IR" altLang="en-US" sz="4800" dirty="0" smtClean="0">
                <a:cs typeface="Badr" panose="00000400000000000000" pitchFamily="2" charset="-78"/>
              </a:rPr>
              <a:t>وارد </a:t>
            </a:r>
            <a:r>
              <a:rPr lang="fa-IR" altLang="en-US" sz="4800" dirty="0">
                <a:cs typeface="Badr" panose="00000400000000000000" pitchFamily="2" charset="-78"/>
              </a:rPr>
              <a:t>کردن منبع تغذیه پشتیبان </a:t>
            </a:r>
            <a:r>
              <a:rPr lang="fa-IR" altLang="en-US" sz="4800" dirty="0" smtClean="0">
                <a:cs typeface="Badr" panose="00000400000000000000" pitchFamily="2" charset="-78"/>
              </a:rPr>
              <a:t>به مداراست</a:t>
            </a:r>
            <a:r>
              <a:rPr lang="fa-IR" altLang="en-US" sz="4800" dirty="0">
                <a:cs typeface="Badr" panose="00000400000000000000" pitchFamily="2" charset="-78"/>
              </a:rPr>
              <a:t>.</a:t>
            </a:r>
          </a:p>
          <a:p>
            <a:pPr algn="r" rtl="1">
              <a:buSzPct val="130000"/>
              <a:buFont typeface="Wingdings" panose="05000000000000000000" pitchFamily="2" charset="2"/>
              <a:buNone/>
            </a:pPr>
            <a:endParaRPr lang="en-US" altLang="en-US" sz="4800" dirty="0">
              <a:cs typeface="Badr" panose="00000400000000000000" pitchFamily="2" charset="-78"/>
            </a:endParaRPr>
          </a:p>
        </p:txBody>
      </p:sp>
      <p:sp>
        <p:nvSpPr>
          <p:cNvPr id="705540" name="WordArt 4"/>
          <p:cNvSpPr>
            <a:spLocks noChangeArrowheads="1" noChangeShapeType="1" noTextEdit="1"/>
          </p:cNvSpPr>
          <p:nvPr/>
        </p:nvSpPr>
        <p:spPr bwMode="auto">
          <a:xfrm>
            <a:off x="3200400" y="152400"/>
            <a:ext cx="710565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دودسته ازتحریک که در سیستم های</a:t>
            </a:r>
          </a:p>
          <a:p>
            <a:pPr algn="ctr"/>
            <a:r>
              <a:rPr lang="fa-IR" sz="48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 کنترلی وناظربایدپردازش شوند:</a:t>
            </a:r>
            <a:endParaRPr lang="en-US" sz="48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0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05464" y="1062487"/>
            <a:ext cx="9144000" cy="5105400"/>
          </a:xfrm>
        </p:spPr>
        <p:txBody>
          <a:bodyPr/>
          <a:lstStyle/>
          <a:p>
            <a:pPr algn="r" rtl="1">
              <a:buSzPct val="130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آژیروقفه: تحریک هایی هستندکه دریکی   ازسنسورهای سیستم تولید می </a:t>
            </a:r>
            <a:r>
              <a:rPr lang="fa-IR" altLang="en-US" sz="4800" dirty="0" smtClean="0">
                <a:cs typeface="Badr" panose="00000400000000000000" pitchFamily="2" charset="-78"/>
              </a:rPr>
              <a:t>شوند. </a:t>
            </a:r>
            <a:r>
              <a:rPr lang="fa-IR" altLang="en-US" sz="4800" dirty="0">
                <a:cs typeface="Badr" panose="00000400000000000000" pitchFamily="2" charset="-78"/>
              </a:rPr>
              <a:t>پاسخ  این تحریک، محاسبه شماره اتاق سنسور  فعال است.</a:t>
            </a:r>
            <a:endParaRPr lang="en-US" altLang="en-US" sz="4800" dirty="0">
              <a:cs typeface="Bad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55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1752600"/>
            <a:ext cx="11829691" cy="5105400"/>
          </a:xfrm>
        </p:spPr>
        <p:txBody>
          <a:bodyPr>
            <a:normAutofit/>
          </a:bodyPr>
          <a:lstStyle/>
          <a:p>
            <a:pPr algn="r" rtl="1">
              <a:buSzPct val="135000"/>
              <a:buFont typeface="Wingdings" panose="05000000000000000000" pitchFamily="2" charset="2"/>
              <a:buChar char="Ø"/>
            </a:pPr>
            <a:r>
              <a:rPr lang="fa-IR" altLang="en-US" sz="4800" dirty="0">
                <a:cs typeface="Badr" panose="00000400000000000000" pitchFamily="2" charset="-78"/>
              </a:rPr>
              <a:t>سیستم های جمع آوری داده </a:t>
            </a:r>
            <a:r>
              <a:rPr lang="fa-IR" altLang="en-US" sz="4800" dirty="0" smtClean="0">
                <a:cs typeface="Badr" panose="00000400000000000000" pitchFamily="2" charset="-78"/>
              </a:rPr>
              <a:t>هابرحسب</a:t>
            </a:r>
            <a:r>
              <a:rPr lang="en-US" altLang="en-US" sz="4800" dirty="0" smtClean="0">
                <a:cs typeface="Badr" panose="00000400000000000000" pitchFamily="2" charset="-78"/>
              </a:rPr>
              <a:t> </a:t>
            </a:r>
            <a:r>
              <a:rPr lang="fa-IR" altLang="en-US" sz="4800" dirty="0" smtClean="0">
                <a:cs typeface="Badr" panose="00000400000000000000" pitchFamily="2" charset="-78"/>
              </a:rPr>
              <a:t>مدل </a:t>
            </a:r>
            <a:r>
              <a:rPr lang="fa-IR" altLang="en-US" sz="4800" dirty="0">
                <a:cs typeface="Badr" panose="00000400000000000000" pitchFamily="2" charset="-78"/>
              </a:rPr>
              <a:t>تولیدکننده– مصرف کننده سازمان </a:t>
            </a:r>
            <a:r>
              <a:rPr lang="fa-IR" altLang="en-US" sz="4800" dirty="0" smtClean="0">
                <a:cs typeface="Badr" panose="00000400000000000000" pitchFamily="2" charset="-78"/>
              </a:rPr>
              <a:t>یافته </a:t>
            </a:r>
            <a:r>
              <a:rPr lang="fa-IR" altLang="en-US" sz="4800" dirty="0">
                <a:cs typeface="Badr" panose="00000400000000000000" pitchFamily="2" charset="-78"/>
              </a:rPr>
              <a:t>می شوند .وداده هارااز سنسورها </a:t>
            </a:r>
          </a:p>
          <a:p>
            <a:pPr algn="r" rtl="1">
              <a:buFont typeface="Wingdings" panose="05000000000000000000" pitchFamily="2" charset="2"/>
              <a:buNone/>
            </a:pPr>
            <a:r>
              <a:rPr lang="fa-IR" altLang="en-US" sz="4800" dirty="0">
                <a:cs typeface="Badr" panose="00000400000000000000" pitchFamily="2" charset="-78"/>
              </a:rPr>
              <a:t>  جمع آوری می کنندتابعداًپردازش شوند.</a:t>
            </a:r>
            <a:endParaRPr lang="en-US" altLang="en-US" sz="4800" dirty="0">
              <a:cs typeface="Badr" panose="00000400000000000000" pitchFamily="2" charset="-78"/>
            </a:endParaRPr>
          </a:p>
        </p:txBody>
      </p:sp>
      <p:sp>
        <p:nvSpPr>
          <p:cNvPr id="733188" name="WordArt 4"/>
          <p:cNvSpPr>
            <a:spLocks noChangeArrowheads="1" noChangeShapeType="1" noTextEdit="1"/>
          </p:cNvSpPr>
          <p:nvPr/>
        </p:nvSpPr>
        <p:spPr bwMode="auto">
          <a:xfrm>
            <a:off x="3352800" y="685801"/>
            <a:ext cx="712470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8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سیستم های جمع آوری داده چیست:</a:t>
            </a:r>
            <a:endParaRPr lang="en-US" sz="48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18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676400"/>
            <a:ext cx="9144000" cy="5181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3900" dirty="0"/>
              <a:t>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3900" dirty="0"/>
              <a:t>                   </a:t>
            </a:r>
            <a:r>
              <a:rPr lang="fa-IR" altLang="en-US" sz="2000" dirty="0"/>
              <a:t>شناسه ومقدار                    شناسه ومقدار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2000" dirty="0"/>
              <a:t>                                         سنسور                            سنسور</a:t>
            </a:r>
            <a:r>
              <a:rPr lang="fa-IR" altLang="en-US" sz="2400" dirty="0"/>
              <a:t>     </a:t>
            </a:r>
            <a:r>
              <a:rPr lang="fa-IR" altLang="en-US" sz="2000" dirty="0"/>
              <a:t>   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2000" dirty="0"/>
              <a:t>          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2000" dirty="0"/>
              <a:t>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3500" dirty="0"/>
              <a:t>         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2400" dirty="0"/>
              <a:t>                                </a:t>
            </a:r>
            <a:r>
              <a:rPr lang="fa-IR" altLang="en-US" sz="2000" dirty="0"/>
              <a:t>شناسه ومقدار                       شناسه ومقدار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2000" dirty="0"/>
              <a:t>                                         سنسور                              سنسور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a-IR" alt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a-IR" altLang="en-US" sz="35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a-IR" altLang="en-US" sz="3500" dirty="0" smtClean="0"/>
              <a:t>معماری </a:t>
            </a:r>
            <a:r>
              <a:rPr lang="fa-IR" altLang="en-US" sz="3500" dirty="0"/>
              <a:t>کلی سیستم جمع آوری داده ها        </a:t>
            </a:r>
            <a:endParaRPr lang="en-US" altLang="en-US" sz="3600" dirty="0"/>
          </a:p>
        </p:txBody>
      </p:sp>
      <p:sp>
        <p:nvSpPr>
          <p:cNvPr id="231428" name="Oval 4"/>
          <p:cNvSpPr>
            <a:spLocks noChangeArrowheads="1"/>
          </p:cNvSpPr>
          <p:nvPr/>
        </p:nvSpPr>
        <p:spPr bwMode="auto">
          <a:xfrm>
            <a:off x="3200400" y="2971800"/>
            <a:ext cx="9906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فرآیند</a:t>
            </a:r>
          </a:p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31431" name="Oval 7"/>
          <p:cNvSpPr>
            <a:spLocks noChangeArrowheads="1"/>
          </p:cNvSpPr>
          <p:nvPr/>
        </p:nvSpPr>
        <p:spPr bwMode="auto">
          <a:xfrm>
            <a:off x="2971800" y="4953000"/>
            <a:ext cx="9906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فرآیند</a:t>
            </a:r>
          </a:p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31432" name="Oval 8"/>
          <p:cNvSpPr>
            <a:spLocks noChangeArrowheads="1"/>
          </p:cNvSpPr>
          <p:nvPr/>
        </p:nvSpPr>
        <p:spPr bwMode="auto">
          <a:xfrm>
            <a:off x="2057400" y="23622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en-US" altLang="en-US">
                <a:latin typeface="Arial" panose="020B0604020202020204" pitchFamily="34" charset="0"/>
              </a:rPr>
              <a:t>S1</a:t>
            </a:r>
          </a:p>
        </p:txBody>
      </p:sp>
      <p:sp>
        <p:nvSpPr>
          <p:cNvPr id="231435" name="Oval 11"/>
          <p:cNvSpPr>
            <a:spLocks noChangeArrowheads="1"/>
          </p:cNvSpPr>
          <p:nvPr/>
        </p:nvSpPr>
        <p:spPr bwMode="auto">
          <a:xfrm>
            <a:off x="1981200" y="36576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en-US" altLang="en-US">
                <a:latin typeface="Arial" panose="020B0604020202020204" pitchFamily="34" charset="0"/>
              </a:rPr>
              <a:t>S3</a:t>
            </a:r>
          </a:p>
        </p:txBody>
      </p:sp>
      <p:sp>
        <p:nvSpPr>
          <p:cNvPr id="231436" name="Oval 12"/>
          <p:cNvSpPr>
            <a:spLocks noChangeArrowheads="1"/>
          </p:cNvSpPr>
          <p:nvPr/>
        </p:nvSpPr>
        <p:spPr bwMode="auto">
          <a:xfrm>
            <a:off x="1981200" y="29718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en-US" altLang="en-US">
                <a:latin typeface="Arial" panose="020B0604020202020204" pitchFamily="34" charset="0"/>
              </a:rPr>
              <a:t>S2</a:t>
            </a:r>
          </a:p>
        </p:txBody>
      </p:sp>
      <p:sp>
        <p:nvSpPr>
          <p:cNvPr id="231437" name="Oval 13"/>
          <p:cNvSpPr>
            <a:spLocks noChangeArrowheads="1"/>
          </p:cNvSpPr>
          <p:nvPr/>
        </p:nvSpPr>
        <p:spPr bwMode="auto">
          <a:xfrm>
            <a:off x="1981200" y="45720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en-US" altLang="en-US">
                <a:latin typeface="Arial" panose="020B0604020202020204" pitchFamily="34" charset="0"/>
              </a:rPr>
              <a:t>S4</a:t>
            </a:r>
          </a:p>
        </p:txBody>
      </p:sp>
      <p:sp>
        <p:nvSpPr>
          <p:cNvPr id="231438" name="Oval 14"/>
          <p:cNvSpPr>
            <a:spLocks noChangeArrowheads="1"/>
          </p:cNvSpPr>
          <p:nvPr/>
        </p:nvSpPr>
        <p:spPr bwMode="auto">
          <a:xfrm>
            <a:off x="1905000" y="51054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en-US" altLang="en-US">
                <a:latin typeface="Arial" panose="020B0604020202020204" pitchFamily="34" charset="0"/>
              </a:rPr>
              <a:t>S5</a:t>
            </a:r>
          </a:p>
        </p:txBody>
      </p:sp>
      <p:sp>
        <p:nvSpPr>
          <p:cNvPr id="231439" name="Oval 15"/>
          <p:cNvSpPr>
            <a:spLocks noChangeArrowheads="1"/>
          </p:cNvSpPr>
          <p:nvPr/>
        </p:nvSpPr>
        <p:spPr bwMode="auto">
          <a:xfrm>
            <a:off x="1981200" y="56388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en-US" altLang="en-US">
                <a:latin typeface="Arial" panose="020B0604020202020204" pitchFamily="34" charset="0"/>
              </a:rPr>
              <a:t>S6</a:t>
            </a:r>
          </a:p>
        </p:txBody>
      </p:sp>
      <p:sp>
        <p:nvSpPr>
          <p:cNvPr id="231440" name="Rectangle 16"/>
          <p:cNvSpPr>
            <a:spLocks noChangeArrowheads="1"/>
          </p:cNvSpPr>
          <p:nvPr/>
        </p:nvSpPr>
        <p:spPr bwMode="auto">
          <a:xfrm>
            <a:off x="5638800" y="3048000"/>
            <a:ext cx="11430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میانگیر</a:t>
            </a:r>
          </a:p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داده 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31441" name="Rectangle 17"/>
          <p:cNvSpPr>
            <a:spLocks noChangeArrowheads="1"/>
          </p:cNvSpPr>
          <p:nvPr/>
        </p:nvSpPr>
        <p:spPr bwMode="auto">
          <a:xfrm>
            <a:off x="5715000" y="5029200"/>
            <a:ext cx="11430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میانگیر</a:t>
            </a:r>
          </a:p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داده سنسور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31442" name="Oval 18"/>
          <p:cNvSpPr>
            <a:spLocks noChangeArrowheads="1"/>
          </p:cNvSpPr>
          <p:nvPr/>
        </p:nvSpPr>
        <p:spPr bwMode="auto">
          <a:xfrm>
            <a:off x="7924800" y="3048000"/>
            <a:ext cx="9906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داده های</a:t>
            </a:r>
          </a:p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فرآیند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31443" name="Oval 19"/>
          <p:cNvSpPr>
            <a:spLocks noChangeArrowheads="1"/>
          </p:cNvSpPr>
          <p:nvPr/>
        </p:nvSpPr>
        <p:spPr bwMode="auto">
          <a:xfrm>
            <a:off x="9220200" y="3200400"/>
            <a:ext cx="10668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نمایش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31444" name="Oval 20"/>
          <p:cNvSpPr>
            <a:spLocks noChangeArrowheads="1"/>
          </p:cNvSpPr>
          <p:nvPr/>
        </p:nvSpPr>
        <p:spPr bwMode="auto">
          <a:xfrm>
            <a:off x="8153400" y="4953000"/>
            <a:ext cx="9144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داده های</a:t>
            </a:r>
          </a:p>
          <a:p>
            <a:pPr algn="ctr" rtl="0"/>
            <a:r>
              <a:rPr lang="fa-IR" altLang="en-US" sz="2000">
                <a:latin typeface="Arial" panose="020B0604020202020204" pitchFamily="34" charset="0"/>
              </a:rPr>
              <a:t>فرآیند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231447" name="Line 23"/>
          <p:cNvSpPr>
            <a:spLocks noChangeShapeType="1"/>
          </p:cNvSpPr>
          <p:nvPr/>
        </p:nvSpPr>
        <p:spPr bwMode="auto">
          <a:xfrm>
            <a:off x="2362200" y="25908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48" name="Line 24"/>
          <p:cNvSpPr>
            <a:spLocks noChangeShapeType="1"/>
          </p:cNvSpPr>
          <p:nvPr/>
        </p:nvSpPr>
        <p:spPr bwMode="auto">
          <a:xfrm>
            <a:off x="2286000" y="3200400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59" name="Line 35"/>
          <p:cNvSpPr>
            <a:spLocks noChangeShapeType="1"/>
          </p:cNvSpPr>
          <p:nvPr/>
        </p:nvSpPr>
        <p:spPr bwMode="auto">
          <a:xfrm>
            <a:off x="2286000" y="48006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0" name="Line 36"/>
          <p:cNvSpPr>
            <a:spLocks noChangeShapeType="1"/>
          </p:cNvSpPr>
          <p:nvPr/>
        </p:nvSpPr>
        <p:spPr bwMode="auto">
          <a:xfrm>
            <a:off x="2209800" y="5334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2" name="Line 38"/>
          <p:cNvSpPr>
            <a:spLocks noChangeShapeType="1"/>
          </p:cNvSpPr>
          <p:nvPr/>
        </p:nvSpPr>
        <p:spPr bwMode="auto">
          <a:xfrm>
            <a:off x="4191000" y="3352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4" name="Line 40"/>
          <p:cNvSpPr>
            <a:spLocks noChangeShapeType="1"/>
          </p:cNvSpPr>
          <p:nvPr/>
        </p:nvSpPr>
        <p:spPr bwMode="auto">
          <a:xfrm>
            <a:off x="6781800" y="3352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5" name="Line 41"/>
          <p:cNvSpPr>
            <a:spLocks noChangeShapeType="1"/>
          </p:cNvSpPr>
          <p:nvPr/>
        </p:nvSpPr>
        <p:spPr bwMode="auto">
          <a:xfrm>
            <a:off x="6858000" y="5334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6" name="Line 42"/>
          <p:cNvSpPr>
            <a:spLocks noChangeShapeType="1"/>
          </p:cNvSpPr>
          <p:nvPr/>
        </p:nvSpPr>
        <p:spPr bwMode="auto">
          <a:xfrm>
            <a:off x="89154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7" name="Line 43"/>
          <p:cNvSpPr>
            <a:spLocks noChangeShapeType="1"/>
          </p:cNvSpPr>
          <p:nvPr/>
        </p:nvSpPr>
        <p:spPr bwMode="auto">
          <a:xfrm flipV="1">
            <a:off x="8991600" y="3810000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69" name="Line 45"/>
          <p:cNvSpPr>
            <a:spLocks noChangeShapeType="1"/>
          </p:cNvSpPr>
          <p:nvPr/>
        </p:nvSpPr>
        <p:spPr bwMode="auto">
          <a:xfrm>
            <a:off x="3962400" y="5334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70" name="Line 46"/>
          <p:cNvSpPr>
            <a:spLocks noChangeShapeType="1"/>
          </p:cNvSpPr>
          <p:nvPr/>
        </p:nvSpPr>
        <p:spPr bwMode="auto">
          <a:xfrm flipV="1">
            <a:off x="2286000" y="3505200"/>
            <a:ext cx="990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71" name="Line 47"/>
          <p:cNvSpPr>
            <a:spLocks noChangeShapeType="1"/>
          </p:cNvSpPr>
          <p:nvPr/>
        </p:nvSpPr>
        <p:spPr bwMode="auto">
          <a:xfrm>
            <a:off x="1752600" y="2209800"/>
            <a:ext cx="0" cy="403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72" name="Line 48"/>
          <p:cNvSpPr>
            <a:spLocks noChangeShapeType="1"/>
          </p:cNvSpPr>
          <p:nvPr/>
        </p:nvSpPr>
        <p:spPr bwMode="auto">
          <a:xfrm>
            <a:off x="1752600" y="62484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73" name="Line 49"/>
          <p:cNvSpPr>
            <a:spLocks noChangeShapeType="1"/>
          </p:cNvSpPr>
          <p:nvPr/>
        </p:nvSpPr>
        <p:spPr bwMode="auto">
          <a:xfrm flipV="1">
            <a:off x="10363200" y="2209800"/>
            <a:ext cx="0" cy="403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74" name="Line 50"/>
          <p:cNvSpPr>
            <a:spLocks noChangeShapeType="1"/>
          </p:cNvSpPr>
          <p:nvPr/>
        </p:nvSpPr>
        <p:spPr bwMode="auto">
          <a:xfrm flipH="1">
            <a:off x="1752600" y="22098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75" name="Line 51"/>
          <p:cNvSpPr>
            <a:spLocks noChangeShapeType="1"/>
          </p:cNvSpPr>
          <p:nvPr/>
        </p:nvSpPr>
        <p:spPr bwMode="auto">
          <a:xfrm flipV="1">
            <a:off x="2286000" y="5486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1476" name="WordArt 52"/>
          <p:cNvSpPr>
            <a:spLocks noChangeArrowheads="1" noChangeShapeType="1" noTextEdit="1"/>
          </p:cNvSpPr>
          <p:nvPr/>
        </p:nvSpPr>
        <p:spPr bwMode="auto">
          <a:xfrm>
            <a:off x="4495800" y="914400"/>
            <a:ext cx="5676900" cy="6286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a-IR" sz="44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" panose="020B0604020202020204" pitchFamily="34" charset="0"/>
              </a:rPr>
              <a:t>طریقه جمع آوری داده ازسنسور:</a:t>
            </a:r>
            <a:endParaRPr lang="en-US" sz="4400" b="1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51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683</Words>
  <Application>Microsoft Office PowerPoint</Application>
  <PresentationFormat>Widescreen</PresentationFormat>
  <Paragraphs>170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Badr</vt:lpstr>
      <vt:lpstr>Tahoma</vt:lpstr>
      <vt:lpstr>Trebuchet MS</vt:lpstr>
      <vt:lpstr>Wingdings</vt:lpstr>
      <vt:lpstr>Wingdings 3</vt:lpstr>
      <vt:lpstr>Facet</vt:lpstr>
      <vt:lpstr>                            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Surface</dc:creator>
  <cp:lastModifiedBy>Microsoft Surface</cp:lastModifiedBy>
  <cp:revision>7</cp:revision>
  <dcterms:created xsi:type="dcterms:W3CDTF">2024-05-05T06:04:58Z</dcterms:created>
  <dcterms:modified xsi:type="dcterms:W3CDTF">2024-05-12T16:51:48Z</dcterms:modified>
</cp:coreProperties>
</file>