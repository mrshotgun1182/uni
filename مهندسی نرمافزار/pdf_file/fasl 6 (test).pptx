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 id="282" r:id="rId27"/>
    <p:sldId id="283" r:id="rId28"/>
    <p:sldId id="286" r:id="rId29"/>
    <p:sldId id="287" r:id="rId30"/>
    <p:sldId id="288" r:id="rId31"/>
    <p:sldId id="289" r:id="rId32"/>
    <p:sldId id="291" r:id="rId33"/>
    <p:sldId id="292" r:id="rId34"/>
    <p:sldId id="293" r:id="rId35"/>
    <p:sldId id="294" r:id="rId36"/>
    <p:sldId id="295" r:id="rId37"/>
    <p:sldId id="345" r:id="rId38"/>
    <p:sldId id="296" r:id="rId39"/>
    <p:sldId id="297" r:id="rId40"/>
    <p:sldId id="298" r:id="rId41"/>
    <p:sldId id="299" r:id="rId42"/>
    <p:sldId id="344"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8" d="100"/>
          <a:sy n="88" d="100"/>
        </p:scale>
        <p:origin x="69" y="22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5782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13600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1012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69965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8714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11507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92823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2539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80740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6608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963686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05410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05108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802576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256964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499340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47825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15920666"/>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50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50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50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4pPr>
      <a:lvl5pPr marL="21145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jmeter.apache.org/" TargetMode="External"/><Relationship Id="rId2" Type="http://schemas.openxmlformats.org/officeDocument/2006/relationships/hyperlink" Target="https://www.selenium.dev/" TargetMode="External"/><Relationship Id="rId1" Type="http://schemas.openxmlformats.org/officeDocument/2006/relationships/slideLayout" Target="../slideLayouts/slideLayout2.xml"/><Relationship Id="rId4" Type="http://schemas.openxmlformats.org/officeDocument/2006/relationships/hyperlink" Target="https://gatling.io/"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4348" y="914401"/>
            <a:ext cx="6965839" cy="1300766"/>
          </a:xfrm>
        </p:spPr>
        <p:txBody>
          <a:bodyPr>
            <a:normAutofit/>
          </a:bodyPr>
          <a:lstStyle/>
          <a:p>
            <a:r>
              <a:rPr lang="fa-IR" sz="6000" dirty="0" smtClean="0">
                <a:solidFill>
                  <a:schemeClr val="bg1"/>
                </a:solidFill>
                <a:cs typeface="B Titr" panose="00000700000000000000" pitchFamily="2" charset="-78"/>
              </a:rPr>
              <a:t>مبانی آزمون نرم افزار</a:t>
            </a:r>
            <a:endParaRPr lang="en-US" sz="6000" dirty="0">
              <a:solidFill>
                <a:schemeClr val="bg1"/>
              </a:solidFill>
              <a:cs typeface="B Titr" panose="00000700000000000000" pitchFamily="2" charset="-78"/>
            </a:endParaRPr>
          </a:p>
        </p:txBody>
      </p:sp>
      <p:pic>
        <p:nvPicPr>
          <p:cNvPr id="4" name="Picture 3" descr="C:\Users\ava\Downloads\Documents\Testing_Wallpaper.png"/>
          <p:cNvPicPr/>
          <p:nvPr/>
        </p:nvPicPr>
        <p:blipFill>
          <a:blip r:embed="rId2">
            <a:extLst>
              <a:ext uri="{28A0092B-C50C-407E-A947-70E740481C1C}">
                <a14:useLocalDpi xmlns:a14="http://schemas.microsoft.com/office/drawing/2010/main" val="0"/>
              </a:ext>
            </a:extLst>
          </a:blip>
          <a:srcRect/>
          <a:stretch>
            <a:fillRect/>
          </a:stretch>
        </p:blipFill>
        <p:spPr bwMode="auto">
          <a:xfrm>
            <a:off x="547151" y="3670478"/>
            <a:ext cx="4295305" cy="291199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254093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lvl="1" rtl="1"/>
            <a:r>
              <a:rPr lang="fa-IR" sz="3200" b="1" dirty="0" smtClean="0">
                <a:solidFill>
                  <a:schemeClr val="bg1"/>
                </a:solidFill>
                <a:cs typeface="B Nazanin" panose="00000400000000000000" pitchFamily="2" charset="-78"/>
              </a:rPr>
              <a:t>آزمون </a:t>
            </a:r>
            <a:r>
              <a:rPr lang="fa-IR" sz="3200" b="1" dirty="0">
                <a:solidFill>
                  <a:schemeClr val="bg1"/>
                </a:solidFill>
                <a:cs typeface="B Nazanin" panose="00000400000000000000" pitchFamily="2" charset="-78"/>
              </a:rPr>
              <a:t>نرم‌افزار چیست</a:t>
            </a:r>
            <a:r>
              <a:rPr lang="fa-IR" sz="3200" b="1" dirty="0" smtClean="0">
                <a:solidFill>
                  <a:schemeClr val="bg1"/>
                </a:solidFill>
                <a:cs typeface="B Nazanin" panose="00000400000000000000" pitchFamily="2" charset="-78"/>
              </a:rPr>
              <a:t>؟</a:t>
            </a:r>
            <a:br>
              <a:rPr lang="fa-IR" sz="3200" b="1" dirty="0" smtClean="0">
                <a:solidFill>
                  <a:schemeClr val="bg1"/>
                </a:solidFill>
                <a:cs typeface="B Nazanin" panose="00000400000000000000" pitchFamily="2" charset="-78"/>
              </a:rPr>
            </a:br>
            <a:r>
              <a:rPr lang="en-US" b="1" dirty="0">
                <a:solidFill>
                  <a:schemeClr val="bg1"/>
                </a:solidFill>
                <a:cs typeface="B Nazanin" panose="00000400000000000000" pitchFamily="2" charset="-78"/>
              </a:rPr>
              <a:t/>
            </a:r>
            <a:br>
              <a:rPr lang="en-US" b="1" dirty="0">
                <a:solidFill>
                  <a:schemeClr val="bg1"/>
                </a:solidFill>
                <a:cs typeface="B Nazanin" panose="00000400000000000000" pitchFamily="2" charset="-78"/>
              </a:rPr>
            </a:br>
            <a:r>
              <a:rPr lang="fa-IR" sz="3200" dirty="0">
                <a:solidFill>
                  <a:schemeClr val="bg1"/>
                </a:solidFill>
                <a:cs typeface="B Nazanin" panose="00000400000000000000" pitchFamily="2" charset="-78"/>
              </a:rPr>
              <a:t>سازمان‌ها یا شرکت‌هایی که نرم افزارها را توسعه می‌دهند، محصولی به نام نرم افزار تولید می‌کنند. ولی چه عامل یا عواملی باعث می‌شوند که یک نرم افزار از نرم افزار مشابه دیگر متمایز و برجسته شود؟ عوامل متعددی را می‌توان نام برد که باعث این برتری و تمایز شود اما یکی از این عوامل می‌تواند کیفیت محصول نهایی باشد که به بازار عرضه خواهد شد. اما برای رسیدن به این نقطه تمایز و برتری باید چگونه عمل کرد و اندیشید؟ یک پاسخ به این سوال می‌تواند </a:t>
            </a:r>
            <a:r>
              <a:rPr lang="fa-IR" sz="3200" dirty="0" smtClean="0">
                <a:solidFill>
                  <a:schemeClr val="bg1"/>
                </a:solidFill>
                <a:cs typeface="B Nazanin" panose="00000400000000000000" pitchFamily="2" charset="-78"/>
              </a:rPr>
              <a:t>آزمون </a:t>
            </a:r>
            <a:r>
              <a:rPr lang="fa-IR" sz="3200" dirty="0">
                <a:solidFill>
                  <a:schemeClr val="bg1"/>
                </a:solidFill>
                <a:cs typeface="B Nazanin" panose="00000400000000000000" pitchFamily="2" charset="-78"/>
              </a:rPr>
              <a:t>نرم افزار و نحوه انجام آن باشد.</a:t>
            </a:r>
            <a:r>
              <a:rPr lang="en-US" sz="2800" dirty="0">
                <a:solidFill>
                  <a:schemeClr val="bg1"/>
                </a:solidFill>
                <a:cs typeface="B Nazanin" panose="00000400000000000000" pitchFamily="2" charset="-78"/>
              </a:rPr>
              <a:t/>
            </a:r>
            <a:br>
              <a:rPr lang="en-US" sz="2800" dirty="0">
                <a:solidFill>
                  <a:schemeClr val="bg1"/>
                </a:solidFill>
                <a:cs typeface="B Nazanin" panose="00000400000000000000" pitchFamily="2" charset="-78"/>
              </a:rPr>
            </a:br>
            <a:r>
              <a:rPr lang="fa-IR" sz="3200" dirty="0">
                <a:solidFill>
                  <a:schemeClr val="bg1"/>
                </a:solidFill>
                <a:cs typeface="B Nazanin" panose="00000400000000000000" pitchFamily="2" charset="-78"/>
              </a:rPr>
              <a:t>حتی </a:t>
            </a:r>
            <a:r>
              <a:rPr lang="fa-IR" sz="3200" dirty="0" smtClean="0">
                <a:solidFill>
                  <a:schemeClr val="bg1"/>
                </a:solidFill>
                <a:cs typeface="B Nazanin" panose="00000400000000000000" pitchFamily="2" charset="-78"/>
              </a:rPr>
              <a:t>آزمون </a:t>
            </a:r>
            <a:r>
              <a:rPr lang="fa-IR" sz="3200" dirty="0">
                <a:solidFill>
                  <a:schemeClr val="bg1"/>
                </a:solidFill>
                <a:cs typeface="B Nazanin" panose="00000400000000000000" pitchFamily="2" charset="-78"/>
              </a:rPr>
              <a:t>را می‌توان یکی از زیرمجموعه‌های مبحث کیفیت نرم افزار با نام “تضمین کیفیت” درنظر گرفت. در واقع </a:t>
            </a:r>
            <a:r>
              <a:rPr lang="fa-IR" sz="3200" dirty="0" smtClean="0">
                <a:solidFill>
                  <a:schemeClr val="bg1"/>
                </a:solidFill>
                <a:cs typeface="B Nazanin" panose="00000400000000000000" pitchFamily="2" charset="-78"/>
              </a:rPr>
              <a:t>آزمون </a:t>
            </a:r>
            <a:r>
              <a:rPr lang="fa-IR" sz="3200" dirty="0">
                <a:solidFill>
                  <a:schemeClr val="bg1"/>
                </a:solidFill>
                <a:cs typeface="B Nazanin" panose="00000400000000000000" pitchFamily="2" charset="-78"/>
              </a:rPr>
              <a:t>نرم افزار به دنبال خطایابی و عیب یابی محصول، قبل از تحویل به مشتری است. اینکه هم توسعه‌دهندگان و هم کاربران نهایی برروی یک نرم افزار کارآمد و قابل بکارگیری که پاسخگوی نیازمندی‌های تعریف شده باشد، هم نظر باشند.</a:t>
            </a:r>
            <a:endParaRPr lang="en-US" sz="3200" dirty="0">
              <a:solidFill>
                <a:schemeClr val="bg1"/>
              </a:solidFill>
              <a:cs typeface="B Nazanin" panose="00000400000000000000" pitchFamily="2" charset="-78"/>
            </a:endParaRPr>
          </a:p>
        </p:txBody>
      </p:sp>
    </p:spTree>
    <p:extLst>
      <p:ext uri="{BB962C8B-B14F-4D97-AF65-F5344CB8AC3E}">
        <p14:creationId xmlns:p14="http://schemas.microsoft.com/office/powerpoint/2010/main" val="4353926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245" y="334850"/>
            <a:ext cx="11050073" cy="5756856"/>
          </a:xfrm>
        </p:spPr>
        <p:txBody>
          <a:bodyPr>
            <a:normAutofit fontScale="90000"/>
          </a:bodyPr>
          <a:lstStyle/>
          <a:p>
            <a:pPr algn="r" rtl="1"/>
            <a:r>
              <a:rPr lang="fa-IR" b="1" dirty="0" smtClean="0">
                <a:solidFill>
                  <a:schemeClr val="bg1"/>
                </a:solidFill>
                <a:cs typeface="B Nazanin" panose="00000400000000000000" pitchFamily="2" charset="-78"/>
              </a:rPr>
              <a:t>معنای آزمون  نرم افزار:</a:t>
            </a:r>
            <a:r>
              <a:rPr lang="fa-IR" dirty="0" smtClean="0">
                <a:solidFill>
                  <a:schemeClr val="bg1"/>
                </a:solidFill>
                <a:cs typeface="B Nazanin" panose="00000400000000000000" pitchFamily="2" charset="-78"/>
              </a:rPr>
              <a:t/>
            </a:r>
            <a:br>
              <a:rPr lang="fa-IR" dirty="0" smtClean="0">
                <a:solidFill>
                  <a:schemeClr val="bg1"/>
                </a:solidFill>
                <a:cs typeface="B Nazanin" panose="00000400000000000000" pitchFamily="2" charset="-78"/>
              </a:rPr>
            </a:br>
            <a:r>
              <a:rPr lang="fa-IR" dirty="0" smtClean="0">
                <a:solidFill>
                  <a:schemeClr val="bg1"/>
                </a:solidFill>
                <a:cs typeface="B Nazanin" panose="00000400000000000000" pitchFamily="2" charset="-78"/>
              </a:rPr>
              <a:t/>
            </a:r>
            <a:br>
              <a:rPr lang="fa-IR" dirty="0" smtClean="0">
                <a:solidFill>
                  <a:schemeClr val="bg1"/>
                </a:solidFill>
                <a:cs typeface="B Nazanin" panose="00000400000000000000" pitchFamily="2" charset="-78"/>
              </a:rPr>
            </a:br>
            <a:r>
              <a:rPr lang="fa-IR" dirty="0" smtClean="0">
                <a:solidFill>
                  <a:schemeClr val="bg1"/>
                </a:solidFill>
                <a:cs typeface="B Nazanin" panose="00000400000000000000" pitchFamily="2" charset="-78"/>
              </a:rPr>
              <a:t>- </a:t>
            </a:r>
            <a:r>
              <a:rPr lang="fa-IR" dirty="0">
                <a:solidFill>
                  <a:schemeClr val="bg1"/>
                </a:solidFill>
                <a:cs typeface="B Nazanin" panose="00000400000000000000" pitchFamily="2" charset="-78"/>
              </a:rPr>
              <a:t>تلاش‌هایی در جهت عیب یابی و رفع آن، نه تلاش در جهت اثبات کامل صحت نرم افزار، زیرا این قضیه با ماهیت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تفاوت دارد.</a:t>
            </a:r>
            <a:r>
              <a:rPr lang="en-US" dirty="0">
                <a:solidFill>
                  <a:schemeClr val="bg1"/>
                </a:solidFill>
                <a:cs typeface="B Nazanin" panose="00000400000000000000" pitchFamily="2" charset="-78"/>
              </a:rPr>
              <a:t/>
            </a:r>
            <a:br>
              <a:rPr lang="en-US" dirty="0">
                <a:solidFill>
                  <a:schemeClr val="bg1"/>
                </a:solidFill>
                <a:cs typeface="B Nazanin" panose="00000400000000000000" pitchFamily="2" charset="-78"/>
              </a:rPr>
            </a:br>
            <a:r>
              <a:rPr lang="fa-IR" dirty="0">
                <a:solidFill>
                  <a:schemeClr val="bg1"/>
                </a:solidFill>
                <a:cs typeface="B Nazanin" panose="00000400000000000000" pitchFamily="2" charset="-78"/>
              </a:rPr>
              <a:t>-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نرم‌افزار یا آزمایش نرم‌افزار، تحقیق برروی کیفیت یک محصول یا سرویس نرم‌افزاری و ارایه اطلاعات ناشی از آن به مشتری‌ها است. این تحقیق جستجوی نرم‌افزار مزبور برای یافتن خطاها را نیز دربرمی‌گیرد ولی به آن محدود نمی‌شود.</a:t>
            </a:r>
            <a:r>
              <a:rPr lang="en-US" dirty="0">
                <a:solidFill>
                  <a:schemeClr val="bg1"/>
                </a:solidFill>
                <a:cs typeface="B Nazanin" panose="00000400000000000000" pitchFamily="2" charset="-78"/>
              </a:rPr>
              <a:t/>
            </a:r>
            <a:br>
              <a:rPr lang="en-US" dirty="0">
                <a:solidFill>
                  <a:schemeClr val="bg1"/>
                </a:solidFill>
                <a:cs typeface="B Nazanin" panose="00000400000000000000" pitchFamily="2" charset="-78"/>
              </a:rPr>
            </a:br>
            <a:r>
              <a:rPr lang="fa-IR" dirty="0">
                <a:solidFill>
                  <a:schemeClr val="bg1"/>
                </a:solidFill>
                <a:cs typeface="B Nazanin" panose="00000400000000000000" pitchFamily="2" charset="-78"/>
              </a:rPr>
              <a:t>- </a:t>
            </a:r>
            <a:r>
              <a:rPr lang="fa-IR" dirty="0" smtClean="0">
                <a:solidFill>
                  <a:schemeClr val="bg1"/>
                </a:solidFill>
                <a:cs typeface="B Nazanin" panose="00000400000000000000" pitchFamily="2" charset="-78"/>
              </a:rPr>
              <a:t>آزمون‌ها </a:t>
            </a:r>
            <a:r>
              <a:rPr lang="fa-IR" dirty="0">
                <a:solidFill>
                  <a:schemeClr val="bg1"/>
                </a:solidFill>
                <a:cs typeface="B Nazanin" panose="00000400000000000000" pitchFamily="2" charset="-78"/>
              </a:rPr>
              <a:t>یک سری از سوال و جواب‌هایی هستند که نرم‌افزار را با آن امتحان می‌کنیم در حالی که از برنامه انتظار داریم با توجه به ورودی‌هایی که با استفاده از سوالات وارد می‌کنیم، جواب‌های صحیحی را به عنوان خروجی به دست دهد.</a:t>
            </a:r>
            <a:endParaRPr lang="en-US" dirty="0">
              <a:solidFill>
                <a:schemeClr val="bg1"/>
              </a:solidFill>
              <a:cs typeface="B Nazanin" panose="00000400000000000000" pitchFamily="2" charset="-78"/>
            </a:endParaRPr>
          </a:p>
        </p:txBody>
      </p:sp>
    </p:spTree>
    <p:extLst>
      <p:ext uri="{BB962C8B-B14F-4D97-AF65-F5344CB8AC3E}">
        <p14:creationId xmlns:p14="http://schemas.microsoft.com/office/powerpoint/2010/main" val="1740296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245" y="334850"/>
            <a:ext cx="11050073" cy="5756856"/>
          </a:xfrm>
        </p:spPr>
        <p:txBody>
          <a:bodyPr>
            <a:normAutofit/>
          </a:bodyPr>
          <a:lstStyle/>
          <a:p>
            <a:pPr algn="r" rtl="1"/>
            <a:r>
              <a:rPr lang="fa-IR" b="1" dirty="0" smtClean="0">
                <a:solidFill>
                  <a:schemeClr val="bg1"/>
                </a:solidFill>
                <a:cs typeface="B Nazanin" panose="00000400000000000000" pitchFamily="2" charset="-78"/>
              </a:rPr>
              <a:t>معنای آزمون  نرم افزار (ادامه):</a:t>
            </a:r>
            <a:br>
              <a:rPr lang="fa-IR" b="1" dirty="0" smtClean="0">
                <a:solidFill>
                  <a:schemeClr val="bg1"/>
                </a:solidFill>
                <a:cs typeface="B Nazanin" panose="00000400000000000000" pitchFamily="2" charset="-78"/>
              </a:rPr>
            </a:br>
            <a:r>
              <a:rPr lang="fa-IR" sz="2800" dirty="0">
                <a:solidFill>
                  <a:schemeClr val="bg1"/>
                </a:solidFill>
                <a:cs typeface="B Nazanin" panose="00000400000000000000" pitchFamily="2" charset="-78"/>
              </a:rPr>
              <a:t/>
            </a:r>
            <a:br>
              <a:rPr lang="fa-IR" sz="2800" dirty="0">
                <a:solidFill>
                  <a:schemeClr val="bg1"/>
                </a:solidFill>
                <a:cs typeface="B Nazanin" panose="00000400000000000000" pitchFamily="2" charset="-78"/>
              </a:rPr>
            </a:br>
            <a:r>
              <a:rPr lang="fa-IR" dirty="0">
                <a:solidFill>
                  <a:schemeClr val="bg1"/>
                </a:solidFill>
                <a:cs typeface="B Nazanin" panose="00000400000000000000" pitchFamily="2" charset="-78"/>
              </a:rPr>
              <a:t>-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نرم‌افزار حیطه وسیعی از فعالیت‌های مربوط به تولید برنامه‌های کامپیوتری را دربرمی‌گیرد که از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کردن کد برنامه توسط برنامه‌نویس گرفته تا نشان دادن عملکرد درست یک سیستم اطلاعاتی بزرگ به مشتری و ارزیابی نرم‌افزار در حین رانش یک شبکه مرکزی کاربردی را دربرمی‌گیرد.</a:t>
            </a:r>
            <a:br>
              <a:rPr lang="fa-IR" dirty="0">
                <a:solidFill>
                  <a:schemeClr val="bg1"/>
                </a:solidFill>
                <a:cs typeface="B Nazanin" panose="00000400000000000000" pitchFamily="2" charset="-78"/>
              </a:rPr>
            </a:br>
            <a:r>
              <a:rPr lang="fa-IR" dirty="0">
                <a:solidFill>
                  <a:schemeClr val="bg1"/>
                </a:solidFill>
                <a:cs typeface="B Nazanin" panose="00000400000000000000" pitchFamily="2" charset="-78"/>
              </a:rPr>
              <a:t>-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نرم افزار شامل فرآیند اجراهای متعدد برنامه با هدف یافتن باگ‌های نرم افزاری است اما محدود به آن نمی‌باشد، تضمین اینکه تا چه حد نیازمندی‌های موجود را برآورده می‌کند و آیا با انتظارات مشتری سازگار است یا خیر نیز توسط فرآیند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مشخص می‌شود</a:t>
            </a:r>
            <a:r>
              <a:rPr lang="fa-IR" dirty="0" smtClean="0">
                <a:solidFill>
                  <a:schemeClr val="bg1"/>
                </a:solidFill>
                <a:cs typeface="B Nazanin" panose="00000400000000000000" pitchFamily="2" charset="-78"/>
              </a:rPr>
              <a:t>.</a:t>
            </a:r>
            <a:endParaRPr lang="en-US" dirty="0">
              <a:solidFill>
                <a:schemeClr val="bg1"/>
              </a:solidFill>
              <a:cs typeface="B Nazanin" panose="00000400000000000000" pitchFamily="2" charset="-78"/>
            </a:endParaRPr>
          </a:p>
        </p:txBody>
      </p:sp>
    </p:spTree>
    <p:extLst>
      <p:ext uri="{BB962C8B-B14F-4D97-AF65-F5344CB8AC3E}">
        <p14:creationId xmlns:p14="http://schemas.microsoft.com/office/powerpoint/2010/main" val="23368207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245" y="334850"/>
            <a:ext cx="11050073" cy="5756856"/>
          </a:xfrm>
        </p:spPr>
        <p:txBody>
          <a:bodyPr>
            <a:normAutofit/>
          </a:bodyPr>
          <a:lstStyle/>
          <a:p>
            <a:pPr algn="r" rtl="1"/>
            <a:r>
              <a:rPr lang="fa-IR" b="1" dirty="0" smtClean="0">
                <a:solidFill>
                  <a:schemeClr val="bg1"/>
                </a:solidFill>
                <a:cs typeface="B Nazanin" panose="00000400000000000000" pitchFamily="2" charset="-78"/>
              </a:rPr>
              <a:t>معنای آزمون  نرم افزار (ادامه):</a:t>
            </a:r>
            <a:br>
              <a:rPr lang="fa-IR" b="1" dirty="0" smtClean="0">
                <a:solidFill>
                  <a:schemeClr val="bg1"/>
                </a:solidFill>
                <a:cs typeface="B Nazanin" panose="00000400000000000000" pitchFamily="2" charset="-78"/>
              </a:rPr>
            </a:br>
            <a:r>
              <a:rPr lang="fa-IR" dirty="0">
                <a:solidFill>
                  <a:schemeClr val="bg1"/>
                </a:solidFill>
                <a:cs typeface="B Nazanin" panose="00000400000000000000" pitchFamily="2" charset="-78"/>
              </a:rPr>
              <a:t/>
            </a:r>
            <a:br>
              <a:rPr lang="fa-IR" dirty="0">
                <a:solidFill>
                  <a:schemeClr val="bg1"/>
                </a:solidFill>
                <a:cs typeface="B Nazanin" panose="00000400000000000000" pitchFamily="2" charset="-78"/>
              </a:rPr>
            </a:br>
            <a:r>
              <a:rPr lang="fa-IR" dirty="0">
                <a:solidFill>
                  <a:schemeClr val="bg1"/>
                </a:solidFill>
                <a:cs typeface="B Nazanin" panose="00000400000000000000" pitchFamily="2" charset="-78"/>
              </a:rPr>
              <a:t>-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ها به دفعات تکرار خواهند شد تا مشکلات هر چه بیشتر نمایان شوند. استاندارد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نرم افزار فرآیندهایی را در جهت آشکارسازی و برطرف کردن عیوب سیستم دنبال خواهد کرد.</a:t>
            </a:r>
            <a:br>
              <a:rPr lang="fa-IR" dirty="0">
                <a:solidFill>
                  <a:schemeClr val="bg1"/>
                </a:solidFill>
                <a:cs typeface="B Nazanin" panose="00000400000000000000" pitchFamily="2" charset="-78"/>
              </a:rPr>
            </a:br>
            <a:r>
              <a:rPr lang="fa-IR" dirty="0">
                <a:solidFill>
                  <a:schemeClr val="bg1"/>
                </a:solidFill>
                <a:cs typeface="B Nazanin" panose="00000400000000000000" pitchFamily="2" charset="-78"/>
              </a:rPr>
              <a:t>-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نرم‌افزاراز وظایف توسعه دهندگان نرم‌افزار است و نه از وظایف تحویل گیرندگان آن.</a:t>
            </a:r>
            <a:br>
              <a:rPr lang="fa-IR" dirty="0">
                <a:solidFill>
                  <a:schemeClr val="bg1"/>
                </a:solidFill>
                <a:cs typeface="B Nazanin" panose="00000400000000000000" pitchFamily="2" charset="-78"/>
              </a:rPr>
            </a:br>
            <a:r>
              <a:rPr lang="fa-IR" dirty="0">
                <a:solidFill>
                  <a:schemeClr val="bg1"/>
                </a:solidFill>
                <a:cs typeface="B Nazanin" panose="00000400000000000000" pitchFamily="2" charset="-78"/>
              </a:rPr>
              <a:t>- </a:t>
            </a:r>
            <a:r>
              <a:rPr lang="fa-IR" dirty="0" smtClean="0">
                <a:solidFill>
                  <a:schemeClr val="bg1"/>
                </a:solidFill>
                <a:cs typeface="B Nazanin" panose="00000400000000000000" pitchFamily="2" charset="-78"/>
              </a:rPr>
              <a:t>دایجسترا در </a:t>
            </a:r>
            <a:r>
              <a:rPr lang="fa-IR" dirty="0">
                <a:solidFill>
                  <a:schemeClr val="bg1"/>
                </a:solidFill>
                <a:cs typeface="B Nazanin" panose="00000400000000000000" pitchFamily="2" charset="-78"/>
              </a:rPr>
              <a:t>تعریف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می گوید: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فقط می‌تواند وجود خطاها را نشان دهد نه عدم وجود آنها را </a:t>
            </a:r>
            <a:r>
              <a:rPr lang="fa-IR" dirty="0" smtClean="0">
                <a:solidFill>
                  <a:schemeClr val="bg1"/>
                </a:solidFill>
                <a:cs typeface="B Nazanin" panose="00000400000000000000" pitchFamily="2" charset="-78"/>
              </a:rPr>
              <a:t>!</a:t>
            </a:r>
            <a:endParaRPr lang="en-US" dirty="0">
              <a:solidFill>
                <a:schemeClr val="bg1"/>
              </a:solidFill>
              <a:cs typeface="B Nazanin" panose="00000400000000000000" pitchFamily="2" charset="-78"/>
            </a:endParaRPr>
          </a:p>
        </p:txBody>
      </p:sp>
    </p:spTree>
    <p:extLst>
      <p:ext uri="{BB962C8B-B14F-4D97-AF65-F5344CB8AC3E}">
        <p14:creationId xmlns:p14="http://schemas.microsoft.com/office/powerpoint/2010/main" val="42399665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455" y="373486"/>
            <a:ext cx="11178863" cy="5756856"/>
          </a:xfrm>
        </p:spPr>
        <p:txBody>
          <a:bodyPr>
            <a:normAutofit fontScale="90000"/>
          </a:bodyPr>
          <a:lstStyle/>
          <a:p>
            <a:pPr algn="r" rtl="1"/>
            <a:r>
              <a:rPr lang="fa-IR" b="1" dirty="0" smtClean="0">
                <a:solidFill>
                  <a:schemeClr val="bg1"/>
                </a:solidFill>
                <a:cs typeface="B Nazanin" panose="00000400000000000000" pitchFamily="2" charset="-78"/>
              </a:rPr>
              <a:t>وارسی و اعتبار سنجی:</a:t>
            </a:r>
            <a:br>
              <a:rPr lang="fa-IR" b="1" dirty="0" smtClean="0">
                <a:solidFill>
                  <a:schemeClr val="bg1"/>
                </a:solidFill>
                <a:cs typeface="B Nazanin" panose="00000400000000000000" pitchFamily="2" charset="-78"/>
              </a:rPr>
            </a:br>
            <a:r>
              <a:rPr lang="fa-IR" dirty="0" smtClean="0">
                <a:solidFill>
                  <a:schemeClr val="bg1"/>
                </a:solidFill>
                <a:cs typeface="B Nazanin" panose="00000400000000000000" pitchFamily="2" charset="-78"/>
              </a:rPr>
              <a:t/>
            </a:r>
            <a:br>
              <a:rPr lang="fa-IR" dirty="0" smtClean="0">
                <a:solidFill>
                  <a:schemeClr val="bg1"/>
                </a:solidFill>
                <a:cs typeface="B Nazanin" panose="00000400000000000000" pitchFamily="2" charset="-78"/>
              </a:rPr>
            </a:br>
            <a:r>
              <a:rPr lang="fa-IR" dirty="0" smtClean="0">
                <a:solidFill>
                  <a:schemeClr val="bg1"/>
                </a:solidFill>
                <a:cs typeface="B Nazanin" panose="00000400000000000000" pitchFamily="2" charset="-78"/>
              </a:rPr>
              <a:t>- آزمون نرم افزار به طور رسمی جزئی از </a:t>
            </a:r>
            <a:r>
              <a:rPr lang="fa-IR" b="1" dirty="0" smtClean="0">
                <a:solidFill>
                  <a:schemeClr val="bg1"/>
                </a:solidFill>
                <a:cs typeface="B Nazanin" panose="00000400000000000000" pitchFamily="2" charset="-78"/>
              </a:rPr>
              <a:t>وارسی</a:t>
            </a:r>
            <a:r>
              <a:rPr lang="fa-IR" dirty="0" smtClean="0">
                <a:solidFill>
                  <a:schemeClr val="bg1"/>
                </a:solidFill>
                <a:cs typeface="B Nazanin" panose="00000400000000000000" pitchFamily="2" charset="-78"/>
              </a:rPr>
              <a:t> و </a:t>
            </a:r>
            <a:r>
              <a:rPr lang="fa-IR" b="1" dirty="0" smtClean="0">
                <a:solidFill>
                  <a:schemeClr val="bg1"/>
                </a:solidFill>
                <a:cs typeface="B Nazanin" panose="00000400000000000000" pitchFamily="2" charset="-78"/>
              </a:rPr>
              <a:t>اعتبارسنجی</a:t>
            </a:r>
            <a:r>
              <a:rPr lang="fa-IR" dirty="0" smtClean="0">
                <a:solidFill>
                  <a:schemeClr val="bg1"/>
                </a:solidFill>
                <a:cs typeface="B Nazanin" panose="00000400000000000000" pitchFamily="2" charset="-78"/>
              </a:rPr>
              <a:t> نرم افزار می‌باشد، که این دو واژه به صورت زیر تعریف و با هم مقایسه می‌شوند.</a:t>
            </a:r>
            <a:br>
              <a:rPr lang="fa-IR" dirty="0" smtClean="0">
                <a:solidFill>
                  <a:schemeClr val="bg1"/>
                </a:solidFill>
                <a:cs typeface="B Nazanin" panose="00000400000000000000" pitchFamily="2" charset="-78"/>
              </a:rPr>
            </a:br>
            <a:r>
              <a:rPr lang="fa-IR" dirty="0" smtClean="0">
                <a:solidFill>
                  <a:schemeClr val="bg1"/>
                </a:solidFill>
                <a:cs typeface="B Nazanin" panose="00000400000000000000" pitchFamily="2" charset="-78"/>
              </a:rPr>
              <a:t/>
            </a:r>
            <a:br>
              <a:rPr lang="fa-IR" dirty="0" smtClean="0">
                <a:solidFill>
                  <a:schemeClr val="bg1"/>
                </a:solidFill>
                <a:cs typeface="B Nazanin" panose="00000400000000000000" pitchFamily="2" charset="-78"/>
              </a:rPr>
            </a:br>
            <a:r>
              <a:rPr lang="fa-IR" b="1" dirty="0" smtClean="0">
                <a:solidFill>
                  <a:schemeClr val="bg1"/>
                </a:solidFill>
                <a:cs typeface="B Nazanin" panose="00000400000000000000" pitchFamily="2" charset="-78"/>
              </a:rPr>
              <a:t>وارسی</a:t>
            </a:r>
            <a:r>
              <a:rPr lang="en-US" b="1" dirty="0" smtClean="0">
                <a:solidFill>
                  <a:schemeClr val="bg1"/>
                </a:solidFill>
                <a:cs typeface="B Nazanin" panose="00000400000000000000" pitchFamily="2" charset="-78"/>
              </a:rPr>
              <a:t> verification</a:t>
            </a:r>
            <a:r>
              <a:rPr lang="fa-IR" dirty="0" smtClean="0">
                <a:solidFill>
                  <a:schemeClr val="bg1"/>
                </a:solidFill>
                <a:cs typeface="B Nazanin" panose="00000400000000000000" pitchFamily="2" charset="-78"/>
              </a:rPr>
              <a:t>: فرآیندی است که برای اطمینان از تطابق ویژگیهای تولیدات یک فعالیت در چرخه توسعه نرم افزار، با نیازهای اعلام شده همان مرحله انجام میشود.</a:t>
            </a:r>
            <a:r>
              <a:rPr lang="fa-IR" dirty="0"/>
              <a:t> </a:t>
            </a:r>
            <a:r>
              <a:rPr lang="fa-IR" dirty="0">
                <a:solidFill>
                  <a:srgbClr val="FF0000"/>
                </a:solidFill>
              </a:rPr>
              <a:t>آیا محصول به درستی ایجاد شده است؟</a:t>
            </a:r>
            <a:r>
              <a:rPr lang="fa-IR" dirty="0" smtClean="0">
                <a:solidFill>
                  <a:srgbClr val="FF0000"/>
                </a:solidFill>
                <a:cs typeface="B Nazanin" panose="00000400000000000000" pitchFamily="2" charset="-78"/>
              </a:rPr>
              <a:t/>
            </a:r>
            <a:br>
              <a:rPr lang="fa-IR" dirty="0" smtClean="0">
                <a:solidFill>
                  <a:srgbClr val="FF0000"/>
                </a:solidFill>
                <a:cs typeface="B Nazanin" panose="00000400000000000000" pitchFamily="2" charset="-78"/>
              </a:rPr>
            </a:br>
            <a:r>
              <a:rPr lang="fa-IR" dirty="0" smtClean="0">
                <a:solidFill>
                  <a:srgbClr val="FF0000"/>
                </a:solidFill>
                <a:cs typeface="B Nazanin" panose="00000400000000000000" pitchFamily="2" charset="-78"/>
              </a:rPr>
              <a:t/>
            </a:r>
            <a:br>
              <a:rPr lang="fa-IR" dirty="0" smtClean="0">
                <a:solidFill>
                  <a:srgbClr val="FF0000"/>
                </a:solidFill>
                <a:cs typeface="B Nazanin" panose="00000400000000000000" pitchFamily="2" charset="-78"/>
              </a:rPr>
            </a:br>
            <a:r>
              <a:rPr lang="fa-IR" b="1" dirty="0" smtClean="0">
                <a:solidFill>
                  <a:schemeClr val="bg1"/>
                </a:solidFill>
                <a:cs typeface="B Nazanin" panose="00000400000000000000" pitchFamily="2" charset="-78"/>
              </a:rPr>
              <a:t>اعتبارسنجی </a:t>
            </a:r>
            <a:r>
              <a:rPr lang="en-US" b="1" dirty="0" smtClean="0">
                <a:solidFill>
                  <a:schemeClr val="bg1"/>
                </a:solidFill>
                <a:cs typeface="B Nazanin" panose="00000400000000000000" pitchFamily="2" charset="-78"/>
              </a:rPr>
              <a:t>validation</a:t>
            </a:r>
            <a:r>
              <a:rPr lang="fa-IR" dirty="0" smtClean="0">
                <a:solidFill>
                  <a:schemeClr val="bg1"/>
                </a:solidFill>
                <a:cs typeface="B Nazanin" panose="00000400000000000000" pitchFamily="2" charset="-78"/>
              </a:rPr>
              <a:t>: یعنی </a:t>
            </a:r>
            <a:r>
              <a:rPr lang="fa-IR" dirty="0">
                <a:solidFill>
                  <a:schemeClr val="bg1"/>
                </a:solidFill>
                <a:cs typeface="B Nazanin" panose="00000400000000000000" pitchFamily="2" charset="-78"/>
              </a:rPr>
              <a:t>بررسی این که خروجی مطابق با خواسته ها باشد. </a:t>
            </a:r>
            <a:r>
              <a:rPr lang="fa-IR" dirty="0" smtClean="0">
                <a:solidFill>
                  <a:schemeClr val="bg1"/>
                </a:solidFill>
                <a:cs typeface="B Nazanin" panose="00000400000000000000" pitchFamily="2" charset="-78"/>
              </a:rPr>
              <a:t>اعتبارسنجی فرآیند </a:t>
            </a:r>
            <a:r>
              <a:rPr lang="fa-IR" dirty="0">
                <a:solidFill>
                  <a:schemeClr val="bg1"/>
                </a:solidFill>
                <a:cs typeface="B Nazanin" panose="00000400000000000000" pitchFamily="2" charset="-78"/>
              </a:rPr>
              <a:t>مقایسه مشخصات محصول با </a:t>
            </a:r>
            <a:r>
              <a:rPr lang="fa-IR" dirty="0" smtClean="0">
                <a:solidFill>
                  <a:schemeClr val="bg1"/>
                </a:solidFill>
                <a:cs typeface="B Nazanin" panose="00000400000000000000" pitchFamily="2" charset="-78"/>
              </a:rPr>
              <a:t>نیازمندی های </a:t>
            </a:r>
            <a:r>
              <a:rPr lang="fa-IR" dirty="0">
                <a:solidFill>
                  <a:schemeClr val="bg1"/>
                </a:solidFill>
                <a:cs typeface="B Nazanin" panose="00000400000000000000" pitchFamily="2" charset="-78"/>
              </a:rPr>
              <a:t>واقعی کاربر است</a:t>
            </a:r>
            <a:r>
              <a:rPr lang="fa-IR" dirty="0" smtClean="0">
                <a:solidFill>
                  <a:schemeClr val="bg1"/>
                </a:solidFill>
                <a:cs typeface="B Nazanin" panose="00000400000000000000" pitchFamily="2" charset="-78"/>
              </a:rPr>
              <a:t>.</a:t>
            </a:r>
            <a:r>
              <a:rPr lang="en-US" dirty="0" smtClean="0">
                <a:solidFill>
                  <a:schemeClr val="bg1"/>
                </a:solidFill>
                <a:cs typeface="B Nazanin" panose="00000400000000000000" pitchFamily="2" charset="-78"/>
              </a:rPr>
              <a:t/>
            </a:r>
            <a:br>
              <a:rPr lang="en-US" dirty="0" smtClean="0">
                <a:solidFill>
                  <a:schemeClr val="bg1"/>
                </a:solidFill>
                <a:cs typeface="B Nazanin" panose="00000400000000000000" pitchFamily="2" charset="-78"/>
              </a:rPr>
            </a:br>
            <a:r>
              <a:rPr lang="fa-IR" dirty="0">
                <a:solidFill>
                  <a:srgbClr val="FF0000"/>
                </a:solidFill>
              </a:rPr>
              <a:t> آیا محصول در برآوردن نیازها به درستی عمل می‌کند </a:t>
            </a:r>
            <a:r>
              <a:rPr lang="fa-IR" dirty="0" smtClean="0"/>
              <a:t>؟</a:t>
            </a:r>
            <a:endParaRPr lang="fa-IR" dirty="0">
              <a:solidFill>
                <a:schemeClr val="bg1"/>
              </a:solidFill>
              <a:cs typeface="B Nazanin" panose="00000400000000000000" pitchFamily="2" charset="-78"/>
            </a:endParaRPr>
          </a:p>
        </p:txBody>
      </p:sp>
    </p:spTree>
    <p:extLst>
      <p:ext uri="{BB962C8B-B14F-4D97-AF65-F5344CB8AC3E}">
        <p14:creationId xmlns:p14="http://schemas.microsoft.com/office/powerpoint/2010/main" val="1038278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4891" y="729667"/>
            <a:ext cx="4816698" cy="1184858"/>
          </a:xfrm>
        </p:spPr>
        <p:txBody>
          <a:bodyPr>
            <a:noAutofit/>
          </a:bodyPr>
          <a:lstStyle/>
          <a:p>
            <a:pPr algn="r" rtl="1"/>
            <a:r>
              <a:rPr lang="fa-IR" sz="3200" b="1" dirty="0" smtClean="0">
                <a:solidFill>
                  <a:schemeClr val="bg1"/>
                </a:solidFill>
                <a:cs typeface="B Nazanin" panose="00000400000000000000" pitchFamily="2" charset="-78"/>
              </a:rPr>
              <a:t>تفاوت وارسی و اعتبار سنجی:</a:t>
            </a:r>
            <a:br>
              <a:rPr lang="fa-IR" sz="3200" b="1" dirty="0" smtClean="0">
                <a:solidFill>
                  <a:schemeClr val="bg1"/>
                </a:solidFill>
                <a:cs typeface="B Nazanin" panose="00000400000000000000" pitchFamily="2" charset="-78"/>
              </a:rPr>
            </a:br>
            <a:r>
              <a:rPr lang="fa-IR" sz="3200" b="1" dirty="0">
                <a:solidFill>
                  <a:schemeClr val="bg1"/>
                </a:solidFill>
                <a:cs typeface="B Nazanin" panose="00000400000000000000" pitchFamily="2" charset="-78"/>
              </a:rPr>
              <a:t/>
            </a:r>
            <a:br>
              <a:rPr lang="fa-IR" sz="3200" b="1" dirty="0">
                <a:solidFill>
                  <a:schemeClr val="bg1"/>
                </a:solidFill>
                <a:cs typeface="B Nazanin" panose="00000400000000000000" pitchFamily="2" charset="-78"/>
              </a:rPr>
            </a:br>
            <a:endParaRPr lang="fa-IR" sz="3200" b="1" dirty="0">
              <a:solidFill>
                <a:schemeClr val="bg1"/>
              </a:solidFill>
              <a:cs typeface="B Nazanin" panose="00000400000000000000" pitchFamily="2" charset="-78"/>
            </a:endParaRPr>
          </a:p>
        </p:txBody>
      </p:sp>
      <p:pic>
        <p:nvPicPr>
          <p:cNvPr id="3" name="Picture 2"/>
          <p:cNvPicPr>
            <a:picLocks noChangeAspect="1"/>
          </p:cNvPicPr>
          <p:nvPr/>
        </p:nvPicPr>
        <p:blipFill>
          <a:blip r:embed="rId2"/>
          <a:stretch>
            <a:fillRect/>
          </a:stretch>
        </p:blipFill>
        <p:spPr>
          <a:xfrm>
            <a:off x="914674" y="1622738"/>
            <a:ext cx="9787859" cy="3837903"/>
          </a:xfrm>
          <a:prstGeom prst="rect">
            <a:avLst/>
          </a:prstGeom>
        </p:spPr>
      </p:pic>
    </p:spTree>
    <p:extLst>
      <p:ext uri="{BB962C8B-B14F-4D97-AF65-F5344CB8AC3E}">
        <p14:creationId xmlns:p14="http://schemas.microsoft.com/office/powerpoint/2010/main" val="2431999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455" y="373486"/>
            <a:ext cx="11178863" cy="5756856"/>
          </a:xfrm>
        </p:spPr>
        <p:txBody>
          <a:bodyPr>
            <a:normAutofit/>
          </a:bodyPr>
          <a:lstStyle/>
          <a:p>
            <a:pPr algn="r" rtl="1"/>
            <a:r>
              <a:rPr lang="fa-IR" b="1" dirty="0">
                <a:solidFill>
                  <a:schemeClr val="bg1"/>
                </a:solidFill>
                <a:cs typeface="B Nazanin" panose="00000400000000000000" pitchFamily="2" charset="-78"/>
              </a:rPr>
              <a:t>1-2	اهداف </a:t>
            </a:r>
            <a:r>
              <a:rPr lang="fa-IR" b="1" dirty="0" smtClean="0">
                <a:solidFill>
                  <a:schemeClr val="bg1"/>
                </a:solidFill>
                <a:cs typeface="B Nazanin" panose="00000400000000000000" pitchFamily="2" charset="-78"/>
              </a:rPr>
              <a:t>آزمون</a:t>
            </a:r>
            <a:r>
              <a:rPr lang="fa-IR" b="1" dirty="0">
                <a:solidFill>
                  <a:schemeClr val="bg1"/>
                </a:solidFill>
                <a:cs typeface="B Nazanin" panose="00000400000000000000" pitchFamily="2" charset="-78"/>
              </a:rPr>
              <a:t/>
            </a:r>
            <a:br>
              <a:rPr lang="fa-IR" b="1" dirty="0">
                <a:solidFill>
                  <a:schemeClr val="bg1"/>
                </a:solidFill>
                <a:cs typeface="B Nazanin" panose="00000400000000000000" pitchFamily="2" charset="-78"/>
              </a:rPr>
            </a:b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فرآیند اجرای برنامه به قصد یافتن خطاهاست.</a:t>
            </a:r>
            <a:br>
              <a:rPr lang="fa-IR" dirty="0">
                <a:solidFill>
                  <a:schemeClr val="bg1"/>
                </a:solidFill>
                <a:cs typeface="B Nazanin" panose="00000400000000000000" pitchFamily="2" charset="-78"/>
              </a:rPr>
            </a:br>
            <a:r>
              <a:rPr lang="fa-IR" dirty="0" smtClean="0">
                <a:solidFill>
                  <a:schemeClr val="bg1"/>
                </a:solidFill>
                <a:cs typeface="B Nazanin" panose="00000400000000000000" pitchFamily="2" charset="-78"/>
              </a:rPr>
              <a:t>*مورد آزمون </a:t>
            </a:r>
            <a:r>
              <a:rPr lang="fa-IR" dirty="0">
                <a:solidFill>
                  <a:schemeClr val="bg1"/>
                </a:solidFill>
                <a:cs typeface="B Nazanin" panose="00000400000000000000" pitchFamily="2" charset="-78"/>
              </a:rPr>
              <a:t>خوب، موردی است که احتمال یافتن خطاهای کشف شده در آن، بالا باشد.</a:t>
            </a:r>
            <a:br>
              <a:rPr lang="fa-IR" dirty="0">
                <a:solidFill>
                  <a:schemeClr val="bg1"/>
                </a:solidFill>
                <a:cs typeface="B Nazanin" panose="00000400000000000000" pitchFamily="2" charset="-78"/>
              </a:rPr>
            </a:br>
            <a:r>
              <a:rPr lang="fa-IR" dirty="0" smtClean="0">
                <a:solidFill>
                  <a:schemeClr val="bg1"/>
                </a:solidFill>
                <a:cs typeface="B Nazanin" panose="00000400000000000000" pitchFamily="2" charset="-78"/>
              </a:rPr>
              <a:t>*</a:t>
            </a:r>
            <a:r>
              <a:rPr lang="fa-IR" dirty="0">
                <a:solidFill>
                  <a:schemeClr val="bg1"/>
                </a:solidFill>
                <a:cs typeface="B Nazanin" panose="00000400000000000000" pitchFamily="2" charset="-78"/>
              </a:rPr>
              <a:t>	</a:t>
            </a:r>
            <a:r>
              <a:rPr lang="fa-IR" dirty="0" smtClean="0">
                <a:solidFill>
                  <a:schemeClr val="bg1"/>
                </a:solidFill>
                <a:cs typeface="B Nazanin" panose="00000400000000000000" pitchFamily="2" charset="-78"/>
              </a:rPr>
              <a:t>آزمون موفق، آزمونی </a:t>
            </a:r>
            <a:r>
              <a:rPr lang="fa-IR" dirty="0">
                <a:solidFill>
                  <a:schemeClr val="bg1"/>
                </a:solidFill>
                <a:cs typeface="B Nazanin" panose="00000400000000000000" pitchFamily="2" charset="-78"/>
              </a:rPr>
              <a:t>است که خطاهای کشف نشده را کشف می‌کند</a:t>
            </a:r>
            <a:r>
              <a:rPr lang="fa-IR" dirty="0" smtClean="0">
                <a:solidFill>
                  <a:schemeClr val="bg1"/>
                </a:solidFill>
                <a:cs typeface="B Nazanin" panose="00000400000000000000" pitchFamily="2" charset="-78"/>
              </a:rPr>
              <a:t>.</a:t>
            </a:r>
            <a:br>
              <a:rPr lang="fa-IR" dirty="0" smtClean="0">
                <a:solidFill>
                  <a:schemeClr val="bg1"/>
                </a:solidFill>
                <a:cs typeface="B Nazanin" panose="00000400000000000000" pitchFamily="2" charset="-78"/>
              </a:rPr>
            </a:br>
            <a:r>
              <a:rPr lang="fa-IR" dirty="0" smtClean="0">
                <a:solidFill>
                  <a:schemeClr val="bg1"/>
                </a:solidFill>
                <a:cs typeface="B Nazanin" panose="00000400000000000000" pitchFamily="2" charset="-78"/>
              </a:rPr>
              <a:t/>
            </a:r>
            <a:br>
              <a:rPr lang="fa-IR" dirty="0" smtClean="0">
                <a:solidFill>
                  <a:schemeClr val="bg1"/>
                </a:solidFill>
                <a:cs typeface="B Nazanin" panose="00000400000000000000" pitchFamily="2" charset="-78"/>
              </a:rPr>
            </a:br>
            <a:r>
              <a:rPr lang="fa-IR" dirty="0">
                <a:solidFill>
                  <a:schemeClr val="bg1"/>
                </a:solidFill>
                <a:cs typeface="B Nazanin" panose="00000400000000000000" pitchFamily="2" charset="-78"/>
              </a:rPr>
              <a:t>در واقع هدف فرآیند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در یک جمله ” </a:t>
            </a:r>
            <a:r>
              <a:rPr lang="fa-IR" b="1" dirty="0">
                <a:solidFill>
                  <a:schemeClr val="bg1"/>
                </a:solidFill>
                <a:cs typeface="B Nazanin" panose="00000400000000000000" pitchFamily="2" charset="-78"/>
              </a:rPr>
              <a:t>ایجاد اعتماد نسبت به سیستم </a:t>
            </a:r>
            <a:r>
              <a:rPr lang="fa-IR" dirty="0">
                <a:solidFill>
                  <a:schemeClr val="bg1"/>
                </a:solidFill>
                <a:cs typeface="B Nazanin" panose="00000400000000000000" pitchFamily="2" charset="-78"/>
              </a:rPr>
              <a:t>” است.  اما چطور می‌توان نسبت به سیستم ایجاد اعتماد نمود؟  چه اصولی از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را بایستی رعایت کرد تا به این اهداف رسید؟</a:t>
            </a:r>
            <a:r>
              <a:rPr lang="en-US" dirty="0"/>
              <a:t/>
            </a:r>
            <a:br>
              <a:rPr lang="en-US" dirty="0"/>
            </a:br>
            <a:endParaRPr lang="fa-IR" dirty="0">
              <a:solidFill>
                <a:schemeClr val="bg1"/>
              </a:solidFill>
              <a:cs typeface="B Nazanin" panose="00000400000000000000" pitchFamily="2" charset="-78"/>
            </a:endParaRPr>
          </a:p>
        </p:txBody>
      </p:sp>
    </p:spTree>
    <p:extLst>
      <p:ext uri="{BB962C8B-B14F-4D97-AF65-F5344CB8AC3E}">
        <p14:creationId xmlns:p14="http://schemas.microsoft.com/office/powerpoint/2010/main" val="31371685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455" y="373486"/>
            <a:ext cx="11178863" cy="5756856"/>
          </a:xfrm>
        </p:spPr>
        <p:txBody>
          <a:bodyPr>
            <a:normAutofit/>
          </a:bodyPr>
          <a:lstStyle/>
          <a:p>
            <a:pPr algn="r" rtl="1"/>
            <a:r>
              <a:rPr lang="fa-IR" b="1" dirty="0">
                <a:solidFill>
                  <a:schemeClr val="bg1"/>
                </a:solidFill>
                <a:cs typeface="B Nazanin" panose="00000400000000000000" pitchFamily="2" charset="-78"/>
              </a:rPr>
              <a:t>چه کسی </a:t>
            </a:r>
            <a:r>
              <a:rPr lang="fa-IR" b="1" dirty="0" smtClean="0">
                <a:solidFill>
                  <a:schemeClr val="bg1"/>
                </a:solidFill>
                <a:cs typeface="B Nazanin" panose="00000400000000000000" pitchFamily="2" charset="-78"/>
              </a:rPr>
              <a:t>آزمون </a:t>
            </a:r>
            <a:r>
              <a:rPr lang="fa-IR" b="1" dirty="0">
                <a:solidFill>
                  <a:schemeClr val="bg1"/>
                </a:solidFill>
                <a:cs typeface="B Nazanin" panose="00000400000000000000" pitchFamily="2" charset="-78"/>
              </a:rPr>
              <a:t>می‌کند؟</a:t>
            </a:r>
            <a:r>
              <a:rPr lang="en-US" b="1" dirty="0">
                <a:solidFill>
                  <a:schemeClr val="bg1"/>
                </a:solidFill>
                <a:cs typeface="B Nazanin" panose="00000400000000000000" pitchFamily="2" charset="-78"/>
              </a:rPr>
              <a:t/>
            </a:r>
            <a:br>
              <a:rPr lang="en-US" b="1" dirty="0">
                <a:solidFill>
                  <a:schemeClr val="bg1"/>
                </a:solidFill>
                <a:cs typeface="B Nazanin" panose="00000400000000000000" pitchFamily="2" charset="-78"/>
              </a:rPr>
            </a:br>
            <a:r>
              <a:rPr lang="fa-IR" dirty="0">
                <a:solidFill>
                  <a:schemeClr val="bg1"/>
                </a:solidFill>
                <a:cs typeface="B Nazanin" panose="00000400000000000000" pitchFamily="2" charset="-78"/>
              </a:rPr>
              <a:t>در صنعت </a:t>
            </a:r>
            <a:r>
              <a:rPr lang="en-US" dirty="0">
                <a:solidFill>
                  <a:schemeClr val="bg1"/>
                </a:solidFill>
                <a:cs typeface="B Nazanin" panose="00000400000000000000" pitchFamily="2" charset="-78"/>
              </a:rPr>
              <a:t>IT</a:t>
            </a:r>
            <a:r>
              <a:rPr lang="fa-IR" dirty="0">
                <a:solidFill>
                  <a:schemeClr val="bg1"/>
                </a:solidFill>
                <a:cs typeface="B Nazanin" panose="00000400000000000000" pitchFamily="2" charset="-78"/>
              </a:rPr>
              <a:t>، شرکت‌های بزرگ، تیمی برای بررسی نرم افزارهای تولیدی در چارچوب الزامات و فعالیت‌های شرکت دارند که این تیم، تیم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می‌باشد.</a:t>
            </a:r>
            <a:r>
              <a:rPr lang="en-US" dirty="0">
                <a:solidFill>
                  <a:schemeClr val="bg1"/>
                </a:solidFill>
                <a:cs typeface="B Nazanin" panose="00000400000000000000" pitchFamily="2" charset="-78"/>
              </a:rPr>
              <a:t/>
            </a:r>
            <a:br>
              <a:rPr lang="en-US" dirty="0">
                <a:solidFill>
                  <a:schemeClr val="bg1"/>
                </a:solidFill>
                <a:cs typeface="B Nazanin" panose="00000400000000000000" pitchFamily="2" charset="-78"/>
              </a:rPr>
            </a:br>
            <a:r>
              <a:rPr lang="fa-IR" dirty="0">
                <a:solidFill>
                  <a:schemeClr val="bg1"/>
                </a:solidFill>
                <a:cs typeface="B Nazanin" panose="00000400000000000000" pitchFamily="2" charset="-78"/>
              </a:rPr>
              <a:t>در اغلب موارد </a:t>
            </a:r>
            <a:r>
              <a:rPr lang="fa-IR" dirty="0" smtClean="0">
                <a:solidFill>
                  <a:schemeClr val="bg1"/>
                </a:solidFill>
                <a:cs typeface="B Nazanin" panose="00000400000000000000" pitchFamily="2" charset="-78"/>
              </a:rPr>
              <a:t>آزمون کننده در </a:t>
            </a:r>
            <a:r>
              <a:rPr lang="fa-IR" dirty="0">
                <a:solidFill>
                  <a:schemeClr val="bg1"/>
                </a:solidFill>
                <a:cs typeface="B Nazanin" panose="00000400000000000000" pitchFamily="2" charset="-78"/>
              </a:rPr>
              <a:t>یکی از بخش‌های زیر قرار می‌گیرد:</a:t>
            </a:r>
            <a:r>
              <a:rPr lang="en-US" dirty="0">
                <a:solidFill>
                  <a:schemeClr val="bg1"/>
                </a:solidFill>
                <a:cs typeface="B Nazanin" panose="00000400000000000000" pitchFamily="2" charset="-78"/>
              </a:rPr>
              <a:t/>
            </a:r>
            <a:br>
              <a:rPr lang="en-US" dirty="0">
                <a:solidFill>
                  <a:schemeClr val="bg1"/>
                </a:solidFill>
                <a:cs typeface="B Nazanin" panose="00000400000000000000" pitchFamily="2" charset="-78"/>
              </a:rPr>
            </a:br>
            <a:r>
              <a:rPr lang="fa-IR" dirty="0">
                <a:solidFill>
                  <a:schemeClr val="bg1"/>
                </a:solidFill>
                <a:cs typeface="B Nazanin" panose="00000400000000000000" pitchFamily="2" charset="-78"/>
              </a:rPr>
              <a:t>- بخش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نرم افزار</a:t>
            </a:r>
            <a:r>
              <a:rPr lang="en-US" dirty="0">
                <a:solidFill>
                  <a:schemeClr val="bg1"/>
                </a:solidFill>
                <a:cs typeface="B Nazanin" panose="00000400000000000000" pitchFamily="2" charset="-78"/>
              </a:rPr>
              <a:t/>
            </a:r>
            <a:br>
              <a:rPr lang="en-US" dirty="0">
                <a:solidFill>
                  <a:schemeClr val="bg1"/>
                </a:solidFill>
                <a:cs typeface="B Nazanin" panose="00000400000000000000" pitchFamily="2" charset="-78"/>
              </a:rPr>
            </a:br>
            <a:r>
              <a:rPr lang="fa-IR" dirty="0">
                <a:solidFill>
                  <a:schemeClr val="bg1"/>
                </a:solidFill>
                <a:cs typeface="B Nazanin" panose="00000400000000000000" pitchFamily="2" charset="-78"/>
              </a:rPr>
              <a:t>- بخش توسعه نرم افزار</a:t>
            </a:r>
            <a:r>
              <a:rPr lang="en-US" dirty="0">
                <a:solidFill>
                  <a:schemeClr val="bg1"/>
                </a:solidFill>
                <a:cs typeface="B Nazanin" panose="00000400000000000000" pitchFamily="2" charset="-78"/>
              </a:rPr>
              <a:t/>
            </a:r>
            <a:br>
              <a:rPr lang="en-US" dirty="0">
                <a:solidFill>
                  <a:schemeClr val="bg1"/>
                </a:solidFill>
                <a:cs typeface="B Nazanin" panose="00000400000000000000" pitchFamily="2" charset="-78"/>
              </a:rPr>
            </a:br>
            <a:r>
              <a:rPr lang="fa-IR" dirty="0">
                <a:solidFill>
                  <a:schemeClr val="bg1"/>
                </a:solidFill>
                <a:cs typeface="B Nazanin" panose="00000400000000000000" pitchFamily="2" charset="-78"/>
              </a:rPr>
              <a:t>شرکت‌ها طراحی‌های متفاوت و وظایف و نقش‌های متفاوتی برای اشخاصی که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نرم افزار انجام می‌دهند، قائل می‌شوند. این نقش‌ها عبارتند </a:t>
            </a:r>
            <a:r>
              <a:rPr lang="fa-IR" dirty="0" smtClean="0">
                <a:solidFill>
                  <a:schemeClr val="bg1"/>
                </a:solidFill>
                <a:cs typeface="B Nazanin" panose="00000400000000000000" pitchFamily="2" charset="-78"/>
              </a:rPr>
              <a:t>از: آزمون کننده نرم </a:t>
            </a:r>
            <a:r>
              <a:rPr lang="fa-IR" dirty="0">
                <a:solidFill>
                  <a:schemeClr val="bg1"/>
                </a:solidFill>
                <a:cs typeface="B Nazanin" panose="00000400000000000000" pitchFamily="2" charset="-78"/>
              </a:rPr>
              <a:t>افزار، تضمین کیفیت نرم افزار( </a:t>
            </a:r>
            <a:r>
              <a:rPr lang="en-US" dirty="0">
                <a:solidFill>
                  <a:schemeClr val="bg1"/>
                </a:solidFill>
                <a:cs typeface="B Nazanin" panose="00000400000000000000" pitchFamily="2" charset="-78"/>
              </a:rPr>
              <a:t>QA</a:t>
            </a:r>
            <a:r>
              <a:rPr lang="fa-IR" dirty="0" smtClean="0">
                <a:solidFill>
                  <a:schemeClr val="bg1"/>
                </a:solidFill>
                <a:cs typeface="B Nazanin" panose="00000400000000000000" pitchFamily="2" charset="-78"/>
              </a:rPr>
              <a:t>)، </a:t>
            </a:r>
            <a:r>
              <a:rPr lang="fa-IR" dirty="0">
                <a:solidFill>
                  <a:schemeClr val="bg1"/>
                </a:solidFill>
                <a:cs typeface="B Nazanin" panose="00000400000000000000" pitchFamily="2" charset="-78"/>
              </a:rPr>
              <a:t>تحلیلگر و …</a:t>
            </a:r>
            <a:r>
              <a:rPr lang="en-US" b="1" dirty="0">
                <a:solidFill>
                  <a:schemeClr val="bg1"/>
                </a:solidFill>
                <a:cs typeface="B Nazanin" panose="00000400000000000000" pitchFamily="2" charset="-78"/>
              </a:rPr>
              <a:t/>
            </a:r>
            <a:br>
              <a:rPr lang="en-US" b="1" dirty="0">
                <a:solidFill>
                  <a:schemeClr val="bg1"/>
                </a:solidFill>
                <a:cs typeface="B Nazanin" panose="00000400000000000000" pitchFamily="2" charset="-78"/>
              </a:rPr>
            </a:br>
            <a:endParaRPr lang="fa-IR" b="1" dirty="0">
              <a:solidFill>
                <a:schemeClr val="bg1"/>
              </a:solidFill>
              <a:cs typeface="B Nazanin" panose="00000400000000000000" pitchFamily="2" charset="-78"/>
            </a:endParaRPr>
          </a:p>
        </p:txBody>
      </p:sp>
    </p:spTree>
    <p:extLst>
      <p:ext uri="{BB962C8B-B14F-4D97-AF65-F5344CB8AC3E}">
        <p14:creationId xmlns:p14="http://schemas.microsoft.com/office/powerpoint/2010/main" val="42198251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455" y="373486"/>
            <a:ext cx="11178863" cy="5756856"/>
          </a:xfrm>
        </p:spPr>
        <p:txBody>
          <a:bodyPr>
            <a:normAutofit fontScale="90000"/>
          </a:bodyPr>
          <a:lstStyle/>
          <a:p>
            <a:pPr algn="r" rtl="1"/>
            <a:r>
              <a:rPr lang="fa-IR" sz="3600" b="1" dirty="0">
                <a:solidFill>
                  <a:schemeClr val="bg1"/>
                </a:solidFill>
                <a:cs typeface="B Nazanin" panose="00000400000000000000" pitchFamily="2" charset="-78"/>
              </a:rPr>
              <a:t>تفاوت </a:t>
            </a:r>
            <a:r>
              <a:rPr lang="fa-IR" sz="3600" b="1" dirty="0" smtClean="0">
                <a:solidFill>
                  <a:schemeClr val="bg1"/>
                </a:solidFill>
                <a:cs typeface="B Nazanin" panose="00000400000000000000" pitchFamily="2" charset="-78"/>
              </a:rPr>
              <a:t>آزمون </a:t>
            </a:r>
            <a:r>
              <a:rPr lang="fa-IR" sz="3600" b="1" dirty="0">
                <a:solidFill>
                  <a:schemeClr val="bg1"/>
                </a:solidFill>
                <a:cs typeface="B Nazanin" panose="00000400000000000000" pitchFamily="2" charset="-78"/>
              </a:rPr>
              <a:t>نرم افزار با اشكال زدايي نرم </a:t>
            </a:r>
            <a:r>
              <a:rPr lang="fa-IR" sz="3600" b="1" dirty="0" smtClean="0">
                <a:solidFill>
                  <a:schemeClr val="bg1"/>
                </a:solidFill>
                <a:cs typeface="B Nazanin" panose="00000400000000000000" pitchFamily="2" charset="-78"/>
              </a:rPr>
              <a:t>افزار:</a:t>
            </a:r>
            <a:br>
              <a:rPr lang="fa-IR" sz="3600" b="1" dirty="0" smtClean="0">
                <a:solidFill>
                  <a:schemeClr val="bg1"/>
                </a:solidFill>
                <a:cs typeface="B Nazanin" panose="00000400000000000000" pitchFamily="2" charset="-78"/>
              </a:rPr>
            </a:br>
            <a:r>
              <a:rPr lang="fa-IR" sz="3600" dirty="0" smtClean="0">
                <a:solidFill>
                  <a:schemeClr val="bg1"/>
                </a:solidFill>
                <a:cs typeface="B Nazanin" panose="00000400000000000000" pitchFamily="2" charset="-78"/>
              </a:rPr>
              <a:t/>
            </a:r>
            <a:br>
              <a:rPr lang="fa-IR" sz="3600" dirty="0" smtClean="0">
                <a:solidFill>
                  <a:schemeClr val="bg1"/>
                </a:solidFill>
                <a:cs typeface="B Nazanin" panose="00000400000000000000" pitchFamily="2" charset="-78"/>
              </a:rPr>
            </a:br>
            <a:r>
              <a:rPr lang="fa-IR" dirty="0">
                <a:solidFill>
                  <a:schemeClr val="bg1"/>
                </a:solidFill>
                <a:cs typeface="B Nazanin" panose="00000400000000000000" pitchFamily="2" charset="-78"/>
              </a:rPr>
              <a:t>اگرچه هدف هر دو افزايش كيفيت نرم افزار است، اما اشكال زدايي، اشكالات نرم افزار را رفع ميكند ولي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نقاط ضعف نرم افزار را شناسايي مي كند.كه شامل جنبه هاي سيستمي نيز مي شود كه قرار است نرم افزار در آنجا كار كند</a:t>
            </a:r>
            <a:r>
              <a:rPr lang="fa-IR" dirty="0" smtClean="0">
                <a:solidFill>
                  <a:schemeClr val="bg1"/>
                </a:solidFill>
                <a:cs typeface="B Nazanin" panose="00000400000000000000" pitchFamily="2" charset="-78"/>
              </a:rPr>
              <a:t>.</a:t>
            </a:r>
            <a:br>
              <a:rPr lang="fa-IR" dirty="0" smtClean="0">
                <a:solidFill>
                  <a:schemeClr val="bg1"/>
                </a:solidFill>
                <a:cs typeface="B Nazanin" panose="00000400000000000000" pitchFamily="2" charset="-78"/>
              </a:rPr>
            </a:br>
            <a:r>
              <a:rPr lang="en-US" dirty="0">
                <a:solidFill>
                  <a:schemeClr val="bg1"/>
                </a:solidFill>
                <a:cs typeface="B Nazanin" panose="00000400000000000000" pitchFamily="2" charset="-78"/>
              </a:rPr>
              <a:t/>
            </a:r>
            <a:br>
              <a:rPr lang="en-US" dirty="0">
                <a:solidFill>
                  <a:schemeClr val="bg1"/>
                </a:solidFill>
                <a:cs typeface="B Nazanin" panose="00000400000000000000" pitchFamily="2" charset="-78"/>
              </a:rPr>
            </a:br>
            <a:r>
              <a:rPr lang="fa-IR" dirty="0">
                <a:solidFill>
                  <a:schemeClr val="bg1"/>
                </a:solidFill>
                <a:cs typeface="B Nazanin" panose="00000400000000000000" pitchFamily="2" charset="-78"/>
              </a:rPr>
              <a:t>براي مثال حتي اگر هيچ اشكالي در برنامه موجود نباشد، ممكن است عيب و نقص در نرم افزار كشف شود . به عبارت ديگر، اشكال زدايي ، مشخصات از پيش تعيين شده را ارضاء ميكند در حاليكه </a:t>
            </a:r>
            <a:r>
              <a:rPr lang="fa-IR" dirty="0" smtClean="0">
                <a:solidFill>
                  <a:schemeClr val="bg1"/>
                </a:solidFill>
                <a:cs typeface="B Nazanin" panose="00000400000000000000" pitchFamily="2" charset="-78"/>
              </a:rPr>
              <a:t>آزمون </a:t>
            </a:r>
            <a:r>
              <a:rPr lang="fa-IR" dirty="0">
                <a:solidFill>
                  <a:schemeClr val="bg1"/>
                </a:solidFill>
                <a:cs typeface="B Nazanin" panose="00000400000000000000" pitchFamily="2" charset="-78"/>
              </a:rPr>
              <a:t>، شرايطي را شناسايي مي كند كه براي كاربران ايجاد مشكل ميكند.</a:t>
            </a:r>
            <a:r>
              <a:rPr lang="en-US" dirty="0">
                <a:solidFill>
                  <a:schemeClr val="bg1"/>
                </a:solidFill>
                <a:cs typeface="B Nazanin" panose="00000400000000000000" pitchFamily="2" charset="-78"/>
              </a:rPr>
              <a:t/>
            </a:r>
            <a:br>
              <a:rPr lang="en-US" dirty="0">
                <a:solidFill>
                  <a:schemeClr val="bg1"/>
                </a:solidFill>
                <a:cs typeface="B Nazanin" panose="00000400000000000000" pitchFamily="2" charset="-78"/>
              </a:rPr>
            </a:br>
            <a:r>
              <a:rPr lang="en-US" dirty="0">
                <a:solidFill>
                  <a:schemeClr val="bg1"/>
                </a:solidFill>
                <a:cs typeface="B Nazanin" panose="00000400000000000000" pitchFamily="2" charset="-78"/>
              </a:rPr>
              <a:t/>
            </a:r>
            <a:br>
              <a:rPr lang="en-US" dirty="0">
                <a:solidFill>
                  <a:schemeClr val="bg1"/>
                </a:solidFill>
                <a:cs typeface="B Nazanin" panose="00000400000000000000" pitchFamily="2" charset="-78"/>
              </a:rPr>
            </a:br>
            <a:endParaRPr lang="fa-IR" dirty="0">
              <a:solidFill>
                <a:schemeClr val="bg1"/>
              </a:solidFill>
              <a:cs typeface="B Nazanin" panose="00000400000000000000" pitchFamily="2" charset="-78"/>
            </a:endParaRPr>
          </a:p>
        </p:txBody>
      </p:sp>
    </p:spTree>
    <p:extLst>
      <p:ext uri="{BB962C8B-B14F-4D97-AF65-F5344CB8AC3E}">
        <p14:creationId xmlns:p14="http://schemas.microsoft.com/office/powerpoint/2010/main" val="11621053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455" y="373486"/>
            <a:ext cx="11178863" cy="1210615"/>
          </a:xfrm>
        </p:spPr>
        <p:txBody>
          <a:bodyPr>
            <a:normAutofit/>
          </a:bodyPr>
          <a:lstStyle/>
          <a:p>
            <a:pPr algn="r" rtl="1"/>
            <a:r>
              <a:rPr lang="fa-IR" sz="3600" b="1" dirty="0">
                <a:solidFill>
                  <a:schemeClr val="bg1"/>
                </a:solidFill>
                <a:cs typeface="B Nazanin" panose="00000400000000000000" pitchFamily="2" charset="-78"/>
              </a:rPr>
              <a:t>تفاوت </a:t>
            </a:r>
            <a:r>
              <a:rPr lang="fa-IR" sz="3600" b="1" dirty="0" smtClean="0">
                <a:solidFill>
                  <a:schemeClr val="bg1"/>
                </a:solidFill>
                <a:cs typeface="B Nazanin" panose="00000400000000000000" pitchFamily="2" charset="-78"/>
              </a:rPr>
              <a:t>آزمون </a:t>
            </a:r>
            <a:r>
              <a:rPr lang="fa-IR" sz="3600" b="1" dirty="0">
                <a:solidFill>
                  <a:schemeClr val="bg1"/>
                </a:solidFill>
                <a:cs typeface="B Nazanin" panose="00000400000000000000" pitchFamily="2" charset="-78"/>
              </a:rPr>
              <a:t>نرم افزار با اشكال زدايي نرم </a:t>
            </a:r>
            <a:r>
              <a:rPr lang="fa-IR" sz="3600" b="1" dirty="0" smtClean="0">
                <a:solidFill>
                  <a:schemeClr val="bg1"/>
                </a:solidFill>
                <a:cs typeface="B Nazanin" panose="00000400000000000000" pitchFamily="2" charset="-78"/>
              </a:rPr>
              <a:t>افزار (ادامه):</a:t>
            </a:r>
            <a:r>
              <a:rPr lang="en-US" dirty="0">
                <a:solidFill>
                  <a:schemeClr val="bg1"/>
                </a:solidFill>
                <a:cs typeface="B Nazanin" panose="00000400000000000000" pitchFamily="2" charset="-78"/>
              </a:rPr>
              <a:t/>
            </a:r>
            <a:br>
              <a:rPr lang="en-US" dirty="0">
                <a:solidFill>
                  <a:schemeClr val="bg1"/>
                </a:solidFill>
                <a:cs typeface="B Nazanin" panose="00000400000000000000" pitchFamily="2" charset="-78"/>
              </a:rPr>
            </a:br>
            <a:endParaRPr lang="fa-IR" dirty="0">
              <a:solidFill>
                <a:schemeClr val="bg1"/>
              </a:solidFill>
              <a:cs typeface="B Nazanin" panose="00000400000000000000" pitchFamily="2" charset="-78"/>
            </a:endParaRPr>
          </a:p>
        </p:txBody>
      </p:sp>
      <p:graphicFrame>
        <p:nvGraphicFramePr>
          <p:cNvPr id="3" name="Table 2"/>
          <p:cNvGraphicFramePr>
            <a:graphicFrameLocks noGrp="1"/>
          </p:cNvGraphicFramePr>
          <p:nvPr>
            <p:extLst>
              <p:ext uri="{D42A27DB-BD31-4B8C-83A1-F6EECF244321}">
                <p14:modId xmlns:p14="http://schemas.microsoft.com/office/powerpoint/2010/main" val="2352428962"/>
              </p:ext>
            </p:extLst>
          </p:nvPr>
        </p:nvGraphicFramePr>
        <p:xfrm>
          <a:off x="1429555" y="1146218"/>
          <a:ext cx="6993227" cy="4642238"/>
        </p:xfrm>
        <a:graphic>
          <a:graphicData uri="http://schemas.openxmlformats.org/drawingml/2006/table">
            <a:tbl>
              <a:tblPr rtl="1" firstRow="1" firstCol="1" bandRow="1">
                <a:tableStyleId>{5C22544A-7EE6-4342-B048-85BDC9FD1C3A}</a:tableStyleId>
              </a:tblPr>
              <a:tblGrid>
                <a:gridCol w="1880314">
                  <a:extLst>
                    <a:ext uri="{9D8B030D-6E8A-4147-A177-3AD203B41FA5}">
                      <a16:colId xmlns:a16="http://schemas.microsoft.com/office/drawing/2014/main" val="20000"/>
                    </a:ext>
                  </a:extLst>
                </a:gridCol>
                <a:gridCol w="2240924">
                  <a:extLst>
                    <a:ext uri="{9D8B030D-6E8A-4147-A177-3AD203B41FA5}">
                      <a16:colId xmlns:a16="http://schemas.microsoft.com/office/drawing/2014/main" val="20001"/>
                    </a:ext>
                  </a:extLst>
                </a:gridCol>
                <a:gridCol w="2871989">
                  <a:extLst>
                    <a:ext uri="{9D8B030D-6E8A-4147-A177-3AD203B41FA5}">
                      <a16:colId xmlns:a16="http://schemas.microsoft.com/office/drawing/2014/main" val="20002"/>
                    </a:ext>
                  </a:extLst>
                </a:gridCol>
              </a:tblGrid>
              <a:tr h="300324">
                <a:tc>
                  <a:txBody>
                    <a:bodyPr/>
                    <a:lstStyle/>
                    <a:p>
                      <a:pPr marL="0" marR="0" indent="457200" algn="just" rtl="1">
                        <a:lnSpc>
                          <a:spcPct val="115000"/>
                        </a:lnSpc>
                        <a:spcBef>
                          <a:spcPts val="0"/>
                        </a:spcBef>
                        <a:spcAft>
                          <a:spcPts val="0"/>
                        </a:spcAft>
                      </a:pPr>
                      <a:r>
                        <a:rPr lang="fa-IR" sz="1050" spc="60">
                          <a:effectLst/>
                          <a:cs typeface="B Nazanin" panose="00000400000000000000" pitchFamily="2" charset="-78"/>
                        </a:rPr>
                        <a:t> </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dirty="0">
                          <a:effectLst/>
                          <a:cs typeface="B Nazanin" panose="00000400000000000000" pitchFamily="2" charset="-78"/>
                        </a:rPr>
                        <a:t>  اشکال زدایی</a:t>
                      </a:r>
                      <a:endParaRPr lang="en-US" sz="1800" spc="60" dirty="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آزمایش کردن</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extLst>
                  <a:ext uri="{0D108BD9-81ED-4DB2-BD59-A6C34878D82A}">
                    <a16:rowId xmlns:a16="http://schemas.microsoft.com/office/drawing/2014/main" val="10000"/>
                  </a:ext>
                </a:extLst>
              </a:tr>
              <a:tr h="628964">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         هدف</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dirty="0" smtClean="0">
                          <a:effectLst/>
                          <a:cs typeface="B Nazanin" panose="00000400000000000000" pitchFamily="2" charset="-78"/>
                        </a:rPr>
                        <a:t>رفع اشکالات </a:t>
                      </a:r>
                      <a:r>
                        <a:rPr lang="en-US" sz="1800" spc="0" dirty="0">
                          <a:effectLst/>
                          <a:cs typeface="B Nazanin" panose="00000400000000000000" pitchFamily="2" charset="-78"/>
                        </a:rPr>
                        <a:t>(Bugs) </a:t>
                      </a:r>
                      <a:endParaRPr lang="en-US" sz="1800" spc="60" dirty="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ارزیابی و تضمین کیفیت مورد انتظار</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extLst>
                  <a:ext uri="{0D108BD9-81ED-4DB2-BD59-A6C34878D82A}">
                    <a16:rowId xmlns:a16="http://schemas.microsoft.com/office/drawing/2014/main" val="10001"/>
                  </a:ext>
                </a:extLst>
              </a:tr>
              <a:tr h="628272">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 موضوع یا مورد</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dirty="0" smtClean="0">
                          <a:effectLst/>
                          <a:cs typeface="B Nazanin" panose="00000400000000000000" pitchFamily="2" charset="-78"/>
                        </a:rPr>
                        <a:t>برنامه</a:t>
                      </a:r>
                      <a:endParaRPr lang="en-US" sz="1800" spc="60" dirty="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سیستم (شامل نرم افزار)</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extLst>
                  <a:ext uri="{0D108BD9-81ED-4DB2-BD59-A6C34878D82A}">
                    <a16:rowId xmlns:a16="http://schemas.microsoft.com/office/drawing/2014/main" val="10002"/>
                  </a:ext>
                </a:extLst>
              </a:tr>
              <a:tr h="513675">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          کار</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dirty="0">
                          <a:effectLst/>
                          <a:cs typeface="B Nazanin" panose="00000400000000000000" pitchFamily="2" charset="-78"/>
                        </a:rPr>
                        <a:t>تصحیح خطاها و </a:t>
                      </a:r>
                      <a:r>
                        <a:rPr lang="fa-IR" sz="1800" spc="0" dirty="0" smtClean="0">
                          <a:effectLst/>
                          <a:cs typeface="B Nazanin" panose="00000400000000000000" pitchFamily="2" charset="-78"/>
                        </a:rPr>
                        <a:t> </a:t>
                      </a:r>
                      <a:r>
                        <a:rPr lang="fa-IR" sz="1800" spc="0" dirty="0">
                          <a:effectLst/>
                          <a:cs typeface="B Nazanin" panose="00000400000000000000" pitchFamily="2" charset="-78"/>
                        </a:rPr>
                        <a:t>اشتباه ها</a:t>
                      </a:r>
                      <a:endParaRPr lang="en-US" sz="1800" spc="60" dirty="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dirty="0" smtClean="0">
                          <a:effectLst/>
                          <a:cs typeface="B Nazanin" panose="00000400000000000000" pitchFamily="2" charset="-78"/>
                        </a:rPr>
                        <a:t>شناسایی </a:t>
                      </a:r>
                      <a:r>
                        <a:rPr lang="fa-IR" sz="1800" spc="0" dirty="0">
                          <a:effectLst/>
                          <a:cs typeface="B Nazanin" panose="00000400000000000000" pitchFamily="2" charset="-78"/>
                        </a:rPr>
                        <a:t>خطاها</a:t>
                      </a:r>
                      <a:endParaRPr lang="en-US" sz="1800" spc="60" dirty="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extLst>
                  <a:ext uri="{0D108BD9-81ED-4DB2-BD59-A6C34878D82A}">
                    <a16:rowId xmlns:a16="http://schemas.microsoft.com/office/drawing/2014/main" val="10003"/>
                  </a:ext>
                </a:extLst>
              </a:tr>
              <a:tr h="300324">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   انجام دهنده</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dirty="0" smtClean="0">
                          <a:effectLst/>
                          <a:cs typeface="B Nazanin" panose="00000400000000000000" pitchFamily="2" charset="-78"/>
                        </a:rPr>
                        <a:t>برنامه </a:t>
                      </a:r>
                      <a:r>
                        <a:rPr lang="fa-IR" sz="1800" spc="0" dirty="0">
                          <a:effectLst/>
                          <a:cs typeface="B Nazanin" panose="00000400000000000000" pitchFamily="2" charset="-78"/>
                        </a:rPr>
                        <a:t>نویس</a:t>
                      </a:r>
                      <a:endParaRPr lang="en-US" sz="1800" spc="60" dirty="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dirty="0" smtClean="0">
                          <a:effectLst/>
                          <a:cs typeface="B Nazanin" panose="00000400000000000000" pitchFamily="2" charset="-78"/>
                        </a:rPr>
                        <a:t>مهندس آزمون</a:t>
                      </a:r>
                      <a:endParaRPr lang="en-US" sz="1800" spc="60" dirty="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extLst>
                  <a:ext uri="{0D108BD9-81ED-4DB2-BD59-A6C34878D82A}">
                    <a16:rowId xmlns:a16="http://schemas.microsoft.com/office/drawing/2014/main" val="10004"/>
                  </a:ext>
                </a:extLst>
              </a:tr>
              <a:tr h="1284170">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        شروع</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 </a:t>
                      </a:r>
                      <a:endParaRPr lang="en-US" sz="1800" spc="60">
                        <a:effectLst/>
                        <a:cs typeface="B Nazanin" panose="00000400000000000000" pitchFamily="2" charset="-78"/>
                      </a:endParaRPr>
                    </a:p>
                    <a:p>
                      <a:pPr marL="0" marR="0" indent="0" algn="just" rtl="1">
                        <a:lnSpc>
                          <a:spcPct val="115000"/>
                        </a:lnSpc>
                        <a:spcBef>
                          <a:spcPts val="0"/>
                        </a:spcBef>
                        <a:spcAft>
                          <a:spcPts val="0"/>
                        </a:spcAft>
                      </a:pPr>
                      <a:r>
                        <a:rPr lang="fa-IR" sz="1800" spc="0">
                          <a:effectLst/>
                          <a:cs typeface="B Nazanin" panose="00000400000000000000" pitchFamily="2" charset="-78"/>
                        </a:rPr>
                        <a:t>بعد از نوشتن برنامه</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یک طرح </a:t>
                      </a:r>
                      <a:r>
                        <a:rPr lang="fa-IR" sz="1800" spc="0" smtClean="0">
                          <a:effectLst/>
                          <a:cs typeface="B Nazanin" panose="00000400000000000000" pitchFamily="2" charset="-78"/>
                        </a:rPr>
                        <a:t>آزمون </a:t>
                      </a:r>
                      <a:r>
                        <a:rPr lang="fa-IR" sz="1800" spc="0">
                          <a:effectLst/>
                          <a:cs typeface="B Nazanin" panose="00000400000000000000" pitchFamily="2" charset="-78"/>
                        </a:rPr>
                        <a:t>از مرحله شناسایی نیازها شروع میشود</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extLst>
                  <a:ext uri="{0D108BD9-81ED-4DB2-BD59-A6C34878D82A}">
                    <a16:rowId xmlns:a16="http://schemas.microsoft.com/office/drawing/2014/main" val="10005"/>
                  </a:ext>
                </a:extLst>
              </a:tr>
              <a:tr h="956221">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         پایان</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a:effectLst/>
                          <a:cs typeface="B Nazanin" panose="00000400000000000000" pitchFamily="2" charset="-78"/>
                        </a:rPr>
                        <a:t>          _</a:t>
                      </a:r>
                      <a:endParaRPr lang="en-US" sz="1800" spc="6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tc>
                  <a:txBody>
                    <a:bodyPr/>
                    <a:lstStyle/>
                    <a:p>
                      <a:pPr marL="0" marR="0" indent="0" algn="just" rtl="1">
                        <a:lnSpc>
                          <a:spcPct val="115000"/>
                        </a:lnSpc>
                        <a:spcBef>
                          <a:spcPts val="0"/>
                        </a:spcBef>
                        <a:spcAft>
                          <a:spcPts val="0"/>
                        </a:spcAft>
                      </a:pPr>
                      <a:r>
                        <a:rPr lang="fa-IR" sz="1800" spc="0" dirty="0">
                          <a:effectLst/>
                          <a:cs typeface="B Nazanin" panose="00000400000000000000" pitchFamily="2" charset="-78"/>
                        </a:rPr>
                        <a:t>مسئول </a:t>
                      </a:r>
                      <a:r>
                        <a:rPr lang="fa-IR" sz="1800" spc="0" dirty="0" smtClean="0">
                          <a:effectLst/>
                          <a:cs typeface="B Nazanin" panose="00000400000000000000" pitchFamily="2" charset="-78"/>
                        </a:rPr>
                        <a:t>آزمون اعلام ميكند</a:t>
                      </a:r>
                      <a:endParaRPr lang="en-US" sz="1800" spc="60" dirty="0">
                        <a:effectLst/>
                        <a:latin typeface="Times New Roman" panose="02020603050405020304" pitchFamily="18" charset="0"/>
                        <a:ea typeface="Calibri" panose="020F0502020204030204" pitchFamily="34" charset="0"/>
                        <a:cs typeface="B Nazanin" panose="00000400000000000000" pitchFamily="2" charset="-78"/>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632846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970" y="650384"/>
            <a:ext cx="11178863" cy="5756856"/>
          </a:xfrm>
        </p:spPr>
        <p:txBody>
          <a:bodyPr>
            <a:normAutofit fontScale="90000"/>
          </a:bodyPr>
          <a:lstStyle/>
          <a:p>
            <a:pPr lvl="1" rtl="1"/>
            <a:r>
              <a:rPr lang="fa-IR" sz="2800" b="1" dirty="0">
                <a:solidFill>
                  <a:schemeClr val="bg1"/>
                </a:solidFill>
                <a:cs typeface="B Nazanin" panose="00000400000000000000" pitchFamily="2" charset="-78"/>
              </a:rPr>
              <a:t>چرخه </a:t>
            </a:r>
            <a:r>
              <a:rPr lang="fa-IR" sz="2800" b="1" dirty="0" smtClean="0">
                <a:solidFill>
                  <a:schemeClr val="bg1"/>
                </a:solidFill>
                <a:cs typeface="B Nazanin" panose="00000400000000000000" pitchFamily="2" charset="-78"/>
              </a:rPr>
              <a:t>آزمون </a:t>
            </a:r>
            <a:r>
              <a:rPr lang="fa-IR" sz="2800" b="1" dirty="0">
                <a:solidFill>
                  <a:schemeClr val="bg1"/>
                </a:solidFill>
                <a:cs typeface="B Nazanin" panose="00000400000000000000" pitchFamily="2" charset="-78"/>
              </a:rPr>
              <a:t>نرم </a:t>
            </a:r>
            <a:r>
              <a:rPr lang="fa-IR" sz="2800" b="1" dirty="0" smtClean="0">
                <a:solidFill>
                  <a:schemeClr val="bg1"/>
                </a:solidFill>
                <a:cs typeface="B Nazanin" panose="00000400000000000000" pitchFamily="2" charset="-78"/>
              </a:rPr>
              <a:t>افزار:</a:t>
            </a:r>
            <a:r>
              <a:rPr lang="en-US" sz="2800" b="1" dirty="0">
                <a:solidFill>
                  <a:schemeClr val="bg1"/>
                </a:solidFill>
                <a:cs typeface="B Nazanin" panose="00000400000000000000" pitchFamily="2" charset="-78"/>
              </a:rPr>
              <a:t/>
            </a:r>
            <a:br>
              <a:rPr lang="en-US" sz="2800" b="1" dirty="0">
                <a:solidFill>
                  <a:schemeClr val="bg1"/>
                </a:solidFill>
                <a:cs typeface="B Nazanin" panose="00000400000000000000" pitchFamily="2" charset="-78"/>
              </a:rPr>
            </a:br>
            <a:r>
              <a:rPr lang="fa-IR" sz="2800" dirty="0">
                <a:solidFill>
                  <a:schemeClr val="bg1"/>
                </a:solidFill>
                <a:cs typeface="B Nazanin" panose="00000400000000000000" pitchFamily="2" charset="-78"/>
              </a:rPr>
              <a:t>اگرچه فرايند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در سازمان هاي مختلف متفاوت است، اما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نرم افزار داراي چرخه زير است</a:t>
            </a:r>
            <a:r>
              <a:rPr lang="fa-IR" sz="2800" dirty="0" smtClean="0">
                <a:solidFill>
                  <a:schemeClr val="bg1"/>
                </a:solidFill>
                <a:cs typeface="B Nazanin" panose="00000400000000000000" pitchFamily="2" charset="-78"/>
              </a:rPr>
              <a:t>:</a:t>
            </a:r>
            <a:br>
              <a:rPr lang="fa-IR" sz="2800" dirty="0" smtClean="0">
                <a:solidFill>
                  <a:schemeClr val="bg1"/>
                </a:solidFill>
                <a:cs typeface="B Nazanin" panose="00000400000000000000" pitchFamily="2" charset="-78"/>
              </a:rPr>
            </a:br>
            <a:r>
              <a:rPr lang="en-US" sz="2400" dirty="0">
                <a:solidFill>
                  <a:schemeClr val="bg1"/>
                </a:solidFill>
                <a:cs typeface="B Nazanin" panose="00000400000000000000" pitchFamily="2" charset="-78"/>
              </a:rPr>
              <a:t/>
            </a:r>
            <a:br>
              <a:rPr lang="en-US" sz="2400" dirty="0">
                <a:solidFill>
                  <a:schemeClr val="bg1"/>
                </a:solidFill>
                <a:cs typeface="B Nazanin" panose="00000400000000000000" pitchFamily="2" charset="-78"/>
              </a:rPr>
            </a:br>
            <a:r>
              <a:rPr lang="fa-IR" sz="2800" dirty="0">
                <a:solidFill>
                  <a:schemeClr val="bg1"/>
                </a:solidFill>
                <a:cs typeface="B Nazanin" panose="00000400000000000000" pitchFamily="2" charset="-78"/>
              </a:rPr>
              <a:t>• </a:t>
            </a:r>
            <a:r>
              <a:rPr lang="fa-IR" sz="2800" b="1" dirty="0">
                <a:solidFill>
                  <a:schemeClr val="bg1"/>
                </a:solidFill>
                <a:cs typeface="B Nazanin" panose="00000400000000000000" pitchFamily="2" charset="-78"/>
              </a:rPr>
              <a:t>تحليل نيازها :</a:t>
            </a:r>
            <a:r>
              <a:rPr lang="fa-IR" sz="2800" dirty="0">
                <a:solidFill>
                  <a:schemeClr val="bg1"/>
                </a:solidFill>
                <a:cs typeface="B Nazanin" panose="00000400000000000000" pitchFamily="2" charset="-78"/>
              </a:rPr>
              <a:t> فرايند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بايد در فاز تحليل نيازهاي چرخه زندگي نرم افزار انجام پذيرد</a:t>
            </a:r>
            <a:r>
              <a:rPr lang="fa-IR" sz="2800" dirty="0" smtClean="0">
                <a:solidFill>
                  <a:schemeClr val="bg1"/>
                </a:solidFill>
                <a:cs typeface="B Nazanin" panose="00000400000000000000" pitchFamily="2" charset="-78"/>
              </a:rPr>
              <a:t>.</a:t>
            </a:r>
            <a:br>
              <a:rPr lang="fa-IR" sz="2800" dirty="0" smtClean="0">
                <a:solidFill>
                  <a:schemeClr val="bg1"/>
                </a:solidFill>
                <a:cs typeface="B Nazanin" panose="00000400000000000000" pitchFamily="2" charset="-78"/>
              </a:rPr>
            </a:br>
            <a:r>
              <a:rPr lang="en-US" sz="2400" dirty="0">
                <a:solidFill>
                  <a:schemeClr val="bg1"/>
                </a:solidFill>
                <a:cs typeface="B Nazanin" panose="00000400000000000000" pitchFamily="2" charset="-78"/>
              </a:rPr>
              <a:t/>
            </a:r>
            <a:br>
              <a:rPr lang="en-US" sz="2400" dirty="0">
                <a:solidFill>
                  <a:schemeClr val="bg1"/>
                </a:solidFill>
                <a:cs typeface="B Nazanin" panose="00000400000000000000" pitchFamily="2" charset="-78"/>
              </a:rPr>
            </a:br>
            <a:r>
              <a:rPr lang="fa-IR" sz="2800" dirty="0">
                <a:solidFill>
                  <a:schemeClr val="bg1"/>
                </a:solidFill>
                <a:cs typeface="B Nazanin" panose="00000400000000000000" pitchFamily="2" charset="-78"/>
              </a:rPr>
              <a:t>• </a:t>
            </a:r>
            <a:r>
              <a:rPr lang="fa-IR" sz="2800" b="1" dirty="0">
                <a:solidFill>
                  <a:schemeClr val="bg1"/>
                </a:solidFill>
                <a:cs typeface="B Nazanin" panose="00000400000000000000" pitchFamily="2" charset="-78"/>
              </a:rPr>
              <a:t>تحليل طراحي :</a:t>
            </a:r>
            <a:r>
              <a:rPr lang="fa-IR" sz="2800" dirty="0">
                <a:solidFill>
                  <a:schemeClr val="bg1"/>
                </a:solidFill>
                <a:cs typeface="B Nazanin" panose="00000400000000000000" pitchFamily="2" charset="-78"/>
              </a:rPr>
              <a:t> در طي فاز طراحي،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كنندگان با طراحان همكاري مي كنند تا مشخص شود كه كدام قسمت از طراحي قابل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است و در هنگام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از كدام پارامترها بايد استفاده شود</a:t>
            </a:r>
            <a:r>
              <a:rPr lang="fa-IR" sz="2800" dirty="0" smtClean="0">
                <a:solidFill>
                  <a:schemeClr val="bg1"/>
                </a:solidFill>
                <a:cs typeface="B Nazanin" panose="00000400000000000000" pitchFamily="2" charset="-78"/>
              </a:rPr>
              <a:t>.</a:t>
            </a:r>
            <a:br>
              <a:rPr lang="fa-IR" sz="2800" dirty="0" smtClean="0">
                <a:solidFill>
                  <a:schemeClr val="bg1"/>
                </a:solidFill>
                <a:cs typeface="B Nazanin" panose="00000400000000000000" pitchFamily="2" charset="-78"/>
              </a:rPr>
            </a:br>
            <a:r>
              <a:rPr lang="en-US" sz="2400" dirty="0">
                <a:solidFill>
                  <a:schemeClr val="bg1"/>
                </a:solidFill>
                <a:cs typeface="B Nazanin" panose="00000400000000000000" pitchFamily="2" charset="-78"/>
              </a:rPr>
              <a:t/>
            </a:r>
            <a:br>
              <a:rPr lang="en-US" sz="2400" dirty="0">
                <a:solidFill>
                  <a:schemeClr val="bg1"/>
                </a:solidFill>
                <a:cs typeface="B Nazanin" panose="00000400000000000000" pitchFamily="2" charset="-78"/>
              </a:rPr>
            </a:br>
            <a:r>
              <a:rPr lang="fa-IR" sz="2800" dirty="0">
                <a:solidFill>
                  <a:schemeClr val="bg1"/>
                </a:solidFill>
                <a:cs typeface="B Nazanin" panose="00000400000000000000" pitchFamily="2" charset="-78"/>
              </a:rPr>
              <a:t>• </a:t>
            </a:r>
            <a:r>
              <a:rPr lang="fa-IR" sz="2800" b="1" dirty="0">
                <a:solidFill>
                  <a:schemeClr val="bg1"/>
                </a:solidFill>
                <a:cs typeface="B Nazanin" panose="00000400000000000000" pitchFamily="2" charset="-78"/>
              </a:rPr>
              <a:t>طراحي </a:t>
            </a:r>
            <a:r>
              <a:rPr lang="fa-IR" sz="2800" b="1" dirty="0" smtClean="0">
                <a:solidFill>
                  <a:schemeClr val="bg1"/>
                </a:solidFill>
                <a:cs typeface="B Nazanin" panose="00000400000000000000" pitchFamily="2" charset="-78"/>
              </a:rPr>
              <a:t>آزمون </a:t>
            </a:r>
            <a:r>
              <a:rPr lang="fa-IR" sz="2800" b="1" dirty="0">
                <a:solidFill>
                  <a:schemeClr val="bg1"/>
                </a:solidFill>
                <a:cs typeface="B Nazanin" panose="00000400000000000000" pitchFamily="2" charset="-78"/>
              </a:rPr>
              <a:t>:</a:t>
            </a:r>
            <a:r>
              <a:rPr lang="fa-IR" sz="2800" dirty="0">
                <a:solidFill>
                  <a:schemeClr val="bg1"/>
                </a:solidFill>
                <a:cs typeface="B Nazanin" panose="00000400000000000000" pitchFamily="2" charset="-78"/>
              </a:rPr>
              <a:t> در اين مرحله استراتژي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مشخص ميشود</a:t>
            </a:r>
            <a:r>
              <a:rPr lang="fa-IR" sz="2800" dirty="0" smtClean="0">
                <a:solidFill>
                  <a:schemeClr val="bg1"/>
                </a:solidFill>
                <a:cs typeface="B Nazanin" panose="00000400000000000000" pitchFamily="2" charset="-78"/>
              </a:rPr>
              <a:t>.</a:t>
            </a:r>
            <a:br>
              <a:rPr lang="fa-IR" sz="2800" dirty="0" smtClean="0">
                <a:solidFill>
                  <a:schemeClr val="bg1"/>
                </a:solidFill>
                <a:cs typeface="B Nazanin" panose="00000400000000000000" pitchFamily="2" charset="-78"/>
              </a:rPr>
            </a:br>
            <a:r>
              <a:rPr lang="en-US" sz="2400" dirty="0">
                <a:solidFill>
                  <a:schemeClr val="bg1"/>
                </a:solidFill>
                <a:cs typeface="B Nazanin" panose="00000400000000000000" pitchFamily="2" charset="-78"/>
              </a:rPr>
              <a:t/>
            </a:r>
            <a:br>
              <a:rPr lang="en-US" sz="2400" dirty="0">
                <a:solidFill>
                  <a:schemeClr val="bg1"/>
                </a:solidFill>
                <a:cs typeface="B Nazanin" panose="00000400000000000000" pitchFamily="2" charset="-78"/>
              </a:rPr>
            </a:br>
            <a:r>
              <a:rPr lang="fa-IR" sz="2800" dirty="0">
                <a:solidFill>
                  <a:schemeClr val="bg1"/>
                </a:solidFill>
                <a:cs typeface="B Nazanin" panose="00000400000000000000" pitchFamily="2" charset="-78"/>
              </a:rPr>
              <a:t>• </a:t>
            </a:r>
            <a:r>
              <a:rPr lang="fa-IR" sz="2800" b="1" dirty="0">
                <a:solidFill>
                  <a:schemeClr val="bg1"/>
                </a:solidFill>
                <a:cs typeface="B Nazanin" panose="00000400000000000000" pitchFamily="2" charset="-78"/>
              </a:rPr>
              <a:t>اجراي </a:t>
            </a:r>
            <a:r>
              <a:rPr lang="fa-IR" sz="2800" b="1" dirty="0" smtClean="0">
                <a:solidFill>
                  <a:schemeClr val="bg1"/>
                </a:solidFill>
                <a:cs typeface="B Nazanin" panose="00000400000000000000" pitchFamily="2" charset="-78"/>
              </a:rPr>
              <a:t>آزمون </a:t>
            </a:r>
            <a:r>
              <a:rPr lang="fa-IR" sz="2800" b="1" dirty="0">
                <a:solidFill>
                  <a:schemeClr val="bg1"/>
                </a:solidFill>
                <a:cs typeface="B Nazanin" panose="00000400000000000000" pitchFamily="2" charset="-78"/>
              </a:rPr>
              <a:t>:</a:t>
            </a:r>
            <a:r>
              <a:rPr lang="fa-IR" sz="2800" dirty="0">
                <a:solidFill>
                  <a:schemeClr val="bg1"/>
                </a:solidFill>
                <a:cs typeface="B Nazanin" panose="00000400000000000000" pitchFamily="2" charset="-78"/>
              </a:rPr>
              <a:t>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كنندگان نرم افزار را اجرا كرده و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مي كنند و هرگونه خطا را به تيم توسعه دهنده گزارش ميكنند</a:t>
            </a:r>
            <a:r>
              <a:rPr lang="fa-IR" sz="2800" dirty="0" smtClean="0">
                <a:solidFill>
                  <a:schemeClr val="bg1"/>
                </a:solidFill>
                <a:cs typeface="B Nazanin" panose="00000400000000000000" pitchFamily="2" charset="-78"/>
              </a:rPr>
              <a:t>.</a:t>
            </a:r>
            <a:br>
              <a:rPr lang="fa-IR" sz="2800" dirty="0" smtClean="0">
                <a:solidFill>
                  <a:schemeClr val="bg1"/>
                </a:solidFill>
                <a:cs typeface="B Nazanin" panose="00000400000000000000" pitchFamily="2" charset="-78"/>
              </a:rPr>
            </a:br>
            <a:r>
              <a:rPr lang="en-US" sz="2400" dirty="0">
                <a:solidFill>
                  <a:schemeClr val="bg1"/>
                </a:solidFill>
                <a:cs typeface="B Nazanin" panose="00000400000000000000" pitchFamily="2" charset="-78"/>
              </a:rPr>
              <a:t/>
            </a:r>
            <a:br>
              <a:rPr lang="en-US" sz="2400" dirty="0">
                <a:solidFill>
                  <a:schemeClr val="bg1"/>
                </a:solidFill>
                <a:cs typeface="B Nazanin" panose="00000400000000000000" pitchFamily="2" charset="-78"/>
              </a:rPr>
            </a:br>
            <a:r>
              <a:rPr lang="fa-IR" sz="2800" dirty="0">
                <a:solidFill>
                  <a:schemeClr val="bg1"/>
                </a:solidFill>
                <a:cs typeface="B Nazanin" panose="00000400000000000000" pitchFamily="2" charset="-78"/>
              </a:rPr>
              <a:t>• </a:t>
            </a:r>
            <a:r>
              <a:rPr lang="fa-IR" sz="2800" b="1" dirty="0">
                <a:solidFill>
                  <a:schemeClr val="bg1"/>
                </a:solidFill>
                <a:cs typeface="B Nazanin" panose="00000400000000000000" pitchFamily="2" charset="-78"/>
              </a:rPr>
              <a:t>گزارش </a:t>
            </a:r>
            <a:r>
              <a:rPr lang="fa-IR" sz="2800" b="1" dirty="0" smtClean="0">
                <a:solidFill>
                  <a:schemeClr val="bg1"/>
                </a:solidFill>
                <a:cs typeface="B Nazanin" panose="00000400000000000000" pitchFamily="2" charset="-78"/>
              </a:rPr>
              <a:t>آزمون </a:t>
            </a:r>
            <a:r>
              <a:rPr lang="fa-IR" sz="2800" b="1" dirty="0">
                <a:solidFill>
                  <a:schemeClr val="bg1"/>
                </a:solidFill>
                <a:cs typeface="B Nazanin" panose="00000400000000000000" pitchFamily="2" charset="-78"/>
              </a:rPr>
              <a:t>:</a:t>
            </a:r>
            <a:r>
              <a:rPr lang="fa-IR" sz="2800" dirty="0">
                <a:solidFill>
                  <a:schemeClr val="bg1"/>
                </a:solidFill>
                <a:cs typeface="B Nazanin" panose="00000400000000000000" pitchFamily="2" charset="-78"/>
              </a:rPr>
              <a:t> بعد از اينكه فرايند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تكميل شد، </a:t>
            </a:r>
            <a:r>
              <a:rPr lang="fa-IR" sz="2800" dirty="0" smtClean="0">
                <a:solidFill>
                  <a:schemeClr val="bg1"/>
                </a:solidFill>
                <a:cs typeface="B Nazanin" panose="00000400000000000000" pitchFamily="2" charset="-78"/>
              </a:rPr>
              <a:t>آزمون </a:t>
            </a:r>
            <a:r>
              <a:rPr lang="fa-IR" sz="2800" dirty="0">
                <a:solidFill>
                  <a:schemeClr val="bg1"/>
                </a:solidFill>
                <a:cs typeface="B Nazanin" panose="00000400000000000000" pitchFamily="2" charset="-78"/>
              </a:rPr>
              <a:t>كنندگان نتايج بدست آمده را درقالب يك گزارش تهيه مي كنند و مشخص مي شود كه آيا نرم افزار قابل استفاده است يا خير</a:t>
            </a:r>
            <a:r>
              <a:rPr lang="fa-IR" sz="2800" dirty="0" smtClean="0">
                <a:solidFill>
                  <a:schemeClr val="bg1"/>
                </a:solidFill>
                <a:cs typeface="B Nazanin" panose="00000400000000000000" pitchFamily="2" charset="-78"/>
              </a:rPr>
              <a:t>.</a:t>
            </a:r>
            <a:r>
              <a:rPr lang="en-US" sz="2800" dirty="0">
                <a:solidFill>
                  <a:schemeClr val="bg1"/>
                </a:solidFill>
                <a:cs typeface="B Nazanin" panose="00000400000000000000" pitchFamily="2" charset="-78"/>
              </a:rPr>
              <a:t/>
            </a:r>
            <a:br>
              <a:rPr lang="en-US" sz="2800" dirty="0">
                <a:solidFill>
                  <a:schemeClr val="bg1"/>
                </a:solidFill>
                <a:cs typeface="B Nazanin" panose="00000400000000000000" pitchFamily="2" charset="-78"/>
              </a:rPr>
            </a:br>
            <a:endParaRPr lang="fa-IR" sz="2800" dirty="0">
              <a:solidFill>
                <a:schemeClr val="bg1"/>
              </a:solidFill>
              <a:cs typeface="B Nazanin" panose="00000400000000000000" pitchFamily="2" charset="-78"/>
            </a:endParaRPr>
          </a:p>
        </p:txBody>
      </p:sp>
    </p:spTree>
    <p:extLst>
      <p:ext uri="{BB962C8B-B14F-4D97-AF65-F5344CB8AC3E}">
        <p14:creationId xmlns:p14="http://schemas.microsoft.com/office/powerpoint/2010/main" val="32252092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091" y="502274"/>
            <a:ext cx="11178863" cy="3721996"/>
          </a:xfrm>
        </p:spPr>
        <p:txBody>
          <a:bodyPr>
            <a:normAutofit fontScale="90000"/>
          </a:bodyPr>
          <a:lstStyle/>
          <a:p>
            <a:pPr lvl="1" rtl="1"/>
            <a:r>
              <a:rPr lang="fa-IR" sz="3200" b="1" dirty="0" smtClean="0">
                <a:solidFill>
                  <a:schemeClr val="bg1"/>
                </a:solidFill>
                <a:cs typeface="B Nazanin" panose="00000400000000000000" pitchFamily="2" charset="-78"/>
              </a:rPr>
              <a:t>آزمون </a:t>
            </a:r>
            <a:r>
              <a:rPr lang="fa-IR" sz="3200" b="1" dirty="0">
                <a:solidFill>
                  <a:schemeClr val="bg1"/>
                </a:solidFill>
                <a:cs typeface="B Nazanin" panose="00000400000000000000" pitchFamily="2" charset="-78"/>
              </a:rPr>
              <a:t>نرم افزار در کدام مرحله فرآیند یا چرخه توسعه نرم افزار قرار دارد</a:t>
            </a:r>
            <a:r>
              <a:rPr lang="fa-IR" sz="3200" b="1" dirty="0" smtClean="0">
                <a:solidFill>
                  <a:schemeClr val="bg1"/>
                </a:solidFill>
                <a:cs typeface="B Nazanin" panose="00000400000000000000" pitchFamily="2" charset="-78"/>
              </a:rPr>
              <a:t>؟</a:t>
            </a:r>
            <a:br>
              <a:rPr lang="fa-IR" sz="3200" b="1" dirty="0" smtClean="0">
                <a:solidFill>
                  <a:schemeClr val="bg1"/>
                </a:solidFill>
                <a:cs typeface="B Nazanin" panose="00000400000000000000" pitchFamily="2" charset="-78"/>
              </a:rPr>
            </a:br>
            <a:r>
              <a:rPr lang="en-US" sz="3200" b="1" dirty="0">
                <a:solidFill>
                  <a:schemeClr val="bg1"/>
                </a:solidFill>
                <a:cs typeface="B Nazanin" panose="00000400000000000000" pitchFamily="2" charset="-78"/>
              </a:rPr>
              <a:t/>
            </a:r>
            <a:br>
              <a:rPr lang="en-US" sz="3200" b="1" dirty="0">
                <a:solidFill>
                  <a:schemeClr val="bg1"/>
                </a:solidFill>
                <a:cs typeface="B Nazanin" panose="00000400000000000000" pitchFamily="2" charset="-78"/>
              </a:rPr>
            </a:br>
            <a:r>
              <a:rPr lang="fa-IR" sz="3200" dirty="0">
                <a:solidFill>
                  <a:schemeClr val="bg1"/>
                </a:solidFill>
                <a:cs typeface="B Nazanin" panose="00000400000000000000" pitchFamily="2" charset="-78"/>
              </a:rPr>
              <a:t>همانطور که در شکل پایین نشان </a:t>
            </a:r>
            <a:r>
              <a:rPr lang="fa-IR" sz="3200" dirty="0" smtClean="0">
                <a:solidFill>
                  <a:schemeClr val="bg1"/>
                </a:solidFill>
                <a:cs typeface="B Nazanin" panose="00000400000000000000" pitchFamily="2" charset="-78"/>
              </a:rPr>
              <a:t>داده شده است، </a:t>
            </a:r>
            <a:r>
              <a:rPr lang="fa-IR" sz="3200" dirty="0">
                <a:solidFill>
                  <a:schemeClr val="bg1"/>
                </a:solidFill>
                <a:cs typeface="B Nazanin" panose="00000400000000000000" pitchFamily="2" charset="-78"/>
              </a:rPr>
              <a:t>مرحله چهارم، قبل از نگهداری، متعلق به فرآیند </a:t>
            </a:r>
            <a:r>
              <a:rPr lang="fa-IR" sz="3200" dirty="0" smtClean="0">
                <a:solidFill>
                  <a:schemeClr val="bg1"/>
                </a:solidFill>
                <a:cs typeface="B Nazanin" panose="00000400000000000000" pitchFamily="2" charset="-78"/>
              </a:rPr>
              <a:t>آزمون </a:t>
            </a:r>
            <a:r>
              <a:rPr lang="fa-IR" sz="3200" dirty="0">
                <a:solidFill>
                  <a:schemeClr val="bg1"/>
                </a:solidFill>
                <a:cs typeface="B Nazanin" panose="00000400000000000000" pitchFamily="2" charset="-78"/>
              </a:rPr>
              <a:t>نرم افزار است، یعنی دقیقا بخش آخر تولید نرم افزار مربوط به </a:t>
            </a:r>
            <a:r>
              <a:rPr lang="fa-IR" sz="3200" dirty="0" smtClean="0">
                <a:solidFill>
                  <a:schemeClr val="bg1"/>
                </a:solidFill>
                <a:cs typeface="B Nazanin" panose="00000400000000000000" pitchFamily="2" charset="-78"/>
              </a:rPr>
              <a:t>آزمون </a:t>
            </a:r>
            <a:r>
              <a:rPr lang="fa-IR" sz="3200" dirty="0">
                <a:solidFill>
                  <a:schemeClr val="bg1"/>
                </a:solidFill>
                <a:cs typeface="B Nazanin" panose="00000400000000000000" pitchFamily="2" charset="-78"/>
              </a:rPr>
              <a:t>خواهد بود. البته این بدان معنا نیست که همزمان با مراحلی مثل طراحی و کد و دیگر موارد، آزمون </a:t>
            </a:r>
            <a:r>
              <a:rPr lang="fa-IR" sz="3200" dirty="0" smtClean="0">
                <a:solidFill>
                  <a:schemeClr val="bg1"/>
                </a:solidFill>
                <a:cs typeface="B Nazanin" panose="00000400000000000000" pitchFamily="2" charset="-78"/>
              </a:rPr>
              <a:t>نرم </a:t>
            </a:r>
            <a:r>
              <a:rPr lang="fa-IR" sz="3200" dirty="0">
                <a:solidFill>
                  <a:schemeClr val="bg1"/>
                </a:solidFill>
                <a:cs typeface="B Nazanin" panose="00000400000000000000" pitchFamily="2" charset="-78"/>
              </a:rPr>
              <a:t>افزاری صورت نمی گیرد، خیر، در میان این فرآیندها </a:t>
            </a:r>
            <a:r>
              <a:rPr lang="fa-IR" sz="3200" dirty="0" smtClean="0">
                <a:solidFill>
                  <a:schemeClr val="bg1"/>
                </a:solidFill>
                <a:cs typeface="B Nazanin" panose="00000400000000000000" pitchFamily="2" charset="-78"/>
              </a:rPr>
              <a:t>آزمون </a:t>
            </a:r>
            <a:r>
              <a:rPr lang="fa-IR" sz="3200" dirty="0">
                <a:solidFill>
                  <a:schemeClr val="bg1"/>
                </a:solidFill>
                <a:cs typeface="B Nazanin" panose="00000400000000000000" pitchFamily="2" charset="-78"/>
              </a:rPr>
              <a:t>هایی صورت می گیرد، ولی در مقیاس کوچکتر .</a:t>
            </a:r>
            <a:r>
              <a:rPr lang="en-US" sz="2800" dirty="0">
                <a:solidFill>
                  <a:schemeClr val="bg1"/>
                </a:solidFill>
                <a:cs typeface="B Nazanin" panose="00000400000000000000" pitchFamily="2" charset="-78"/>
              </a:rPr>
              <a:t/>
            </a:r>
            <a:br>
              <a:rPr lang="en-US" sz="2800" dirty="0">
                <a:solidFill>
                  <a:schemeClr val="bg1"/>
                </a:solidFill>
                <a:cs typeface="B Nazanin" panose="00000400000000000000" pitchFamily="2" charset="-78"/>
              </a:rPr>
            </a:br>
            <a:r>
              <a:rPr lang="fa-IR" sz="3200" dirty="0">
                <a:solidFill>
                  <a:schemeClr val="bg1"/>
                </a:solidFill>
                <a:cs typeface="B Nazanin" panose="00000400000000000000" pitchFamily="2" charset="-78"/>
              </a:rPr>
              <a:t> اما هدف از نمایش این تصویر در وهله اول اهمیت </a:t>
            </a:r>
            <a:r>
              <a:rPr lang="fa-IR" sz="3200" dirty="0" smtClean="0">
                <a:solidFill>
                  <a:schemeClr val="bg1"/>
                </a:solidFill>
                <a:cs typeface="B Nazanin" panose="00000400000000000000" pitchFamily="2" charset="-78"/>
              </a:rPr>
              <a:t>آزمون </a:t>
            </a:r>
            <a:r>
              <a:rPr lang="fa-IR" sz="3200" dirty="0">
                <a:solidFill>
                  <a:schemeClr val="bg1"/>
                </a:solidFill>
                <a:cs typeface="B Nazanin" panose="00000400000000000000" pitchFamily="2" charset="-78"/>
              </a:rPr>
              <a:t>نرم افزار به عنوان یکی از فرآیندهای اصلی توسعه نرم افزار و در وهله دوم نقش آن به عنوان یک خاتمه دهنده تاثیرگذار </a:t>
            </a:r>
            <a:r>
              <a:rPr lang="fa-IR" sz="3200" dirty="0" smtClean="0">
                <a:solidFill>
                  <a:schemeClr val="bg1"/>
                </a:solidFill>
                <a:cs typeface="B Nazanin" panose="00000400000000000000" pitchFamily="2" charset="-78"/>
              </a:rPr>
              <a:t>است.</a:t>
            </a:r>
            <a:r>
              <a:rPr lang="en-US" sz="3200" dirty="0">
                <a:solidFill>
                  <a:schemeClr val="bg1"/>
                </a:solidFill>
                <a:cs typeface="B Nazanin" panose="00000400000000000000" pitchFamily="2" charset="-78"/>
              </a:rPr>
              <a:t/>
            </a:r>
            <a:br>
              <a:rPr lang="en-US" sz="3200" dirty="0">
                <a:solidFill>
                  <a:schemeClr val="bg1"/>
                </a:solidFill>
                <a:cs typeface="B Nazanin" panose="00000400000000000000" pitchFamily="2" charset="-78"/>
              </a:rPr>
            </a:br>
            <a:endParaRPr lang="fa-IR" sz="3200" dirty="0">
              <a:solidFill>
                <a:schemeClr val="bg1"/>
              </a:solidFill>
              <a:cs typeface="B Nazanin" panose="00000400000000000000"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944" y="4224270"/>
            <a:ext cx="9659155" cy="251328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6967681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970" y="650384"/>
            <a:ext cx="11616745" cy="5756856"/>
          </a:xfrm>
        </p:spPr>
        <p:txBody>
          <a:bodyPr>
            <a:noAutofit/>
          </a:bodyPr>
          <a:lstStyle/>
          <a:p>
            <a:pPr lvl="1" algn="r" rtl="1"/>
            <a:r>
              <a:rPr lang="fa-IR" sz="3200" b="1" dirty="0">
                <a:solidFill>
                  <a:schemeClr val="bg1"/>
                </a:solidFill>
                <a:cs typeface="B Nazanin" panose="00000400000000000000" pitchFamily="2" charset="-78"/>
              </a:rPr>
              <a:t>چه زمانی تست شروع می‌شود؟</a:t>
            </a:r>
            <a:r>
              <a:rPr lang="en-US" sz="2800" b="1" dirty="0">
                <a:solidFill>
                  <a:schemeClr val="bg1"/>
                </a:solidFill>
                <a:cs typeface="B Nazanin" panose="00000400000000000000" pitchFamily="2" charset="-78"/>
              </a:rPr>
              <a:t/>
            </a:r>
            <a:br>
              <a:rPr lang="en-US" sz="2800" b="1" dirty="0">
                <a:solidFill>
                  <a:schemeClr val="bg1"/>
                </a:solidFill>
                <a:cs typeface="B Nazanin" panose="00000400000000000000" pitchFamily="2" charset="-78"/>
              </a:rPr>
            </a:br>
            <a:r>
              <a:rPr lang="en-US" sz="3600" b="1" dirty="0">
                <a:solidFill>
                  <a:schemeClr val="bg1"/>
                </a:solidFill>
                <a:cs typeface="B Nazanin" panose="00000400000000000000" pitchFamily="2" charset="-78"/>
              </a:rPr>
              <a:t/>
            </a:r>
            <a:br>
              <a:rPr lang="en-US" sz="3600" b="1" dirty="0">
                <a:solidFill>
                  <a:schemeClr val="bg1"/>
                </a:solidFill>
                <a:cs typeface="B Nazanin" panose="00000400000000000000" pitchFamily="2" charset="-78"/>
              </a:rPr>
            </a:br>
            <a:r>
              <a:rPr lang="fa-IR" sz="3200" dirty="0">
                <a:solidFill>
                  <a:schemeClr val="bg1"/>
                </a:solidFill>
                <a:cs typeface="B Nazanin" panose="00000400000000000000" pitchFamily="2" charset="-78"/>
              </a:rPr>
              <a:t>در طول چرخه عمر توسعه نرم افزار که به آن </a:t>
            </a:r>
            <a:r>
              <a:rPr lang="en-US" sz="2800" dirty="0" smtClean="0">
                <a:solidFill>
                  <a:schemeClr val="bg1"/>
                </a:solidFill>
                <a:cs typeface="B Nazanin" panose="00000400000000000000" pitchFamily="2" charset="-78"/>
              </a:rPr>
              <a:t>SDLC(</a:t>
            </a:r>
            <a:r>
              <a:rPr lang="en-US" sz="2800" dirty="0">
                <a:solidFill>
                  <a:schemeClr val="bg1"/>
                </a:solidFill>
                <a:cs typeface="B Nazanin" panose="00000400000000000000" pitchFamily="2" charset="-78"/>
              </a:rPr>
              <a:t>Software Development Life </a:t>
            </a:r>
            <a:r>
              <a:rPr lang="en-US" sz="2800" dirty="0" smtClean="0">
                <a:solidFill>
                  <a:schemeClr val="bg1"/>
                </a:solidFill>
                <a:cs typeface="B Nazanin" panose="00000400000000000000" pitchFamily="2" charset="-78"/>
              </a:rPr>
              <a:t>Cycle</a:t>
            </a:r>
            <a:r>
              <a:rPr lang="en-US" sz="2400" dirty="0" smtClean="0">
                <a:solidFill>
                  <a:schemeClr val="bg1"/>
                </a:solidFill>
                <a:cs typeface="B Nazanin" panose="00000400000000000000" pitchFamily="2" charset="-78"/>
              </a:rPr>
              <a:t>)</a:t>
            </a:r>
            <a:r>
              <a:rPr lang="fa-IR" sz="3200" dirty="0" smtClean="0">
                <a:solidFill>
                  <a:schemeClr val="bg1"/>
                </a:solidFill>
                <a:cs typeface="B Nazanin" panose="00000400000000000000" pitchFamily="2" charset="-78"/>
              </a:rPr>
              <a:t> گفته </a:t>
            </a:r>
            <a:r>
              <a:rPr lang="fa-IR" sz="3200" dirty="0">
                <a:solidFill>
                  <a:schemeClr val="bg1"/>
                </a:solidFill>
                <a:cs typeface="B Nazanin" panose="00000400000000000000" pitchFamily="2" charset="-78"/>
              </a:rPr>
              <a:t>می‌شود، تست آغاز شده و تا استقرار نرم افزار به طول می‌انجامد. با این حال تمامی این تست‌ها بستگی به مدل توسعه‌ای دارد که شرکت‌ها انجام می‌دهند. به طور مثال در مدل آبشاری، تست در مرحله تولید نرم افزار انجام می‌شود اما در مدل افزایشی، تست در پایان هر افزایش یا تغییر، تکرار می‌شود و در پایان تولید نرم افزار هم دوباره تست انجام می‌شود. در هر مرحله از </a:t>
            </a:r>
            <a:r>
              <a:rPr lang="en-US" sz="3200" dirty="0">
                <a:solidFill>
                  <a:schemeClr val="bg1"/>
                </a:solidFill>
                <a:cs typeface="B Nazanin" panose="00000400000000000000" pitchFamily="2" charset="-78"/>
              </a:rPr>
              <a:t>SDLC </a:t>
            </a:r>
            <a:r>
              <a:rPr lang="fa-IR" sz="3200" dirty="0">
                <a:solidFill>
                  <a:schemeClr val="bg1"/>
                </a:solidFill>
                <a:cs typeface="B Nazanin" panose="00000400000000000000" pitchFamily="2" charset="-78"/>
              </a:rPr>
              <a:t>، تجزیه و تحلیل و تاییدیه‌های مورد نیاز نیز برای تست در نظر گرفته می‌شود. بررسی طراحی در مرحله طراحی محصول نیز به قصد بهبود طراحی در حوزه تست نیز در نظر گرفته می‌شود. انجام تست توسط یک توسعه دهنده پس از اتمام کد نیز به عنوان تست واحد (</a:t>
            </a:r>
            <a:r>
              <a:rPr lang="en-US" sz="3200" dirty="0">
                <a:solidFill>
                  <a:schemeClr val="bg1"/>
                </a:solidFill>
                <a:cs typeface="B Nazanin" panose="00000400000000000000" pitchFamily="2" charset="-78"/>
              </a:rPr>
              <a:t>Unit Test</a:t>
            </a:r>
            <a:r>
              <a:rPr lang="fa-IR" sz="3200" dirty="0">
                <a:solidFill>
                  <a:schemeClr val="bg1"/>
                </a:solidFill>
                <a:cs typeface="B Nazanin" panose="00000400000000000000" pitchFamily="2" charset="-78"/>
              </a:rPr>
              <a:t>) طبقه بندی می‌شود.</a:t>
            </a:r>
            <a:r>
              <a:rPr lang="en-US" sz="3200" dirty="0">
                <a:solidFill>
                  <a:schemeClr val="bg1"/>
                </a:solidFill>
                <a:cs typeface="B Nazanin" panose="00000400000000000000" pitchFamily="2" charset="-78"/>
              </a:rPr>
              <a:t> </a:t>
            </a:r>
            <a:br>
              <a:rPr lang="en-US" sz="3200" dirty="0">
                <a:solidFill>
                  <a:schemeClr val="bg1"/>
                </a:solidFill>
                <a:cs typeface="B Nazanin" panose="00000400000000000000" pitchFamily="2" charset="-78"/>
              </a:rPr>
            </a:br>
            <a:endParaRPr lang="fa-IR" sz="3200" dirty="0">
              <a:solidFill>
                <a:schemeClr val="bg1"/>
              </a:solidFill>
              <a:cs typeface="B Nazanin" panose="00000400000000000000" pitchFamily="2" charset="-78"/>
            </a:endParaRPr>
          </a:p>
        </p:txBody>
      </p:sp>
    </p:spTree>
    <p:extLst>
      <p:ext uri="{BB962C8B-B14F-4D97-AF65-F5344CB8AC3E}">
        <p14:creationId xmlns:p14="http://schemas.microsoft.com/office/powerpoint/2010/main" val="688783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970" y="650384"/>
            <a:ext cx="11616745" cy="5756856"/>
          </a:xfrm>
        </p:spPr>
        <p:txBody>
          <a:bodyPr>
            <a:noAutofit/>
          </a:bodyPr>
          <a:lstStyle/>
          <a:p>
            <a:pPr algn="r" rtl="1"/>
            <a:r>
              <a:rPr lang="fa-IR" b="1" dirty="0">
                <a:solidFill>
                  <a:schemeClr val="bg1"/>
                </a:solidFill>
                <a:cs typeface="B Nazanin" panose="00000400000000000000" pitchFamily="2" charset="-78"/>
              </a:rPr>
              <a:t>انجام تست در </a:t>
            </a:r>
            <a:r>
              <a:rPr lang="fa-IR" b="1" dirty="0" smtClean="0">
                <a:solidFill>
                  <a:schemeClr val="bg1"/>
                </a:solidFill>
                <a:cs typeface="B Nazanin" panose="00000400000000000000" pitchFamily="2" charset="-78"/>
              </a:rPr>
              <a:t>طول</a:t>
            </a:r>
            <a:r>
              <a:rPr lang="en-US" sz="3200" b="1" dirty="0" smtClean="0">
                <a:solidFill>
                  <a:schemeClr val="bg1"/>
                </a:solidFill>
                <a:cs typeface="B Nazanin" panose="00000400000000000000" pitchFamily="2" charset="-78"/>
              </a:rPr>
              <a:t>SDLC</a:t>
            </a:r>
            <a:r>
              <a:rPr lang="en-US" b="1" dirty="0" smtClean="0">
                <a:solidFill>
                  <a:schemeClr val="bg1"/>
                </a:solidFill>
                <a:cs typeface="B Nazanin" panose="00000400000000000000" pitchFamily="2" charset="-78"/>
              </a:rPr>
              <a:t> </a:t>
            </a:r>
            <a:r>
              <a:rPr lang="fa-IR" b="1" dirty="0" smtClean="0">
                <a:solidFill>
                  <a:schemeClr val="bg1"/>
                </a:solidFill>
                <a:cs typeface="B Nazanin" panose="00000400000000000000" pitchFamily="2" charset="-78"/>
              </a:rPr>
              <a:t> مزایای </a:t>
            </a:r>
            <a:r>
              <a:rPr lang="fa-IR" b="1" dirty="0">
                <a:solidFill>
                  <a:schemeClr val="bg1"/>
                </a:solidFill>
                <a:cs typeface="B Nazanin" panose="00000400000000000000" pitchFamily="2" charset="-78"/>
              </a:rPr>
              <a:t>زیر را در بر دارد:	</a:t>
            </a:r>
            <a:r>
              <a:rPr lang="fa-IR" b="1" dirty="0" smtClean="0">
                <a:solidFill>
                  <a:schemeClr val="bg1"/>
                </a:solidFill>
                <a:cs typeface="B Nazanin" panose="00000400000000000000" pitchFamily="2" charset="-78"/>
              </a:rPr>
              <a:t/>
            </a:r>
            <a:br>
              <a:rPr lang="fa-IR" b="1" dirty="0" smtClean="0">
                <a:solidFill>
                  <a:schemeClr val="bg1"/>
                </a:solidFill>
                <a:cs typeface="B Nazanin" panose="00000400000000000000" pitchFamily="2" charset="-78"/>
              </a:rPr>
            </a:br>
            <a:r>
              <a:rPr lang="en-US" sz="3200" dirty="0">
                <a:solidFill>
                  <a:schemeClr val="bg1"/>
                </a:solidFill>
                <a:cs typeface="B Nazanin" panose="00000400000000000000" pitchFamily="2" charset="-78"/>
              </a:rPr>
              <a:t/>
            </a:r>
            <a:br>
              <a:rPr lang="en-US" sz="3200" dirty="0">
                <a:solidFill>
                  <a:schemeClr val="bg1"/>
                </a:solidFill>
                <a:cs typeface="B Nazanin" panose="00000400000000000000" pitchFamily="2" charset="-78"/>
              </a:rPr>
            </a:br>
            <a:r>
              <a:rPr lang="fa-IR" dirty="0">
                <a:solidFill>
                  <a:schemeClr val="bg1"/>
                </a:solidFill>
                <a:cs typeface="B Nazanin" panose="00000400000000000000" pitchFamily="2" charset="-78"/>
              </a:rPr>
              <a:t>۱- کاهش زمان تولید</a:t>
            </a:r>
            <a:r>
              <a:rPr lang="en-US" sz="3200" dirty="0">
                <a:solidFill>
                  <a:schemeClr val="bg1"/>
                </a:solidFill>
                <a:cs typeface="B Nazanin" panose="00000400000000000000" pitchFamily="2" charset="-78"/>
              </a:rPr>
              <a:t/>
            </a:r>
            <a:br>
              <a:rPr lang="en-US" sz="3200" dirty="0">
                <a:solidFill>
                  <a:schemeClr val="bg1"/>
                </a:solidFill>
                <a:cs typeface="B Nazanin" panose="00000400000000000000" pitchFamily="2" charset="-78"/>
              </a:rPr>
            </a:br>
            <a:r>
              <a:rPr lang="fa-IR" dirty="0">
                <a:solidFill>
                  <a:schemeClr val="bg1"/>
                </a:solidFill>
                <a:cs typeface="B Nazanin" panose="00000400000000000000" pitchFamily="2" charset="-78"/>
              </a:rPr>
              <a:t>۲- کاهش هزینه ها</a:t>
            </a:r>
            <a:r>
              <a:rPr lang="en-US" sz="3200" dirty="0">
                <a:solidFill>
                  <a:schemeClr val="bg1"/>
                </a:solidFill>
                <a:cs typeface="B Nazanin" panose="00000400000000000000" pitchFamily="2" charset="-78"/>
              </a:rPr>
              <a:t/>
            </a:r>
            <a:br>
              <a:rPr lang="en-US" sz="3200" dirty="0">
                <a:solidFill>
                  <a:schemeClr val="bg1"/>
                </a:solidFill>
                <a:cs typeface="B Nazanin" panose="00000400000000000000" pitchFamily="2" charset="-78"/>
              </a:rPr>
            </a:br>
            <a:r>
              <a:rPr lang="fa-IR" dirty="0">
                <a:solidFill>
                  <a:schemeClr val="bg1"/>
                </a:solidFill>
                <a:cs typeface="B Nazanin" panose="00000400000000000000" pitchFamily="2" charset="-78"/>
              </a:rPr>
              <a:t>۳- کاهش زمان دوباره کاری‌ها</a:t>
            </a:r>
            <a:r>
              <a:rPr lang="en-US" sz="3200" dirty="0">
                <a:solidFill>
                  <a:schemeClr val="bg1"/>
                </a:solidFill>
                <a:cs typeface="B Nazanin" panose="00000400000000000000" pitchFamily="2" charset="-78"/>
              </a:rPr>
              <a:t/>
            </a:r>
            <a:br>
              <a:rPr lang="en-US" sz="3200" dirty="0">
                <a:solidFill>
                  <a:schemeClr val="bg1"/>
                </a:solidFill>
                <a:cs typeface="B Nazanin" panose="00000400000000000000" pitchFamily="2" charset="-78"/>
              </a:rPr>
            </a:br>
            <a:r>
              <a:rPr lang="fa-IR" dirty="0">
                <a:solidFill>
                  <a:schemeClr val="bg1"/>
                </a:solidFill>
                <a:cs typeface="B Nazanin" panose="00000400000000000000" pitchFamily="2" charset="-78"/>
              </a:rPr>
              <a:t>۴- کاهش خطاهای نرم افزاری</a:t>
            </a:r>
            <a:r>
              <a:rPr lang="en-US" sz="3200" dirty="0">
                <a:solidFill>
                  <a:schemeClr val="bg1"/>
                </a:solidFill>
                <a:cs typeface="B Nazanin" panose="00000400000000000000" pitchFamily="2" charset="-78"/>
              </a:rPr>
              <a:t/>
            </a:r>
            <a:br>
              <a:rPr lang="en-US" sz="3200" dirty="0">
                <a:solidFill>
                  <a:schemeClr val="bg1"/>
                </a:solidFill>
                <a:cs typeface="B Nazanin" panose="00000400000000000000" pitchFamily="2" charset="-78"/>
              </a:rPr>
            </a:br>
            <a:r>
              <a:rPr lang="fa-IR" dirty="0">
                <a:solidFill>
                  <a:schemeClr val="bg1"/>
                </a:solidFill>
                <a:cs typeface="B Nazanin" panose="00000400000000000000" pitchFamily="2" charset="-78"/>
              </a:rPr>
              <a:t>۵- افزایش بازدهی</a:t>
            </a:r>
            <a:r>
              <a:rPr lang="en-US" sz="3200" dirty="0">
                <a:solidFill>
                  <a:schemeClr val="bg1"/>
                </a:solidFill>
                <a:cs typeface="B Nazanin" panose="00000400000000000000" pitchFamily="2" charset="-78"/>
              </a:rPr>
              <a:t/>
            </a:r>
            <a:br>
              <a:rPr lang="en-US" sz="3200" dirty="0">
                <a:solidFill>
                  <a:schemeClr val="bg1"/>
                </a:solidFill>
                <a:cs typeface="B Nazanin" panose="00000400000000000000" pitchFamily="2" charset="-78"/>
              </a:rPr>
            </a:br>
            <a:r>
              <a:rPr lang="fa-IR" dirty="0">
                <a:solidFill>
                  <a:schemeClr val="bg1"/>
                </a:solidFill>
                <a:cs typeface="B Nazanin" panose="00000400000000000000" pitchFamily="2" charset="-78"/>
              </a:rPr>
              <a:t>۶- افزایش کیفیت نرم افزار</a:t>
            </a:r>
            <a:r>
              <a:rPr lang="en-US" sz="3200" dirty="0">
                <a:solidFill>
                  <a:schemeClr val="bg1"/>
                </a:solidFill>
                <a:cs typeface="B Nazanin" panose="00000400000000000000" pitchFamily="2" charset="-78"/>
              </a:rPr>
              <a:t/>
            </a:r>
            <a:br>
              <a:rPr lang="en-US" sz="3200" dirty="0">
                <a:solidFill>
                  <a:schemeClr val="bg1"/>
                </a:solidFill>
                <a:cs typeface="B Nazanin" panose="00000400000000000000" pitchFamily="2" charset="-78"/>
              </a:rPr>
            </a:br>
            <a:r>
              <a:rPr lang="fa-IR" dirty="0">
                <a:solidFill>
                  <a:schemeClr val="bg1"/>
                </a:solidFill>
                <a:cs typeface="B Nazanin" panose="00000400000000000000" pitchFamily="2" charset="-78"/>
              </a:rPr>
              <a:t>۷- تحویل به موقع پروژه به کارفرما</a:t>
            </a:r>
            <a:r>
              <a:rPr lang="en-US" sz="3200" dirty="0">
                <a:solidFill>
                  <a:schemeClr val="bg1"/>
                </a:solidFill>
                <a:cs typeface="B Nazanin" panose="00000400000000000000" pitchFamily="2" charset="-78"/>
              </a:rPr>
              <a:t/>
            </a:r>
            <a:br>
              <a:rPr lang="en-US" sz="3200" dirty="0">
                <a:solidFill>
                  <a:schemeClr val="bg1"/>
                </a:solidFill>
                <a:cs typeface="B Nazanin" panose="00000400000000000000" pitchFamily="2" charset="-78"/>
              </a:rPr>
            </a:br>
            <a:r>
              <a:rPr lang="fa-IR" dirty="0">
                <a:solidFill>
                  <a:schemeClr val="bg1"/>
                </a:solidFill>
                <a:cs typeface="B Nazanin" panose="00000400000000000000" pitchFamily="2" charset="-78"/>
              </a:rPr>
              <a:t>۸- افزایش رضایت </a:t>
            </a:r>
            <a:r>
              <a:rPr lang="fa-IR" dirty="0" smtClean="0">
                <a:solidFill>
                  <a:schemeClr val="bg1"/>
                </a:solidFill>
                <a:cs typeface="B Nazanin" panose="00000400000000000000" pitchFamily="2" charset="-78"/>
              </a:rPr>
              <a:t>مشتری</a:t>
            </a:r>
            <a:endParaRPr lang="fa-IR" sz="6600" dirty="0">
              <a:solidFill>
                <a:schemeClr val="bg1"/>
              </a:solidFill>
              <a:cs typeface="B Nazanin" panose="00000400000000000000" pitchFamily="2" charset="-78"/>
            </a:endParaRPr>
          </a:p>
        </p:txBody>
      </p:sp>
    </p:spTree>
    <p:extLst>
      <p:ext uri="{BB962C8B-B14F-4D97-AF65-F5344CB8AC3E}">
        <p14:creationId xmlns:p14="http://schemas.microsoft.com/office/powerpoint/2010/main" val="13875815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970" y="650384"/>
            <a:ext cx="11616745" cy="5756856"/>
          </a:xfrm>
        </p:spPr>
        <p:txBody>
          <a:bodyPr>
            <a:noAutofit/>
          </a:bodyPr>
          <a:lstStyle/>
          <a:p>
            <a:pPr algn="r" rtl="1"/>
            <a:r>
              <a:rPr lang="fa-IR" b="1" dirty="0">
                <a:solidFill>
                  <a:schemeClr val="bg1"/>
                </a:solidFill>
                <a:cs typeface="B Nazanin" panose="00000400000000000000" pitchFamily="2" charset="-78"/>
              </a:rPr>
              <a:t>چه زمانی تست پایان می‌یابد</a:t>
            </a:r>
            <a:r>
              <a:rPr lang="fa-IR" b="1" dirty="0" smtClean="0">
                <a:solidFill>
                  <a:schemeClr val="bg1"/>
                </a:solidFill>
                <a:cs typeface="B Nazanin" panose="00000400000000000000" pitchFamily="2" charset="-78"/>
              </a:rPr>
              <a:t>؟</a:t>
            </a:r>
            <a:br>
              <a:rPr lang="fa-IR" b="1" dirty="0" smtClean="0">
                <a:solidFill>
                  <a:schemeClr val="bg1"/>
                </a:solidFill>
                <a:cs typeface="B Nazanin" panose="00000400000000000000" pitchFamily="2" charset="-78"/>
              </a:rPr>
            </a:br>
            <a:r>
              <a:rPr lang="fa-IR" b="1" dirty="0">
                <a:solidFill>
                  <a:schemeClr val="bg1"/>
                </a:solidFill>
                <a:cs typeface="B Nazanin" panose="00000400000000000000" pitchFamily="2" charset="-78"/>
              </a:rPr>
              <a:t/>
            </a:r>
            <a:br>
              <a:rPr lang="fa-IR" b="1" dirty="0">
                <a:solidFill>
                  <a:schemeClr val="bg1"/>
                </a:solidFill>
                <a:cs typeface="B Nazanin" panose="00000400000000000000" pitchFamily="2" charset="-78"/>
              </a:rPr>
            </a:br>
            <a:r>
              <a:rPr lang="fa-IR" dirty="0">
                <a:solidFill>
                  <a:schemeClr val="bg1"/>
                </a:solidFill>
                <a:cs typeface="B Nazanin" panose="00000400000000000000" pitchFamily="2" charset="-78"/>
              </a:rPr>
              <a:t>بر خلاف آنکه می‌دانیم چه زمانی تست را آغاز کنیم، تعیین زمان پایان تست بسیار دشوار است. تست فرآیندی بی پایان می‌باشد و تعیین زمانی برای توقف آن بسیار دشوار است و نمی‌توان با اطمینان گفت که نرم افزار تولیدی ۱۰۰% تست شده است.</a:t>
            </a:r>
          </a:p>
        </p:txBody>
      </p:sp>
    </p:spTree>
    <p:extLst>
      <p:ext uri="{BB962C8B-B14F-4D97-AF65-F5344CB8AC3E}">
        <p14:creationId xmlns:p14="http://schemas.microsoft.com/office/powerpoint/2010/main" val="6400618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970" y="650384"/>
            <a:ext cx="11616745" cy="5222382"/>
          </a:xfrm>
        </p:spPr>
        <p:txBody>
          <a:bodyPr>
            <a:noAutofit/>
          </a:bodyPr>
          <a:lstStyle/>
          <a:p>
            <a:pPr lvl="1" rtl="1"/>
            <a:r>
              <a:rPr lang="fa-IR" sz="4000" b="1" dirty="0">
                <a:solidFill>
                  <a:schemeClr val="bg1"/>
                </a:solidFill>
                <a:cs typeface="B Nazanin" panose="00000400000000000000" pitchFamily="2" charset="-78"/>
              </a:rPr>
              <a:t>مواردی که نبایستی برای تست درنظر گرفته شود</a:t>
            </a:r>
            <a:r>
              <a:rPr lang="fa-IR" sz="4000" b="1" dirty="0" smtClean="0">
                <a:solidFill>
                  <a:schemeClr val="bg1"/>
                </a:solidFill>
                <a:cs typeface="B Nazanin" panose="00000400000000000000" pitchFamily="2" charset="-78"/>
              </a:rPr>
              <a:t>:</a:t>
            </a:r>
            <a:br>
              <a:rPr lang="fa-IR" sz="4000" b="1" dirty="0" smtClean="0">
                <a:solidFill>
                  <a:schemeClr val="bg1"/>
                </a:solidFill>
                <a:cs typeface="B Nazanin" panose="00000400000000000000" pitchFamily="2" charset="-78"/>
              </a:rPr>
            </a:br>
            <a:r>
              <a:rPr lang="fa-IR" sz="4000" b="1" dirty="0" smtClean="0">
                <a:solidFill>
                  <a:schemeClr val="bg1"/>
                </a:solidFill>
                <a:cs typeface="B Nazanin" panose="00000400000000000000" pitchFamily="2" charset="-78"/>
              </a:rPr>
              <a:t/>
            </a:r>
            <a:br>
              <a:rPr lang="fa-IR" sz="4000" b="1" dirty="0" smtClean="0">
                <a:solidFill>
                  <a:schemeClr val="bg1"/>
                </a:solidFill>
                <a:cs typeface="B Nazanin" panose="00000400000000000000" pitchFamily="2" charset="-78"/>
              </a:rPr>
            </a:br>
            <a:r>
              <a:rPr lang="fa-IR" sz="4000" dirty="0" smtClean="0">
                <a:solidFill>
                  <a:schemeClr val="bg1"/>
                </a:solidFill>
                <a:cs typeface="B Nazanin" panose="00000400000000000000" pitchFamily="2" charset="-78"/>
              </a:rPr>
              <a:t>۱- </a:t>
            </a:r>
            <a:r>
              <a:rPr lang="fa-IR" sz="4000" dirty="0">
                <a:solidFill>
                  <a:schemeClr val="bg1"/>
                </a:solidFill>
                <a:cs typeface="B Nazanin" panose="00000400000000000000" pitchFamily="2" charset="-78"/>
              </a:rPr>
              <a:t>تعیین مهلت تست</a:t>
            </a:r>
            <a:r>
              <a:rPr lang="en-US" sz="3600" dirty="0">
                <a:solidFill>
                  <a:schemeClr val="bg1"/>
                </a:solidFill>
                <a:cs typeface="B Nazanin" panose="00000400000000000000" pitchFamily="2" charset="-78"/>
              </a:rPr>
              <a:t/>
            </a:r>
            <a:br>
              <a:rPr lang="en-US" sz="3600" dirty="0">
                <a:solidFill>
                  <a:schemeClr val="bg1"/>
                </a:solidFill>
                <a:cs typeface="B Nazanin" panose="00000400000000000000" pitchFamily="2" charset="-78"/>
              </a:rPr>
            </a:br>
            <a:r>
              <a:rPr lang="fa-IR" sz="4000" dirty="0">
                <a:solidFill>
                  <a:schemeClr val="bg1"/>
                </a:solidFill>
                <a:cs typeface="B Nazanin" panose="00000400000000000000" pitchFamily="2" charset="-78"/>
              </a:rPr>
              <a:t>۲- اطمینان از کامل بودن تست</a:t>
            </a:r>
            <a:r>
              <a:rPr lang="en-US" sz="3600" dirty="0">
                <a:solidFill>
                  <a:schemeClr val="bg1"/>
                </a:solidFill>
                <a:cs typeface="B Nazanin" panose="00000400000000000000" pitchFamily="2" charset="-78"/>
              </a:rPr>
              <a:t/>
            </a:r>
            <a:br>
              <a:rPr lang="en-US" sz="3600" dirty="0">
                <a:solidFill>
                  <a:schemeClr val="bg1"/>
                </a:solidFill>
                <a:cs typeface="B Nazanin" panose="00000400000000000000" pitchFamily="2" charset="-78"/>
              </a:rPr>
            </a:br>
            <a:endParaRPr lang="fa-IR" sz="19900" dirty="0">
              <a:solidFill>
                <a:schemeClr val="bg1"/>
              </a:solidFill>
              <a:cs typeface="B Nazanin" panose="00000400000000000000" pitchFamily="2" charset="-78"/>
            </a:endParaRPr>
          </a:p>
        </p:txBody>
      </p:sp>
    </p:spTree>
    <p:extLst>
      <p:ext uri="{BB962C8B-B14F-4D97-AF65-F5344CB8AC3E}">
        <p14:creationId xmlns:p14="http://schemas.microsoft.com/office/powerpoint/2010/main" val="7799553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970" y="650383"/>
            <a:ext cx="11616745" cy="5763295"/>
          </a:xfrm>
        </p:spPr>
        <p:txBody>
          <a:bodyPr>
            <a:noAutofit/>
          </a:bodyPr>
          <a:lstStyle/>
          <a:p>
            <a:pPr algn="r" rtl="1"/>
            <a:r>
              <a:rPr lang="en-US" sz="2800" dirty="0" smtClean="0">
                <a:solidFill>
                  <a:schemeClr val="bg1"/>
                </a:solidFill>
                <a:cs typeface="B Nazanin" panose="00000400000000000000" pitchFamily="2" charset="-78"/>
              </a:rPr>
              <a:t> </a:t>
            </a:r>
            <a:r>
              <a:rPr lang="fa-IR" sz="2800" b="1" dirty="0" smtClean="0">
                <a:solidFill>
                  <a:schemeClr val="bg1"/>
                </a:solidFill>
                <a:cs typeface="B Nazanin" panose="00000400000000000000" pitchFamily="2" charset="-78"/>
              </a:rPr>
              <a:t>برای </a:t>
            </a:r>
            <a:r>
              <a:rPr lang="fa-IR" sz="2800" b="1" dirty="0">
                <a:solidFill>
                  <a:schemeClr val="bg1"/>
                </a:solidFill>
                <a:cs typeface="B Nazanin" panose="00000400000000000000" pitchFamily="2" charset="-78"/>
              </a:rPr>
              <a:t>چه تست کنیم؟</a:t>
            </a:r>
            <a:r>
              <a:rPr lang="fa-IR" sz="2800" dirty="0" smtClean="0">
                <a:solidFill>
                  <a:schemeClr val="bg1"/>
                </a:solidFill>
                <a:cs typeface="B Nazanin" panose="00000400000000000000" pitchFamily="2" charset="-78"/>
              </a:rPr>
              <a:t/>
            </a:r>
            <a:br>
              <a:rPr lang="fa-IR" sz="2800" dirty="0" smtClean="0">
                <a:solidFill>
                  <a:schemeClr val="bg1"/>
                </a:solidFill>
                <a:cs typeface="B Nazanin" panose="00000400000000000000" pitchFamily="2" charset="-78"/>
              </a:rPr>
            </a:br>
            <a:r>
              <a:rPr lang="fa-IR" sz="2800" dirty="0" smtClean="0">
                <a:solidFill>
                  <a:schemeClr val="bg1"/>
                </a:solidFill>
                <a:cs typeface="B Nazanin" panose="00000400000000000000" pitchFamily="2" charset="-78"/>
              </a:rPr>
              <a:t>برنامه نویس یک خطایی را انجام می‌دهد که منجر به یک شکست در کد منبع نرم افزار می‌شود. اگر این خطا کامپایل و اجرا شود، در موقعیت‌های خاصی سیستم نتایج نادرستی تولید می‌کند که منجر به شکست می‌شود. لزوماً همه خطاها منجر به شکست نمی‌شوند! برای مثال خطاها در کدهایی که برنامه هرگز به اجرای آنها نمی‌رسد، هرگز منجر به شکست نخواهد شد. یک خطا زمانی منجر به شکست می‌شود، که محیط تغییر می‌کند. مثالی از این تغییرات در محیط </a:t>
            </a:r>
            <a:r>
              <a:rPr lang="fa-IR" sz="2800" smtClean="0">
                <a:solidFill>
                  <a:schemeClr val="bg1"/>
                </a:solidFill>
                <a:cs typeface="B Nazanin" panose="00000400000000000000" pitchFamily="2" charset="-78"/>
              </a:rPr>
              <a:t>شامل:</a:t>
            </a:r>
            <a:br>
              <a:rPr lang="fa-IR" sz="2800" smtClean="0">
                <a:solidFill>
                  <a:schemeClr val="bg1"/>
                </a:solidFill>
                <a:cs typeface="B Nazanin" panose="00000400000000000000" pitchFamily="2" charset="-78"/>
              </a:rPr>
            </a:br>
            <a:r>
              <a:rPr lang="en-US" sz="2400" dirty="0" smtClean="0">
                <a:solidFill>
                  <a:schemeClr val="bg1"/>
                </a:solidFill>
                <a:cs typeface="B Nazanin" panose="00000400000000000000" pitchFamily="2" charset="-78"/>
              </a:rPr>
              <a:t/>
            </a:r>
            <a:br>
              <a:rPr lang="en-US" sz="2400" dirty="0" smtClean="0">
                <a:solidFill>
                  <a:schemeClr val="bg1"/>
                </a:solidFill>
                <a:cs typeface="B Nazanin" panose="00000400000000000000" pitchFamily="2" charset="-78"/>
              </a:rPr>
            </a:br>
            <a:r>
              <a:rPr lang="fa-IR" sz="2800" dirty="0" smtClean="0">
                <a:solidFill>
                  <a:schemeClr val="bg1"/>
                </a:solidFill>
                <a:cs typeface="B Nazanin" panose="00000400000000000000" pitchFamily="2" charset="-78"/>
              </a:rPr>
              <a:t>نرم افزارهایی هستند که در یک پلتفرم جدید سخت افزاری</a:t>
            </a:r>
            <a:r>
              <a:rPr lang="en-US" sz="2400" dirty="0" smtClean="0">
                <a:solidFill>
                  <a:schemeClr val="bg1"/>
                </a:solidFill>
                <a:cs typeface="B Nazanin" panose="00000400000000000000" pitchFamily="2" charset="-78"/>
              </a:rPr>
              <a:t/>
            </a:r>
            <a:br>
              <a:rPr lang="en-US" sz="2400" dirty="0" smtClean="0">
                <a:solidFill>
                  <a:schemeClr val="bg1"/>
                </a:solidFill>
                <a:cs typeface="B Nazanin" panose="00000400000000000000" pitchFamily="2" charset="-78"/>
              </a:rPr>
            </a:br>
            <a:r>
              <a:rPr lang="fa-IR" sz="2800" dirty="0" smtClean="0">
                <a:solidFill>
                  <a:schemeClr val="bg1"/>
                </a:solidFill>
                <a:cs typeface="B Nazanin" panose="00000400000000000000" pitchFamily="2" charset="-78"/>
              </a:rPr>
              <a:t>یا نرم افزاری،</a:t>
            </a:r>
            <a:r>
              <a:rPr lang="en-US" sz="2400" dirty="0" smtClean="0">
                <a:solidFill>
                  <a:schemeClr val="bg1"/>
                </a:solidFill>
                <a:cs typeface="B Nazanin" panose="00000400000000000000" pitchFamily="2" charset="-78"/>
              </a:rPr>
              <a:t/>
            </a:r>
            <a:br>
              <a:rPr lang="en-US" sz="2400" dirty="0" smtClean="0">
                <a:solidFill>
                  <a:schemeClr val="bg1"/>
                </a:solidFill>
                <a:cs typeface="B Nazanin" panose="00000400000000000000" pitchFamily="2" charset="-78"/>
              </a:rPr>
            </a:br>
            <a:r>
              <a:rPr lang="fa-IR" sz="2800" dirty="0" smtClean="0">
                <a:solidFill>
                  <a:schemeClr val="bg1"/>
                </a:solidFill>
                <a:cs typeface="B Nazanin" panose="00000400000000000000" pitchFamily="2" charset="-78"/>
              </a:rPr>
              <a:t>یا تغییرات در داده‌های منبع،</a:t>
            </a:r>
            <a:r>
              <a:rPr lang="en-US" sz="2400" dirty="0" smtClean="0">
                <a:solidFill>
                  <a:schemeClr val="bg1"/>
                </a:solidFill>
                <a:cs typeface="B Nazanin" panose="00000400000000000000" pitchFamily="2" charset="-78"/>
              </a:rPr>
              <a:t/>
            </a:r>
            <a:br>
              <a:rPr lang="en-US" sz="2400" dirty="0" smtClean="0">
                <a:solidFill>
                  <a:schemeClr val="bg1"/>
                </a:solidFill>
                <a:cs typeface="B Nazanin" panose="00000400000000000000" pitchFamily="2" charset="-78"/>
              </a:rPr>
            </a:br>
            <a:r>
              <a:rPr lang="fa-IR" sz="2800" dirty="0" smtClean="0">
                <a:solidFill>
                  <a:schemeClr val="bg1"/>
                </a:solidFill>
                <a:cs typeface="B Nazanin" panose="00000400000000000000" pitchFamily="2" charset="-78"/>
              </a:rPr>
              <a:t>یا تعاملات با نرم افزارهای متفاوت اجرا می‌شوند.</a:t>
            </a:r>
            <a:endParaRPr lang="fa-IR" sz="35600" dirty="0">
              <a:solidFill>
                <a:schemeClr val="bg1"/>
              </a:solidFill>
              <a:cs typeface="B Nazanin" panose="00000400000000000000" pitchFamily="2" charset="-78"/>
            </a:endParaRPr>
          </a:p>
        </p:txBody>
      </p:sp>
    </p:spTree>
    <p:extLst>
      <p:ext uri="{BB962C8B-B14F-4D97-AF65-F5344CB8AC3E}">
        <p14:creationId xmlns:p14="http://schemas.microsoft.com/office/powerpoint/2010/main" val="37218888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b="1" dirty="0" smtClean="0">
                <a:solidFill>
                  <a:schemeClr val="bg1"/>
                </a:solidFill>
                <a:cs typeface="B Mitra" panose="00000400000000000000" pitchFamily="2" charset="-78"/>
              </a:rPr>
              <a:t>شکست</a:t>
            </a:r>
            <a:r>
              <a:rPr lang="fa-IR" dirty="0" smtClean="0">
                <a:solidFill>
                  <a:schemeClr val="bg1"/>
                </a:solidFill>
                <a:cs typeface="B Mitra" panose="00000400000000000000" pitchFamily="2" charset="-78"/>
              </a:rPr>
              <a:t> (</a:t>
            </a:r>
            <a:r>
              <a:rPr lang="en-US" sz="3200" dirty="0">
                <a:solidFill>
                  <a:schemeClr val="bg1"/>
                </a:solidFill>
                <a:latin typeface="Arial" panose="020B0604020202020204" pitchFamily="34" charset="0"/>
                <a:cs typeface="Arial" panose="020B0604020202020204" pitchFamily="34" charset="0"/>
              </a:rPr>
              <a:t>Failure</a:t>
            </a:r>
            <a:r>
              <a:rPr lang="fa-IR" dirty="0" smtClean="0">
                <a:solidFill>
                  <a:schemeClr val="bg1"/>
                </a:solidFill>
                <a:cs typeface="B Mitra" panose="00000400000000000000" pitchFamily="2" charset="-78"/>
              </a:rPr>
              <a:t>)</a:t>
            </a:r>
            <a:r>
              <a:rPr lang="en-US" dirty="0" smtClean="0">
                <a:solidFill>
                  <a:schemeClr val="bg1"/>
                </a:solidFill>
                <a:cs typeface="B Mitra" panose="00000400000000000000" pitchFamily="2" charset="-78"/>
              </a:rPr>
              <a:t>:</a:t>
            </a:r>
            <a:r>
              <a:rPr lang="fa-IR" dirty="0" smtClean="0">
                <a:solidFill>
                  <a:schemeClr val="bg1"/>
                </a:solidFill>
                <a:cs typeface="B Mitra" panose="00000400000000000000" pitchFamily="2" charset="-78"/>
              </a:rPr>
              <a:t> ناتوانی آشکار یک برنامه در انجام عملکرد مورد انتظار است به عنوان مثال نقص سیستم که به علت خروجی اشتباه به وجود آمده است یا محدودیت فضا و زمان برآورده نشده و یا یک پایان غیر طبیعی برای برنامه است.</a:t>
            </a:r>
            <a:br>
              <a:rPr lang="fa-IR" dirty="0" smtClean="0">
                <a:solidFill>
                  <a:schemeClr val="bg1"/>
                </a:solidFill>
                <a:cs typeface="B Mitra" panose="00000400000000000000" pitchFamily="2" charset="-78"/>
              </a:rPr>
            </a:b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r>
              <a:rPr lang="fa-IR" b="1" dirty="0" smtClean="0">
                <a:solidFill>
                  <a:schemeClr val="bg1"/>
                </a:solidFill>
                <a:cs typeface="B Mitra" panose="00000400000000000000" pitchFamily="2" charset="-78"/>
              </a:rPr>
              <a:t>گسل</a:t>
            </a:r>
            <a:r>
              <a:rPr lang="fa-IR" dirty="0" smtClean="0">
                <a:solidFill>
                  <a:schemeClr val="bg1"/>
                </a:solidFill>
                <a:cs typeface="B Mitra" panose="00000400000000000000" pitchFamily="2" charset="-78"/>
              </a:rPr>
              <a:t> (</a:t>
            </a:r>
            <a:r>
              <a:rPr lang="en-US" sz="3200" dirty="0" smtClean="0">
                <a:solidFill>
                  <a:schemeClr val="bg1"/>
                </a:solidFill>
                <a:latin typeface="Arial" panose="020B0604020202020204" pitchFamily="34" charset="0"/>
                <a:cs typeface="Arial" panose="020B0604020202020204" pitchFamily="34" charset="0"/>
              </a:rPr>
              <a:t>Fault</a:t>
            </a:r>
            <a:r>
              <a:rPr lang="fa-IR" dirty="0" smtClean="0">
                <a:solidFill>
                  <a:schemeClr val="bg1"/>
                </a:solidFill>
                <a:cs typeface="B Mitra" panose="00000400000000000000" pitchFamily="2" charset="-78"/>
              </a:rPr>
              <a:t>): شرایطی </a:t>
            </a:r>
            <a:r>
              <a:rPr lang="fa-IR" dirty="0">
                <a:solidFill>
                  <a:schemeClr val="bg1"/>
                </a:solidFill>
                <a:cs typeface="B Mitra" panose="00000400000000000000" pitchFamily="2" charset="-78"/>
              </a:rPr>
              <a:t>که باعث شود نرم افزار در اجرای دستور مورد نیازش دچار شکست شود. </a:t>
            </a:r>
            <a:r>
              <a:rPr lang="fa-IR" dirty="0" smtClean="0">
                <a:solidFill>
                  <a:schemeClr val="bg1"/>
                </a:solidFill>
                <a:cs typeface="B Mitra" panose="00000400000000000000" pitchFamily="2" charset="-78"/>
              </a:rPr>
              <a:t>نقص </a:t>
            </a:r>
            <a:r>
              <a:rPr lang="fa-IR" dirty="0">
                <a:solidFill>
                  <a:schemeClr val="bg1"/>
                </a:solidFill>
                <a:cs typeface="B Mitra" panose="00000400000000000000" pitchFamily="2" charset="-78"/>
              </a:rPr>
              <a:t>استاتیک </a:t>
            </a:r>
            <a:r>
              <a:rPr lang="fa-IR" dirty="0" smtClean="0">
                <a:solidFill>
                  <a:schemeClr val="bg1"/>
                </a:solidFill>
                <a:cs typeface="B Mitra" panose="00000400000000000000" pitchFamily="2" charset="-78"/>
              </a:rPr>
              <a:t>در نرم </a:t>
            </a:r>
            <a:r>
              <a:rPr lang="fa-IR" dirty="0">
                <a:solidFill>
                  <a:schemeClr val="bg1"/>
                </a:solidFill>
                <a:cs typeface="B Mitra" panose="00000400000000000000" pitchFamily="2" charset="-78"/>
              </a:rPr>
              <a:t>افزار را </a:t>
            </a:r>
            <a:r>
              <a:rPr lang="en-US" sz="3200" dirty="0">
                <a:solidFill>
                  <a:schemeClr val="bg1"/>
                </a:solidFill>
                <a:latin typeface="Arial" panose="020B0604020202020204" pitchFamily="34" charset="0"/>
                <a:cs typeface="Arial" panose="020B0604020202020204" pitchFamily="34" charset="0"/>
              </a:rPr>
              <a:t>Fault</a:t>
            </a:r>
            <a:r>
              <a:rPr lang="en-US" sz="3200" dirty="0">
                <a:solidFill>
                  <a:schemeClr val="bg1"/>
                </a:solidFill>
                <a:cs typeface="B Mitra" panose="00000400000000000000" pitchFamily="2" charset="-78"/>
              </a:rPr>
              <a:t> </a:t>
            </a:r>
            <a:r>
              <a:rPr lang="fa-IR" sz="3200" dirty="0" smtClean="0">
                <a:solidFill>
                  <a:schemeClr val="bg1"/>
                </a:solidFill>
                <a:cs typeface="B Mitra" panose="00000400000000000000" pitchFamily="2" charset="-78"/>
              </a:rPr>
              <a:t> </a:t>
            </a:r>
            <a:r>
              <a:rPr lang="fa-IR" dirty="0" smtClean="0">
                <a:solidFill>
                  <a:schemeClr val="bg1"/>
                </a:solidFill>
                <a:cs typeface="B Mitra" panose="00000400000000000000" pitchFamily="2" charset="-78"/>
              </a:rPr>
              <a:t>گویند. به عبارت دیگر میتوان گفت علت شکست، گسل است.</a:t>
            </a: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endParaRPr lang="en-US" sz="5400" dirty="0">
              <a:solidFill>
                <a:schemeClr val="bg1"/>
              </a:solidFill>
              <a:cs typeface="B Mitra" panose="00000400000000000000" pitchFamily="2" charset="-78"/>
            </a:endParaRPr>
          </a:p>
        </p:txBody>
      </p:sp>
    </p:spTree>
    <p:extLst>
      <p:ext uri="{BB962C8B-B14F-4D97-AF65-F5344CB8AC3E}">
        <p14:creationId xmlns:p14="http://schemas.microsoft.com/office/powerpoint/2010/main" val="25156957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b="1" dirty="0" smtClean="0">
                <a:solidFill>
                  <a:schemeClr val="bg1"/>
                </a:solidFill>
                <a:cs typeface="B Mitra" panose="00000400000000000000" pitchFamily="2" charset="-78"/>
              </a:rPr>
              <a:t>خطا</a:t>
            </a:r>
            <a:r>
              <a:rPr lang="en-US" sz="3200" dirty="0" smtClean="0">
                <a:solidFill>
                  <a:schemeClr val="bg1"/>
                </a:solidFill>
                <a:latin typeface="Arial" panose="020B0604020202020204" pitchFamily="34" charset="0"/>
                <a:cs typeface="Arial" panose="020B0604020202020204" pitchFamily="34" charset="0"/>
              </a:rPr>
              <a:t>(error)</a:t>
            </a:r>
            <a:r>
              <a:rPr lang="en-US" dirty="0" smtClean="0">
                <a:solidFill>
                  <a:schemeClr val="bg1"/>
                </a:solidFill>
                <a:cs typeface="B Mitra" panose="00000400000000000000" pitchFamily="2" charset="-78"/>
              </a:rPr>
              <a:t> </a:t>
            </a:r>
            <a:r>
              <a:rPr lang="fa-IR" dirty="0" smtClean="0">
                <a:solidFill>
                  <a:schemeClr val="bg1"/>
                </a:solidFill>
                <a:cs typeface="B Mitra" panose="00000400000000000000" pitchFamily="2" charset="-78"/>
              </a:rPr>
              <a:t>: عبارت </a:t>
            </a:r>
            <a:r>
              <a:rPr lang="fa-IR" dirty="0">
                <a:solidFill>
                  <a:schemeClr val="bg1"/>
                </a:solidFill>
                <a:cs typeface="B Mitra" panose="00000400000000000000" pitchFamily="2" charset="-78"/>
              </a:rPr>
              <a:t>است از کارهایی که منجر به نتیجه اشتباه یا نادرست می </a:t>
            </a:r>
            <a:r>
              <a:rPr lang="fa-IR" dirty="0" smtClean="0">
                <a:solidFill>
                  <a:schemeClr val="bg1"/>
                </a:solidFill>
                <a:cs typeface="B Mitra" panose="00000400000000000000" pitchFamily="2" charset="-78"/>
              </a:rPr>
              <a:t>شوند.به عبارت دیگر هنگامی که یک گسل اتفاق می افد در ابتدا باعث میشود که برنامه وارد یک حالت ناپایدار شود که خطا نامیده می شود.</a:t>
            </a:r>
            <a:br>
              <a:rPr lang="fa-IR" dirty="0" smtClean="0">
                <a:solidFill>
                  <a:schemeClr val="bg1"/>
                </a:solidFill>
                <a:cs typeface="B Mitra" panose="00000400000000000000" pitchFamily="2" charset="-78"/>
              </a:rPr>
            </a:b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r>
              <a:rPr lang="fa-IR" dirty="0" smtClean="0">
                <a:solidFill>
                  <a:schemeClr val="bg1"/>
                </a:solidFill>
                <a:cs typeface="B Mitra" panose="00000400000000000000" pitchFamily="2" charset="-78"/>
              </a:rPr>
              <a:t>فرایند ظهور شکست به شکل زیر است.</a:t>
            </a:r>
            <a:br>
              <a:rPr lang="fa-IR" dirty="0" smtClean="0">
                <a:solidFill>
                  <a:schemeClr val="bg1"/>
                </a:solidFill>
                <a:cs typeface="B Mitra" panose="00000400000000000000" pitchFamily="2" charset="-78"/>
              </a:rPr>
            </a:b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r>
              <a:rPr lang="fa-IR" dirty="0" smtClean="0">
                <a:solidFill>
                  <a:schemeClr val="bg1"/>
                </a:solidFill>
                <a:cs typeface="B Mitra" panose="00000400000000000000" pitchFamily="2" charset="-78"/>
              </a:rPr>
              <a:t/>
            </a:r>
            <a:br>
              <a:rPr lang="fa-IR" dirty="0" smtClean="0">
                <a:solidFill>
                  <a:schemeClr val="bg1"/>
                </a:solidFill>
                <a:cs typeface="B Mitra" panose="00000400000000000000" pitchFamily="2" charset="-78"/>
              </a:rPr>
            </a:b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r>
              <a:rPr lang="fa-IR" dirty="0" smtClean="0">
                <a:solidFill>
                  <a:schemeClr val="bg1"/>
                </a:solidFill>
                <a:cs typeface="B Mitra" panose="00000400000000000000" pitchFamily="2" charset="-78"/>
              </a:rPr>
              <a:t>که می تواند به شکل بازگشتی تکرار شود.</a:t>
            </a:r>
            <a:endParaRPr lang="en-US" sz="5400" dirty="0">
              <a:solidFill>
                <a:schemeClr val="bg1"/>
              </a:solidFill>
              <a:cs typeface="B Mitra" panose="00000400000000000000" pitchFamily="2" charset="-78"/>
            </a:endParaRPr>
          </a:p>
        </p:txBody>
      </p:sp>
      <p:sp>
        <p:nvSpPr>
          <p:cNvPr id="3" name="Rectangle 2"/>
          <p:cNvSpPr/>
          <p:nvPr/>
        </p:nvSpPr>
        <p:spPr>
          <a:xfrm>
            <a:off x="2975019" y="3902297"/>
            <a:ext cx="5344734" cy="1056068"/>
          </a:xfrm>
          <a:prstGeom prst="rect">
            <a:avLst/>
          </a:prstGeom>
          <a:solidFill>
            <a:schemeClr val="tx2">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fa-IR" sz="4000" dirty="0" smtClean="0">
                <a:cs typeface="B Mitra" panose="00000400000000000000" pitchFamily="2" charset="-78"/>
              </a:rPr>
              <a:t>شکست→خطا→گسل</a:t>
            </a:r>
            <a:endParaRPr lang="en-US" sz="4000" dirty="0">
              <a:cs typeface="B Mitra" panose="00000400000000000000" pitchFamily="2" charset="-78"/>
            </a:endParaRPr>
          </a:p>
        </p:txBody>
      </p:sp>
    </p:spTree>
    <p:extLst>
      <p:ext uri="{BB962C8B-B14F-4D97-AF65-F5344CB8AC3E}">
        <p14:creationId xmlns:p14="http://schemas.microsoft.com/office/powerpoint/2010/main" val="24382547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429" y="450762"/>
            <a:ext cx="11114466" cy="5512156"/>
          </a:xfrm>
        </p:spPr>
        <p:txBody>
          <a:bodyPr>
            <a:noAutofit/>
          </a:bodyPr>
          <a:lstStyle/>
          <a:p>
            <a:pPr algn="r" rtl="1"/>
            <a:r>
              <a:rPr lang="fa-IR" b="1" dirty="0" smtClean="0">
                <a:solidFill>
                  <a:schemeClr val="bg1"/>
                </a:solidFill>
                <a:cs typeface="B Mitra" panose="00000400000000000000" pitchFamily="2" charset="-78"/>
              </a:rPr>
              <a:t>نق</a:t>
            </a:r>
            <a:r>
              <a:rPr lang="fa-IR" b="1" dirty="0">
                <a:solidFill>
                  <a:schemeClr val="bg1"/>
                </a:solidFill>
                <a:cs typeface="B Mitra" panose="00000400000000000000" pitchFamily="2" charset="-78"/>
              </a:rPr>
              <a:t>ص</a:t>
            </a:r>
            <a:r>
              <a:rPr lang="en-US" sz="3200" dirty="0" smtClean="0">
                <a:solidFill>
                  <a:schemeClr val="bg1"/>
                </a:solidFill>
                <a:latin typeface="Arial" panose="020B0604020202020204" pitchFamily="34" charset="0"/>
                <a:cs typeface="Arial" panose="020B0604020202020204" pitchFamily="34" charset="0"/>
              </a:rPr>
              <a:t>(Defect)</a:t>
            </a:r>
            <a:r>
              <a:rPr lang="en-US" dirty="0" smtClean="0">
                <a:solidFill>
                  <a:schemeClr val="bg1"/>
                </a:solidFill>
                <a:cs typeface="B Mitra" panose="00000400000000000000" pitchFamily="2" charset="-78"/>
              </a:rPr>
              <a:t> </a:t>
            </a:r>
            <a:r>
              <a:rPr lang="fa-IR" dirty="0" smtClean="0">
                <a:solidFill>
                  <a:schemeClr val="bg1"/>
                </a:solidFill>
                <a:cs typeface="B Mitra" panose="00000400000000000000" pitchFamily="2" charset="-78"/>
              </a:rPr>
              <a:t>: ناشی از ابزار است و معمولا به مشکلاتی اشاره می</a:t>
            </a:r>
            <a:r>
              <a:rPr lang="en-US" dirty="0" smtClean="0">
                <a:solidFill>
                  <a:schemeClr val="bg1"/>
                </a:solidFill>
                <a:cs typeface="B Mitra" panose="00000400000000000000" pitchFamily="2" charset="-78"/>
              </a:rPr>
              <a:t> </a:t>
            </a:r>
            <a:r>
              <a:rPr lang="fa-IR" dirty="0" smtClean="0">
                <a:solidFill>
                  <a:schemeClr val="bg1"/>
                </a:solidFill>
                <a:cs typeface="B Mitra" panose="00000400000000000000" pitchFamily="2" charset="-78"/>
              </a:rPr>
              <a:t>کند که در محصولات نرم</a:t>
            </a:r>
            <a:r>
              <a:rPr lang="en-US" dirty="0" smtClean="0">
                <a:solidFill>
                  <a:schemeClr val="bg1"/>
                </a:solidFill>
                <a:cs typeface="B Mitra" panose="00000400000000000000" pitchFamily="2" charset="-78"/>
              </a:rPr>
              <a:t> </a:t>
            </a:r>
            <a:r>
              <a:rPr lang="fa-IR" dirty="0" smtClean="0">
                <a:solidFill>
                  <a:schemeClr val="bg1"/>
                </a:solidFill>
                <a:cs typeface="B Mitra" panose="00000400000000000000" pitchFamily="2" charset="-78"/>
              </a:rPr>
              <a:t>افزاری است و ضرورتا به این معنی نیست که در کد </a:t>
            </a:r>
            <a:r>
              <a:rPr lang="en-US" sz="3200" dirty="0" smtClean="0">
                <a:solidFill>
                  <a:schemeClr val="bg1"/>
                </a:solidFill>
                <a:latin typeface="Arial" panose="020B0604020202020204" pitchFamily="34" charset="0"/>
                <a:cs typeface="Arial" panose="020B0604020202020204" pitchFamily="34" charset="0"/>
              </a:rPr>
              <a:t>bug</a:t>
            </a:r>
            <a:r>
              <a:rPr lang="fa-IR" sz="3200" dirty="0" smtClean="0">
                <a:solidFill>
                  <a:schemeClr val="bg1"/>
                </a:solidFill>
                <a:latin typeface="Arial" panose="020B0604020202020204" pitchFamily="34" charset="0"/>
                <a:cs typeface="Arial" panose="020B0604020202020204" pitchFamily="34" charset="0"/>
              </a:rPr>
              <a:t> </a:t>
            </a:r>
            <a:r>
              <a:rPr lang="fa-IR" dirty="0" smtClean="0">
                <a:solidFill>
                  <a:schemeClr val="bg1"/>
                </a:solidFill>
                <a:cs typeface="B Mitra" panose="00000400000000000000" pitchFamily="2" charset="-78"/>
              </a:rPr>
              <a:t>وجود دارد بلکه می تواند تابعی باشد که اجرا نشده است اما در ابزار نرم افزار تعریف شده</a:t>
            </a:r>
            <a:r>
              <a:rPr lang="en-US" dirty="0" smtClean="0">
                <a:solidFill>
                  <a:schemeClr val="bg1"/>
                </a:solidFill>
                <a:cs typeface="B Mitra" panose="00000400000000000000" pitchFamily="2" charset="-78"/>
              </a:rPr>
              <a:t> </a:t>
            </a:r>
            <a:r>
              <a:rPr lang="fa-IR" dirty="0" smtClean="0">
                <a:solidFill>
                  <a:schemeClr val="bg1"/>
                </a:solidFill>
                <a:cs typeface="B Mitra" panose="00000400000000000000" pitchFamily="2" charset="-78"/>
              </a:rPr>
              <a:t>است.</a:t>
            </a:r>
            <a:br>
              <a:rPr lang="fa-IR" dirty="0" smtClean="0">
                <a:solidFill>
                  <a:schemeClr val="bg1"/>
                </a:solidFill>
                <a:cs typeface="B Mitra" panose="00000400000000000000" pitchFamily="2" charset="-78"/>
              </a:rPr>
            </a:br>
            <a:r>
              <a:rPr lang="fa-IR" dirty="0" smtClean="0">
                <a:solidFill>
                  <a:schemeClr val="bg1"/>
                </a:solidFill>
                <a:cs typeface="B Mitra" panose="00000400000000000000" pitchFamily="2" charset="-78"/>
              </a:rPr>
              <a:t/>
            </a:r>
            <a:br>
              <a:rPr lang="fa-IR" dirty="0" smtClean="0">
                <a:solidFill>
                  <a:schemeClr val="bg1"/>
                </a:solidFill>
                <a:cs typeface="B Mitra" panose="00000400000000000000" pitchFamily="2" charset="-78"/>
              </a:rPr>
            </a:br>
            <a:r>
              <a:rPr lang="fa-IR" b="1" dirty="0" smtClean="0">
                <a:solidFill>
                  <a:schemeClr val="bg1"/>
                </a:solidFill>
                <a:cs typeface="B Mitra" panose="00000400000000000000" pitchFamily="2" charset="-78"/>
              </a:rPr>
              <a:t>اشکال</a:t>
            </a:r>
            <a:r>
              <a:rPr lang="en-US" sz="3200" dirty="0" smtClean="0">
                <a:solidFill>
                  <a:schemeClr val="bg1"/>
                </a:solidFill>
                <a:latin typeface="Arial" panose="020B0604020202020204" pitchFamily="34" charset="0"/>
                <a:cs typeface="Arial" panose="020B0604020202020204" pitchFamily="34" charset="0"/>
              </a:rPr>
              <a:t>(Bug)</a:t>
            </a:r>
            <a:r>
              <a:rPr lang="fa-IR" dirty="0" smtClean="0">
                <a:solidFill>
                  <a:schemeClr val="bg1"/>
                </a:solidFill>
                <a:cs typeface="B Mitra" panose="00000400000000000000" pitchFamily="2" charset="-78"/>
              </a:rPr>
              <a:t>: اشکال </a:t>
            </a:r>
            <a:r>
              <a:rPr lang="fa-IR" dirty="0">
                <a:solidFill>
                  <a:schemeClr val="bg1"/>
                </a:solidFill>
                <a:cs typeface="B Mitra" panose="00000400000000000000" pitchFamily="2" charset="-78"/>
              </a:rPr>
              <a:t>نوعی خطا یا اشتباه در اجرای نرم افزار است که موجب نتایج اشتباه یا اجرا نشدن نرم افزار </a:t>
            </a:r>
            <a:r>
              <a:rPr lang="fa-IR" dirty="0" smtClean="0">
                <a:solidFill>
                  <a:schemeClr val="bg1"/>
                </a:solidFill>
                <a:cs typeface="B Mitra" panose="00000400000000000000" pitchFamily="2" charset="-78"/>
              </a:rPr>
              <a:t>می شود</a:t>
            </a:r>
            <a:r>
              <a:rPr lang="fa-IR" dirty="0">
                <a:solidFill>
                  <a:schemeClr val="bg1"/>
                </a:solidFill>
                <a:cs typeface="B Mitra" panose="00000400000000000000" pitchFamily="2" charset="-78"/>
              </a:rPr>
              <a:t>. </a:t>
            </a:r>
            <a:r>
              <a:rPr lang="fa-IR" dirty="0" smtClean="0">
                <a:solidFill>
                  <a:schemeClr val="bg1"/>
                </a:solidFill>
                <a:cs typeface="B Mitra" panose="00000400000000000000" pitchFamily="2" charset="-78"/>
              </a:rPr>
              <a:t>علت این </a:t>
            </a:r>
            <a:r>
              <a:rPr lang="fa-IR" dirty="0">
                <a:solidFill>
                  <a:schemeClr val="bg1"/>
                </a:solidFill>
                <a:cs typeface="B Mitra" panose="00000400000000000000" pitchFamily="2" charset="-78"/>
              </a:rPr>
              <a:t>اشکالات می تواند اشتباه در هنگام برنامه نویسی و خطای سهوی و عمدی باشد. </a:t>
            </a:r>
            <a:r>
              <a:rPr lang="fa-IR" dirty="0" smtClean="0">
                <a:solidFill>
                  <a:schemeClr val="bg1"/>
                </a:solidFill>
                <a:cs typeface="B Mitra" panose="00000400000000000000" pitchFamily="2" charset="-78"/>
              </a:rPr>
              <a:t>شرکتهای </a:t>
            </a:r>
            <a:r>
              <a:rPr lang="fa-IR" dirty="0">
                <a:solidFill>
                  <a:schemeClr val="bg1"/>
                </a:solidFill>
                <a:cs typeface="B Mitra" panose="00000400000000000000" pitchFamily="2" charset="-78"/>
              </a:rPr>
              <a:t>سازنده </a:t>
            </a:r>
            <a:r>
              <a:rPr lang="fa-IR" dirty="0" smtClean="0">
                <a:solidFill>
                  <a:schemeClr val="bg1"/>
                </a:solidFill>
                <a:cs typeface="B Mitra" panose="00000400000000000000" pitchFamily="2" charset="-78"/>
              </a:rPr>
              <a:t>نرم افزارها برای </a:t>
            </a:r>
            <a:r>
              <a:rPr lang="fa-IR" dirty="0">
                <a:solidFill>
                  <a:schemeClr val="bg1"/>
                </a:solidFill>
                <a:cs typeface="B Mitra" panose="00000400000000000000" pitchFamily="2" charset="-78"/>
              </a:rPr>
              <a:t>حل این مشکل قبل از ارایه نسخه نهایی، نسخه های تحت عنوان آلفا یا بتا انتشار می دهند تا افرادی آن ها </a:t>
            </a:r>
            <a:r>
              <a:rPr lang="fa-IR" dirty="0" smtClean="0">
                <a:solidFill>
                  <a:schemeClr val="bg1"/>
                </a:solidFill>
                <a:cs typeface="B Mitra" panose="00000400000000000000" pitchFamily="2" charset="-78"/>
              </a:rPr>
              <a:t>را بررسی </a:t>
            </a:r>
            <a:r>
              <a:rPr lang="fa-IR" dirty="0">
                <a:solidFill>
                  <a:schemeClr val="bg1"/>
                </a:solidFill>
                <a:cs typeface="B Mitra" panose="00000400000000000000" pitchFamily="2" charset="-78"/>
              </a:rPr>
              <a:t>کنند و این </a:t>
            </a:r>
            <a:r>
              <a:rPr lang="fa-IR" dirty="0" smtClean="0">
                <a:solidFill>
                  <a:schemeClr val="bg1"/>
                </a:solidFill>
                <a:cs typeface="B Mitra" panose="00000400000000000000" pitchFamily="2" charset="-78"/>
              </a:rPr>
              <a:t>اشکال ها را </a:t>
            </a:r>
            <a:r>
              <a:rPr lang="fa-IR" dirty="0">
                <a:solidFill>
                  <a:schemeClr val="bg1"/>
                </a:solidFill>
                <a:cs typeface="B Mitra" panose="00000400000000000000" pitchFamily="2" charset="-78"/>
              </a:rPr>
              <a:t>گزارش دهند.</a:t>
            </a:r>
            <a:endParaRPr lang="en-US" sz="5400" dirty="0">
              <a:solidFill>
                <a:schemeClr val="bg1"/>
              </a:solidFill>
              <a:cs typeface="B Mitra" panose="00000400000000000000" pitchFamily="2" charset="-78"/>
            </a:endParaRPr>
          </a:p>
        </p:txBody>
      </p:sp>
    </p:spTree>
    <p:extLst>
      <p:ext uri="{BB962C8B-B14F-4D97-AF65-F5344CB8AC3E}">
        <p14:creationId xmlns:p14="http://schemas.microsoft.com/office/powerpoint/2010/main" val="24919164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429" y="450762"/>
            <a:ext cx="11114466" cy="6104584"/>
          </a:xfrm>
        </p:spPr>
        <p:txBody>
          <a:bodyPr>
            <a:noAutofit/>
          </a:bodyPr>
          <a:lstStyle/>
          <a:p>
            <a:pPr algn="r" rtl="1"/>
            <a:r>
              <a:rPr lang="fa-IR" sz="3200" b="1" dirty="0" smtClean="0">
                <a:solidFill>
                  <a:srgbClr val="404040"/>
                </a:solidFill>
                <a:latin typeface="TrebuchetMS"/>
                <a:cs typeface="B Mitra" panose="00000400000000000000" pitchFamily="2" charset="-78"/>
              </a:rPr>
              <a:t>خطر</a:t>
            </a:r>
            <a:r>
              <a:rPr lang="en-US" sz="2800" dirty="0" smtClean="0">
                <a:solidFill>
                  <a:srgbClr val="404040"/>
                </a:solidFill>
                <a:latin typeface="Arial" panose="020B0604020202020204" pitchFamily="34" charset="0"/>
                <a:cs typeface="Arial" panose="020B0604020202020204" pitchFamily="34" charset="0"/>
              </a:rPr>
              <a:t>(Risk) </a:t>
            </a:r>
            <a:r>
              <a:rPr lang="fa-IR" sz="3200" dirty="0" smtClean="0">
                <a:solidFill>
                  <a:srgbClr val="404040"/>
                </a:solidFill>
                <a:latin typeface="TrebuchetMS"/>
                <a:cs typeface="B Mitra" panose="00000400000000000000" pitchFamily="2" charset="-78"/>
              </a:rPr>
              <a:t>: </a:t>
            </a:r>
            <a:r>
              <a:rPr lang="fa-IR" sz="3200" dirty="0" smtClean="0">
                <a:solidFill>
                  <a:srgbClr val="404040"/>
                </a:solidFill>
                <a:latin typeface="BNazanin"/>
                <a:cs typeface="B Mitra" panose="00000400000000000000" pitchFamily="2" charset="-78"/>
              </a:rPr>
              <a:t>یک </a:t>
            </a:r>
            <a:r>
              <a:rPr lang="fa-IR" sz="3200" dirty="0">
                <a:solidFill>
                  <a:srgbClr val="404040"/>
                </a:solidFill>
                <a:latin typeface="BNazanin"/>
                <a:cs typeface="B Mitra" panose="00000400000000000000" pitchFamily="2" charset="-78"/>
              </a:rPr>
              <a:t>اتفاق غیر قطعی است که احتمال وقوع و آسیب رسانی دارد. تعریف مدیریت ریسک یک مساله مهم </a:t>
            </a:r>
            <a:r>
              <a:rPr lang="fa-IR" sz="3200" dirty="0" smtClean="0">
                <a:solidFill>
                  <a:srgbClr val="404040"/>
                </a:solidFill>
                <a:latin typeface="BNazanin"/>
                <a:cs typeface="B Mitra" panose="00000400000000000000" pitchFamily="2" charset="-78"/>
              </a:rPr>
              <a:t>و نگران </a:t>
            </a:r>
            <a:r>
              <a:rPr lang="fa-IR" sz="3200" dirty="0">
                <a:solidFill>
                  <a:srgbClr val="404040"/>
                </a:solidFill>
                <a:latin typeface="BNazanin"/>
                <a:cs typeface="B Mitra" panose="00000400000000000000" pitchFamily="2" charset="-78"/>
              </a:rPr>
              <a:t>کننده در هر پروژه </a:t>
            </a:r>
            <a:r>
              <a:rPr lang="fa-IR" sz="3200" dirty="0" smtClean="0">
                <a:solidFill>
                  <a:srgbClr val="404040"/>
                </a:solidFill>
                <a:latin typeface="BNazanin"/>
                <a:cs typeface="B Mitra" panose="00000400000000000000" pitchFamily="2" charset="-78"/>
              </a:rPr>
              <a:t>نرم افزاری </a:t>
            </a:r>
            <a:r>
              <a:rPr lang="fa-IR" sz="3200" dirty="0">
                <a:solidFill>
                  <a:srgbClr val="404040"/>
                </a:solidFill>
                <a:latin typeface="BNazanin"/>
                <a:cs typeface="B Mitra" panose="00000400000000000000" pitchFamily="2" charset="-78"/>
              </a:rPr>
              <a:t>است و انواع مختلفی دارد</a:t>
            </a:r>
            <a:r>
              <a:rPr lang="fa-IR" sz="3200" dirty="0" smtClean="0">
                <a:solidFill>
                  <a:srgbClr val="404040"/>
                </a:solidFill>
                <a:latin typeface="BNazanin"/>
                <a:cs typeface="B Mitra" panose="00000400000000000000" pitchFamily="2" charset="-78"/>
              </a:rPr>
              <a:t>:</a:t>
            </a:r>
            <a:br>
              <a:rPr lang="fa-IR" sz="3200" dirty="0" smtClean="0">
                <a:solidFill>
                  <a:srgbClr val="404040"/>
                </a:solidFill>
                <a:latin typeface="BNazanin"/>
                <a:cs typeface="B Mitra" panose="00000400000000000000" pitchFamily="2" charset="-78"/>
              </a:rPr>
            </a:br>
            <a:r>
              <a:rPr lang="fa-IR" sz="3200" dirty="0">
                <a:solidFill>
                  <a:srgbClr val="404040"/>
                </a:solidFill>
                <a:latin typeface="BNazanin"/>
                <a:cs typeface="B Mitra" panose="00000400000000000000" pitchFamily="2" charset="-78"/>
              </a:rPr>
              <a:t/>
            </a:r>
            <a:br>
              <a:rPr lang="fa-IR" sz="3200" dirty="0">
                <a:solidFill>
                  <a:srgbClr val="404040"/>
                </a:solidFill>
                <a:latin typeface="BNazanin"/>
                <a:cs typeface="B Mitra" panose="00000400000000000000" pitchFamily="2" charset="-78"/>
              </a:rPr>
            </a:br>
            <a:r>
              <a:rPr lang="fa-IR" sz="3200" b="1" dirty="0" smtClean="0">
                <a:solidFill>
                  <a:srgbClr val="404040"/>
                </a:solidFill>
                <a:latin typeface="BNazanin"/>
                <a:cs typeface="B Mitra" panose="00000400000000000000" pitchFamily="2" charset="-78"/>
              </a:rPr>
              <a:t>ریسک </a:t>
            </a:r>
            <a:r>
              <a:rPr lang="fa-IR" sz="3200" b="1" dirty="0">
                <a:solidFill>
                  <a:srgbClr val="404040"/>
                </a:solidFill>
                <a:latin typeface="BNazanin"/>
                <a:cs typeface="B Mitra" panose="00000400000000000000" pitchFamily="2" charset="-78"/>
              </a:rPr>
              <a:t>در </a:t>
            </a:r>
            <a:r>
              <a:rPr lang="fa-IR" sz="3200" b="1" dirty="0" smtClean="0">
                <a:solidFill>
                  <a:srgbClr val="404040"/>
                </a:solidFill>
                <a:latin typeface="BNazanin"/>
                <a:cs typeface="B Mitra" panose="00000400000000000000" pitchFamily="2" charset="-78"/>
              </a:rPr>
              <a:t>زمانبند</a:t>
            </a:r>
            <a:r>
              <a:rPr lang="fa-IR" sz="3200" b="1" dirty="0">
                <a:solidFill>
                  <a:srgbClr val="404040"/>
                </a:solidFill>
                <a:latin typeface="BNazanin"/>
                <a:cs typeface="B Mitra" panose="00000400000000000000" pitchFamily="2" charset="-78"/>
              </a:rPr>
              <a:t>ی</a:t>
            </a:r>
            <a:r>
              <a:rPr lang="fa-IR" sz="3200" dirty="0" smtClean="0">
                <a:solidFill>
                  <a:srgbClr val="404040"/>
                </a:solidFill>
                <a:latin typeface="BNazanin"/>
                <a:cs typeface="B Mitra" panose="00000400000000000000" pitchFamily="2" charset="-78"/>
              </a:rPr>
              <a:t>: </a:t>
            </a:r>
            <a:r>
              <a:rPr lang="fa-IR" sz="3200" dirty="0">
                <a:solidFill>
                  <a:srgbClr val="404040"/>
                </a:solidFill>
                <a:latin typeface="BNazanin"/>
                <a:cs typeface="B Mitra" panose="00000400000000000000" pitchFamily="2" charset="-78"/>
              </a:rPr>
              <a:t>زمانبندی </a:t>
            </a:r>
            <a:r>
              <a:rPr lang="fa-IR" sz="3200" dirty="0" smtClean="0">
                <a:solidFill>
                  <a:srgbClr val="404040"/>
                </a:solidFill>
                <a:latin typeface="BNazanin"/>
                <a:cs typeface="B Mitra" panose="00000400000000000000" pitchFamily="2" charset="-78"/>
              </a:rPr>
              <a:t>پروژه</a:t>
            </a:r>
            <a:r>
              <a:rPr lang="fa-IR" sz="3200" dirty="0">
                <a:solidFill>
                  <a:srgbClr val="404040"/>
                </a:solidFill>
                <a:latin typeface="BNazanin"/>
                <a:cs typeface="B Mitra" panose="00000400000000000000" pitchFamily="2" charset="-78"/>
              </a:rPr>
              <a:t>،</a:t>
            </a:r>
            <a:r>
              <a:rPr lang="fa-IR" sz="3200" dirty="0" smtClean="0">
                <a:solidFill>
                  <a:srgbClr val="404040"/>
                </a:solidFill>
                <a:latin typeface="BNazanin"/>
                <a:cs typeface="B Mitra" panose="00000400000000000000" pitchFamily="2" charset="-78"/>
              </a:rPr>
              <a:t> </a:t>
            </a:r>
            <a:r>
              <a:rPr lang="fa-IR" sz="3200" dirty="0">
                <a:solidFill>
                  <a:srgbClr val="404040"/>
                </a:solidFill>
                <a:latin typeface="BNazanin"/>
                <a:cs typeface="B Mitra" panose="00000400000000000000" pitchFamily="2" charset="-78"/>
              </a:rPr>
              <a:t>زمانی دچار لغزش </a:t>
            </a:r>
            <a:r>
              <a:rPr lang="fa-IR" sz="3200" dirty="0" smtClean="0">
                <a:solidFill>
                  <a:srgbClr val="404040"/>
                </a:solidFill>
                <a:latin typeface="BNazanin"/>
                <a:cs typeface="B Mitra" panose="00000400000000000000" pitchFamily="2" charset="-78"/>
              </a:rPr>
              <a:t>می شود </a:t>
            </a:r>
            <a:r>
              <a:rPr lang="fa-IR" sz="3200" dirty="0">
                <a:solidFill>
                  <a:srgbClr val="404040"/>
                </a:solidFill>
                <a:latin typeface="BNazanin"/>
                <a:cs typeface="B Mitra" panose="00000400000000000000" pitchFamily="2" charset="-78"/>
              </a:rPr>
              <a:t>که وظایف پروژه به خوبی مشخص نشده باشد. </a:t>
            </a:r>
            <a:r>
              <a:rPr lang="fa-IR" sz="3200" dirty="0" smtClean="0">
                <a:solidFill>
                  <a:srgbClr val="404040"/>
                </a:solidFill>
                <a:latin typeface="BNazanin"/>
                <a:cs typeface="B Mitra" panose="00000400000000000000" pitchFamily="2" charset="-78"/>
              </a:rPr>
              <a:t>ریسک در </a:t>
            </a:r>
            <a:r>
              <a:rPr lang="fa-IR" sz="3200" dirty="0">
                <a:solidFill>
                  <a:srgbClr val="404040"/>
                </a:solidFill>
                <a:latin typeface="BNazanin"/>
                <a:cs typeface="B Mitra" panose="00000400000000000000" pitchFamily="2" charset="-78"/>
              </a:rPr>
              <a:t>زمانبند اساسا در پروژه و در نهایت بر اقتصاد شرکت اثر </a:t>
            </a:r>
            <a:r>
              <a:rPr lang="fa-IR" sz="3200" dirty="0" smtClean="0">
                <a:solidFill>
                  <a:srgbClr val="404040"/>
                </a:solidFill>
                <a:latin typeface="BNazanin"/>
                <a:cs typeface="B Mitra" panose="00000400000000000000" pitchFamily="2" charset="-78"/>
              </a:rPr>
              <a:t>می گذارد </a:t>
            </a:r>
            <a:r>
              <a:rPr lang="fa-IR" sz="3200" dirty="0">
                <a:solidFill>
                  <a:srgbClr val="404040"/>
                </a:solidFill>
                <a:latin typeface="BNazanin"/>
                <a:cs typeface="B Mitra" panose="00000400000000000000" pitchFamily="2" charset="-78"/>
              </a:rPr>
              <a:t>و منجر به شکست پروژه </a:t>
            </a:r>
            <a:r>
              <a:rPr lang="fa-IR" sz="3200" dirty="0" smtClean="0">
                <a:solidFill>
                  <a:srgbClr val="404040"/>
                </a:solidFill>
                <a:latin typeface="BNazanin"/>
                <a:cs typeface="B Mitra" panose="00000400000000000000" pitchFamily="2" charset="-78"/>
              </a:rPr>
              <a:t>می شود.</a:t>
            </a:r>
            <a:br>
              <a:rPr lang="fa-IR" sz="3200" dirty="0" smtClean="0">
                <a:solidFill>
                  <a:srgbClr val="404040"/>
                </a:solidFill>
                <a:latin typeface="BNazanin"/>
                <a:cs typeface="B Mitra" panose="00000400000000000000" pitchFamily="2" charset="-78"/>
              </a:rPr>
            </a:br>
            <a:r>
              <a:rPr lang="fa-IR" sz="3200" dirty="0">
                <a:solidFill>
                  <a:srgbClr val="404040"/>
                </a:solidFill>
                <a:latin typeface="BNazanin"/>
                <a:cs typeface="B Mitra" panose="00000400000000000000" pitchFamily="2" charset="-78"/>
              </a:rPr>
              <a:t/>
            </a:r>
            <a:br>
              <a:rPr lang="fa-IR" sz="3200" dirty="0">
                <a:solidFill>
                  <a:srgbClr val="404040"/>
                </a:solidFill>
                <a:latin typeface="BNazanin"/>
                <a:cs typeface="B Mitra" panose="00000400000000000000" pitchFamily="2" charset="-78"/>
              </a:rPr>
            </a:br>
            <a:r>
              <a:rPr lang="fa-IR" sz="3200" b="1" dirty="0" smtClean="0">
                <a:solidFill>
                  <a:srgbClr val="404040"/>
                </a:solidFill>
                <a:latin typeface="BNazanin"/>
                <a:cs typeface="B Mitra" panose="00000400000000000000" pitchFamily="2" charset="-78"/>
              </a:rPr>
              <a:t>ریسک </a:t>
            </a:r>
            <a:r>
              <a:rPr lang="fa-IR" sz="3200" b="1" dirty="0">
                <a:solidFill>
                  <a:srgbClr val="404040"/>
                </a:solidFill>
                <a:latin typeface="BNazanin"/>
                <a:cs typeface="B Mitra" panose="00000400000000000000" pitchFamily="2" charset="-78"/>
              </a:rPr>
              <a:t>بودجه</a:t>
            </a:r>
            <a:r>
              <a:rPr lang="fa-IR" sz="3200" dirty="0">
                <a:solidFill>
                  <a:srgbClr val="404040"/>
                </a:solidFill>
                <a:latin typeface="BNazanin"/>
                <a:cs typeface="B Mitra" panose="00000400000000000000" pitchFamily="2" charset="-78"/>
              </a:rPr>
              <a:t>: عبارت است از تخمین اشتباه بودجه، افزایش هزینه و توسعه </a:t>
            </a:r>
            <a:r>
              <a:rPr lang="fa-IR" sz="3200" dirty="0" smtClean="0">
                <a:solidFill>
                  <a:srgbClr val="404040"/>
                </a:solidFill>
                <a:latin typeface="BNazanin"/>
                <a:cs typeface="B Mitra" panose="00000400000000000000" pitchFamily="2" charset="-78"/>
              </a:rPr>
              <a:t>پروژه</a:t>
            </a:r>
            <a:br>
              <a:rPr lang="fa-IR" sz="3200" dirty="0" smtClean="0">
                <a:solidFill>
                  <a:srgbClr val="404040"/>
                </a:solidFill>
                <a:latin typeface="BNazanin"/>
                <a:cs typeface="B Mitra" panose="00000400000000000000" pitchFamily="2" charset="-78"/>
              </a:rPr>
            </a:br>
            <a:r>
              <a:rPr lang="fa-IR" sz="3200" dirty="0">
                <a:solidFill>
                  <a:srgbClr val="404040"/>
                </a:solidFill>
                <a:latin typeface="BNazanin"/>
                <a:cs typeface="B Mitra" panose="00000400000000000000" pitchFamily="2" charset="-78"/>
              </a:rPr>
              <a:t/>
            </a:r>
            <a:br>
              <a:rPr lang="fa-IR" sz="3200" dirty="0">
                <a:solidFill>
                  <a:srgbClr val="404040"/>
                </a:solidFill>
                <a:latin typeface="BNazanin"/>
                <a:cs typeface="B Mitra" panose="00000400000000000000" pitchFamily="2" charset="-78"/>
              </a:rPr>
            </a:br>
            <a:r>
              <a:rPr lang="fa-IR" sz="3200" b="1" dirty="0" smtClean="0">
                <a:solidFill>
                  <a:srgbClr val="404040"/>
                </a:solidFill>
                <a:latin typeface="BNazanin"/>
                <a:cs typeface="B Mitra" panose="00000400000000000000" pitchFamily="2" charset="-78"/>
              </a:rPr>
              <a:t>ریسک </a:t>
            </a:r>
            <a:r>
              <a:rPr lang="fa-IR" sz="3200" b="1" dirty="0">
                <a:solidFill>
                  <a:srgbClr val="404040"/>
                </a:solidFill>
                <a:latin typeface="BNazanin"/>
                <a:cs typeface="B Mitra" panose="00000400000000000000" pitchFamily="2" charset="-78"/>
              </a:rPr>
              <a:t>عملیاتی</a:t>
            </a:r>
            <a:r>
              <a:rPr lang="fa-IR" sz="3200" dirty="0">
                <a:solidFill>
                  <a:srgbClr val="404040"/>
                </a:solidFill>
                <a:latin typeface="BNazanin"/>
                <a:cs typeface="B Mitra" panose="00000400000000000000" pitchFamily="2" charset="-78"/>
              </a:rPr>
              <a:t>: این ریسک منجر به پیاده سازی پروسه نامناسب، شکست سیستم با </a:t>
            </a:r>
            <a:r>
              <a:rPr lang="fa-IR" sz="3200" dirty="0" smtClean="0">
                <a:solidFill>
                  <a:srgbClr val="404040"/>
                </a:solidFill>
                <a:latin typeface="BNazanin"/>
                <a:cs typeface="B Mitra" panose="00000400000000000000" pitchFamily="2" charset="-78"/>
              </a:rPr>
              <a:t>ریسک های </a:t>
            </a:r>
            <a:r>
              <a:rPr lang="fa-IR" sz="3200" dirty="0">
                <a:solidFill>
                  <a:srgbClr val="404040"/>
                </a:solidFill>
                <a:latin typeface="BNazanin"/>
                <a:cs typeface="B Mitra" panose="00000400000000000000" pitchFamily="2" charset="-78"/>
              </a:rPr>
              <a:t>خارجی میشود</a:t>
            </a:r>
            <a:r>
              <a:rPr lang="fa-IR" sz="3200" dirty="0" smtClean="0">
                <a:solidFill>
                  <a:srgbClr val="404040"/>
                </a:solidFill>
                <a:latin typeface="BNazanin"/>
                <a:cs typeface="B Mitra" panose="00000400000000000000" pitchFamily="2" charset="-78"/>
              </a:rPr>
              <a:t>.</a:t>
            </a:r>
            <a:br>
              <a:rPr lang="fa-IR" sz="3200" dirty="0" smtClean="0">
                <a:solidFill>
                  <a:srgbClr val="404040"/>
                </a:solidFill>
                <a:latin typeface="BNazanin"/>
                <a:cs typeface="B Mitra" panose="00000400000000000000" pitchFamily="2" charset="-78"/>
              </a:rPr>
            </a:br>
            <a:r>
              <a:rPr lang="fa-IR" sz="3200" dirty="0">
                <a:solidFill>
                  <a:srgbClr val="404040"/>
                </a:solidFill>
                <a:latin typeface="BNazanin"/>
                <a:cs typeface="B Mitra" panose="00000400000000000000" pitchFamily="2" charset="-78"/>
              </a:rPr>
              <a:t/>
            </a:r>
            <a:br>
              <a:rPr lang="fa-IR" sz="3200" dirty="0">
                <a:solidFill>
                  <a:srgbClr val="404040"/>
                </a:solidFill>
                <a:latin typeface="BNazanin"/>
                <a:cs typeface="B Mitra" panose="00000400000000000000" pitchFamily="2" charset="-78"/>
              </a:rPr>
            </a:br>
            <a:r>
              <a:rPr lang="fa-IR" sz="3200" b="1" dirty="0" smtClean="0">
                <a:solidFill>
                  <a:srgbClr val="404040"/>
                </a:solidFill>
                <a:latin typeface="BNazanin"/>
                <a:cs typeface="B Mitra" panose="00000400000000000000" pitchFamily="2" charset="-78"/>
              </a:rPr>
              <a:t>ریسک </a:t>
            </a:r>
            <a:r>
              <a:rPr lang="fa-IR" sz="3200" b="1" dirty="0">
                <a:solidFill>
                  <a:srgbClr val="404040"/>
                </a:solidFill>
                <a:latin typeface="BNazanin"/>
                <a:cs typeface="B Mitra" panose="00000400000000000000" pitchFamily="2" charset="-78"/>
              </a:rPr>
              <a:t>تکنیکی</a:t>
            </a:r>
            <a:r>
              <a:rPr lang="fa-IR" sz="3200" dirty="0">
                <a:solidFill>
                  <a:srgbClr val="404040"/>
                </a:solidFill>
                <a:latin typeface="BNazanin"/>
                <a:cs typeface="B Mitra" panose="00000400000000000000" pitchFamily="2" charset="-78"/>
              </a:rPr>
              <a:t>: این ریسک منجر به شکست کارایی و عملکرد </a:t>
            </a:r>
            <a:r>
              <a:rPr lang="fa-IR" sz="3200" dirty="0" smtClean="0">
                <a:solidFill>
                  <a:srgbClr val="404040"/>
                </a:solidFill>
                <a:latin typeface="BNazanin"/>
                <a:cs typeface="B Mitra" panose="00000400000000000000" pitchFamily="2" charset="-78"/>
              </a:rPr>
              <a:t>می شود</a:t>
            </a:r>
            <a:r>
              <a:rPr lang="fa-IR" sz="3200" dirty="0">
                <a:solidFill>
                  <a:srgbClr val="404040"/>
                </a:solidFill>
                <a:latin typeface="BNazanin"/>
                <a:cs typeface="B Mitra" panose="00000400000000000000" pitchFamily="2" charset="-78"/>
              </a:rPr>
              <a:t>.</a:t>
            </a:r>
            <a:endParaRPr lang="en-US" sz="4800" dirty="0">
              <a:solidFill>
                <a:schemeClr val="bg1"/>
              </a:solidFill>
              <a:cs typeface="B Mitra" panose="00000400000000000000" pitchFamily="2" charset="-78"/>
            </a:endParaRPr>
          </a:p>
        </p:txBody>
      </p:sp>
    </p:spTree>
    <p:extLst>
      <p:ext uri="{BB962C8B-B14F-4D97-AF65-F5344CB8AC3E}">
        <p14:creationId xmlns:p14="http://schemas.microsoft.com/office/powerpoint/2010/main" val="40600425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429" y="450762"/>
            <a:ext cx="11114466" cy="6104584"/>
          </a:xfrm>
        </p:spPr>
        <p:txBody>
          <a:bodyPr>
            <a:noAutofit/>
          </a:bodyPr>
          <a:lstStyle/>
          <a:p>
            <a:pPr marL="0" marR="0" algn="r" rtl="1">
              <a:lnSpc>
                <a:spcPct val="115000"/>
              </a:lnSpc>
              <a:spcBef>
                <a:spcPts val="1000"/>
              </a:spcBef>
              <a:spcAft>
                <a:spcPts val="0"/>
              </a:spcAft>
            </a:pPr>
            <a:r>
              <a:rPr lang="fa-IR" sz="3200" b="1" dirty="0">
                <a:solidFill>
                  <a:srgbClr val="000000"/>
                </a:solidFill>
                <a:latin typeface="Calisto MT" panose="02040603050505030304" pitchFamily="18" charset="0"/>
                <a:ea typeface="Times New Roman" panose="02020603050405020304" pitchFamily="18" charset="0"/>
                <a:cs typeface="B Zar" panose="00000400000000000000" pitchFamily="2" charset="-78"/>
              </a:rPr>
              <a:t>مورد </a:t>
            </a:r>
            <a:r>
              <a:rPr lang="fa-IR" sz="3200" b="1" dirty="0" smtClean="0">
                <a:solidFill>
                  <a:srgbClr val="000000"/>
                </a:solidFill>
                <a:latin typeface="Calisto MT" panose="02040603050505030304" pitchFamily="18" charset="0"/>
                <a:ea typeface="Times New Roman" panose="02020603050405020304" pitchFamily="18" charset="0"/>
                <a:cs typeface="B Zar" panose="00000400000000000000" pitchFamily="2" charset="-78"/>
              </a:rPr>
              <a:t>آزمون (</a:t>
            </a:r>
            <a:r>
              <a:rPr lang="en-US" sz="3200" b="1" dirty="0" smtClean="0">
                <a:solidFill>
                  <a:srgbClr val="000000"/>
                </a:solidFill>
                <a:latin typeface="Calisto MT" panose="02040603050505030304" pitchFamily="18" charset="0"/>
                <a:ea typeface="Times New Roman" panose="02020603050405020304" pitchFamily="18" charset="0"/>
                <a:cs typeface="B Zar" panose="00000400000000000000" pitchFamily="2" charset="-78"/>
              </a:rPr>
              <a:t>test case</a:t>
            </a:r>
            <a:r>
              <a:rPr lang="fa-IR" sz="3200" b="1" dirty="0" smtClean="0">
                <a:solidFill>
                  <a:srgbClr val="000000"/>
                </a:solidFill>
                <a:latin typeface="Calisto MT" panose="02040603050505030304" pitchFamily="18" charset="0"/>
                <a:ea typeface="Times New Roman" panose="02020603050405020304" pitchFamily="18" charset="0"/>
                <a:cs typeface="B Zar" panose="00000400000000000000" pitchFamily="2" charset="-78"/>
              </a:rPr>
              <a:t>) چیست؟</a:t>
            </a:r>
            <a:br>
              <a:rPr lang="fa-IR" sz="3200" b="1" dirty="0" smtClean="0">
                <a:solidFill>
                  <a:srgbClr val="000000"/>
                </a:solidFill>
                <a:latin typeface="Calisto MT" panose="02040603050505030304" pitchFamily="18" charset="0"/>
                <a:ea typeface="Times New Roman" panose="02020603050405020304" pitchFamily="18" charset="0"/>
                <a:cs typeface="B Zar" panose="00000400000000000000" pitchFamily="2" charset="-78"/>
              </a:rPr>
            </a:br>
            <a:r>
              <a:rPr lang="en-US" sz="3200" b="1" dirty="0" smtClean="0">
                <a:solidFill>
                  <a:srgbClr val="000000"/>
                </a:solidFill>
                <a:latin typeface="Cambria" panose="02040503050406030204" pitchFamily="18" charset="0"/>
                <a:ea typeface="Times New Roman" panose="02020603050405020304" pitchFamily="18" charset="0"/>
                <a:cs typeface="B Zar" panose="00000400000000000000" pitchFamily="2" charset="-78"/>
              </a:rPr>
              <a:t/>
            </a:r>
            <a:br>
              <a:rPr lang="en-US" sz="3200" b="1" dirty="0" smtClean="0">
                <a:solidFill>
                  <a:srgbClr val="000000"/>
                </a:solidFill>
                <a:latin typeface="Cambria" panose="02040503050406030204" pitchFamily="18" charset="0"/>
                <a:ea typeface="Times New Roman" panose="02020603050405020304" pitchFamily="18" charset="0"/>
                <a:cs typeface="B Zar" panose="00000400000000000000" pitchFamily="2" charset="-78"/>
              </a:rPr>
            </a:br>
            <a:r>
              <a:rPr lang="fa-IR"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مورد آزمون </a:t>
            </a:r>
            <a:r>
              <a:rPr lang="ar-SA"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یکی </a:t>
            </a:r>
            <a:r>
              <a:rPr lang="ar-SA" sz="3200" dirty="0">
                <a:solidFill>
                  <a:srgbClr val="333333"/>
                </a:solidFill>
                <a:latin typeface="Tahoma" panose="020B0604030504040204" pitchFamily="34" charset="0"/>
                <a:ea typeface="Calibri" panose="020F0502020204030204" pitchFamily="34" charset="0"/>
                <a:cs typeface="B Nazanin" panose="00000400000000000000" pitchFamily="2" charset="-78"/>
              </a:rPr>
              <a:t>از مباحث مهم در مهندسی نرم افزار می باشد. در زیر سه تعریف از</a:t>
            </a:r>
            <a:r>
              <a:rPr lang="en-US" sz="3200" dirty="0">
                <a:solidFill>
                  <a:srgbClr val="333333"/>
                </a:solidFill>
                <a:latin typeface="Tahoma" panose="020B0604030504040204" pitchFamily="34" charset="0"/>
                <a:ea typeface="Calibri" panose="020F0502020204030204" pitchFamily="34" charset="0"/>
                <a:cs typeface="B Nazanin" panose="00000400000000000000" pitchFamily="2" charset="-78"/>
              </a:rPr>
              <a:t> </a:t>
            </a:r>
            <a:r>
              <a:rPr lang="fa-IR"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مورد آزمون </a:t>
            </a:r>
            <a:r>
              <a:rPr lang="ar-SA"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آمده است</a:t>
            </a:r>
            <a:r>
              <a:rPr lang="fa-IR"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a:t>
            </a:r>
            <a:br>
              <a:rPr lang="fa-IR"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br>
            <a:r>
              <a:rPr lang="en-US"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
            </a:r>
            <a:br>
              <a:rPr lang="en-US"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br>
            <a:r>
              <a:rPr lang="ar-SA" sz="3200" b="1"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تعریف </a:t>
            </a:r>
            <a:r>
              <a:rPr lang="ar-SA" sz="3200" b="1" dirty="0">
                <a:solidFill>
                  <a:srgbClr val="333333"/>
                </a:solidFill>
                <a:latin typeface="Tahoma" panose="020B0604030504040204" pitchFamily="34" charset="0"/>
                <a:ea typeface="Calibri" panose="020F0502020204030204" pitchFamily="34" charset="0"/>
                <a:cs typeface="B Nazanin" panose="00000400000000000000" pitchFamily="2" charset="-78"/>
              </a:rPr>
              <a:t>1 </a:t>
            </a:r>
            <a:r>
              <a:rPr lang="ar-SA" sz="3200" dirty="0">
                <a:solidFill>
                  <a:srgbClr val="333333"/>
                </a:solidFill>
                <a:latin typeface="Tahoma" panose="020B0604030504040204" pitchFamily="34" charset="0"/>
                <a:ea typeface="Calibri" panose="020F0502020204030204" pitchFamily="34" charset="0"/>
                <a:cs typeface="B Nazanin" panose="00000400000000000000" pitchFamily="2" charset="-78"/>
              </a:rPr>
              <a:t>: مجموعه ای از ورودی </a:t>
            </a:r>
            <a:r>
              <a:rPr lang="ar-SA"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ها، </a:t>
            </a:r>
            <a:r>
              <a:rPr lang="ar-SA" sz="3200" dirty="0">
                <a:solidFill>
                  <a:srgbClr val="333333"/>
                </a:solidFill>
                <a:latin typeface="Tahoma" panose="020B0604030504040204" pitchFamily="34" charset="0"/>
                <a:ea typeface="Calibri" panose="020F0502020204030204" pitchFamily="34" charset="0"/>
                <a:cs typeface="B Nazanin" panose="00000400000000000000" pitchFamily="2" charset="-78"/>
              </a:rPr>
              <a:t>شرایط اجرا و نتایج مورد انتظار می باشد که از آن به منظور تست و آزمون یک هدف خاص مثلا اجرای یک برنامه بخصوص و یا بررسی انطباق یک برنامه با یکسری نیاز های خاص استفاده می شود </a:t>
            </a:r>
            <a:r>
              <a:rPr lang="ar-SA"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a:t>
            </a:r>
            <a:r>
              <a:rPr lang="fa-IR"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
            </a:r>
            <a:br>
              <a:rPr lang="fa-IR" sz="32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br>
            <a:r>
              <a:rPr lang="en-US" sz="2400" dirty="0">
                <a:latin typeface="Calibri" panose="020F0502020204030204" pitchFamily="34" charset="0"/>
                <a:ea typeface="Calibri" panose="020F0502020204030204" pitchFamily="34" charset="0"/>
                <a:cs typeface="Arial" panose="020B0604020202020204" pitchFamily="34" charset="0"/>
              </a:rPr>
              <a:t/>
            </a:r>
            <a:br>
              <a:rPr lang="en-US" sz="2400" dirty="0">
                <a:latin typeface="Calibri" panose="020F0502020204030204" pitchFamily="34" charset="0"/>
                <a:ea typeface="Calibri" panose="020F0502020204030204" pitchFamily="34" charset="0"/>
                <a:cs typeface="Arial" panose="020B0604020202020204" pitchFamily="34" charset="0"/>
              </a:rPr>
            </a:br>
            <a:r>
              <a:rPr lang="en-US" sz="2400" dirty="0">
                <a:latin typeface="Calibri" panose="020F0502020204030204" pitchFamily="34" charset="0"/>
                <a:ea typeface="Calibri" panose="020F0502020204030204" pitchFamily="34" charset="0"/>
                <a:cs typeface="Arial" panose="020B0604020202020204" pitchFamily="34" charset="0"/>
              </a:rPr>
              <a:t/>
            </a:r>
            <a:br>
              <a:rPr lang="en-US" sz="2400" dirty="0">
                <a:latin typeface="Calibri" panose="020F0502020204030204" pitchFamily="34" charset="0"/>
                <a:ea typeface="Calibri" panose="020F0502020204030204" pitchFamily="34" charset="0"/>
                <a:cs typeface="Arial" panose="020B0604020202020204" pitchFamily="34" charset="0"/>
              </a:rPr>
            </a:br>
            <a:endParaRPr lang="en-US" sz="4800" dirty="0">
              <a:solidFill>
                <a:schemeClr val="bg1"/>
              </a:solidFill>
              <a:cs typeface="B Mitra" panose="00000400000000000000" pitchFamily="2" charset="-78"/>
            </a:endParaRPr>
          </a:p>
        </p:txBody>
      </p:sp>
    </p:spTree>
    <p:extLst>
      <p:ext uri="{BB962C8B-B14F-4D97-AF65-F5344CB8AC3E}">
        <p14:creationId xmlns:p14="http://schemas.microsoft.com/office/powerpoint/2010/main" val="39886721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429" y="450762"/>
            <a:ext cx="11114466" cy="6104584"/>
          </a:xfrm>
        </p:spPr>
        <p:txBody>
          <a:bodyPr>
            <a:noAutofit/>
          </a:bodyPr>
          <a:lstStyle/>
          <a:p>
            <a:pPr marL="0" marR="0" algn="r" rtl="1">
              <a:lnSpc>
                <a:spcPct val="115000"/>
              </a:lnSpc>
              <a:spcBef>
                <a:spcPts val="1000"/>
              </a:spcBef>
              <a:spcAft>
                <a:spcPts val="0"/>
              </a:spcAft>
            </a:pPr>
            <a:r>
              <a:rPr lang="fa-IR" sz="3200" b="1" dirty="0">
                <a:solidFill>
                  <a:srgbClr val="000000"/>
                </a:solidFill>
                <a:latin typeface="Calisto MT" panose="02040603050505030304" pitchFamily="18" charset="0"/>
                <a:ea typeface="Times New Roman" panose="02020603050405020304" pitchFamily="18" charset="0"/>
                <a:cs typeface="B Zar" panose="00000400000000000000" pitchFamily="2" charset="-78"/>
              </a:rPr>
              <a:t>مورد </a:t>
            </a:r>
            <a:r>
              <a:rPr lang="fa-IR" sz="3200" b="1" dirty="0" smtClean="0">
                <a:solidFill>
                  <a:srgbClr val="000000"/>
                </a:solidFill>
                <a:latin typeface="Calisto MT" panose="02040603050505030304" pitchFamily="18" charset="0"/>
                <a:ea typeface="Times New Roman" panose="02020603050405020304" pitchFamily="18" charset="0"/>
                <a:cs typeface="B Zar" panose="00000400000000000000" pitchFamily="2" charset="-78"/>
              </a:rPr>
              <a:t>آزمون (</a:t>
            </a:r>
            <a:r>
              <a:rPr lang="en-US" sz="3200" b="1" dirty="0" smtClean="0">
                <a:solidFill>
                  <a:srgbClr val="000000"/>
                </a:solidFill>
                <a:latin typeface="Calisto MT" panose="02040603050505030304" pitchFamily="18" charset="0"/>
                <a:ea typeface="Times New Roman" panose="02020603050405020304" pitchFamily="18" charset="0"/>
                <a:cs typeface="B Zar" panose="00000400000000000000" pitchFamily="2" charset="-78"/>
              </a:rPr>
              <a:t>test case</a:t>
            </a:r>
            <a:r>
              <a:rPr lang="fa-IR" sz="3200" b="1" dirty="0" smtClean="0">
                <a:solidFill>
                  <a:srgbClr val="000000"/>
                </a:solidFill>
                <a:latin typeface="Calisto MT" panose="02040603050505030304" pitchFamily="18" charset="0"/>
                <a:ea typeface="Times New Roman" panose="02020603050405020304" pitchFamily="18" charset="0"/>
                <a:cs typeface="B Zar" panose="00000400000000000000" pitchFamily="2" charset="-78"/>
              </a:rPr>
              <a:t>) چیست؟ (ادامه)</a:t>
            </a:r>
            <a:r>
              <a:rPr lang="en-US" sz="3200" b="1" dirty="0">
                <a:solidFill>
                  <a:srgbClr val="000000"/>
                </a:solidFill>
                <a:latin typeface="Cambria" panose="02040503050406030204" pitchFamily="18" charset="0"/>
                <a:ea typeface="Times New Roman" panose="02020603050405020304" pitchFamily="18" charset="0"/>
                <a:cs typeface="B Zar" panose="00000400000000000000" pitchFamily="2" charset="-78"/>
              </a:rPr>
              <a:t/>
            </a:r>
            <a:br>
              <a:rPr lang="en-US" sz="3200" b="1" dirty="0">
                <a:solidFill>
                  <a:srgbClr val="000000"/>
                </a:solidFill>
                <a:latin typeface="Cambria" panose="02040503050406030204" pitchFamily="18" charset="0"/>
                <a:ea typeface="Times New Roman" panose="02020603050405020304" pitchFamily="18" charset="0"/>
                <a:cs typeface="B Zar" panose="00000400000000000000" pitchFamily="2" charset="-78"/>
              </a:rPr>
            </a:br>
            <a:r>
              <a:rPr lang="fa-IR" sz="3200" b="1" dirty="0" smtClean="0">
                <a:solidFill>
                  <a:srgbClr val="000000"/>
                </a:solidFill>
                <a:latin typeface="Cambria" panose="02040503050406030204" pitchFamily="18" charset="0"/>
                <a:ea typeface="Times New Roman" panose="02020603050405020304" pitchFamily="18" charset="0"/>
                <a:cs typeface="B Zar" panose="00000400000000000000" pitchFamily="2" charset="-78"/>
              </a:rPr>
              <a:t/>
            </a:r>
            <a:br>
              <a:rPr lang="fa-IR" sz="3200" b="1" dirty="0" smtClean="0">
                <a:solidFill>
                  <a:srgbClr val="000000"/>
                </a:solidFill>
                <a:latin typeface="Cambria" panose="02040503050406030204" pitchFamily="18" charset="0"/>
                <a:ea typeface="Times New Roman" panose="02020603050405020304" pitchFamily="18" charset="0"/>
                <a:cs typeface="B Zar" panose="00000400000000000000" pitchFamily="2" charset="-78"/>
              </a:rPr>
            </a:br>
            <a:r>
              <a:rPr lang="ar-SA" sz="3200" b="1" dirty="0">
                <a:solidFill>
                  <a:srgbClr val="333333"/>
                </a:solidFill>
                <a:latin typeface="Tahoma" panose="020B0604030504040204" pitchFamily="34" charset="0"/>
                <a:ea typeface="Calibri" panose="020F0502020204030204" pitchFamily="34" charset="0"/>
                <a:cs typeface="B Mitra" panose="00000400000000000000" pitchFamily="2" charset="-78"/>
              </a:rPr>
              <a:t>تعریف 2</a:t>
            </a:r>
            <a:r>
              <a:rPr lang="ar-SA" sz="3200" dirty="0">
                <a:solidFill>
                  <a:srgbClr val="333333"/>
                </a:solidFill>
                <a:latin typeface="Tahoma" panose="020B0604030504040204" pitchFamily="34" charset="0"/>
                <a:ea typeface="Calibri" panose="020F0502020204030204" pitchFamily="34" charset="0"/>
                <a:cs typeface="B Mitra" panose="00000400000000000000" pitchFamily="2" charset="-78"/>
              </a:rPr>
              <a:t> : یک مورد </a:t>
            </a:r>
            <a:r>
              <a:rPr lang="fa-IR" sz="3200" dirty="0">
                <a:solidFill>
                  <a:srgbClr val="333333"/>
                </a:solidFill>
                <a:latin typeface="Tahoma" panose="020B0604030504040204" pitchFamily="34" charset="0"/>
                <a:ea typeface="Calibri" panose="020F0502020204030204" pitchFamily="34" charset="0"/>
                <a:cs typeface="B Mitra" panose="00000400000000000000" pitchFamily="2" charset="-78"/>
              </a:rPr>
              <a:t>آزمون </a:t>
            </a:r>
            <a:r>
              <a:rPr lang="ar-SA" sz="3200" dirty="0">
                <a:solidFill>
                  <a:srgbClr val="333333"/>
                </a:solidFill>
                <a:latin typeface="Tahoma" panose="020B0604030504040204" pitchFamily="34" charset="0"/>
                <a:ea typeface="Calibri" panose="020F0502020204030204" pitchFamily="34" charset="0"/>
                <a:cs typeface="B Mitra" panose="00000400000000000000" pitchFamily="2" charset="-78"/>
              </a:rPr>
              <a:t>یا</a:t>
            </a:r>
            <a:r>
              <a:rPr lang="en-US" sz="3200" dirty="0">
                <a:solidFill>
                  <a:srgbClr val="333333"/>
                </a:solidFill>
                <a:latin typeface="Tahoma" panose="020B0604030504040204" pitchFamily="34" charset="0"/>
                <a:ea typeface="Calibri" panose="020F0502020204030204" pitchFamily="34" charset="0"/>
                <a:cs typeface="B Mitra" panose="00000400000000000000" pitchFamily="2" charset="-78"/>
              </a:rPr>
              <a:t> test case </a:t>
            </a:r>
            <a:r>
              <a:rPr lang="ar-SA" sz="3200" dirty="0">
                <a:solidFill>
                  <a:srgbClr val="333333"/>
                </a:solidFill>
                <a:latin typeface="Tahoma" panose="020B0604030504040204" pitchFamily="34" charset="0"/>
                <a:ea typeface="Calibri" panose="020F0502020204030204" pitchFamily="34" charset="0"/>
                <a:cs typeface="B Mitra" panose="00000400000000000000" pitchFamily="2" charset="-78"/>
              </a:rPr>
              <a:t>یک خلاصه وضعیتی از بعضی از چیزهایی با مواردی هست که باید تست شوند. به عنوان مثال اگر شما در حال آزمایش یک تابع ریشه دوم باشید، یک ایده برای این آزمون" تست اعداد کمتر از صفر" خواهد بود. در واقع ایده ای برای بررسی اینکه آیا یک دسته کد یک مورد خطا ایجاد می کند یا نه</a:t>
            </a:r>
            <a:r>
              <a:rPr lang="ar-SA"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a:t>
            </a:r>
            <a:r>
              <a:rPr lang="fa-IR" sz="24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t/>
            </a:r>
            <a:br>
              <a:rPr lang="fa-IR" sz="2400" dirty="0" smtClean="0">
                <a:solidFill>
                  <a:srgbClr val="333333"/>
                </a:solidFill>
                <a:latin typeface="Tahoma" panose="020B0604030504040204" pitchFamily="34" charset="0"/>
                <a:ea typeface="Calibri" panose="020F0502020204030204" pitchFamily="34" charset="0"/>
                <a:cs typeface="B Nazanin" panose="00000400000000000000" pitchFamily="2" charset="-78"/>
              </a:rPr>
            </a:br>
            <a:r>
              <a:rPr lang="en-US" sz="2400" dirty="0">
                <a:latin typeface="Calibri" panose="020F0502020204030204" pitchFamily="34" charset="0"/>
                <a:ea typeface="Calibri" panose="020F0502020204030204" pitchFamily="34" charset="0"/>
                <a:cs typeface="Arial" panose="020B0604020202020204" pitchFamily="34" charset="0"/>
              </a:rPr>
              <a:t/>
            </a:r>
            <a:br>
              <a:rPr lang="en-US" sz="2400" dirty="0">
                <a:latin typeface="Calibri" panose="020F0502020204030204" pitchFamily="34" charset="0"/>
                <a:ea typeface="Calibri" panose="020F0502020204030204" pitchFamily="34" charset="0"/>
                <a:cs typeface="Arial" panose="020B0604020202020204" pitchFamily="34" charset="0"/>
              </a:rPr>
            </a:br>
            <a:r>
              <a:rPr lang="ar-SA" sz="3200" b="1" dirty="0">
                <a:solidFill>
                  <a:srgbClr val="333333"/>
                </a:solidFill>
                <a:latin typeface="Tahoma" panose="020B0604030504040204" pitchFamily="34" charset="0"/>
                <a:ea typeface="Calibri" panose="020F0502020204030204" pitchFamily="34" charset="0"/>
                <a:cs typeface="B Mitra" panose="00000400000000000000" pitchFamily="2" charset="-78"/>
              </a:rPr>
              <a:t>تعریف</a:t>
            </a:r>
            <a:r>
              <a:rPr lang="ar-SA" sz="3200" dirty="0">
                <a:solidFill>
                  <a:srgbClr val="333333"/>
                </a:solidFill>
                <a:latin typeface="Tahoma" panose="020B0604030504040204" pitchFamily="34" charset="0"/>
                <a:ea typeface="Calibri" panose="020F0502020204030204" pitchFamily="34" charset="0"/>
                <a:cs typeface="B Mitra" panose="00000400000000000000" pitchFamily="2" charset="-78"/>
              </a:rPr>
              <a:t> </a:t>
            </a:r>
            <a:r>
              <a:rPr lang="ar-SA" sz="3200" b="1" dirty="0" smtClean="0">
                <a:solidFill>
                  <a:srgbClr val="333333"/>
                </a:solidFill>
                <a:latin typeface="Tahoma" panose="020B0604030504040204" pitchFamily="34" charset="0"/>
                <a:ea typeface="Calibri" panose="020F0502020204030204" pitchFamily="34" charset="0"/>
                <a:cs typeface="B Mitra" panose="00000400000000000000" pitchFamily="2" charset="-78"/>
              </a:rPr>
              <a:t>3</a:t>
            </a:r>
            <a:r>
              <a:rPr lang="fa-IR" sz="3200" b="1" dirty="0" smtClean="0">
                <a:solidFill>
                  <a:srgbClr val="333333"/>
                </a:solidFill>
                <a:latin typeface="Tahoma" panose="020B0604030504040204" pitchFamily="34" charset="0"/>
                <a:ea typeface="Calibri" panose="020F0502020204030204" pitchFamily="34" charset="0"/>
                <a:cs typeface="B Mitra" panose="00000400000000000000" pitchFamily="2" charset="-78"/>
              </a:rPr>
              <a:t>:</a:t>
            </a:r>
            <a:r>
              <a:rPr lang="en-US"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 </a:t>
            </a:r>
            <a:r>
              <a:rPr lang="fa-IR"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مورد آزمون </a:t>
            </a:r>
            <a:r>
              <a:rPr lang="ar-SA"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ها </a:t>
            </a:r>
            <a:r>
              <a:rPr lang="ar-SA" sz="3200" dirty="0">
                <a:solidFill>
                  <a:srgbClr val="333333"/>
                </a:solidFill>
                <a:latin typeface="Tahoma" panose="020B0604030504040204" pitchFamily="34" charset="0"/>
                <a:ea typeface="Calibri" panose="020F0502020204030204" pitchFamily="34" charset="0"/>
                <a:cs typeface="B Mitra" panose="00000400000000000000" pitchFamily="2" charset="-78"/>
              </a:rPr>
              <a:t>شامل ورودی هایی خاص یا روشهایی هستند که شما برای تست یک نرم </a:t>
            </a:r>
            <a:r>
              <a:rPr lang="ar-SA"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افزار</a:t>
            </a:r>
            <a:r>
              <a:rPr lang="fa-IR"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 </a:t>
            </a:r>
            <a:r>
              <a:rPr lang="ar-SA"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بکار</a:t>
            </a:r>
            <a:r>
              <a:rPr lang="fa-IR"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 </a:t>
            </a:r>
            <a:r>
              <a:rPr lang="ar-SA"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می</a:t>
            </a:r>
            <a:r>
              <a:rPr lang="fa-IR"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 </a:t>
            </a:r>
            <a:r>
              <a:rPr lang="ar-SA" sz="3200" dirty="0" smtClean="0">
                <a:solidFill>
                  <a:srgbClr val="333333"/>
                </a:solidFill>
                <a:latin typeface="Tahoma" panose="020B0604030504040204" pitchFamily="34" charset="0"/>
                <a:ea typeface="Calibri" panose="020F0502020204030204" pitchFamily="34" charset="0"/>
                <a:cs typeface="B Mitra" panose="00000400000000000000" pitchFamily="2" charset="-78"/>
              </a:rPr>
              <a:t>برید</a:t>
            </a:r>
            <a:r>
              <a:rPr lang="ar-SA" sz="3200" dirty="0">
                <a:solidFill>
                  <a:srgbClr val="333333"/>
                </a:solidFill>
                <a:latin typeface="Tahoma" panose="020B0604030504040204" pitchFamily="34" charset="0"/>
                <a:ea typeface="Calibri" panose="020F0502020204030204" pitchFamily="34" charset="0"/>
                <a:cs typeface="B Mitra" panose="00000400000000000000" pitchFamily="2" charset="-78"/>
              </a:rPr>
              <a:t>.</a:t>
            </a:r>
            <a:endParaRPr lang="en-US" sz="4800" dirty="0">
              <a:solidFill>
                <a:schemeClr val="bg1"/>
              </a:solidFill>
              <a:cs typeface="B Mitra" panose="00000400000000000000" pitchFamily="2" charset="-78"/>
            </a:endParaRPr>
          </a:p>
        </p:txBody>
      </p:sp>
    </p:spTree>
    <p:extLst>
      <p:ext uri="{BB962C8B-B14F-4D97-AF65-F5344CB8AC3E}">
        <p14:creationId xmlns:p14="http://schemas.microsoft.com/office/powerpoint/2010/main" val="7728673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429" y="450762"/>
            <a:ext cx="11114466" cy="6104584"/>
          </a:xfrm>
        </p:spPr>
        <p:txBody>
          <a:bodyPr>
            <a:noAutofit/>
          </a:bodyPr>
          <a:lstStyle/>
          <a:p>
            <a:pPr marL="0" marR="0" algn="r" rtl="1">
              <a:lnSpc>
                <a:spcPct val="115000"/>
              </a:lnSpc>
              <a:spcBef>
                <a:spcPts val="1000"/>
              </a:spcBef>
              <a:spcAft>
                <a:spcPts val="0"/>
              </a:spcAft>
            </a:pPr>
            <a:r>
              <a:rPr lang="fa-IR" sz="3200" b="1" dirty="0">
                <a:solidFill>
                  <a:srgbClr val="000000"/>
                </a:solidFill>
                <a:latin typeface="Calisto MT" panose="02040603050505030304" pitchFamily="18" charset="0"/>
                <a:ea typeface="Times New Roman" panose="02020603050405020304" pitchFamily="18" charset="0"/>
                <a:cs typeface="B Zar" panose="00000400000000000000" pitchFamily="2" charset="-78"/>
              </a:rPr>
              <a:t>مورد </a:t>
            </a:r>
            <a:r>
              <a:rPr lang="fa-IR" sz="3200" b="1" dirty="0" smtClean="0">
                <a:solidFill>
                  <a:srgbClr val="000000"/>
                </a:solidFill>
                <a:latin typeface="Calisto MT" panose="02040603050505030304" pitchFamily="18" charset="0"/>
                <a:ea typeface="Times New Roman" panose="02020603050405020304" pitchFamily="18" charset="0"/>
                <a:cs typeface="B Zar" panose="00000400000000000000" pitchFamily="2" charset="-78"/>
              </a:rPr>
              <a:t>آزمون (</a:t>
            </a:r>
            <a:r>
              <a:rPr lang="en-US" sz="3200" b="1" dirty="0" smtClean="0">
                <a:solidFill>
                  <a:srgbClr val="000000"/>
                </a:solidFill>
                <a:latin typeface="Calisto MT" panose="02040603050505030304" pitchFamily="18" charset="0"/>
                <a:ea typeface="Times New Roman" panose="02020603050405020304" pitchFamily="18" charset="0"/>
                <a:cs typeface="B Zar" panose="00000400000000000000" pitchFamily="2" charset="-78"/>
              </a:rPr>
              <a:t>test case</a:t>
            </a:r>
            <a:r>
              <a:rPr lang="fa-IR" sz="3200" b="1" dirty="0" smtClean="0">
                <a:solidFill>
                  <a:srgbClr val="000000"/>
                </a:solidFill>
                <a:latin typeface="Calisto MT" panose="02040603050505030304" pitchFamily="18" charset="0"/>
                <a:ea typeface="Times New Roman" panose="02020603050405020304" pitchFamily="18" charset="0"/>
                <a:cs typeface="B Zar" panose="00000400000000000000" pitchFamily="2" charset="-78"/>
              </a:rPr>
              <a:t>) چیست؟ (ادامه)</a:t>
            </a:r>
            <a:r>
              <a:rPr lang="en-US" sz="3200" b="1" dirty="0">
                <a:solidFill>
                  <a:srgbClr val="000000"/>
                </a:solidFill>
                <a:latin typeface="Cambria" panose="02040503050406030204" pitchFamily="18" charset="0"/>
                <a:ea typeface="Times New Roman" panose="02020603050405020304" pitchFamily="18" charset="0"/>
                <a:cs typeface="B Zar" panose="00000400000000000000" pitchFamily="2" charset="-78"/>
              </a:rPr>
              <a:t/>
            </a:r>
            <a:br>
              <a:rPr lang="en-US" sz="3200" b="1" dirty="0">
                <a:solidFill>
                  <a:srgbClr val="000000"/>
                </a:solidFill>
                <a:latin typeface="Cambria" panose="02040503050406030204" pitchFamily="18" charset="0"/>
                <a:ea typeface="Times New Roman" panose="02020603050405020304" pitchFamily="18" charset="0"/>
                <a:cs typeface="B Zar" panose="00000400000000000000" pitchFamily="2" charset="-78"/>
              </a:rPr>
            </a:br>
            <a:r>
              <a:rPr lang="fa-IR" sz="1100" b="1" dirty="0">
                <a:solidFill>
                  <a:srgbClr val="000000"/>
                </a:solidFill>
                <a:latin typeface="Cambria" panose="02040503050406030204" pitchFamily="18" charset="0"/>
                <a:ea typeface="Times New Roman" panose="02020603050405020304" pitchFamily="18" charset="0"/>
                <a:cs typeface="B Zar" panose="00000400000000000000" pitchFamily="2" charset="-78"/>
              </a:rPr>
              <a:t/>
            </a:r>
            <a:br>
              <a:rPr lang="fa-IR" sz="1100" b="1" dirty="0">
                <a:solidFill>
                  <a:srgbClr val="000000"/>
                </a:solidFill>
                <a:latin typeface="Cambria" panose="02040503050406030204" pitchFamily="18" charset="0"/>
                <a:ea typeface="Times New Roman" panose="02020603050405020304" pitchFamily="18" charset="0"/>
                <a:cs typeface="B Zar" panose="00000400000000000000" pitchFamily="2" charset="-78"/>
              </a:rPr>
            </a:b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یکی از چالش برانگیزترین انتظارات در تست نرم افزار طراحی یک </a:t>
            </a:r>
            <a:r>
              <a:rPr lang="en-US"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test case </a:t>
            </a: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خوب است که یک هنر پیچیده ای بحساب می آید. یک </a:t>
            </a:r>
            <a:r>
              <a:rPr lang="fa-IR" sz="2800" dirty="0" smtClean="0">
                <a:solidFill>
                  <a:srgbClr val="000000"/>
                </a:solidFill>
                <a:latin typeface="Cambria" panose="02040503050406030204" pitchFamily="18" charset="0"/>
                <a:ea typeface="Times New Roman" panose="02020603050405020304" pitchFamily="18" charset="0"/>
                <a:cs typeface="B Mitra" panose="00000400000000000000" pitchFamily="2" charset="-78"/>
              </a:rPr>
              <a:t>مورد آزمون خوب </a:t>
            </a: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را از </a:t>
            </a:r>
            <a:r>
              <a:rPr lang="fa-IR" sz="2800" dirty="0" smtClean="0">
                <a:solidFill>
                  <a:srgbClr val="000000"/>
                </a:solidFill>
                <a:latin typeface="Cambria" panose="02040503050406030204" pitchFamily="18" charset="0"/>
                <a:ea typeface="Times New Roman" panose="02020603050405020304" pitchFamily="18" charset="0"/>
                <a:cs typeface="B Mitra" panose="00000400000000000000" pitchFamily="2" charset="-78"/>
              </a:rPr>
              <a:t>راه های </a:t>
            </a: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گوناگونی می توان ایجاد کرد و به اصطلاح میلیونها راه برای ایجاد آن وجود </a:t>
            </a:r>
            <a:r>
              <a:rPr lang="fa-IR" sz="2800" dirty="0" smtClean="0">
                <a:solidFill>
                  <a:srgbClr val="000000"/>
                </a:solidFill>
                <a:latin typeface="Cambria" panose="02040503050406030204" pitchFamily="18" charset="0"/>
                <a:ea typeface="Times New Roman" panose="02020603050405020304" pitchFamily="18" charset="0"/>
                <a:cs typeface="B Mitra" panose="00000400000000000000" pitchFamily="2" charset="-78"/>
              </a:rPr>
              <a:t>دارد. </a:t>
            </a: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با این مقدمه مشخصات کلی برای ایجاد یک </a:t>
            </a:r>
            <a:r>
              <a:rPr lang="fa-IR" sz="2800" dirty="0" smtClean="0">
                <a:solidFill>
                  <a:srgbClr val="000000"/>
                </a:solidFill>
                <a:latin typeface="Cambria" panose="02040503050406030204" pitchFamily="18" charset="0"/>
                <a:ea typeface="Times New Roman" panose="02020603050405020304" pitchFamily="18" charset="0"/>
                <a:cs typeface="B Mitra" panose="00000400000000000000" pitchFamily="2" charset="-78"/>
              </a:rPr>
              <a:t>مورد آزمون خوب </a:t>
            </a: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در ادامه آمده </a:t>
            </a:r>
            <a:r>
              <a:rPr lang="fa-IR" sz="2800" dirty="0" smtClean="0">
                <a:solidFill>
                  <a:srgbClr val="000000"/>
                </a:solidFill>
                <a:latin typeface="Cambria" panose="02040503050406030204" pitchFamily="18" charset="0"/>
                <a:ea typeface="Times New Roman" panose="02020603050405020304" pitchFamily="18" charset="0"/>
                <a:cs typeface="B Mitra" panose="00000400000000000000" pitchFamily="2" charset="-78"/>
              </a:rPr>
              <a:t>است:</a:t>
            </a:r>
            <a:br>
              <a:rPr lang="fa-IR" sz="2800" dirty="0" smtClean="0">
                <a:solidFill>
                  <a:srgbClr val="000000"/>
                </a:solidFill>
                <a:latin typeface="Cambria" panose="02040503050406030204" pitchFamily="18" charset="0"/>
                <a:ea typeface="Times New Roman" panose="02020603050405020304" pitchFamily="18" charset="0"/>
                <a:cs typeface="B Mitra" panose="00000400000000000000" pitchFamily="2" charset="-78"/>
              </a:rPr>
            </a:br>
            <a:r>
              <a:rPr lang="fa-IR" sz="1050" dirty="0">
                <a:solidFill>
                  <a:srgbClr val="000000"/>
                </a:solidFill>
                <a:latin typeface="Cambria" panose="02040503050406030204" pitchFamily="18" charset="0"/>
                <a:ea typeface="Times New Roman" panose="02020603050405020304" pitchFamily="18" charset="0"/>
                <a:cs typeface="B Mitra" panose="00000400000000000000" pitchFamily="2" charset="-78"/>
              </a:rPr>
              <a:t/>
            </a:r>
            <a:br>
              <a:rPr lang="fa-IR" sz="1050" dirty="0">
                <a:solidFill>
                  <a:srgbClr val="000000"/>
                </a:solidFill>
                <a:latin typeface="Cambria" panose="02040503050406030204" pitchFamily="18" charset="0"/>
                <a:ea typeface="Times New Roman" panose="02020603050405020304" pitchFamily="18" charset="0"/>
                <a:cs typeface="B Mitra" panose="00000400000000000000" pitchFamily="2" charset="-78"/>
              </a:rPr>
            </a:b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الف- قابلیت نگهداری داشته باشد </a:t>
            </a:r>
            <a:b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b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ب- تکرار پذیر باشد</a:t>
            </a:r>
            <a:b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br>
            <a:r>
              <a:rPr lang="fa-IR" sz="2800" dirty="0" smtClean="0">
                <a:solidFill>
                  <a:srgbClr val="000000"/>
                </a:solidFill>
                <a:latin typeface="Cambria" panose="02040503050406030204" pitchFamily="18" charset="0"/>
                <a:ea typeface="Times New Roman" panose="02020603050405020304" pitchFamily="18" charset="0"/>
                <a:cs typeface="B Mitra" panose="00000400000000000000" pitchFamily="2" charset="-78"/>
              </a:rPr>
              <a:t>ج- </a:t>
            </a: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قابل رد یابی باشد </a:t>
            </a:r>
            <a:b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b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د- موثر باشد</a:t>
            </a:r>
            <a:b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br>
            <a:r>
              <a:rPr lang="fa-IR" sz="2800" dirty="0" smtClean="0">
                <a:solidFill>
                  <a:srgbClr val="000000"/>
                </a:solidFill>
                <a:latin typeface="Cambria" panose="02040503050406030204" pitchFamily="18" charset="0"/>
                <a:ea typeface="Times New Roman" panose="02020603050405020304" pitchFamily="18" charset="0"/>
                <a:cs typeface="B Mitra" panose="00000400000000000000" pitchFamily="2" charset="-78"/>
              </a:rPr>
              <a:t>ه- </a:t>
            </a: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بوسیله تسترهای دیگر قابل اجرا باشد</a:t>
            </a:r>
            <a:b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br>
            <a:r>
              <a:rPr lang="fa-IR" sz="2800" dirty="0" smtClean="0">
                <a:solidFill>
                  <a:srgbClr val="000000"/>
                </a:solidFill>
                <a:latin typeface="Cambria" panose="02040503050406030204" pitchFamily="18" charset="0"/>
                <a:ea typeface="Times New Roman" panose="02020603050405020304" pitchFamily="18" charset="0"/>
                <a:cs typeface="B Mitra" panose="00000400000000000000" pitchFamily="2" charset="-78"/>
              </a:rPr>
              <a:t>و- </a:t>
            </a:r>
            <a:r>
              <a:rPr lang="fa-IR" sz="2800" dirty="0">
                <a:solidFill>
                  <a:srgbClr val="000000"/>
                </a:solidFill>
                <a:latin typeface="Cambria" panose="02040503050406030204" pitchFamily="18" charset="0"/>
                <a:ea typeface="Times New Roman" panose="02020603050405020304" pitchFamily="18" charset="0"/>
                <a:cs typeface="B Mitra" panose="00000400000000000000" pitchFamily="2" charset="-78"/>
              </a:rPr>
              <a:t>قابل اطمینان </a:t>
            </a:r>
            <a:r>
              <a:rPr lang="fa-IR" sz="2800" dirty="0" smtClean="0">
                <a:solidFill>
                  <a:srgbClr val="000000"/>
                </a:solidFill>
                <a:latin typeface="Cambria" panose="02040503050406030204" pitchFamily="18" charset="0"/>
                <a:ea typeface="Times New Roman" panose="02020603050405020304" pitchFamily="18" charset="0"/>
                <a:cs typeface="B Mitra" panose="00000400000000000000" pitchFamily="2" charset="-78"/>
              </a:rPr>
              <a:t>باشد</a:t>
            </a:r>
            <a:endParaRPr lang="en-US" sz="4800" dirty="0">
              <a:solidFill>
                <a:schemeClr val="bg1"/>
              </a:solidFill>
              <a:cs typeface="B Mitra" panose="00000400000000000000" pitchFamily="2" charset="-78"/>
            </a:endParaRPr>
          </a:p>
        </p:txBody>
      </p:sp>
    </p:spTree>
    <p:extLst>
      <p:ext uri="{BB962C8B-B14F-4D97-AF65-F5344CB8AC3E}">
        <p14:creationId xmlns:p14="http://schemas.microsoft.com/office/powerpoint/2010/main" val="34742168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429" y="450762"/>
            <a:ext cx="11114466" cy="6104584"/>
          </a:xfrm>
        </p:spPr>
        <p:txBody>
          <a:bodyPr>
            <a:noAutofit/>
          </a:bodyPr>
          <a:lstStyle/>
          <a:p>
            <a:pPr marL="0" marR="0" algn="r" rtl="1">
              <a:lnSpc>
                <a:spcPct val="115000"/>
              </a:lnSpc>
              <a:spcBef>
                <a:spcPts val="1000"/>
              </a:spcBef>
              <a:spcAft>
                <a:spcPts val="0"/>
              </a:spcAft>
            </a:pPr>
            <a:r>
              <a:rPr lang="fa-IR" b="1" dirty="0">
                <a:solidFill>
                  <a:srgbClr val="000000"/>
                </a:solidFill>
                <a:latin typeface="Cambria" panose="02040503050406030204" pitchFamily="18" charset="0"/>
                <a:ea typeface="Times New Roman" panose="02020603050405020304" pitchFamily="18" charset="0"/>
                <a:cs typeface="B Zar" panose="00000400000000000000" pitchFamily="2" charset="-78"/>
              </a:rPr>
              <a:t>خروجی مورد </a:t>
            </a:r>
            <a:r>
              <a:rPr lang="fa-IR" b="1" dirty="0" smtClean="0">
                <a:solidFill>
                  <a:srgbClr val="000000"/>
                </a:solidFill>
                <a:latin typeface="Cambria" panose="02040503050406030204" pitchFamily="18" charset="0"/>
                <a:ea typeface="Times New Roman" panose="02020603050405020304" pitchFamily="18" charset="0"/>
                <a:cs typeface="B Zar" panose="00000400000000000000" pitchFamily="2" charset="-78"/>
              </a:rPr>
              <a:t>انتظار:</a:t>
            </a:r>
            <a:r>
              <a:rPr lang="fa-IR" sz="3200" b="1" dirty="0" smtClean="0">
                <a:solidFill>
                  <a:srgbClr val="000000"/>
                </a:solidFill>
                <a:latin typeface="Cambria" panose="02040503050406030204" pitchFamily="18" charset="0"/>
                <a:ea typeface="Times New Roman" panose="02020603050405020304" pitchFamily="18" charset="0"/>
                <a:cs typeface="B Zar" panose="00000400000000000000" pitchFamily="2" charset="-78"/>
              </a:rPr>
              <a:t/>
            </a:r>
            <a:br>
              <a:rPr lang="fa-IR" sz="3200" b="1" dirty="0" smtClean="0">
                <a:solidFill>
                  <a:srgbClr val="000000"/>
                </a:solidFill>
                <a:latin typeface="Cambria" panose="02040503050406030204" pitchFamily="18" charset="0"/>
                <a:ea typeface="Times New Roman" panose="02020603050405020304" pitchFamily="18" charset="0"/>
                <a:cs typeface="B Zar" panose="00000400000000000000" pitchFamily="2" charset="-78"/>
              </a:rPr>
            </a:br>
            <a:r>
              <a:rPr lang="fa-IR" sz="3200" b="1" dirty="0">
                <a:solidFill>
                  <a:srgbClr val="000000"/>
                </a:solidFill>
                <a:latin typeface="Cambria" panose="02040503050406030204" pitchFamily="18" charset="0"/>
                <a:ea typeface="Times New Roman" panose="02020603050405020304" pitchFamily="18" charset="0"/>
                <a:cs typeface="B Zar" panose="00000400000000000000" pitchFamily="2" charset="-78"/>
              </a:rPr>
              <a:t/>
            </a:r>
            <a:br>
              <a:rPr lang="fa-IR" sz="3200" b="1" dirty="0">
                <a:solidFill>
                  <a:srgbClr val="000000"/>
                </a:solidFill>
                <a:latin typeface="Cambria" panose="02040503050406030204" pitchFamily="18" charset="0"/>
                <a:ea typeface="Times New Roman" panose="02020603050405020304" pitchFamily="18" charset="0"/>
                <a:cs typeface="B Zar" panose="00000400000000000000" pitchFamily="2" charset="-78"/>
              </a:rPr>
            </a:br>
            <a:r>
              <a:rPr lang="fa-IR" sz="3200" dirty="0">
                <a:solidFill>
                  <a:srgbClr val="000000"/>
                </a:solidFill>
                <a:latin typeface="Cambria" panose="02040503050406030204" pitchFamily="18" charset="0"/>
                <a:ea typeface="Times New Roman" panose="02020603050405020304" pitchFamily="18" charset="0"/>
                <a:cs typeface="B Zar" panose="00000400000000000000" pitchFamily="2" charset="-78"/>
              </a:rPr>
              <a:t>روش های گوناگونی در جهت تست یک محصول نرم افزاری وجود دارد و هر نوع از این تست ها برای بررسی یک جز خاص از نرم افزار مورد استفاده قرار می گیرند . در حالت کلی باید بیان کرد که زمانی که از یک نوع تست استفاده می کنیم و برای آن یک </a:t>
            </a:r>
            <a:r>
              <a:rPr lang="en-US" sz="3200" dirty="0">
                <a:solidFill>
                  <a:srgbClr val="000000"/>
                </a:solidFill>
                <a:latin typeface="Cambria" panose="02040503050406030204" pitchFamily="18" charset="0"/>
                <a:ea typeface="Times New Roman" panose="02020603050405020304" pitchFamily="18" charset="0"/>
                <a:cs typeface="B Zar" panose="00000400000000000000" pitchFamily="2" charset="-78"/>
              </a:rPr>
              <a:t>test case </a:t>
            </a:r>
            <a:r>
              <a:rPr lang="fa-IR" sz="3200" dirty="0">
                <a:solidFill>
                  <a:srgbClr val="000000"/>
                </a:solidFill>
                <a:latin typeface="Cambria" panose="02040503050406030204" pitchFamily="18" charset="0"/>
                <a:ea typeface="Times New Roman" panose="02020603050405020304" pitchFamily="18" charset="0"/>
                <a:cs typeface="B Zar" panose="00000400000000000000" pitchFamily="2" charset="-78"/>
              </a:rPr>
              <a:t>در نظر می </a:t>
            </a:r>
            <a:r>
              <a:rPr lang="fa-IR" sz="3200" dirty="0" smtClean="0">
                <a:solidFill>
                  <a:srgbClr val="000000"/>
                </a:solidFill>
                <a:latin typeface="Cambria" panose="02040503050406030204" pitchFamily="18" charset="0"/>
                <a:ea typeface="Times New Roman" panose="02020603050405020304" pitchFamily="18" charset="0"/>
                <a:cs typeface="B Zar" panose="00000400000000000000" pitchFamily="2" charset="-78"/>
              </a:rPr>
              <a:t>گیریم، با </a:t>
            </a:r>
            <a:r>
              <a:rPr lang="fa-IR" sz="3200" dirty="0">
                <a:solidFill>
                  <a:srgbClr val="000000"/>
                </a:solidFill>
                <a:latin typeface="Cambria" panose="02040503050406030204" pitchFamily="18" charset="0"/>
                <a:ea typeface="Times New Roman" panose="02020603050405020304" pitchFamily="18" charset="0"/>
                <a:cs typeface="B Zar" panose="00000400000000000000" pitchFamily="2" charset="-78"/>
              </a:rPr>
              <a:t>توجه به طراحی نرم افزار انتظار داریم که خروجی تست با خروجی مد نظر ما یکی باشد تا بنا را بر صحت محصول نرم افزاری بگذاریم .</a:t>
            </a:r>
            <a:br>
              <a:rPr lang="fa-IR" sz="3200" dirty="0">
                <a:solidFill>
                  <a:srgbClr val="000000"/>
                </a:solidFill>
                <a:latin typeface="Cambria" panose="02040503050406030204" pitchFamily="18" charset="0"/>
                <a:ea typeface="Times New Roman" panose="02020603050405020304" pitchFamily="18" charset="0"/>
                <a:cs typeface="B Zar" panose="00000400000000000000" pitchFamily="2" charset="-78"/>
              </a:rPr>
            </a:br>
            <a:r>
              <a:rPr lang="fa-IR" sz="3200" dirty="0">
                <a:solidFill>
                  <a:srgbClr val="000000"/>
                </a:solidFill>
                <a:latin typeface="Cambria" panose="02040503050406030204" pitchFamily="18" charset="0"/>
                <a:ea typeface="Times New Roman" panose="02020603050405020304" pitchFamily="18" charset="0"/>
                <a:cs typeface="B Zar" panose="00000400000000000000" pitchFamily="2" charset="-78"/>
              </a:rPr>
              <a:t>در واقع این خروجی مورد انتظار بر اساس طراحی های انجام شده در نظر گرفته شده است و انتظار می رود که محصول با نشان دادن خروجی مورد </a:t>
            </a:r>
            <a:r>
              <a:rPr lang="fa-IR" sz="3200" dirty="0" smtClean="0">
                <a:solidFill>
                  <a:srgbClr val="000000"/>
                </a:solidFill>
                <a:latin typeface="Cambria" panose="02040503050406030204" pitchFamily="18" charset="0"/>
                <a:ea typeface="Times New Roman" panose="02020603050405020304" pitchFamily="18" charset="0"/>
                <a:cs typeface="B Zar" panose="00000400000000000000" pitchFamily="2" charset="-78"/>
              </a:rPr>
              <a:t>انتظار، </a:t>
            </a:r>
            <a:r>
              <a:rPr lang="fa-IR" sz="3200" dirty="0">
                <a:solidFill>
                  <a:srgbClr val="000000"/>
                </a:solidFill>
                <a:latin typeface="Cambria" panose="02040503050406030204" pitchFamily="18" charset="0"/>
                <a:ea typeface="Times New Roman" panose="02020603050405020304" pitchFamily="18" charset="0"/>
                <a:cs typeface="B Zar" panose="00000400000000000000" pitchFamily="2" charset="-78"/>
              </a:rPr>
              <a:t>درستی خود را تایید کند </a:t>
            </a:r>
            <a:r>
              <a:rPr lang="fa-IR" sz="3200" dirty="0" smtClean="0">
                <a:solidFill>
                  <a:srgbClr val="000000"/>
                </a:solidFill>
                <a:latin typeface="Cambria" panose="02040503050406030204" pitchFamily="18" charset="0"/>
                <a:ea typeface="Times New Roman" panose="02020603050405020304" pitchFamily="18" charset="0"/>
                <a:cs typeface="B Zar" panose="00000400000000000000" pitchFamily="2" charset="-78"/>
              </a:rPr>
              <a:t>.</a:t>
            </a:r>
            <a:endParaRPr lang="en-US" sz="4800" dirty="0">
              <a:solidFill>
                <a:schemeClr val="bg1"/>
              </a:solidFill>
              <a:cs typeface="B Mitra" panose="00000400000000000000" pitchFamily="2" charset="-78"/>
            </a:endParaRPr>
          </a:p>
        </p:txBody>
      </p:sp>
    </p:spTree>
    <p:extLst>
      <p:ext uri="{BB962C8B-B14F-4D97-AF65-F5344CB8AC3E}">
        <p14:creationId xmlns:p14="http://schemas.microsoft.com/office/powerpoint/2010/main" val="23867762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0762"/>
            <a:ext cx="11706895" cy="6104584"/>
          </a:xfrm>
        </p:spPr>
        <p:txBody>
          <a:bodyPr>
            <a:noAutofit/>
          </a:bodyPr>
          <a:lstStyle/>
          <a:p>
            <a:pPr algn="r" rtl="1"/>
            <a:r>
              <a:rPr lang="fa-IR" b="1" dirty="0">
                <a:solidFill>
                  <a:schemeClr val="bg1"/>
                </a:solidFill>
                <a:cs typeface="B Mitra" panose="00000400000000000000" pitchFamily="2" charset="-78"/>
              </a:rPr>
              <a:t>مفهوم تست </a:t>
            </a:r>
            <a:r>
              <a:rPr lang="fa-IR" b="1" dirty="0" smtClean="0">
                <a:solidFill>
                  <a:schemeClr val="bg1"/>
                </a:solidFill>
                <a:cs typeface="B Mitra" panose="00000400000000000000" pitchFamily="2" charset="-78"/>
              </a:rPr>
              <a:t>کامل</a:t>
            </a:r>
            <a:br>
              <a:rPr lang="fa-IR" b="1" dirty="0" smtClean="0">
                <a:solidFill>
                  <a:schemeClr val="bg1"/>
                </a:solidFill>
                <a:cs typeface="B Mitra" panose="00000400000000000000" pitchFamily="2" charset="-78"/>
              </a:rPr>
            </a:br>
            <a:r>
              <a:rPr lang="en-US" b="1" dirty="0">
                <a:solidFill>
                  <a:schemeClr val="bg1"/>
                </a:solidFill>
                <a:cs typeface="B Mitra" panose="00000400000000000000" pitchFamily="2" charset="-78"/>
              </a:rPr>
              <a:t/>
            </a:r>
            <a:br>
              <a:rPr lang="en-US" b="1" dirty="0">
                <a:solidFill>
                  <a:schemeClr val="bg1"/>
                </a:solidFill>
                <a:cs typeface="B Mitra" panose="00000400000000000000" pitchFamily="2" charset="-78"/>
              </a:rPr>
            </a:br>
            <a:r>
              <a:rPr lang="ar-SA" dirty="0">
                <a:solidFill>
                  <a:schemeClr val="bg1"/>
                </a:solidFill>
                <a:cs typeface="B Mitra" panose="00000400000000000000" pitchFamily="2" charset="-78"/>
              </a:rPr>
              <a:t>تست کامل به معنی بررسی تمام و کمال محصول است .این تست تا زمانی که تمام اشکالات بر طرف شوند ادامه می یابد . تست کامل در معانی زیر نیز به کار می رود </a:t>
            </a:r>
            <a:r>
              <a:rPr lang="ar-SA" dirty="0" smtClean="0">
                <a:solidFill>
                  <a:schemeClr val="bg1"/>
                </a:solidFill>
                <a:cs typeface="B Mitra" panose="00000400000000000000" pitchFamily="2" charset="-78"/>
              </a:rPr>
              <a:t>:</a:t>
            </a:r>
            <a:r>
              <a:rPr lang="fa-IR" dirty="0" smtClean="0">
                <a:solidFill>
                  <a:schemeClr val="bg1"/>
                </a:solidFill>
                <a:cs typeface="B Mitra" panose="00000400000000000000" pitchFamily="2" charset="-78"/>
              </a:rPr>
              <a:t/>
            </a:r>
            <a:br>
              <a:rPr lang="fa-IR" dirty="0" smtClean="0">
                <a:solidFill>
                  <a:schemeClr val="bg1"/>
                </a:solidFill>
                <a:cs typeface="B Mitra" panose="00000400000000000000" pitchFamily="2" charset="-78"/>
              </a:rPr>
            </a:br>
            <a:r>
              <a:rPr lang="en-US" dirty="0">
                <a:solidFill>
                  <a:schemeClr val="bg1"/>
                </a:solidFill>
                <a:cs typeface="B Mitra" panose="00000400000000000000" pitchFamily="2" charset="-78"/>
              </a:rPr>
              <a:t/>
            </a:r>
            <a:br>
              <a:rPr lang="en-US" dirty="0">
                <a:solidFill>
                  <a:schemeClr val="bg1"/>
                </a:solidFill>
                <a:cs typeface="B Mitra" panose="00000400000000000000" pitchFamily="2" charset="-78"/>
              </a:rPr>
            </a:br>
            <a:r>
              <a:rPr lang="ar-SA" dirty="0">
                <a:solidFill>
                  <a:schemeClr val="bg1"/>
                </a:solidFill>
                <a:cs typeface="B Mitra" panose="00000400000000000000" pitchFamily="2" charset="-78"/>
              </a:rPr>
              <a:t>1) تکمیل کشف هر اشکالی در محصول </a:t>
            </a:r>
            <a:r>
              <a:rPr lang="en-US" dirty="0">
                <a:solidFill>
                  <a:schemeClr val="bg1"/>
                </a:solidFill>
                <a:cs typeface="B Mitra" panose="00000400000000000000" pitchFamily="2" charset="-78"/>
              </a:rPr>
              <a:t/>
            </a:r>
            <a:br>
              <a:rPr lang="en-US" dirty="0">
                <a:solidFill>
                  <a:schemeClr val="bg1"/>
                </a:solidFill>
                <a:cs typeface="B Mitra" panose="00000400000000000000" pitchFamily="2" charset="-78"/>
              </a:rPr>
            </a:br>
            <a:r>
              <a:rPr lang="ar-SA" dirty="0">
                <a:solidFill>
                  <a:schemeClr val="bg1"/>
                </a:solidFill>
                <a:cs typeface="B Mitra" panose="00000400000000000000" pitchFamily="2" charset="-78"/>
              </a:rPr>
              <a:t>2)  بررسی کامل هر جنبه از محصول</a:t>
            </a:r>
            <a:r>
              <a:rPr lang="en-US" dirty="0">
                <a:solidFill>
                  <a:schemeClr val="bg1"/>
                </a:solidFill>
                <a:cs typeface="B Mitra" panose="00000400000000000000" pitchFamily="2" charset="-78"/>
              </a:rPr>
              <a:t> </a:t>
            </a:r>
            <a:br>
              <a:rPr lang="en-US" dirty="0">
                <a:solidFill>
                  <a:schemeClr val="bg1"/>
                </a:solidFill>
                <a:cs typeface="B Mitra" panose="00000400000000000000" pitchFamily="2" charset="-78"/>
              </a:rPr>
            </a:br>
            <a:r>
              <a:rPr lang="ar-SA" dirty="0">
                <a:solidFill>
                  <a:schemeClr val="bg1"/>
                </a:solidFill>
                <a:cs typeface="B Mitra" panose="00000400000000000000" pitchFamily="2" charset="-78"/>
              </a:rPr>
              <a:t>3) تکمیل آزمایش که فکر می کنید مفید و مقرون به صرفه برای انجام در این زمان است</a:t>
            </a:r>
            <a:r>
              <a:rPr lang="en-US" dirty="0">
                <a:solidFill>
                  <a:schemeClr val="bg1"/>
                </a:solidFill>
                <a:cs typeface="B Mitra" panose="00000400000000000000" pitchFamily="2" charset="-78"/>
              </a:rPr>
              <a:t>. </a:t>
            </a:r>
            <a:br>
              <a:rPr lang="en-US" dirty="0">
                <a:solidFill>
                  <a:schemeClr val="bg1"/>
                </a:solidFill>
                <a:cs typeface="B Mitra" panose="00000400000000000000" pitchFamily="2" charset="-78"/>
              </a:rPr>
            </a:br>
            <a:r>
              <a:rPr lang="en-US" dirty="0">
                <a:solidFill>
                  <a:schemeClr val="bg1"/>
                </a:solidFill>
                <a:cs typeface="B Mitra" panose="00000400000000000000" pitchFamily="2" charset="-78"/>
              </a:rPr>
              <a:t> </a:t>
            </a:r>
            <a:r>
              <a:rPr lang="ar-SA" dirty="0">
                <a:solidFill>
                  <a:schemeClr val="bg1"/>
                </a:solidFill>
                <a:cs typeface="B Mitra" panose="00000400000000000000" pitchFamily="2" charset="-78"/>
              </a:rPr>
              <a:t>4) اهداف بیان شده در پروژه به طور کامل بر آورده شود. </a:t>
            </a:r>
            <a:r>
              <a:rPr lang="en-US" dirty="0">
                <a:solidFill>
                  <a:schemeClr val="bg1"/>
                </a:solidFill>
                <a:cs typeface="B Mitra" panose="00000400000000000000" pitchFamily="2" charset="-78"/>
              </a:rPr>
              <a:t/>
            </a:r>
            <a:br>
              <a:rPr lang="en-US" dirty="0">
                <a:solidFill>
                  <a:schemeClr val="bg1"/>
                </a:solidFill>
                <a:cs typeface="B Mitra" panose="00000400000000000000" pitchFamily="2" charset="-78"/>
              </a:rPr>
            </a:br>
            <a:r>
              <a:rPr lang="en-US" dirty="0">
                <a:solidFill>
                  <a:schemeClr val="bg1"/>
                </a:solidFill>
                <a:cs typeface="B Mitra" panose="00000400000000000000" pitchFamily="2" charset="-78"/>
              </a:rPr>
              <a:t> </a:t>
            </a:r>
            <a:r>
              <a:rPr lang="ar-SA" dirty="0">
                <a:solidFill>
                  <a:schemeClr val="bg1"/>
                </a:solidFill>
                <a:cs typeface="B Mitra" panose="00000400000000000000" pitchFamily="2" charset="-78"/>
              </a:rPr>
              <a:t>5) تکمیل توافق </a:t>
            </a:r>
            <a:r>
              <a:rPr lang="fa-IR" dirty="0" smtClean="0">
                <a:solidFill>
                  <a:schemeClr val="bg1"/>
                </a:solidFill>
                <a:cs typeface="B Mitra" panose="00000400000000000000" pitchFamily="2" charset="-78"/>
              </a:rPr>
              <a:t>آزمون</a:t>
            </a:r>
            <a:endParaRPr lang="en-US" sz="4800" dirty="0">
              <a:solidFill>
                <a:schemeClr val="bg1"/>
              </a:solidFill>
              <a:cs typeface="B Mitra" panose="00000400000000000000" pitchFamily="2" charset="-78"/>
            </a:endParaRPr>
          </a:p>
        </p:txBody>
      </p:sp>
    </p:spTree>
    <p:extLst>
      <p:ext uri="{BB962C8B-B14F-4D97-AF65-F5344CB8AC3E}">
        <p14:creationId xmlns:p14="http://schemas.microsoft.com/office/powerpoint/2010/main" val="21409696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b="1" dirty="0" smtClean="0">
                <a:solidFill>
                  <a:schemeClr val="bg1"/>
                </a:solidFill>
                <a:cs typeface="B Mitra" panose="00000400000000000000" pitchFamily="2" charset="-78"/>
              </a:rPr>
              <a:t>اصول </a:t>
            </a:r>
            <a:r>
              <a:rPr lang="fa-IR" b="1" dirty="0">
                <a:solidFill>
                  <a:schemeClr val="bg1"/>
                </a:solidFill>
                <a:cs typeface="B Mitra" panose="00000400000000000000" pitchFamily="2" charset="-78"/>
              </a:rPr>
              <a:t>اساسی تست نرم </a:t>
            </a:r>
            <a:r>
              <a:rPr lang="fa-IR" b="1" dirty="0" smtClean="0">
                <a:solidFill>
                  <a:schemeClr val="bg1"/>
                </a:solidFill>
                <a:cs typeface="B Mitra" panose="00000400000000000000" pitchFamily="2" charset="-78"/>
              </a:rPr>
              <a:t>افزار:</a:t>
            </a:r>
            <a:br>
              <a:rPr lang="fa-IR" b="1" dirty="0" smtClean="0">
                <a:solidFill>
                  <a:schemeClr val="bg1"/>
                </a:solidFill>
                <a:cs typeface="B Mitra" panose="00000400000000000000" pitchFamily="2" charset="-78"/>
              </a:rPr>
            </a:br>
            <a:r>
              <a:rPr lang="fa-IR" b="1" dirty="0">
                <a:solidFill>
                  <a:schemeClr val="bg1"/>
                </a:solidFill>
                <a:cs typeface="B Mitra" panose="00000400000000000000" pitchFamily="2" charset="-78"/>
              </a:rPr>
              <a:t/>
            </a:r>
            <a:br>
              <a:rPr lang="fa-IR" b="1" dirty="0">
                <a:solidFill>
                  <a:schemeClr val="bg1"/>
                </a:solidFill>
                <a:cs typeface="B Mitra" panose="00000400000000000000" pitchFamily="2" charset="-78"/>
              </a:rPr>
            </a:br>
            <a:r>
              <a:rPr lang="fa-IR" dirty="0">
                <a:solidFill>
                  <a:schemeClr val="bg1"/>
                </a:solidFill>
                <a:cs typeface="B Mitra" panose="00000400000000000000" pitchFamily="2" charset="-78"/>
              </a:rPr>
              <a:t>طراحی نرم افزار بدون رعایت اصول مهندسی نرم افزارهمانند ساخت خانه بدون نقشه استاندارد و مهندسی شده است! متاسفانه در بسیاری از شرکت‌های تولید کننده نرم افزار جهت تولید محصولات نرم افزاری اصول مهندسی را رعایت نمی‌کنند ویا تعدادی از مراحل مخصوصا مرحله تست را از چرخه تولید نرم افزار خارج می‌کنند. این امر باعث کاهش قیمت تولیدی نرم افزار می‌شود اما هزینه پشتیبانی و نگهداری آن را چندین برابر می‌کند. چراکه بسیاری از ایرادهای برنامه در مرحله تست برطرف نمی‌شوند.</a:t>
            </a:r>
            <a:r>
              <a:rPr lang="fa-IR" b="1" dirty="0">
                <a:solidFill>
                  <a:schemeClr val="bg1"/>
                </a:solidFill>
                <a:cs typeface="B Mitra" panose="00000400000000000000" pitchFamily="2" charset="-78"/>
              </a:rPr>
              <a:t/>
            </a:r>
            <a:br>
              <a:rPr lang="fa-IR" b="1" dirty="0">
                <a:solidFill>
                  <a:schemeClr val="bg1"/>
                </a:solidFill>
                <a:cs typeface="B Mitra" panose="00000400000000000000" pitchFamily="2" charset="-78"/>
              </a:rPr>
            </a:br>
            <a:r>
              <a:rPr lang="fa-IR" dirty="0" smtClean="0">
                <a:solidFill>
                  <a:schemeClr val="bg1"/>
                </a:solidFill>
                <a:cs typeface="B Mitra" panose="00000400000000000000" pitchFamily="2" charset="-78"/>
              </a:rPr>
              <a:t/>
            </a:r>
            <a:br>
              <a:rPr lang="fa-IR" dirty="0" smtClean="0">
                <a:solidFill>
                  <a:schemeClr val="bg1"/>
                </a:solidFill>
                <a:cs typeface="B Mitra" panose="00000400000000000000" pitchFamily="2" charset="-78"/>
              </a:rPr>
            </a:br>
            <a:endParaRPr lang="en-US" sz="5400" dirty="0">
              <a:solidFill>
                <a:schemeClr val="bg1"/>
              </a:solidFill>
              <a:cs typeface="B Mitra" panose="00000400000000000000" pitchFamily="2" charset="-78"/>
            </a:endParaRPr>
          </a:p>
        </p:txBody>
      </p:sp>
    </p:spTree>
    <p:extLst>
      <p:ext uri="{BB962C8B-B14F-4D97-AF65-F5344CB8AC3E}">
        <p14:creationId xmlns:p14="http://schemas.microsoft.com/office/powerpoint/2010/main" val="21167549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2" y="1"/>
            <a:ext cx="11513711" cy="6645498"/>
          </a:xfrm>
        </p:spPr>
        <p:txBody>
          <a:bodyPr>
            <a:noAutofit/>
          </a:bodyPr>
          <a:lstStyle/>
          <a:p>
            <a:pPr lvl="2" algn="r" defTabSz="457200" rtl="1">
              <a:spcBef>
                <a:spcPct val="0"/>
              </a:spcBef>
            </a:pPr>
            <a:r>
              <a:rPr lang="fa-IR" sz="2400" b="1" dirty="0" smtClean="0">
                <a:solidFill>
                  <a:schemeClr val="bg1"/>
                </a:solidFill>
                <a:cs typeface="B Mitra" panose="00000400000000000000" pitchFamily="2" charset="-78"/>
              </a:rPr>
              <a:t>اصول اساسی تست نرم افزار (ادامه):</a:t>
            </a:r>
            <a:br>
              <a:rPr lang="fa-IR" sz="2400" b="1"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
            </a:r>
            <a:br>
              <a:rPr lang="fa-IR" sz="2400"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مهندس نرم افزار پیش از اعمال روش‌ها در خصوص موارد تست، بایستی اصول اساسی که تست نرم افزار را هدایت می‌کند، درک کند. مجموعه‌ای از این اصول عبارتند از:</a:t>
            </a:r>
            <a:br>
              <a:rPr lang="fa-IR" sz="2400"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
            </a:r>
            <a:br>
              <a:rPr lang="fa-IR" sz="2400"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1. تست با توجه به نیازمندی‌های کاربر</a:t>
            </a:r>
            <a:br>
              <a:rPr lang="fa-IR" sz="2400"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2. برنامه ریزی قبل از اجرا</a:t>
            </a:r>
            <a:r>
              <a:rPr lang="fa-IR" sz="2400" dirty="0">
                <a:solidFill>
                  <a:schemeClr val="bg1"/>
                </a:solidFill>
                <a:cs typeface="B Mitra" panose="00000400000000000000" pitchFamily="2" charset="-78"/>
              </a:rPr>
              <a:t/>
            </a:r>
            <a:br>
              <a:rPr lang="fa-IR" sz="2400" dirty="0">
                <a:solidFill>
                  <a:schemeClr val="bg1"/>
                </a:solidFill>
                <a:cs typeface="B Mitra" panose="00000400000000000000" pitchFamily="2" charset="-78"/>
              </a:rPr>
            </a:br>
            <a:r>
              <a:rPr lang="fa-IR" sz="2400" dirty="0" smtClean="0">
                <a:solidFill>
                  <a:schemeClr val="bg1"/>
                </a:solidFill>
                <a:cs typeface="B Mitra" panose="00000400000000000000" pitchFamily="2" charset="-78"/>
              </a:rPr>
              <a:t>3. قانون پارتو</a:t>
            </a:r>
            <a:br>
              <a:rPr lang="fa-IR" sz="2400"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4. شروع </a:t>
            </a:r>
            <a:r>
              <a:rPr lang="fa-IR" sz="2400" dirty="0">
                <a:solidFill>
                  <a:schemeClr val="bg1"/>
                </a:solidFill>
                <a:cs typeface="B Mitra" panose="00000400000000000000" pitchFamily="2" charset="-78"/>
              </a:rPr>
              <a:t>تست از اجزای کوچک </a:t>
            </a:r>
            <a:br>
              <a:rPr lang="fa-IR" sz="2400" dirty="0">
                <a:solidFill>
                  <a:schemeClr val="bg1"/>
                </a:solidFill>
                <a:cs typeface="B Mitra" panose="00000400000000000000" pitchFamily="2" charset="-78"/>
              </a:rPr>
            </a:br>
            <a:r>
              <a:rPr lang="fa-IR" sz="2400" dirty="0" smtClean="0">
                <a:solidFill>
                  <a:schemeClr val="bg1"/>
                </a:solidFill>
                <a:cs typeface="B Mitra" panose="00000400000000000000" pitchFamily="2" charset="-78"/>
              </a:rPr>
              <a:t>5. تست </a:t>
            </a:r>
            <a:r>
              <a:rPr lang="fa-IR" sz="2400" dirty="0">
                <a:solidFill>
                  <a:schemeClr val="bg1"/>
                </a:solidFill>
                <a:cs typeface="B Mitra" panose="00000400000000000000" pitchFamily="2" charset="-78"/>
              </a:rPr>
              <a:t>کامل </a:t>
            </a:r>
            <a:r>
              <a:rPr lang="fa-IR" sz="2400" dirty="0" smtClean="0">
                <a:solidFill>
                  <a:schemeClr val="bg1"/>
                </a:solidFill>
                <a:cs typeface="B Mitra" panose="00000400000000000000" pitchFamily="2" charset="-78"/>
              </a:rPr>
              <a:t>ممکن نیست</a:t>
            </a:r>
            <a:br>
              <a:rPr lang="fa-IR" sz="2400"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6. انجام </a:t>
            </a:r>
            <a:r>
              <a:rPr lang="fa-IR" sz="2400" dirty="0">
                <a:solidFill>
                  <a:schemeClr val="bg1"/>
                </a:solidFill>
                <a:cs typeface="B Mitra" panose="00000400000000000000" pitchFamily="2" charset="-78"/>
              </a:rPr>
              <a:t>تست توسط شخص ثالث </a:t>
            </a:r>
            <a:r>
              <a:rPr lang="fa-IR" sz="2400" dirty="0" smtClean="0">
                <a:solidFill>
                  <a:schemeClr val="bg1"/>
                </a:solidFill>
                <a:cs typeface="B Mitra" panose="00000400000000000000" pitchFamily="2" charset="-78"/>
              </a:rPr>
              <a:t>بی‌طرف</a:t>
            </a:r>
            <a:br>
              <a:rPr lang="fa-IR" sz="2400"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7. تست‌های </a:t>
            </a:r>
            <a:r>
              <a:rPr lang="fa-IR" sz="2400" dirty="0">
                <a:solidFill>
                  <a:schemeClr val="bg1"/>
                </a:solidFill>
                <a:cs typeface="B Mitra" panose="00000400000000000000" pitchFamily="2" charset="-78"/>
              </a:rPr>
              <a:t>اولیه و متناوب</a:t>
            </a:r>
            <a:r>
              <a:rPr lang="fa-IR" sz="2400" dirty="0"/>
              <a:t/>
            </a:r>
            <a:br>
              <a:rPr lang="fa-IR" sz="2400" dirty="0"/>
            </a:br>
            <a:r>
              <a:rPr lang="fa-IR" sz="2400" dirty="0" smtClean="0">
                <a:solidFill>
                  <a:schemeClr val="bg1"/>
                </a:solidFill>
                <a:cs typeface="B Mitra" panose="00000400000000000000" pitchFamily="2" charset="-78"/>
              </a:rPr>
              <a:t>8. کوهی </a:t>
            </a:r>
            <a:r>
              <a:rPr lang="fa-IR" sz="2400" dirty="0">
                <a:solidFill>
                  <a:schemeClr val="bg1"/>
                </a:solidFill>
                <a:cs typeface="B Mitra" panose="00000400000000000000" pitchFamily="2" charset="-78"/>
              </a:rPr>
              <a:t>از خطاها</a:t>
            </a:r>
            <a:r>
              <a:rPr lang="fa-IR" sz="2400" dirty="0" smtClean="0">
                <a:solidFill>
                  <a:schemeClr val="bg1"/>
                </a:solidFill>
                <a:cs typeface="B Mitra" panose="00000400000000000000" pitchFamily="2" charset="-78"/>
              </a:rPr>
              <a:t/>
            </a:r>
            <a:br>
              <a:rPr lang="fa-IR" sz="2400"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9. ازبین </a:t>
            </a:r>
            <a:r>
              <a:rPr lang="fa-IR" sz="2400" dirty="0">
                <a:solidFill>
                  <a:schemeClr val="bg1"/>
                </a:solidFill>
                <a:cs typeface="B Mitra" panose="00000400000000000000" pitchFamily="2" charset="-78"/>
              </a:rPr>
              <a:t>رفتن </a:t>
            </a:r>
            <a:r>
              <a:rPr lang="fa-IR" sz="2400" dirty="0" smtClean="0">
                <a:solidFill>
                  <a:schemeClr val="bg1"/>
                </a:solidFill>
                <a:cs typeface="B Mitra" panose="00000400000000000000" pitchFamily="2" charset="-78"/>
              </a:rPr>
              <a:t>ردپا</a:t>
            </a:r>
            <a:br>
              <a:rPr lang="fa-IR" sz="2400"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10. وابستگی </a:t>
            </a:r>
            <a:r>
              <a:rPr lang="fa-IR" sz="2400" dirty="0">
                <a:solidFill>
                  <a:schemeClr val="bg1"/>
                </a:solidFill>
                <a:cs typeface="B Mitra" panose="00000400000000000000" pitchFamily="2" charset="-78"/>
              </a:rPr>
              <a:t>تست به </a:t>
            </a:r>
            <a:r>
              <a:rPr lang="fa-IR" sz="2400" dirty="0" smtClean="0">
                <a:solidFill>
                  <a:schemeClr val="bg1"/>
                </a:solidFill>
                <a:cs typeface="B Mitra" panose="00000400000000000000" pitchFamily="2" charset="-78"/>
              </a:rPr>
              <a:t>محتوا</a:t>
            </a:r>
            <a:br>
              <a:rPr lang="fa-IR" sz="2400" dirty="0" smtClean="0">
                <a:solidFill>
                  <a:schemeClr val="bg1"/>
                </a:solidFill>
                <a:cs typeface="B Mitra" panose="00000400000000000000" pitchFamily="2" charset="-78"/>
              </a:rPr>
            </a:br>
            <a:r>
              <a:rPr lang="fa-IR" sz="2400" dirty="0" smtClean="0">
                <a:solidFill>
                  <a:schemeClr val="bg1"/>
                </a:solidFill>
                <a:cs typeface="B Mitra" panose="00000400000000000000" pitchFamily="2" charset="-78"/>
              </a:rPr>
              <a:t>11. تست </a:t>
            </a:r>
            <a:r>
              <a:rPr lang="fa-IR" sz="2400" dirty="0">
                <a:solidFill>
                  <a:schemeClr val="bg1"/>
                </a:solidFill>
                <a:cs typeface="B Mitra" panose="00000400000000000000" pitchFamily="2" charset="-78"/>
              </a:rPr>
              <a:t>جعبه سفید: بررسی منطق درونی </a:t>
            </a:r>
            <a:r>
              <a:rPr lang="fa-IR" sz="2400" dirty="0" smtClean="0">
                <a:solidFill>
                  <a:schemeClr val="bg1"/>
                </a:solidFill>
                <a:cs typeface="B Mitra" panose="00000400000000000000" pitchFamily="2" charset="-78"/>
              </a:rPr>
              <a:t>نرم‌افزار</a:t>
            </a:r>
            <a:endParaRPr lang="en-US" sz="8800" dirty="0">
              <a:solidFill>
                <a:schemeClr val="bg1"/>
              </a:solidFill>
              <a:cs typeface="B Mitra" panose="00000400000000000000" pitchFamily="2" charset="-78"/>
            </a:endParaRPr>
          </a:p>
        </p:txBody>
      </p:sp>
    </p:spTree>
    <p:extLst>
      <p:ext uri="{BB962C8B-B14F-4D97-AF65-F5344CB8AC3E}">
        <p14:creationId xmlns:p14="http://schemas.microsoft.com/office/powerpoint/2010/main" val="29260947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lvl="2" rtl="1"/>
            <a:r>
              <a:rPr lang="fa-IR" sz="3200" b="1" dirty="0" smtClean="0">
                <a:solidFill>
                  <a:schemeClr val="bg1"/>
                </a:solidFill>
                <a:cs typeface="B Mitra" panose="00000400000000000000" pitchFamily="2" charset="-78"/>
              </a:rPr>
              <a:t/>
            </a:r>
            <a:br>
              <a:rPr lang="fa-IR" sz="3200" b="1" dirty="0" smtClean="0">
                <a:solidFill>
                  <a:schemeClr val="bg1"/>
                </a:solidFill>
                <a:cs typeface="B Mitra" panose="00000400000000000000" pitchFamily="2" charset="-78"/>
              </a:rPr>
            </a:br>
            <a:r>
              <a:rPr lang="fa-IR" sz="3600" b="1" dirty="0" smtClean="0">
                <a:solidFill>
                  <a:schemeClr val="bg1"/>
                </a:solidFill>
                <a:cs typeface="B Mitra" panose="00000400000000000000" pitchFamily="2" charset="-78"/>
              </a:rPr>
              <a:t>تست </a:t>
            </a:r>
            <a:r>
              <a:rPr lang="fa-IR" sz="3600" b="1" dirty="0">
                <a:solidFill>
                  <a:schemeClr val="bg1"/>
                </a:solidFill>
                <a:cs typeface="B Mitra" panose="00000400000000000000" pitchFamily="2" charset="-78"/>
              </a:rPr>
              <a:t>با توجه به نیازمندی‌های کاربر</a:t>
            </a:r>
            <a:r>
              <a:rPr lang="fa-IR" sz="3600" b="1" dirty="0" smtClean="0">
                <a:solidFill>
                  <a:schemeClr val="bg1"/>
                </a:solidFill>
                <a:cs typeface="B Mitra" panose="00000400000000000000" pitchFamily="2" charset="-78"/>
              </a:rPr>
              <a:t>:</a:t>
            </a:r>
            <a:r>
              <a:rPr lang="fa-IR" dirty="0" smtClean="0">
                <a:solidFill>
                  <a:schemeClr val="bg1"/>
                </a:solidFill>
                <a:cs typeface="B Mitra" panose="00000400000000000000" pitchFamily="2" charset="-78"/>
              </a:rPr>
              <a:t/>
            </a:r>
            <a:br>
              <a:rPr lang="fa-IR" dirty="0" smtClean="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a:t>
            </a:r>
            <a:r>
              <a:rPr lang="fa-IR" sz="3600" dirty="0">
                <a:solidFill>
                  <a:schemeClr val="bg1"/>
                </a:solidFill>
                <a:cs typeface="B Mitra" panose="00000400000000000000" pitchFamily="2" charset="-78"/>
              </a:rPr>
              <a:t>همان‌طور که می‌دانید شناسایی نیازمندی‌های کاربر اولین گام چرخه تولید نرم افزار می‌باشد. این نیازها طی یک کار تیمی و روش‌های متفاوت با مشارکت مشتریان یا کاربران و توسعه دهندگان شناسایی می‌شوند. سپس نیازهای عمومی، ضروری، اولویت بالا و حداقل نیازها مشخص می‌گردد. پس از شناخت نیازمندی‌ها، تست‌ها بایستی تاحد خواسته‌های مشتری قابل ردیابی باشند.</a:t>
            </a:r>
            <a:br>
              <a:rPr lang="fa-IR"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600" b="1" dirty="0">
                <a:solidFill>
                  <a:schemeClr val="bg1"/>
                </a:solidFill>
                <a:cs typeface="B Mitra" panose="00000400000000000000" pitchFamily="2" charset="-78"/>
              </a:rPr>
              <a:t>برنامه ریزی قبل از اجرا: </a:t>
            </a:r>
            <a:r>
              <a:rPr lang="en-US" sz="3600" dirty="0">
                <a:solidFill>
                  <a:schemeClr val="bg1"/>
                </a:solidFill>
                <a:cs typeface="B Mitra" panose="00000400000000000000" pitchFamily="2" charset="-78"/>
              </a:rPr>
              <a:t/>
            </a:r>
            <a:br>
              <a:rPr lang="en-US"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پس از شناخت نیازمندی‌ها و مشخص کردن آن‌ها، برای هر بخش نوشتن برنامه تست (</a:t>
            </a:r>
            <a:r>
              <a:rPr lang="en-US" sz="3600" dirty="0">
                <a:solidFill>
                  <a:schemeClr val="bg1"/>
                </a:solidFill>
                <a:cs typeface="B Mitra" panose="00000400000000000000" pitchFamily="2" charset="-78"/>
              </a:rPr>
              <a:t>test plan</a:t>
            </a:r>
            <a:r>
              <a:rPr lang="fa-IR" sz="3600" dirty="0">
                <a:solidFill>
                  <a:schemeClr val="bg1"/>
                </a:solidFill>
                <a:cs typeface="B Mitra" panose="00000400000000000000" pitchFamily="2" charset="-78"/>
              </a:rPr>
              <a:t>) ضروری است. همه تست‌ها را می‌توان پیش از تولید هرگونه کد، برنامه ریزی و طراحی کرد.</a:t>
            </a:r>
            <a:r>
              <a:rPr lang="en-US" sz="3600" dirty="0">
                <a:solidFill>
                  <a:schemeClr val="bg1"/>
                </a:solidFill>
                <a:cs typeface="B Mitra" panose="00000400000000000000" pitchFamily="2" charset="-78"/>
              </a:rPr>
              <a:t/>
            </a:r>
            <a:br>
              <a:rPr lang="en-US" sz="3600" dirty="0">
                <a:solidFill>
                  <a:schemeClr val="bg1"/>
                </a:solidFill>
                <a:cs typeface="B Mitra" panose="00000400000000000000" pitchFamily="2" charset="-78"/>
              </a:rPr>
            </a:br>
            <a:endParaRPr lang="en-US" sz="3600" dirty="0">
              <a:solidFill>
                <a:schemeClr val="bg1"/>
              </a:solidFill>
              <a:cs typeface="B Mitra" panose="00000400000000000000" pitchFamily="2" charset="-78"/>
            </a:endParaRPr>
          </a:p>
        </p:txBody>
      </p:sp>
    </p:spTree>
    <p:extLst>
      <p:ext uri="{BB962C8B-B14F-4D97-AF65-F5344CB8AC3E}">
        <p14:creationId xmlns:p14="http://schemas.microsoft.com/office/powerpoint/2010/main" val="16046615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b="1" dirty="0">
                <a:solidFill>
                  <a:schemeClr val="bg1"/>
                </a:solidFill>
                <a:cs typeface="B Mitra" panose="00000400000000000000" pitchFamily="2" charset="-78"/>
              </a:rPr>
              <a:t/>
            </a:r>
            <a:br>
              <a:rPr lang="fa-IR" b="1" dirty="0">
                <a:solidFill>
                  <a:schemeClr val="bg1"/>
                </a:solidFill>
                <a:cs typeface="B Mitra" panose="00000400000000000000" pitchFamily="2" charset="-78"/>
              </a:rPr>
            </a:br>
            <a:r>
              <a:rPr lang="fa-IR" b="1" dirty="0" smtClean="0">
                <a:solidFill>
                  <a:schemeClr val="bg1"/>
                </a:solidFill>
                <a:cs typeface="B Mitra" panose="00000400000000000000" pitchFamily="2" charset="-78"/>
              </a:rPr>
              <a:t>قانون </a:t>
            </a:r>
            <a:r>
              <a:rPr lang="fa-IR" b="1" dirty="0">
                <a:solidFill>
                  <a:schemeClr val="bg1"/>
                </a:solidFill>
                <a:cs typeface="B Mitra" panose="00000400000000000000" pitchFamily="2" charset="-78"/>
              </a:rPr>
              <a:t>پارتو:</a:t>
            </a:r>
            <a:br>
              <a:rPr lang="fa-IR" b="1" dirty="0">
                <a:solidFill>
                  <a:schemeClr val="bg1"/>
                </a:solidFill>
                <a:cs typeface="B Mitra" panose="00000400000000000000" pitchFamily="2" charset="-78"/>
              </a:rPr>
            </a:br>
            <a:r>
              <a:rPr lang="fa-IR" b="1" dirty="0">
                <a:solidFill>
                  <a:schemeClr val="bg1"/>
                </a:solidFill>
                <a:cs typeface="B Mitra" panose="00000400000000000000" pitchFamily="2" charset="-78"/>
              </a:rPr>
              <a:t> </a:t>
            </a:r>
            <a:r>
              <a:rPr lang="fa-IR" dirty="0">
                <a:solidFill>
                  <a:schemeClr val="bg1"/>
                </a:solidFill>
                <a:cs typeface="B Mitra" panose="00000400000000000000" pitchFamily="2" charset="-78"/>
              </a:rPr>
              <a:t>این قانون بدین معنا است که در هرچیزی، میزان اندکی (۲۰ درصد) دارای اهمیت حیاتی و بسیاری (۸۰ درصد) کم اهمیت و یا دارای اهمیت ناچیز است. مدیران پروژه‌ها می‌دانند که ۲۰ درصد </a:t>
            </a:r>
            <a:r>
              <a:rPr lang="fa-IR" dirty="0" smtClean="0">
                <a:solidFill>
                  <a:schemeClr val="bg1"/>
                </a:solidFill>
                <a:cs typeface="B Mitra" panose="00000400000000000000" pitchFamily="2" charset="-78"/>
              </a:rPr>
              <a:t>کار (</a:t>
            </a:r>
            <a:r>
              <a:rPr lang="fa-IR" dirty="0">
                <a:solidFill>
                  <a:schemeClr val="bg1"/>
                </a:solidFill>
                <a:cs typeface="B Mitra" panose="00000400000000000000" pitchFamily="2" charset="-78"/>
              </a:rPr>
              <a:t>اولین ۱۰ درصد و آخرین ۱۰ درصد) ۸۰ درصد زمان و منابع را مصرف می‌کند بنابراین با تمرکز برآن ۲۰ درصد، ۸۰ درصد نتایج را می‌توان تولید کرد. تست هم از این قاعده مستثنی نیست! یعنی ۸۰ درصد خطاهای کشف نشده در ۲۰ درصد کد است. یا به عبارتی ۲۰ درصد نواقص باعث ۸۰ درصد مشکلات می‌شوند. این اصل به عنوان یک یادآوری روزانه می‌تواند درخدمت ما باشد و به ما بگوید که زمان و انرژی خود را بر آنچه که واقعا مهم است، متمرکز کنیم.</a:t>
            </a:r>
            <a:r>
              <a:rPr lang="fa-IR" b="1" dirty="0">
                <a:solidFill>
                  <a:schemeClr val="bg1"/>
                </a:solidFill>
                <a:cs typeface="B Mitra" panose="00000400000000000000" pitchFamily="2" charset="-78"/>
              </a:rPr>
              <a:t/>
            </a:r>
            <a:br>
              <a:rPr lang="fa-IR" b="1" dirty="0">
                <a:solidFill>
                  <a:schemeClr val="bg1"/>
                </a:solidFill>
                <a:cs typeface="B Mitra" panose="00000400000000000000" pitchFamily="2" charset="-78"/>
              </a:rPr>
            </a:b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endParaRPr lang="en-US" sz="5400" dirty="0">
              <a:solidFill>
                <a:schemeClr val="bg1"/>
              </a:solidFill>
              <a:cs typeface="B Mitra" panose="00000400000000000000" pitchFamily="2" charset="-78"/>
            </a:endParaRPr>
          </a:p>
        </p:txBody>
      </p:sp>
    </p:spTree>
    <p:extLst>
      <p:ext uri="{BB962C8B-B14F-4D97-AF65-F5344CB8AC3E}">
        <p14:creationId xmlns:p14="http://schemas.microsoft.com/office/powerpoint/2010/main" val="5331847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3500" b="1" dirty="0" smtClean="0">
                <a:solidFill>
                  <a:schemeClr val="bg1"/>
                </a:solidFill>
                <a:cs typeface="B Mitra" panose="00000400000000000000" pitchFamily="2" charset="-78"/>
              </a:rPr>
              <a:t>شروع </a:t>
            </a:r>
            <a:r>
              <a:rPr lang="fa-IR" sz="3500" b="1" dirty="0">
                <a:solidFill>
                  <a:schemeClr val="bg1"/>
                </a:solidFill>
                <a:cs typeface="B Mitra" panose="00000400000000000000" pitchFamily="2" charset="-78"/>
              </a:rPr>
              <a:t>تست از اجزای </a:t>
            </a:r>
            <a:r>
              <a:rPr lang="fa-IR" sz="3500" b="1" dirty="0" smtClean="0">
                <a:solidFill>
                  <a:schemeClr val="bg1"/>
                </a:solidFill>
                <a:cs typeface="B Mitra" panose="00000400000000000000" pitchFamily="2" charset="-78"/>
              </a:rPr>
              <a:t>کوچک:</a:t>
            </a:r>
            <a:r>
              <a:rPr lang="fa-IR" sz="3500" b="1" dirty="0">
                <a:solidFill>
                  <a:schemeClr val="bg1"/>
                </a:solidFill>
                <a:cs typeface="B Mitra" panose="00000400000000000000" pitchFamily="2" charset="-78"/>
              </a:rPr>
              <a:t/>
            </a:r>
            <a:br>
              <a:rPr lang="fa-IR" sz="3500" b="1" dirty="0">
                <a:solidFill>
                  <a:schemeClr val="bg1"/>
                </a:solidFill>
                <a:cs typeface="B Mitra" panose="00000400000000000000" pitchFamily="2" charset="-78"/>
              </a:rPr>
            </a:br>
            <a:r>
              <a:rPr lang="fa-IR" sz="3500" dirty="0">
                <a:solidFill>
                  <a:schemeClr val="bg1"/>
                </a:solidFill>
                <a:cs typeface="B Mitra" panose="00000400000000000000" pitchFamily="2" charset="-78"/>
              </a:rPr>
              <a:t> تست باید از اجزای کوچک شروع شده و به ابعاد بزرگتر گسترش یابد. اولین تست‌ها بر روی هر یک از مولفه‌ها انجام می‌شوند. با پیشرفت تست، خطاهای مجموعه‌ای از مولفه‌های مجتمع و سپس کل برنامه یافت می‌شود</a:t>
            </a:r>
            <a:r>
              <a:rPr lang="fa-IR" sz="3500" dirty="0" smtClean="0">
                <a:solidFill>
                  <a:schemeClr val="bg1"/>
                </a:solidFill>
                <a:cs typeface="B Mitra" panose="00000400000000000000" pitchFamily="2" charset="-78"/>
              </a:rPr>
              <a:t>.</a:t>
            </a:r>
            <a:br>
              <a:rPr lang="fa-IR" sz="3500" dirty="0" smtClean="0">
                <a:solidFill>
                  <a:schemeClr val="bg1"/>
                </a:solidFill>
                <a:cs typeface="B Mitra" panose="00000400000000000000" pitchFamily="2" charset="-78"/>
              </a:rPr>
            </a:br>
            <a:r>
              <a:rPr lang="fa-IR" sz="3500" b="1" dirty="0">
                <a:solidFill>
                  <a:schemeClr val="bg1"/>
                </a:solidFill>
                <a:cs typeface="B Mitra" panose="00000400000000000000" pitchFamily="2" charset="-78"/>
              </a:rPr>
              <a:t/>
            </a:r>
            <a:br>
              <a:rPr lang="fa-IR" sz="3500" b="1" dirty="0">
                <a:solidFill>
                  <a:schemeClr val="bg1"/>
                </a:solidFill>
                <a:cs typeface="B Mitra" panose="00000400000000000000" pitchFamily="2" charset="-78"/>
              </a:rPr>
            </a:br>
            <a:r>
              <a:rPr lang="fa-IR" sz="3500" b="1" dirty="0" smtClean="0">
                <a:solidFill>
                  <a:schemeClr val="bg1"/>
                </a:solidFill>
                <a:cs typeface="B Mitra" panose="00000400000000000000" pitchFamily="2" charset="-78"/>
              </a:rPr>
              <a:t>تست </a:t>
            </a:r>
            <a:r>
              <a:rPr lang="fa-IR" sz="3500" b="1" dirty="0">
                <a:solidFill>
                  <a:schemeClr val="bg1"/>
                </a:solidFill>
                <a:cs typeface="B Mitra" panose="00000400000000000000" pitchFamily="2" charset="-78"/>
              </a:rPr>
              <a:t>کامل   ممکن نیست:</a:t>
            </a:r>
            <a:br>
              <a:rPr lang="fa-IR" sz="3500" b="1" dirty="0">
                <a:solidFill>
                  <a:schemeClr val="bg1"/>
                </a:solidFill>
                <a:cs typeface="B Mitra" panose="00000400000000000000" pitchFamily="2" charset="-78"/>
              </a:rPr>
            </a:br>
            <a:r>
              <a:rPr lang="fa-IR" sz="3500" b="1" dirty="0">
                <a:solidFill>
                  <a:schemeClr val="bg1"/>
                </a:solidFill>
                <a:cs typeface="B Mitra" panose="00000400000000000000" pitchFamily="2" charset="-78"/>
              </a:rPr>
              <a:t> </a:t>
            </a:r>
            <a:r>
              <a:rPr lang="fa-IR" sz="3500" dirty="0">
                <a:solidFill>
                  <a:schemeClr val="bg1"/>
                </a:solidFill>
                <a:cs typeface="B Mitra" panose="00000400000000000000" pitchFamily="2" charset="-78"/>
              </a:rPr>
              <a:t>تعداد مسیرهای ممکن برای تست برنامه زیاد است. لذا اجرای هر ترکیبی از مسیرها امکان پذیر نیست. ولی این امکان وجود دارد که برنامه را در حد کفایت پوشش دهیم. غیرممکن است که بتوان یک برنامه را به طور کامل تست کرد.</a:t>
            </a:r>
            <a:br>
              <a:rPr lang="fa-IR" sz="3500" dirty="0">
                <a:solidFill>
                  <a:schemeClr val="bg1"/>
                </a:solidFill>
                <a:cs typeface="B Mitra" panose="00000400000000000000" pitchFamily="2" charset="-78"/>
              </a:rPr>
            </a:br>
            <a:r>
              <a:rPr lang="fa-IR" sz="3500" dirty="0">
                <a:solidFill>
                  <a:schemeClr val="bg1"/>
                </a:solidFill>
                <a:cs typeface="B Mitra" panose="00000400000000000000" pitchFamily="2" charset="-78"/>
              </a:rPr>
              <a:t>رعایت اصول تست نرم افزار باعث افزایش زمان تولید و بهره مندی از متخصصین مرتبط در آن زمینه و افزایش هزینه تولید نرم افزار می‌شود اما با در نظر گرفتن کاهش چشمگیر هزینه‌های پشتیبانی و توسعه، نرم افزار تولید شده بسیار مقرون به صرفه تر خواهد بود</a:t>
            </a:r>
            <a:r>
              <a:rPr lang="fa-IR" sz="3500" dirty="0" smtClean="0">
                <a:solidFill>
                  <a:schemeClr val="bg1"/>
                </a:solidFill>
                <a:cs typeface="B Mitra" panose="00000400000000000000" pitchFamily="2" charset="-78"/>
              </a:rPr>
              <a:t>!</a:t>
            </a:r>
            <a:endParaRPr lang="en-US" sz="5400" dirty="0">
              <a:solidFill>
                <a:schemeClr val="bg1"/>
              </a:solidFill>
              <a:cs typeface="B Mitra" panose="00000400000000000000" pitchFamily="2" charset="-78"/>
            </a:endParaRPr>
          </a:p>
        </p:txBody>
      </p:sp>
    </p:spTree>
    <p:extLst>
      <p:ext uri="{BB962C8B-B14F-4D97-AF65-F5344CB8AC3E}">
        <p14:creationId xmlns:p14="http://schemas.microsoft.com/office/powerpoint/2010/main" val="244401700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004" y="1184858"/>
            <a:ext cx="11114466" cy="4134118"/>
          </a:xfrm>
        </p:spPr>
        <p:txBody>
          <a:bodyPr>
            <a:noAutofit/>
          </a:bodyPr>
          <a:lstStyle/>
          <a:p>
            <a:pPr algn="r" rtl="1"/>
            <a:r>
              <a:rPr lang="fa-IR" b="1" dirty="0">
                <a:solidFill>
                  <a:schemeClr val="bg1"/>
                </a:solidFill>
                <a:cs typeface="B Mitra" panose="00000400000000000000" pitchFamily="2" charset="-78"/>
              </a:rPr>
              <a:t/>
            </a:r>
            <a:br>
              <a:rPr lang="fa-IR" b="1" dirty="0">
                <a:solidFill>
                  <a:schemeClr val="bg1"/>
                </a:solidFill>
                <a:cs typeface="B Mitra" panose="00000400000000000000" pitchFamily="2" charset="-78"/>
              </a:rPr>
            </a:br>
            <a:r>
              <a:rPr lang="fa-IR" b="1" dirty="0" smtClean="0">
                <a:solidFill>
                  <a:schemeClr val="bg1"/>
                </a:solidFill>
                <a:cs typeface="B Mitra" panose="00000400000000000000" pitchFamily="2" charset="-78"/>
              </a:rPr>
              <a:t>انجام </a:t>
            </a:r>
            <a:r>
              <a:rPr lang="fa-IR" b="1" dirty="0">
                <a:solidFill>
                  <a:schemeClr val="bg1"/>
                </a:solidFill>
                <a:cs typeface="B Mitra" panose="00000400000000000000" pitchFamily="2" charset="-78"/>
              </a:rPr>
              <a:t>تست توسط شخص ثالث </a:t>
            </a:r>
            <a:r>
              <a:rPr lang="fa-IR" b="1" dirty="0" smtClean="0">
                <a:solidFill>
                  <a:schemeClr val="bg1"/>
                </a:solidFill>
                <a:cs typeface="B Mitra" panose="00000400000000000000" pitchFamily="2" charset="-78"/>
              </a:rPr>
              <a:t>بی‌طرف</a:t>
            </a:r>
            <a:br>
              <a:rPr lang="fa-IR" b="1" dirty="0" smtClean="0">
                <a:solidFill>
                  <a:schemeClr val="bg1"/>
                </a:solidFill>
                <a:cs typeface="B Mitra" panose="00000400000000000000" pitchFamily="2" charset="-78"/>
              </a:rPr>
            </a:br>
            <a:r>
              <a:rPr lang="fa-IR" b="1" dirty="0">
                <a:solidFill>
                  <a:schemeClr val="bg1"/>
                </a:solidFill>
                <a:cs typeface="B Mitra" panose="00000400000000000000" pitchFamily="2" charset="-78"/>
              </a:rPr>
              <a:t/>
            </a:r>
            <a:br>
              <a:rPr lang="fa-IR" b="1" dirty="0">
                <a:solidFill>
                  <a:schemeClr val="bg1"/>
                </a:solidFill>
                <a:cs typeface="B Mitra" panose="00000400000000000000" pitchFamily="2" charset="-78"/>
              </a:rPr>
            </a:br>
            <a:r>
              <a:rPr lang="fa-IR" b="1" dirty="0">
                <a:solidFill>
                  <a:schemeClr val="bg1"/>
                </a:solidFill>
                <a:cs typeface="B Mitra" panose="00000400000000000000" pitchFamily="2" charset="-78"/>
              </a:rPr>
              <a:t> </a:t>
            </a:r>
            <a:r>
              <a:rPr lang="fa-IR" dirty="0">
                <a:solidFill>
                  <a:schemeClr val="bg1"/>
                </a:solidFill>
                <a:cs typeface="B Mitra" panose="00000400000000000000" pitchFamily="2" charset="-78"/>
              </a:rPr>
              <a:t>برای موثر بودن بایستی تست توسط شخص ثالث بی‌طرف انجام شود. منظور از موثربودن این است که خطاها را با احتمال بیشتری پیدا کنیم. به دلایلی که در بخش‌های بعدی ذکر می‌کنیم، مهندس نرم‌افزاری که سیستم را برنامه نویسی کرده است، بهترین کسی نیست که باید همه تست‌ها را انجام دهد. بنابراین برنامه نویس بایستی از تست‌های مختلف برنامه خود اجتناب کند</a:t>
            </a:r>
            <a:r>
              <a:rPr lang="fa-IR" dirty="0" smtClean="0">
                <a:solidFill>
                  <a:schemeClr val="bg1"/>
                </a:solidFill>
                <a:cs typeface="B Mitra" panose="00000400000000000000" pitchFamily="2" charset="-78"/>
              </a:rPr>
              <a:t>.</a:t>
            </a:r>
            <a:endParaRPr lang="en-US" sz="5400" dirty="0">
              <a:solidFill>
                <a:schemeClr val="bg1"/>
              </a:solidFill>
              <a:cs typeface="B Mitra" panose="00000400000000000000" pitchFamily="2" charset="-78"/>
            </a:endParaRPr>
          </a:p>
        </p:txBody>
      </p:sp>
    </p:spTree>
    <p:extLst>
      <p:ext uri="{BB962C8B-B14F-4D97-AF65-F5344CB8AC3E}">
        <p14:creationId xmlns:p14="http://schemas.microsoft.com/office/powerpoint/2010/main" val="18399074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187" y="1146221"/>
            <a:ext cx="11114466" cy="3966691"/>
          </a:xfrm>
        </p:spPr>
        <p:txBody>
          <a:bodyPr>
            <a:noAutofit/>
          </a:bodyPr>
          <a:lstStyle/>
          <a:p>
            <a:pPr algn="r" rtl="1"/>
            <a:r>
              <a:rPr lang="fa-IR" b="1" dirty="0" smtClean="0">
                <a:solidFill>
                  <a:schemeClr val="bg1"/>
                </a:solidFill>
                <a:cs typeface="B Mitra" panose="00000400000000000000" pitchFamily="2" charset="-78"/>
              </a:rPr>
              <a:t>تست‌های </a:t>
            </a:r>
            <a:r>
              <a:rPr lang="fa-IR" b="1" dirty="0">
                <a:solidFill>
                  <a:schemeClr val="bg1"/>
                </a:solidFill>
                <a:cs typeface="B Mitra" panose="00000400000000000000" pitchFamily="2" charset="-78"/>
              </a:rPr>
              <a:t>اولیه و </a:t>
            </a:r>
            <a:r>
              <a:rPr lang="fa-IR" b="1" dirty="0" smtClean="0">
                <a:solidFill>
                  <a:schemeClr val="bg1"/>
                </a:solidFill>
                <a:cs typeface="B Mitra" panose="00000400000000000000" pitchFamily="2" charset="-78"/>
              </a:rPr>
              <a:t>متناوب</a:t>
            </a:r>
            <a:br>
              <a:rPr lang="fa-IR" b="1" dirty="0" smtClean="0">
                <a:solidFill>
                  <a:schemeClr val="bg1"/>
                </a:solidFill>
                <a:cs typeface="B Mitra" panose="00000400000000000000" pitchFamily="2" charset="-78"/>
              </a:rPr>
            </a:br>
            <a:r>
              <a:rPr lang="fa-IR" b="1" dirty="0">
                <a:solidFill>
                  <a:schemeClr val="bg1"/>
                </a:solidFill>
                <a:cs typeface="B Mitra" panose="00000400000000000000" pitchFamily="2" charset="-78"/>
              </a:rPr>
              <a:t/>
            </a:r>
            <a:br>
              <a:rPr lang="fa-IR" b="1" dirty="0">
                <a:solidFill>
                  <a:schemeClr val="bg1"/>
                </a:solidFill>
                <a:cs typeface="B Mitra" panose="00000400000000000000" pitchFamily="2" charset="-78"/>
              </a:rPr>
            </a:br>
            <a:r>
              <a:rPr lang="fa-IR" dirty="0">
                <a:solidFill>
                  <a:schemeClr val="bg1"/>
                </a:solidFill>
                <a:cs typeface="B Mitra" panose="00000400000000000000" pitchFamily="2" charset="-78"/>
              </a:rPr>
              <a:t> تست در همان ابتدای کار آغاز شده و در طول چرخه حیات نرم‌افزار ادامه یافته و به صورت متناوب تکرار می‌شود. تست‌های اولیه کمک می‌کنند تا در مراحل اولیه از فرآیند توسعه نرم‌افزار، خطاها تشخیص داده شده و تصحیح آنها به سادگی انجام شود. این تست‌ها باعث کاهش هزینه می‌گردند. این نکته قابل ذکر است که تکرار تست و تناوب آن در طول تولید برنامه بایستی گسترش پیدا کند</a:t>
            </a:r>
            <a:r>
              <a:rPr lang="fa-IR" dirty="0" smtClean="0">
                <a:solidFill>
                  <a:schemeClr val="bg1"/>
                </a:solidFill>
                <a:cs typeface="B Mitra" panose="00000400000000000000" pitchFamily="2" charset="-78"/>
              </a:rPr>
              <a:t>.</a:t>
            </a:r>
            <a:endParaRPr lang="en-US" sz="5400" dirty="0">
              <a:solidFill>
                <a:schemeClr val="bg1"/>
              </a:solidFill>
              <a:cs typeface="B Mitra" panose="00000400000000000000" pitchFamily="2" charset="-78"/>
            </a:endParaRPr>
          </a:p>
        </p:txBody>
      </p:sp>
    </p:spTree>
    <p:extLst>
      <p:ext uri="{BB962C8B-B14F-4D97-AF65-F5344CB8AC3E}">
        <p14:creationId xmlns:p14="http://schemas.microsoft.com/office/powerpoint/2010/main" val="14515779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4494728"/>
          </a:xfrm>
        </p:spPr>
        <p:txBody>
          <a:bodyPr>
            <a:noAutofit/>
          </a:bodyPr>
          <a:lstStyle/>
          <a:p>
            <a:pPr algn="r" rtl="1"/>
            <a:r>
              <a:rPr lang="fa-IR" b="1" dirty="0" smtClean="0">
                <a:solidFill>
                  <a:schemeClr val="bg1"/>
                </a:solidFill>
                <a:cs typeface="B Mitra" panose="00000400000000000000" pitchFamily="2" charset="-78"/>
              </a:rPr>
              <a:t>کوهی </a:t>
            </a:r>
            <a:r>
              <a:rPr lang="fa-IR" b="1" dirty="0">
                <a:solidFill>
                  <a:schemeClr val="bg1"/>
                </a:solidFill>
                <a:cs typeface="B Mitra" panose="00000400000000000000" pitchFamily="2" charset="-78"/>
              </a:rPr>
              <a:t>از خطاها</a:t>
            </a:r>
            <a:r>
              <a:rPr lang="fa-IR" b="1" dirty="0" smtClean="0">
                <a:solidFill>
                  <a:schemeClr val="bg1"/>
                </a:solidFill>
                <a:cs typeface="B Mitra" panose="00000400000000000000" pitchFamily="2" charset="-78"/>
              </a:rPr>
              <a:t>:</a:t>
            </a:r>
            <a:br>
              <a:rPr lang="fa-IR" b="1" dirty="0" smtClean="0">
                <a:solidFill>
                  <a:schemeClr val="bg1"/>
                </a:solidFill>
                <a:cs typeface="B Mitra" panose="00000400000000000000" pitchFamily="2" charset="-78"/>
              </a:rPr>
            </a:b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در پروژه‌های تست، خطاها توزیع نمی‌شوند! در جایی از برنامه که خطا کشف می‌شود این احتمال که خطاهای بیشتری را بتوان پیدا کرد بیشتر است. احتمال اینکه اشکالات بیشتری در قسمتی از برنامه کشف شود متناسب با تعداد اشکالات کشف شده قبلی در آن بخش از برنامه است. به عبارت دیگر هر چه در ماژولی از برنامه خطاهای بیشتری پیدا کنید، احتمال وجود خطاهای دیگر در آن ماژول بیشتر است.</a:t>
            </a:r>
            <a:br>
              <a:rPr lang="fa-IR" dirty="0">
                <a:solidFill>
                  <a:schemeClr val="bg1"/>
                </a:solidFill>
                <a:cs typeface="B Mitra" panose="00000400000000000000" pitchFamily="2" charset="-78"/>
              </a:rPr>
            </a:br>
            <a:endParaRPr lang="en-US" dirty="0">
              <a:solidFill>
                <a:schemeClr val="bg1"/>
              </a:solidFill>
              <a:cs typeface="B Mitra" panose="00000400000000000000" pitchFamily="2" charset="-78"/>
            </a:endParaRPr>
          </a:p>
        </p:txBody>
      </p:sp>
    </p:spTree>
    <p:extLst>
      <p:ext uri="{BB962C8B-B14F-4D97-AF65-F5344CB8AC3E}">
        <p14:creationId xmlns:p14="http://schemas.microsoft.com/office/powerpoint/2010/main" val="173485831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214" y="631064"/>
            <a:ext cx="11578107" cy="6226935"/>
          </a:xfrm>
        </p:spPr>
        <p:txBody>
          <a:bodyPr>
            <a:noAutofit/>
          </a:bodyPr>
          <a:lstStyle/>
          <a:p>
            <a:pPr lvl="2" rtl="1"/>
            <a:r>
              <a:rPr lang="fa-IR" sz="3200" b="1" dirty="0" smtClean="0">
                <a:solidFill>
                  <a:schemeClr val="bg1"/>
                </a:solidFill>
                <a:cs typeface="B Mitra" panose="00000400000000000000" pitchFamily="2" charset="-78"/>
              </a:rPr>
              <a:t>ازبین </a:t>
            </a:r>
            <a:r>
              <a:rPr lang="fa-IR" sz="3200" b="1" dirty="0">
                <a:solidFill>
                  <a:schemeClr val="bg1"/>
                </a:solidFill>
                <a:cs typeface="B Mitra" panose="00000400000000000000" pitchFamily="2" charset="-78"/>
              </a:rPr>
              <a:t>رفتن ردپا:</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در طول زمان ردپای تست از بین می‌رود. به عبارتی برنامه پس از مدتی در برابر تست‌های تکراری مقاوم خواهد شد. اگر </a:t>
            </a:r>
            <a:r>
              <a:rPr lang="en-US" sz="3200" dirty="0">
                <a:solidFill>
                  <a:schemeClr val="bg1"/>
                </a:solidFill>
                <a:cs typeface="B Mitra" panose="00000400000000000000" pitchFamily="2" charset="-78"/>
              </a:rPr>
              <a:t>test case </a:t>
            </a:r>
            <a:r>
              <a:rPr lang="fa-IR" sz="3200" dirty="0">
                <a:solidFill>
                  <a:schemeClr val="bg1"/>
                </a:solidFill>
                <a:cs typeface="B Mitra" panose="00000400000000000000" pitchFamily="2" charset="-78"/>
              </a:rPr>
              <a:t>ها را فقط تکرار می‌کنید، آنها نمی‌توانند خطاهای جدید را کشف کنند. خطاها با بروز رسانی بخش‌هایی از برنامه و در توابع تست نشده کشف می‌شوند. به منظور جلوگیری از این اثر، </a:t>
            </a:r>
            <a:r>
              <a:rPr lang="en-US" sz="3200" dirty="0">
                <a:solidFill>
                  <a:schemeClr val="bg1"/>
                </a:solidFill>
                <a:cs typeface="B Mitra" panose="00000400000000000000" pitchFamily="2" charset="-78"/>
              </a:rPr>
              <a:t>test case </a:t>
            </a:r>
            <a:r>
              <a:rPr lang="fa-IR" sz="3200" dirty="0">
                <a:solidFill>
                  <a:schemeClr val="bg1"/>
                </a:solidFill>
                <a:cs typeface="B Mitra" panose="00000400000000000000" pitchFamily="2" charset="-78"/>
              </a:rPr>
              <a:t>ها بایستی در طول زمان به روز رسانی کنید.</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b="1" dirty="0">
                <a:solidFill>
                  <a:schemeClr val="bg1"/>
                </a:solidFill>
                <a:cs typeface="B Mitra" panose="00000400000000000000" pitchFamily="2" charset="-78"/>
              </a:rPr>
              <a:t>وابستگی تست به محتوا:</a:t>
            </a:r>
            <a:r>
              <a:rPr lang="en-US" sz="3200" dirty="0">
                <a:solidFill>
                  <a:schemeClr val="bg1"/>
                </a:solidFill>
                <a:cs typeface="B Mitra" panose="00000400000000000000" pitchFamily="2" charset="-78"/>
              </a:rPr>
              <a:t/>
            </a:r>
            <a:br>
              <a:rPr lang="en-US"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هیچ دو سیستمی یکسان نیستند که شما بتوانید یک تست را به یک شیوه برای هردوی آن‌ها اجرا کنید. تعریف معیارهای ورودی، خروجی و …. بایستی برای هر برنامه با توجه به محتوای تست تعریف شود. به طور مثال تست وب سایت‌ها بسیار متفاوت از تست سیستم‌های بانکی می‌باشد</a:t>
            </a:r>
            <a:r>
              <a:rPr lang="fa-IR" sz="3200" dirty="0" smtClean="0">
                <a:solidFill>
                  <a:schemeClr val="bg1"/>
                </a:solidFill>
                <a:cs typeface="B Mitra" panose="00000400000000000000" pitchFamily="2" charset="-78"/>
              </a:rPr>
              <a:t>.</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3786992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6098" y="38102"/>
            <a:ext cx="8534400" cy="1284514"/>
          </a:xfrm>
        </p:spPr>
        <p:txBody>
          <a:bodyPr>
            <a:normAutofit/>
          </a:bodyPr>
          <a:lstStyle/>
          <a:p>
            <a:pPr algn="ctr"/>
            <a:r>
              <a:rPr lang="en-US" sz="5400" dirty="0" smtClean="0">
                <a:latin typeface="Times New Roman" panose="02020603050405020304" pitchFamily="18" charset="0"/>
                <a:cs typeface="Times New Roman" panose="02020603050405020304" pitchFamily="18" charset="0"/>
              </a:rPr>
              <a:t>Test tools</a:t>
            </a:r>
            <a:endParaRPr lang="en-US" sz="5400" dirty="0">
              <a:latin typeface="Times New Roman" panose="02020603050405020304" pitchFamily="18" charset="0"/>
              <a:cs typeface="Times New Roman" panose="02020603050405020304" pitchFamily="18" charset="0"/>
            </a:endParaRPr>
          </a:p>
        </p:txBody>
      </p:sp>
      <p:sp>
        <p:nvSpPr>
          <p:cNvPr id="4" name="Content Placeholder 2"/>
          <p:cNvSpPr txBox="1">
            <a:spLocks/>
          </p:cNvSpPr>
          <p:nvPr/>
        </p:nvSpPr>
        <p:spPr>
          <a:xfrm>
            <a:off x="174172" y="3178630"/>
            <a:ext cx="11908972" cy="1317170"/>
          </a:xfrm>
          <a:prstGeom prst="rect">
            <a:avLst/>
          </a:prstGeom>
        </p:spPr>
        <p:txBody>
          <a:bodyPr vert="horz" lIns="91440" tIns="45720" rIns="91440" bIns="45720" rtlCol="0" anchor="ctr">
            <a:no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50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50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50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4pPr>
            <a:lvl5pPr marL="21145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9pPr>
          </a:lstStyle>
          <a:p>
            <a:pPr algn="just"/>
            <a:r>
              <a:rPr lang="en-US" sz="3200" dirty="0" smtClean="0">
                <a:latin typeface="Times New Roman" panose="02020603050405020304" pitchFamily="18" charset="0"/>
                <a:cs typeface="Times New Roman" panose="02020603050405020304" pitchFamily="18" charset="0"/>
              </a:rPr>
              <a:t>IN 2025</a:t>
            </a:r>
            <a:r>
              <a:rPr lang="en-US" sz="3200" dirty="0">
                <a:latin typeface="Times New Roman" panose="02020603050405020304" pitchFamily="18" charset="0"/>
                <a:cs typeface="Times New Roman" panose="02020603050405020304" pitchFamily="18" charset="0"/>
              </a:rPr>
              <a:t>, a diverse range of testing tools will be available to ensure the quality of software applications. For automation, tools like </a:t>
            </a:r>
            <a:r>
              <a:rPr lang="en-US" sz="3200" dirty="0">
                <a:latin typeface="Times New Roman" panose="02020603050405020304" pitchFamily="18" charset="0"/>
                <a:cs typeface="Times New Roman" panose="02020603050405020304" pitchFamily="18" charset="0"/>
                <a:hlinkClick r:id="rId2"/>
              </a:rPr>
              <a:t>Selenium</a:t>
            </a:r>
            <a:r>
              <a:rPr lang="en-US" sz="3200" dirty="0">
                <a:latin typeface="Times New Roman" panose="02020603050405020304" pitchFamily="18" charset="0"/>
                <a:cs typeface="Times New Roman" panose="02020603050405020304" pitchFamily="18" charset="0"/>
              </a:rPr>
              <a:t> for web applications and </a:t>
            </a:r>
            <a:r>
              <a:rPr lang="en-US" sz="3200" dirty="0" err="1">
                <a:latin typeface="Times New Roman" panose="02020603050405020304" pitchFamily="18" charset="0"/>
                <a:cs typeface="Times New Roman" panose="02020603050405020304" pitchFamily="18" charset="0"/>
              </a:rPr>
              <a:t>Appium</a:t>
            </a:r>
            <a:r>
              <a:rPr lang="en-US" sz="3200" dirty="0">
                <a:latin typeface="Times New Roman" panose="02020603050405020304" pitchFamily="18" charset="0"/>
                <a:cs typeface="Times New Roman" panose="02020603050405020304" pitchFamily="18" charset="0"/>
              </a:rPr>
              <a:t> for mobile apps remain popular. Performance testing will continue to be crucial, with tools like </a:t>
            </a:r>
            <a:r>
              <a:rPr lang="en-US" sz="3200" u="sng" dirty="0">
                <a:latin typeface="Times New Roman" panose="02020603050405020304" pitchFamily="18" charset="0"/>
                <a:cs typeface="Times New Roman" panose="02020603050405020304" pitchFamily="18" charset="0"/>
                <a:hlinkClick r:id="rId3"/>
              </a:rPr>
              <a:t>Apache </a:t>
            </a:r>
            <a:r>
              <a:rPr lang="en-US" sz="3200" u="sng" dirty="0" err="1">
                <a:latin typeface="Times New Roman" panose="02020603050405020304" pitchFamily="18" charset="0"/>
                <a:cs typeface="Times New Roman" panose="02020603050405020304" pitchFamily="18" charset="0"/>
                <a:hlinkClick r:id="rId3"/>
              </a:rPr>
              <a:t>JMeter</a:t>
            </a:r>
            <a:r>
              <a:rPr lang="en-US" sz="3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hlinkClick r:id="rId4"/>
              </a:rPr>
              <a:t>Gatling</a:t>
            </a:r>
            <a:r>
              <a:rPr lang="en-US" sz="3200" dirty="0">
                <a:latin typeface="Times New Roman" panose="02020603050405020304" pitchFamily="18" charset="0"/>
                <a:cs typeface="Times New Roman" panose="02020603050405020304" pitchFamily="18" charset="0"/>
              </a:rPr>
              <a:t>, and </a:t>
            </a:r>
            <a:r>
              <a:rPr lang="en-US" sz="3200" dirty="0" err="1">
                <a:latin typeface="Times New Roman" panose="02020603050405020304" pitchFamily="18" charset="0"/>
                <a:cs typeface="Times New Roman" panose="02020603050405020304" pitchFamily="18" charset="0"/>
              </a:rPr>
              <a:t>LoadRunner</a:t>
            </a:r>
            <a:r>
              <a:rPr lang="en-US" sz="3200" dirty="0">
                <a:latin typeface="Times New Roman" panose="02020603050405020304" pitchFamily="18" charset="0"/>
                <a:cs typeface="Times New Roman" panose="02020603050405020304" pitchFamily="18" charset="0"/>
              </a:rPr>
              <a:t> being utilized. Additionally, AI-driven testing will become increasingly prevalent, offering new ways to improve test coverage and </a:t>
            </a:r>
            <a:r>
              <a:rPr lang="en-US" sz="3200" dirty="0" err="1">
                <a:latin typeface="Times New Roman" panose="02020603050405020304" pitchFamily="18" charset="0"/>
                <a:cs typeface="Times New Roman" panose="02020603050405020304" pitchFamily="18" charset="0"/>
              </a:rPr>
              <a:t>efficiency</a:t>
            </a:r>
            <a:r>
              <a:rPr lang="en-US" sz="3200" dirty="0" err="1" smtClean="0">
                <a:latin typeface="Times New Roman" panose="02020603050405020304" pitchFamily="18" charset="0"/>
                <a:cs typeface="Times New Roman" panose="02020603050405020304" pitchFamily="18" charset="0"/>
              </a:rPr>
              <a:t>ols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30651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72766"/>
          </a:xfrm>
        </p:spPr>
        <p:txBody>
          <a:bodyPr>
            <a:noAutofit/>
          </a:bodyPr>
          <a:lstStyle/>
          <a:p>
            <a:pPr algn="r" rtl="1"/>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b="1" dirty="0" smtClean="0">
                <a:solidFill>
                  <a:schemeClr val="bg1"/>
                </a:solidFill>
                <a:cs typeface="B Mitra" panose="00000400000000000000" pitchFamily="2" charset="-78"/>
              </a:rPr>
              <a:t/>
            </a:r>
            <a:br>
              <a:rPr lang="fa-IR" sz="3200"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در شرکتی که فعالیت می‌کنید، آیا تست نرم‌افزار را در نظر گرفته‌اند؟ اگر به صورت مستقل در حال نوشتن برنامه‌ای هستید، تست را در نظر گرفته‌اید؟ شرکت‌ها چه زمانی را برای تست برنامه ریزی می‌کنند؟ در پایان پروژه‌ها؟ در محیط عملیاتی مشتری؟ یا ابتدای کار؟</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تست از همان ابتدای پروژه شروع می‌شود. بدین ترتیب که از فاز تحلیل، استراتژی تست تعیین می‌شود. بر اساس این استراتژی برنامه‌های تست  اولیه طراحی شده و انواع تست مشخص می‌شود. سپس تست آغاز شده و تا هنگامی‌که برنامه در محیط مشتری استقرار یابد، ادامه پیدا می‌کند. بنابراین تست در همه مراحل توسعه نرم‌افزار، همراه شما خواهد بود.</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به‌عبارتی می‌توان گفت استراتژی تست نرم‌افزار یک توصیف رسمی از این است که نرم‌افزار چگونه تست خواهد شد.</a:t>
            </a:r>
            <a:br>
              <a:rPr lang="fa-IR" sz="3200" dirty="0">
                <a:solidFill>
                  <a:schemeClr val="bg1"/>
                </a:solidFill>
                <a:cs typeface="B Mitra" panose="00000400000000000000" pitchFamily="2" charset="-78"/>
              </a:rPr>
            </a:b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184418125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72766"/>
          </a:xfrm>
        </p:spPr>
        <p:txBody>
          <a:bodyPr>
            <a:noAutofit/>
          </a:bodyPr>
          <a:lstStyle/>
          <a:p>
            <a:pPr lvl="1" rtl="1"/>
            <a:r>
              <a:rPr lang="fa-IR" sz="3600" b="1" dirty="0" smtClean="0">
                <a:solidFill>
                  <a:schemeClr val="bg1"/>
                </a:solidFill>
                <a:cs typeface="B Mitra" panose="00000400000000000000" pitchFamily="2" charset="-78"/>
              </a:rPr>
              <a:t>هدف </a:t>
            </a:r>
            <a:r>
              <a:rPr lang="fa-IR" sz="3600" b="1" dirty="0">
                <a:solidFill>
                  <a:schemeClr val="bg1"/>
                </a:solidFill>
                <a:cs typeface="B Mitra" panose="00000400000000000000" pitchFamily="2" charset="-78"/>
              </a:rPr>
              <a:t>استراتژی </a:t>
            </a:r>
            <a:r>
              <a:rPr lang="fa-IR" sz="3600" b="1" dirty="0" smtClean="0">
                <a:solidFill>
                  <a:schemeClr val="bg1"/>
                </a:solidFill>
                <a:cs typeface="B Mitra" panose="00000400000000000000" pitchFamily="2" charset="-78"/>
              </a:rPr>
              <a:t>تست</a:t>
            </a:r>
            <a:br>
              <a:rPr lang="fa-IR" sz="3600" b="1" dirty="0" smtClean="0">
                <a:solidFill>
                  <a:schemeClr val="bg1"/>
                </a:solidFill>
                <a:cs typeface="B Mitra" panose="00000400000000000000" pitchFamily="2" charset="-78"/>
              </a:rPr>
            </a:br>
            <a:r>
              <a:rPr lang="en-US" sz="3600" b="1" dirty="0">
                <a:solidFill>
                  <a:schemeClr val="bg1"/>
                </a:solidFill>
                <a:cs typeface="B Mitra" panose="00000400000000000000" pitchFamily="2" charset="-78"/>
              </a:rPr>
              <a:t/>
            </a:r>
            <a:br>
              <a:rPr lang="en-US" sz="3600" b="1" dirty="0">
                <a:solidFill>
                  <a:schemeClr val="bg1"/>
                </a:solidFill>
                <a:cs typeface="B Mitra" panose="00000400000000000000" pitchFamily="2" charset="-78"/>
              </a:rPr>
            </a:br>
            <a:r>
              <a:rPr lang="fa-IR" sz="3600" dirty="0">
                <a:solidFill>
                  <a:schemeClr val="bg1"/>
                </a:solidFill>
                <a:cs typeface="B Mitra" panose="00000400000000000000" pitchFamily="2" charset="-78"/>
              </a:rPr>
              <a:t> هدف استراتژی تست تعریف همه مراحل برای فرآیند تست نرم‌افزار است که شامل:</a:t>
            </a:r>
            <a:r>
              <a:rPr lang="en-US" sz="3600" dirty="0">
                <a:solidFill>
                  <a:schemeClr val="bg1"/>
                </a:solidFill>
                <a:cs typeface="B Mitra" panose="00000400000000000000" pitchFamily="2" charset="-78"/>
              </a:rPr>
              <a:t/>
            </a:r>
            <a:br>
              <a:rPr lang="en-US"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 برنامه‌ریزی </a:t>
            </a:r>
            <a:r>
              <a:rPr lang="fa-IR" sz="3600" dirty="0">
                <a:solidFill>
                  <a:schemeClr val="bg1"/>
                </a:solidFill>
                <a:cs typeface="B Mitra" panose="00000400000000000000" pitchFamily="2" charset="-78"/>
              </a:rPr>
              <a:t>تست</a:t>
            </a:r>
            <a:r>
              <a:rPr lang="en-US" sz="3600" dirty="0">
                <a:solidFill>
                  <a:schemeClr val="bg1"/>
                </a:solidFill>
                <a:cs typeface="B Mitra" panose="00000400000000000000" pitchFamily="2" charset="-78"/>
              </a:rPr>
              <a:t/>
            </a:r>
            <a:br>
              <a:rPr lang="en-US"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 طراحی </a:t>
            </a:r>
            <a:r>
              <a:rPr lang="fa-IR" sz="3600" dirty="0">
                <a:solidFill>
                  <a:schemeClr val="bg1"/>
                </a:solidFill>
                <a:cs typeface="B Mitra" panose="00000400000000000000" pitchFamily="2" charset="-78"/>
              </a:rPr>
              <a:t>ابزار تست</a:t>
            </a:r>
            <a:r>
              <a:rPr lang="en-US" sz="3600" dirty="0">
                <a:solidFill>
                  <a:schemeClr val="bg1"/>
                </a:solidFill>
                <a:cs typeface="B Mitra" panose="00000400000000000000" pitchFamily="2" charset="-78"/>
              </a:rPr>
              <a:t/>
            </a:r>
            <a:br>
              <a:rPr lang="en-US"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 اجرای </a:t>
            </a:r>
            <a:r>
              <a:rPr lang="fa-IR" sz="3600" dirty="0">
                <a:solidFill>
                  <a:schemeClr val="bg1"/>
                </a:solidFill>
                <a:cs typeface="B Mitra" panose="00000400000000000000" pitchFamily="2" charset="-78"/>
              </a:rPr>
              <a:t>تست</a:t>
            </a:r>
            <a:r>
              <a:rPr lang="en-US" sz="3600" dirty="0">
                <a:solidFill>
                  <a:schemeClr val="bg1"/>
                </a:solidFill>
                <a:cs typeface="B Mitra" panose="00000400000000000000" pitchFamily="2" charset="-78"/>
              </a:rPr>
              <a:t/>
            </a:r>
            <a:br>
              <a:rPr lang="en-US"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 جمع </a:t>
            </a:r>
            <a:r>
              <a:rPr lang="fa-IR" sz="3600" dirty="0">
                <a:solidFill>
                  <a:schemeClr val="bg1"/>
                </a:solidFill>
                <a:cs typeface="B Mitra" panose="00000400000000000000" pitchFamily="2" charset="-78"/>
              </a:rPr>
              <a:t>آوری</a:t>
            </a:r>
            <a:r>
              <a:rPr lang="en-US" sz="3600" dirty="0">
                <a:solidFill>
                  <a:schemeClr val="bg1"/>
                </a:solidFill>
                <a:cs typeface="B Mitra" panose="00000400000000000000" pitchFamily="2" charset="-78"/>
              </a:rPr>
              <a:t/>
            </a:r>
            <a:br>
              <a:rPr lang="en-US"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 ارزیابی </a:t>
            </a:r>
            <a:r>
              <a:rPr lang="en-US" sz="3600" dirty="0">
                <a:solidFill>
                  <a:schemeClr val="bg1"/>
                </a:solidFill>
                <a:cs typeface="B Mitra" panose="00000400000000000000" pitchFamily="2" charset="-78"/>
              </a:rPr>
              <a:t/>
            </a:r>
            <a:br>
              <a:rPr lang="en-US"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داده‌های </a:t>
            </a:r>
            <a:r>
              <a:rPr lang="fa-IR" sz="3600" dirty="0">
                <a:solidFill>
                  <a:schemeClr val="bg1"/>
                </a:solidFill>
                <a:cs typeface="B Mitra" panose="00000400000000000000" pitchFamily="2" charset="-78"/>
              </a:rPr>
              <a:t>به‌دست آمده باشد</a:t>
            </a:r>
            <a:r>
              <a:rPr lang="fa-IR" sz="3600" dirty="0" smtClean="0">
                <a:solidFill>
                  <a:schemeClr val="bg1"/>
                </a:solidFill>
                <a:cs typeface="B Mitra" panose="00000400000000000000" pitchFamily="2" charset="-78"/>
              </a:rPr>
              <a:t>.</a:t>
            </a: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endParaRPr lang="en-US" sz="3600" dirty="0">
              <a:solidFill>
                <a:schemeClr val="bg1"/>
              </a:solidFill>
              <a:cs typeface="B Mitra" panose="00000400000000000000" pitchFamily="2" charset="-78"/>
            </a:endParaRPr>
          </a:p>
        </p:txBody>
      </p:sp>
    </p:spTree>
    <p:extLst>
      <p:ext uri="{BB962C8B-B14F-4D97-AF65-F5344CB8AC3E}">
        <p14:creationId xmlns:p14="http://schemas.microsoft.com/office/powerpoint/2010/main" val="26195056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72766"/>
          </a:xfrm>
        </p:spPr>
        <p:txBody>
          <a:bodyPr>
            <a:noAutofit/>
          </a:bodyPr>
          <a:lstStyle/>
          <a:p>
            <a:pPr algn="r" rtl="1"/>
            <a:r>
              <a:rPr lang="fa-IR" sz="3200" b="1" dirty="0" smtClean="0">
                <a:solidFill>
                  <a:schemeClr val="bg1"/>
                </a:solidFill>
                <a:cs typeface="B Mitra" panose="00000400000000000000" pitchFamily="2" charset="-78"/>
              </a:rPr>
              <a:t>مطرح‌ترین </a:t>
            </a:r>
            <a:r>
              <a:rPr lang="fa-IR" sz="3200" b="1" dirty="0">
                <a:solidFill>
                  <a:schemeClr val="bg1"/>
                </a:solidFill>
                <a:cs typeface="B Mitra" panose="00000400000000000000" pitchFamily="2" charset="-78"/>
              </a:rPr>
              <a:t>استراتژی‌های تست </a:t>
            </a:r>
            <a:r>
              <a:rPr lang="fa-IR" sz="3200" b="1" dirty="0" smtClean="0">
                <a:solidFill>
                  <a:schemeClr val="bg1"/>
                </a:solidFill>
                <a:cs typeface="B Mitra" panose="00000400000000000000" pitchFamily="2" charset="-78"/>
              </a:rPr>
              <a:t>نرم‌افزار</a:t>
            </a:r>
            <a:br>
              <a:rPr lang="fa-IR" sz="3200"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همان‌طور که می‌دانید از مطرح‌ترین استراتژی‌های تست نرم‌افزار می‌توان به موارد زیر اشاره کرد:</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جعبه سفید</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جعبه سیاه</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جعبه </a:t>
            </a:r>
            <a:r>
              <a:rPr lang="fa-IR" sz="3200" dirty="0" smtClean="0">
                <a:solidFill>
                  <a:schemeClr val="bg1"/>
                </a:solidFill>
                <a:cs typeface="B Mitra" panose="00000400000000000000" pitchFamily="2" charset="-78"/>
              </a:rPr>
              <a:t>خاکستری</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این تست‌ها عموما در قالب تست </a:t>
            </a:r>
            <a:r>
              <a:rPr lang="fa-IR" sz="3200" dirty="0" smtClean="0">
                <a:solidFill>
                  <a:schemeClr val="bg1"/>
                </a:solidFill>
                <a:cs typeface="B Mitra" panose="00000400000000000000" pitchFamily="2" charset="-78"/>
              </a:rPr>
              <a:t>نفوذپذیری مطرح </a:t>
            </a:r>
            <a:r>
              <a:rPr lang="fa-IR" sz="3200" dirty="0">
                <a:solidFill>
                  <a:schemeClr val="bg1"/>
                </a:solidFill>
                <a:cs typeface="B Mitra" panose="00000400000000000000" pitchFamily="2" charset="-78"/>
              </a:rPr>
              <a:t>می‌گردند، همان‌طور که از نامش پیداست تمام توان در این تست‌ها برای پیداکردن حفره‌ها و عیوب سیستم به‌کار گرفته می‌شود. در ادامه به طور مفصل در زمینه سه روش اشاره شده بحث می‌کنیم. اما پیش از این لازم است بدانیم که تفاوت روش‌های مطرح شده در میزان اطلاعاتی – مربوط به نرم‌افزاری- است که در اختیار تستر قرار می‌گیرد</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193542326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72766"/>
          </a:xfrm>
        </p:spPr>
        <p:txBody>
          <a:bodyPr>
            <a:noAutofit/>
          </a:bodyPr>
          <a:lstStyle/>
          <a:p>
            <a:pPr algn="r" rtl="1"/>
            <a:r>
              <a:rPr lang="fa-IR" sz="3200" b="1" dirty="0">
                <a:solidFill>
                  <a:schemeClr val="bg1"/>
                </a:solidFill>
                <a:cs typeface="B Mitra" panose="00000400000000000000" pitchFamily="2" charset="-78"/>
              </a:rPr>
              <a:t>استراتژی تست جعبه سفید </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000" dirty="0" smtClean="0">
                <a:solidFill>
                  <a:schemeClr val="bg1"/>
                </a:solidFill>
                <a:cs typeface="B Mitra" panose="00000400000000000000" pitchFamily="2" charset="-78"/>
              </a:rPr>
              <a:t>نام </a:t>
            </a:r>
            <a:r>
              <a:rPr lang="fa-IR" sz="3000" dirty="0">
                <a:solidFill>
                  <a:schemeClr val="bg1"/>
                </a:solidFill>
                <a:cs typeface="B Mitra" panose="00000400000000000000" pitchFamily="2" charset="-78"/>
              </a:rPr>
              <a:t>جعبه سفید این استراتژی به نوعی نمادین می‌باشد، فقط در جهت هماهنگی با جعبه سیاه و حس تضاد به چنین اسمی معروف است، در غیر این‌صورت باید آن را جعبه شفاف یا شیشه‌ای  نامید. این استراتژی یکی از روش‌های برجسته طراحی موارد تست یا آزمون نرم‌افزار است که هدف اصلی آن بررسی منطق درونی نرم‌افزار است. در واقع طی این تست روال منطقی برنامه دنبال خواهد شد. در استراتژی جعبه سفید جزئیات نرم‌افزار مانند کدهای منبع، مستندات طراحی و… را درون یک جعبه شیشه‌ای گذاشته‌ایم، بدین‌صورت که می‌توان محتویات داخل آن را مشاهده و از نحوه عملکرد آن آگاه شد</a:t>
            </a:r>
            <a:r>
              <a:rPr lang="fa-IR" sz="3000" dirty="0" smtClean="0">
                <a:solidFill>
                  <a:schemeClr val="bg1"/>
                </a:solidFill>
                <a:cs typeface="B Mitra" panose="00000400000000000000" pitchFamily="2" charset="-78"/>
              </a:rPr>
              <a:t>.</a:t>
            </a:r>
            <a:br>
              <a:rPr lang="fa-IR" sz="3000" dirty="0" smtClean="0">
                <a:solidFill>
                  <a:schemeClr val="bg1"/>
                </a:solidFill>
                <a:cs typeface="B Mitra" panose="00000400000000000000" pitchFamily="2" charset="-78"/>
              </a:rPr>
            </a:br>
            <a:r>
              <a:rPr lang="fa-IR" sz="3000" dirty="0">
                <a:solidFill>
                  <a:schemeClr val="bg1"/>
                </a:solidFill>
                <a:cs typeface="B Mitra" panose="00000400000000000000" pitchFamily="2" charset="-78"/>
              </a:rPr>
              <a:t/>
            </a:r>
            <a:br>
              <a:rPr lang="fa-IR" sz="3000" dirty="0">
                <a:solidFill>
                  <a:schemeClr val="bg1"/>
                </a:solidFill>
                <a:cs typeface="B Mitra" panose="00000400000000000000" pitchFamily="2" charset="-78"/>
              </a:rPr>
            </a:br>
            <a:r>
              <a:rPr lang="fa-IR" sz="3000" dirty="0" smtClean="0">
                <a:solidFill>
                  <a:schemeClr val="bg1"/>
                </a:solidFill>
                <a:cs typeface="B Mitra" panose="00000400000000000000" pitchFamily="2" charset="-78"/>
              </a:rPr>
              <a:t>افرادی </a:t>
            </a:r>
            <a:r>
              <a:rPr lang="fa-IR" sz="3000" dirty="0">
                <a:solidFill>
                  <a:schemeClr val="bg1"/>
                </a:solidFill>
                <a:cs typeface="B Mitra" panose="00000400000000000000" pitchFamily="2" charset="-78"/>
              </a:rPr>
              <a:t>که این استراتژی را پیاده سازی می‌کنند معمولا اعضای تیم توسعه و تیم مستقل تست هستند. این افراد توسط این استراتژی به منطق درونی و ساختار طراحی و کدنویسی نرم‌افزار احاطه خواهند داشت. وقتی از مستندات و جزئیات دقیق یک محصول نرم‌افزاری آگاه باشیم، قاعدتا از نحوه پیاده سازی آن هم آگاه خواهیم بود. بنابراین فرد یا تیم مورد نظر با آگاهی کامل از ریز جزئیات نرم‌افزار به بررسی آن می‌پردازد</a:t>
            </a:r>
            <a:r>
              <a:rPr lang="fa-IR" sz="3000" dirty="0" smtClean="0">
                <a:solidFill>
                  <a:schemeClr val="bg1"/>
                </a:solidFill>
                <a:cs typeface="B Mitra" panose="00000400000000000000" pitchFamily="2" charset="-78"/>
              </a:rPr>
              <a:t>.</a:t>
            </a:r>
            <a:endParaRPr lang="en-US" sz="3000" dirty="0">
              <a:solidFill>
                <a:schemeClr val="bg1"/>
              </a:solidFill>
              <a:cs typeface="B Mitra" panose="00000400000000000000" pitchFamily="2" charset="-78"/>
            </a:endParaRPr>
          </a:p>
        </p:txBody>
      </p:sp>
    </p:spTree>
    <p:extLst>
      <p:ext uri="{BB962C8B-B14F-4D97-AF65-F5344CB8AC3E}">
        <p14:creationId xmlns:p14="http://schemas.microsoft.com/office/powerpoint/2010/main" val="4964295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40971" y="1380368"/>
            <a:ext cx="8692243" cy="4524315"/>
          </a:xfrm>
          <a:prstGeom prst="rect">
            <a:avLst/>
          </a:prstGeom>
        </p:spPr>
        <p:txBody>
          <a:bodyPr wrap="square">
            <a:spAutoFit/>
          </a:bodyPr>
          <a:lstStyle/>
          <a:p>
            <a:r>
              <a:rPr lang="en-US" b="1" dirty="0">
                <a:solidFill>
                  <a:srgbClr val="202124"/>
                </a:solidFill>
                <a:latin typeface="Google Sans"/>
              </a:rPr>
              <a:t>White Box Testing </a:t>
            </a:r>
            <a:r>
              <a:rPr lang="en-US" b="1" dirty="0" smtClean="0">
                <a:solidFill>
                  <a:srgbClr val="202124"/>
                </a:solidFill>
                <a:latin typeface="Google Sans"/>
              </a:rPr>
              <a:t>Tools</a:t>
            </a:r>
          </a:p>
          <a:p>
            <a:pPr fontAlgn="base"/>
            <a:r>
              <a:rPr lang="en-US" dirty="0" err="1" smtClean="0">
                <a:solidFill>
                  <a:schemeClr val="bg1"/>
                </a:solidFill>
              </a:rPr>
              <a:t>PyUnit</a:t>
            </a:r>
            <a:endParaRPr lang="en-US" dirty="0">
              <a:solidFill>
                <a:schemeClr val="bg1"/>
              </a:solidFill>
            </a:endParaRPr>
          </a:p>
          <a:p>
            <a:pPr fontAlgn="base"/>
            <a:r>
              <a:rPr lang="en-US" dirty="0" err="1">
                <a:solidFill>
                  <a:schemeClr val="bg1"/>
                </a:solidFill>
              </a:rPr>
              <a:t>Sqlmap</a:t>
            </a:r>
            <a:endParaRPr lang="en-US" dirty="0">
              <a:solidFill>
                <a:schemeClr val="bg1"/>
              </a:solidFill>
            </a:endParaRPr>
          </a:p>
          <a:p>
            <a:pPr fontAlgn="base"/>
            <a:r>
              <a:rPr lang="en-US" dirty="0" err="1">
                <a:solidFill>
                  <a:schemeClr val="bg1"/>
                </a:solidFill>
              </a:rPr>
              <a:t>Nmap</a:t>
            </a:r>
            <a:endParaRPr lang="en-US" dirty="0">
              <a:solidFill>
                <a:schemeClr val="bg1"/>
              </a:solidFill>
            </a:endParaRPr>
          </a:p>
          <a:p>
            <a:pPr fontAlgn="base"/>
            <a:r>
              <a:rPr lang="en-US" dirty="0" err="1">
                <a:solidFill>
                  <a:schemeClr val="bg1"/>
                </a:solidFill>
              </a:rPr>
              <a:t>Parasoft</a:t>
            </a:r>
            <a:r>
              <a:rPr lang="en-US" dirty="0">
                <a:solidFill>
                  <a:schemeClr val="bg1"/>
                </a:solidFill>
              </a:rPr>
              <a:t> </a:t>
            </a:r>
            <a:r>
              <a:rPr lang="en-US" dirty="0" err="1">
                <a:solidFill>
                  <a:schemeClr val="bg1"/>
                </a:solidFill>
              </a:rPr>
              <a:t>Jtest</a:t>
            </a:r>
            <a:endParaRPr lang="en-US" dirty="0">
              <a:solidFill>
                <a:schemeClr val="bg1"/>
              </a:solidFill>
            </a:endParaRPr>
          </a:p>
          <a:p>
            <a:pPr fontAlgn="base"/>
            <a:r>
              <a:rPr lang="en-US" dirty="0" err="1">
                <a:solidFill>
                  <a:schemeClr val="bg1"/>
                </a:solidFill>
              </a:rPr>
              <a:t>Nunit</a:t>
            </a:r>
            <a:endParaRPr lang="en-US" dirty="0">
              <a:solidFill>
                <a:schemeClr val="bg1"/>
              </a:solidFill>
            </a:endParaRPr>
          </a:p>
          <a:p>
            <a:pPr fontAlgn="base"/>
            <a:r>
              <a:rPr lang="en-US" dirty="0" err="1">
                <a:solidFill>
                  <a:schemeClr val="bg1"/>
                </a:solidFill>
              </a:rPr>
              <a:t>VeraUnit</a:t>
            </a:r>
            <a:endParaRPr lang="en-US" dirty="0">
              <a:solidFill>
                <a:schemeClr val="bg1"/>
              </a:solidFill>
            </a:endParaRPr>
          </a:p>
          <a:p>
            <a:pPr fontAlgn="base"/>
            <a:r>
              <a:rPr lang="en-US" dirty="0" err="1">
                <a:solidFill>
                  <a:schemeClr val="bg1"/>
                </a:solidFill>
              </a:rPr>
              <a:t>CppUnit</a:t>
            </a:r>
            <a:endParaRPr lang="en-US" dirty="0">
              <a:solidFill>
                <a:schemeClr val="bg1"/>
              </a:solidFill>
            </a:endParaRPr>
          </a:p>
          <a:p>
            <a:pPr fontAlgn="base"/>
            <a:r>
              <a:rPr lang="en-US" dirty="0">
                <a:solidFill>
                  <a:schemeClr val="bg1"/>
                </a:solidFill>
              </a:rPr>
              <a:t>Bugzilla</a:t>
            </a:r>
          </a:p>
          <a:p>
            <a:pPr fontAlgn="base"/>
            <a:r>
              <a:rPr lang="en-US" dirty="0">
                <a:solidFill>
                  <a:schemeClr val="bg1"/>
                </a:solidFill>
              </a:rPr>
              <a:t>Fiddler</a:t>
            </a:r>
          </a:p>
          <a:p>
            <a:pPr fontAlgn="base"/>
            <a:r>
              <a:rPr lang="en-US" dirty="0">
                <a:solidFill>
                  <a:schemeClr val="bg1"/>
                </a:solidFill>
              </a:rPr>
              <a:t>JSUnit.net</a:t>
            </a:r>
          </a:p>
          <a:p>
            <a:pPr fontAlgn="base"/>
            <a:r>
              <a:rPr lang="en-US" dirty="0" err="1">
                <a:solidFill>
                  <a:schemeClr val="bg1"/>
                </a:solidFill>
              </a:rPr>
              <a:t>OpenGrok</a:t>
            </a:r>
            <a:endParaRPr lang="en-US" dirty="0">
              <a:solidFill>
                <a:schemeClr val="bg1"/>
              </a:solidFill>
            </a:endParaRPr>
          </a:p>
          <a:p>
            <a:pPr fontAlgn="base"/>
            <a:r>
              <a:rPr lang="en-US" dirty="0">
                <a:solidFill>
                  <a:schemeClr val="bg1"/>
                </a:solidFill>
              </a:rPr>
              <a:t>Wireshark</a:t>
            </a:r>
          </a:p>
          <a:p>
            <a:pPr fontAlgn="base"/>
            <a:r>
              <a:rPr lang="en-US" dirty="0">
                <a:solidFill>
                  <a:schemeClr val="bg1"/>
                </a:solidFill>
              </a:rPr>
              <a:t>HP Fortify</a:t>
            </a:r>
          </a:p>
          <a:p>
            <a:pPr fontAlgn="base"/>
            <a:r>
              <a:rPr lang="en-US" dirty="0" err="1">
                <a:solidFill>
                  <a:schemeClr val="bg1"/>
                </a:solidFill>
              </a:rPr>
              <a:t>CSUnit</a:t>
            </a:r>
            <a:endParaRPr lang="en-US" dirty="0">
              <a:solidFill>
                <a:schemeClr val="bg1"/>
              </a:solidFill>
            </a:endParaRPr>
          </a:p>
          <a:p>
            <a:endParaRPr lang="en-US" dirty="0">
              <a:solidFill>
                <a:srgbClr val="202124"/>
              </a:solidFill>
              <a:latin typeface="Google Sans"/>
            </a:endParaRPr>
          </a:p>
        </p:txBody>
      </p:sp>
    </p:spTree>
    <p:extLst>
      <p:ext uri="{BB962C8B-B14F-4D97-AF65-F5344CB8AC3E}">
        <p14:creationId xmlns:p14="http://schemas.microsoft.com/office/powerpoint/2010/main" val="18043087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72766"/>
          </a:xfrm>
        </p:spPr>
        <p:txBody>
          <a:bodyPr>
            <a:noAutofit/>
          </a:bodyPr>
          <a:lstStyle/>
          <a:p>
            <a:pPr algn="r" rtl="1"/>
            <a:r>
              <a:rPr lang="fa-IR" sz="3200" b="1" dirty="0" smtClean="0">
                <a:solidFill>
                  <a:schemeClr val="bg1"/>
                </a:solidFill>
                <a:cs typeface="B Mitra" panose="00000400000000000000" pitchFamily="2" charset="-78"/>
              </a:rPr>
              <a:t>هدف </a:t>
            </a:r>
            <a:r>
              <a:rPr lang="fa-IR" sz="3200" b="1" dirty="0">
                <a:solidFill>
                  <a:schemeClr val="bg1"/>
                </a:solidFill>
                <a:cs typeface="B Mitra" panose="00000400000000000000" pitchFamily="2" charset="-78"/>
              </a:rPr>
              <a:t>از تست جعبه سفید</a:t>
            </a:r>
            <a:r>
              <a:rPr lang="fa-IR" sz="3200" b="1" dirty="0" smtClean="0">
                <a:solidFill>
                  <a:schemeClr val="bg1"/>
                </a:solidFill>
                <a:cs typeface="B Mitra" panose="00000400000000000000" pitchFamily="2" charset="-78"/>
              </a:rPr>
              <a:t>:</a:t>
            </a:r>
            <a:br>
              <a:rPr lang="fa-IR" sz="3200"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اهدافی که از این استراتژی دنبال می‌شوند عبارتند از</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1) بررسی حفره‌های امنیتی</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2)  بررسی مسیرهای مسدود یا ناقص</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3)  بررسی ساختار پیاده‌سازی شده با مستندات تهیه شده</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4)  بررسی خروجی‌های مورد انتظار</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5)  بررسی تمامی حلقه‌ها و شروط آن‌ها</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6)  بررسی خط به خط کد برنامه و یا هر بخشی از آن و پوشش تست ۱۰۰ درصد</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7)  و بالاتر و برتر از همه این اهداف، می‌توان گفت بررسی مراحل در چرخه توسعه تست نرم افزار  که اشاره به تست واحد ، تست یکپارچه‌سازی  و تست سیستم  داشت.</a:t>
            </a:r>
            <a:br>
              <a:rPr lang="fa-IR" sz="3200" dirty="0">
                <a:solidFill>
                  <a:schemeClr val="bg1"/>
                </a:solidFill>
                <a:cs typeface="B Mitra" panose="00000400000000000000" pitchFamily="2" charset="-78"/>
              </a:rPr>
            </a:b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155588476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72766"/>
          </a:xfrm>
        </p:spPr>
        <p:txBody>
          <a:bodyPr>
            <a:noAutofit/>
          </a:bodyPr>
          <a:lstStyle/>
          <a:p>
            <a:pPr algn="r" rtl="1"/>
            <a:r>
              <a:rPr lang="fa-IR" sz="3200" b="1" dirty="0" smtClean="0">
                <a:solidFill>
                  <a:schemeClr val="bg1"/>
                </a:solidFill>
                <a:cs typeface="B Mitra" panose="00000400000000000000" pitchFamily="2" charset="-78"/>
              </a:rPr>
              <a:t>اعمالی </a:t>
            </a:r>
            <a:r>
              <a:rPr lang="fa-IR" sz="3200" b="1" dirty="0">
                <a:solidFill>
                  <a:schemeClr val="bg1"/>
                </a:solidFill>
                <a:cs typeface="B Mitra" panose="00000400000000000000" pitchFamily="2" charset="-78"/>
              </a:rPr>
              <a:t>که در این استراتژی انجام </a:t>
            </a:r>
            <a:r>
              <a:rPr lang="fa-IR" sz="3200" b="1" dirty="0" smtClean="0">
                <a:solidFill>
                  <a:schemeClr val="bg1"/>
                </a:solidFill>
                <a:cs typeface="B Mitra" panose="00000400000000000000" pitchFamily="2" charset="-78"/>
              </a:rPr>
              <a:t>می‌شود</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۱- </a:t>
            </a:r>
            <a:r>
              <a:rPr lang="fa-IR" sz="3200" b="1" dirty="0">
                <a:solidFill>
                  <a:schemeClr val="bg1"/>
                </a:solidFill>
                <a:cs typeface="B Mitra" panose="00000400000000000000" pitchFamily="2" charset="-78"/>
              </a:rPr>
              <a:t>بررسی سطر به سطر کد </a:t>
            </a:r>
            <a:r>
              <a:rPr lang="fa-IR" sz="3200" dirty="0">
                <a:solidFill>
                  <a:schemeClr val="bg1"/>
                </a:solidFill>
                <a:cs typeface="B Mitra" panose="00000400000000000000" pitchFamily="2" charset="-78"/>
              </a:rPr>
              <a:t>:  بررسی خطوط کد، به‌صورت خط به خط و جزء به جزء، به ‌صورتی‌که خطوط کد و مسیرهای مستقل داخل یک پیمانه حداقل یک بار اجرا و تست شوند</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۲- </a:t>
            </a:r>
            <a:r>
              <a:rPr lang="fa-IR" sz="3200" b="1" dirty="0">
                <a:solidFill>
                  <a:schemeClr val="bg1"/>
                </a:solidFill>
                <a:cs typeface="B Mitra" panose="00000400000000000000" pitchFamily="2" charset="-78"/>
              </a:rPr>
              <a:t>بررسی همه انشعاب‌ها  </a:t>
            </a:r>
            <a:r>
              <a:rPr lang="fa-IR" sz="3200" dirty="0">
                <a:solidFill>
                  <a:schemeClr val="bg1"/>
                </a:solidFill>
                <a:cs typeface="B Mitra" panose="00000400000000000000" pitchFamily="2" charset="-78"/>
              </a:rPr>
              <a:t>:  در کد برنامه باید تمام عبارت‌های شرطی ( </a:t>
            </a:r>
            <a:r>
              <a:rPr lang="en-US" sz="3200" dirty="0">
                <a:solidFill>
                  <a:schemeClr val="bg1"/>
                </a:solidFill>
                <a:cs typeface="B Mitra" panose="00000400000000000000" pitchFamily="2" charset="-78"/>
              </a:rPr>
              <a:t>if else </a:t>
            </a:r>
            <a:r>
              <a:rPr lang="fa-IR" sz="3200" dirty="0">
                <a:solidFill>
                  <a:schemeClr val="bg1"/>
                </a:solidFill>
                <a:cs typeface="B Mitra" panose="00000400000000000000" pitchFamily="2" charset="-78"/>
              </a:rPr>
              <a:t>ها و </a:t>
            </a:r>
            <a:r>
              <a:rPr lang="en-US" sz="3200" dirty="0">
                <a:solidFill>
                  <a:schemeClr val="bg1"/>
                </a:solidFill>
                <a:cs typeface="B Mitra" panose="00000400000000000000" pitchFamily="2" charset="-78"/>
              </a:rPr>
              <a:t>Switch case </a:t>
            </a:r>
            <a:r>
              <a:rPr lang="fa-IR" sz="3200" dirty="0">
                <a:solidFill>
                  <a:schemeClr val="bg1"/>
                </a:solidFill>
                <a:cs typeface="B Mitra" panose="00000400000000000000" pitchFamily="2" charset="-78"/>
              </a:rPr>
              <a:t>ها) را تک به تک مورد بررسی قرار داد. در یک عبارت </a:t>
            </a:r>
            <a:r>
              <a:rPr lang="en-US" sz="3200" dirty="0">
                <a:solidFill>
                  <a:schemeClr val="bg1"/>
                </a:solidFill>
                <a:cs typeface="B Mitra" panose="00000400000000000000" pitchFamily="2" charset="-78"/>
              </a:rPr>
              <a:t>if else </a:t>
            </a:r>
            <a:r>
              <a:rPr lang="fa-IR" sz="3200" dirty="0">
                <a:solidFill>
                  <a:schemeClr val="bg1"/>
                </a:solidFill>
                <a:cs typeface="B Mitra" panose="00000400000000000000" pitchFamily="2" charset="-78"/>
              </a:rPr>
              <a:t>هم قسمت </a:t>
            </a:r>
            <a:r>
              <a:rPr lang="en-US" sz="3200" dirty="0">
                <a:solidFill>
                  <a:schemeClr val="bg1"/>
                </a:solidFill>
                <a:cs typeface="B Mitra" panose="00000400000000000000" pitchFamily="2" charset="-78"/>
              </a:rPr>
              <a:t>if </a:t>
            </a:r>
            <a:r>
              <a:rPr lang="fa-IR" sz="3200" dirty="0">
                <a:solidFill>
                  <a:schemeClr val="bg1"/>
                </a:solidFill>
                <a:cs typeface="B Mitra" panose="00000400000000000000" pitchFamily="2" charset="-78"/>
              </a:rPr>
              <a:t>و هم قسمت </a:t>
            </a:r>
            <a:r>
              <a:rPr lang="en-US" sz="3200" dirty="0">
                <a:solidFill>
                  <a:schemeClr val="bg1"/>
                </a:solidFill>
                <a:cs typeface="B Mitra" panose="00000400000000000000" pitchFamily="2" charset="-78"/>
              </a:rPr>
              <a:t>else </a:t>
            </a:r>
            <a:r>
              <a:rPr lang="fa-IR" sz="3200" dirty="0">
                <a:solidFill>
                  <a:schemeClr val="bg1"/>
                </a:solidFill>
                <a:cs typeface="B Mitra" panose="00000400000000000000" pitchFamily="2" charset="-78"/>
              </a:rPr>
              <a:t>هر کدام به‌صورت مجزا یک بار اجراء شوند. حتی </a:t>
            </a:r>
            <a:r>
              <a:rPr lang="en-US" sz="3200" dirty="0">
                <a:solidFill>
                  <a:schemeClr val="bg1"/>
                </a:solidFill>
                <a:cs typeface="B Mitra" panose="00000400000000000000" pitchFamily="2" charset="-78"/>
              </a:rPr>
              <a:t>else </a:t>
            </a:r>
            <a:r>
              <a:rPr lang="fa-IR" sz="3200" dirty="0">
                <a:solidFill>
                  <a:schemeClr val="bg1"/>
                </a:solidFill>
                <a:cs typeface="B Mitra" panose="00000400000000000000" pitchFamily="2" charset="-78"/>
              </a:rPr>
              <a:t>هایی که شاید هیچ‌گاه اجرا نشوند را تست می‌کنیم.</a:t>
            </a:r>
            <a:br>
              <a:rPr lang="fa-IR" sz="3200" dirty="0">
                <a:solidFill>
                  <a:schemeClr val="bg1"/>
                </a:solidFill>
                <a:cs typeface="B Mitra" panose="00000400000000000000" pitchFamily="2" charset="-78"/>
              </a:rPr>
            </a:b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208574067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72766"/>
          </a:xfrm>
        </p:spPr>
        <p:txBody>
          <a:bodyPr>
            <a:noAutofit/>
          </a:bodyPr>
          <a:lstStyle/>
          <a:p>
            <a:pPr algn="r" rtl="1"/>
            <a:r>
              <a:rPr lang="fa-IR" sz="3200" b="1" dirty="0">
                <a:solidFill>
                  <a:schemeClr val="bg1"/>
                </a:solidFill>
                <a:cs typeface="B Mitra" panose="00000400000000000000" pitchFamily="2" charset="-78"/>
              </a:rPr>
              <a:t>اعمالی که در این استراتژی انجام می‌شود (ادامه</a:t>
            </a:r>
            <a:r>
              <a:rPr lang="fa-IR" sz="3200" b="1" dirty="0" smtClean="0">
                <a:solidFill>
                  <a:schemeClr val="bg1"/>
                </a:solidFill>
                <a:cs typeface="B Mitra" panose="00000400000000000000" pitchFamily="2" charset="-78"/>
              </a:rPr>
              <a:t>):</a:t>
            </a:r>
            <a:br>
              <a:rPr lang="fa-IR" sz="3200" b="1" dirty="0" smtClean="0">
                <a:solidFill>
                  <a:schemeClr val="bg1"/>
                </a:solidFill>
                <a:cs typeface="B Mitra" panose="00000400000000000000" pitchFamily="2" charset="-78"/>
              </a:rPr>
            </a:br>
            <a:r>
              <a:rPr lang="fa-IR" sz="3200" b="1" dirty="0">
                <a:solidFill>
                  <a:schemeClr val="bg1"/>
                </a:solidFill>
                <a:cs typeface="B Mitra" panose="00000400000000000000" pitchFamily="2" charset="-78"/>
              </a:rPr>
              <a:t/>
            </a:r>
            <a:br>
              <a:rPr lang="fa-IR" sz="3200" b="1" dirty="0">
                <a:solidFill>
                  <a:schemeClr val="bg1"/>
                </a:solidFill>
                <a:cs typeface="B Mitra" panose="00000400000000000000" pitchFamily="2" charset="-78"/>
              </a:rPr>
            </a:br>
            <a:r>
              <a:rPr lang="fa-IR" sz="3200" b="1" dirty="0" smtClean="0">
                <a:solidFill>
                  <a:schemeClr val="bg1"/>
                </a:solidFill>
                <a:cs typeface="B Mitra" panose="00000400000000000000" pitchFamily="2" charset="-78"/>
              </a:rPr>
              <a:t>۳- </a:t>
            </a:r>
            <a:r>
              <a:rPr lang="fa-IR" sz="3200" b="1" dirty="0">
                <a:solidFill>
                  <a:schemeClr val="bg1"/>
                </a:solidFill>
                <a:cs typeface="B Mitra" panose="00000400000000000000" pitchFamily="2" charset="-78"/>
              </a:rPr>
              <a:t>بررسی همه حلقه‌ها</a:t>
            </a:r>
            <a:r>
              <a:rPr lang="fa-IR" sz="3200" dirty="0">
                <a:solidFill>
                  <a:schemeClr val="bg1"/>
                </a:solidFill>
                <a:cs typeface="B Mitra" panose="00000400000000000000" pitchFamily="2" charset="-78"/>
              </a:rPr>
              <a:t>: حلقه‌ها در نرم‌افزار نقش اساسی دارند، چون می‌توانند با اشتباه جزئی مقدار زیادی از منابع را مصرف کنند. برای مثال شرط خروج از حلقه به اشتباه هیچ وقت </a:t>
            </a:r>
            <a:r>
              <a:rPr lang="en-US" sz="3200" dirty="0">
                <a:solidFill>
                  <a:schemeClr val="bg1"/>
                </a:solidFill>
                <a:cs typeface="B Mitra" panose="00000400000000000000" pitchFamily="2" charset="-78"/>
              </a:rPr>
              <a:t>True </a:t>
            </a:r>
            <a:r>
              <a:rPr lang="fa-IR" sz="3200" dirty="0">
                <a:solidFill>
                  <a:schemeClr val="bg1"/>
                </a:solidFill>
                <a:cs typeface="B Mitra" panose="00000400000000000000" pitchFamily="2" charset="-78"/>
              </a:rPr>
              <a:t>نشود! برای مثال حلقه‌ها را با ورودی بزرگتر از شرط خروج حلقه چک کنید یعنی حلقه اصلا اجر نشود. تستی طراحی کنید که حلقه دقیقا یک بار اجراء شود، تستی طراحی کنید که حلقه در یک بازه خاص اجراء شود و ….  همه حلقه‌ها باید تست شوند، زیرا می‌دانیم که حلقه‌ها نقش تاثیرگذاری در برنامه، خصوصا در بخش حافظه ایفا می‌کنند. بنابراین بررسی روند کارکرد و فضای مصرفی آنها لازم به‌نظر می‌رسد.</a:t>
            </a:r>
            <a:br>
              <a:rPr lang="fa-IR" sz="3200" dirty="0">
                <a:solidFill>
                  <a:schemeClr val="bg1"/>
                </a:solidFill>
                <a:cs typeface="B Mitra" panose="00000400000000000000" pitchFamily="2" charset="-78"/>
              </a:rPr>
            </a:b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161481825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72766"/>
          </a:xfrm>
        </p:spPr>
        <p:txBody>
          <a:bodyPr>
            <a:noAutofit/>
          </a:bodyPr>
          <a:lstStyle/>
          <a:p>
            <a:pPr algn="r" rtl="1"/>
            <a:r>
              <a:rPr lang="fa-IR" sz="3200" b="1" dirty="0" smtClean="0">
                <a:solidFill>
                  <a:schemeClr val="bg1"/>
                </a:solidFill>
                <a:cs typeface="B Mitra" panose="00000400000000000000" pitchFamily="2" charset="-78"/>
              </a:rPr>
              <a:t>اعمالی که در این استراتژی انجام می‌شود (ادامه):</a:t>
            </a:r>
            <a:br>
              <a:rPr lang="fa-IR" sz="3200"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۴- از تمامی ساختارهای اطلاعاتی داخلی در جهت تضمین اعتبار نرم‌افزار استفاده کنیم.</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۵- مدیریت خطای مطلوب : بررسی اینکه اگر به یک متد یک ورودی نامعتبر وارد شود، نحوه آگاه سازی و نمایش مطلوب خطا برای کاربر چگونه باشد؟</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۶- بررسی امنیت : سیستم را از این جهت که چگونه در برابر دسترسی‌های غیرمجاز، هک، کرک و هر چیز دیگر که می‌تواند به آن آسیب برساند مورد بررسی قرار می‌دهد. در این‌جا ما باید مکان‌هایی از کد که داده‌ها را اعتبارسنجی و مدیریت می‌کنند، دسترسی به منابع یا عملیات مهم و حیاتی را انجام می‌دهند را بررسی کنیم.</a:t>
            </a:r>
            <a:r>
              <a:rPr lang="fa-IR" sz="3200" b="1" dirty="0">
                <a:solidFill>
                  <a:schemeClr val="bg1"/>
                </a:solidFill>
                <a:cs typeface="B Mitra" panose="00000400000000000000" pitchFamily="2" charset="-78"/>
              </a:rPr>
              <a:t/>
            </a:r>
            <a:br>
              <a:rPr lang="fa-IR" sz="3200" b="1"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r>
            <a:br>
              <a:rPr lang="fa-IR" sz="3200" dirty="0" smtClean="0">
                <a:solidFill>
                  <a:schemeClr val="bg1"/>
                </a:solidFill>
                <a:cs typeface="B Mitra" panose="00000400000000000000" pitchFamily="2" charset="-78"/>
              </a:rPr>
            </a:b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335543221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1519707"/>
          </a:xfrm>
        </p:spPr>
        <p:txBody>
          <a:bodyPr>
            <a:noAutofit/>
          </a:bodyPr>
          <a:lstStyle/>
          <a:p>
            <a:pPr algn="r" rtl="1"/>
            <a:r>
              <a:rPr lang="fa-IR" sz="3200" b="1" dirty="0" smtClean="0">
                <a:solidFill>
                  <a:schemeClr val="bg1"/>
                </a:solidFill>
                <a:cs typeface="B Mitra" panose="00000400000000000000" pitchFamily="2" charset="-78"/>
              </a:rPr>
              <a:t>روش‌های </a:t>
            </a:r>
            <a:r>
              <a:rPr lang="fa-IR" sz="3200" b="1" dirty="0">
                <a:solidFill>
                  <a:schemeClr val="bg1"/>
                </a:solidFill>
                <a:cs typeface="B Mitra" panose="00000400000000000000" pitchFamily="2" charset="-78"/>
              </a:rPr>
              <a:t>مختلف تست در استراتژی جعبه سفید</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 برای موارد بالا و مواردی دیگری که ذکر نشد روش‌های مختلف تست در استراتژی جعبه سفید وجود دارد که عبارتند از</a:t>
            </a:r>
            <a:r>
              <a:rPr lang="fa-IR" sz="3200" dirty="0" smtClean="0">
                <a:solidFill>
                  <a:schemeClr val="bg1"/>
                </a:solidFill>
                <a:cs typeface="B Mitra" panose="00000400000000000000" pitchFamily="2" charset="-78"/>
              </a:rPr>
              <a:t>:</a:t>
            </a:r>
            <a:endParaRPr lang="en-US" sz="3200" dirty="0">
              <a:solidFill>
                <a:schemeClr val="bg1"/>
              </a:solidFill>
              <a:cs typeface="B Mitra" panose="00000400000000000000" pitchFamily="2" charset="-78"/>
            </a:endParaRP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
        <p:nvSpPr>
          <p:cNvPr id="5" name="Rectangle 4"/>
          <p:cNvSpPr/>
          <p:nvPr/>
        </p:nvSpPr>
        <p:spPr>
          <a:xfrm>
            <a:off x="875763" y="2150772"/>
            <a:ext cx="9105364" cy="3108543"/>
          </a:xfrm>
          <a:prstGeom prst="rect">
            <a:avLst/>
          </a:prstGeom>
        </p:spPr>
        <p:txBody>
          <a:bodyPr wrap="square">
            <a:spAutoFit/>
          </a:bodyPr>
          <a:lstStyle/>
          <a:p>
            <a:r>
              <a:rPr lang="en-US" sz="2000" dirty="0">
                <a:solidFill>
                  <a:schemeClr val="bg1"/>
                </a:solidFill>
                <a:latin typeface="Andalus" panose="02020603050405020304" pitchFamily="18" charset="-78"/>
                <a:cs typeface="Andalus" panose="02020603050405020304" pitchFamily="18" charset="-78"/>
              </a:rPr>
              <a:t>	</a:t>
            </a:r>
            <a:r>
              <a:rPr lang="en-US" sz="2800" dirty="0">
                <a:solidFill>
                  <a:schemeClr val="bg1"/>
                </a:solidFill>
                <a:latin typeface="Andalus" panose="02020603050405020304" pitchFamily="18" charset="-78"/>
                <a:cs typeface="Andalus" panose="02020603050405020304" pitchFamily="18" charset="-78"/>
              </a:rPr>
              <a:t>Basis Path </a:t>
            </a:r>
            <a:r>
              <a:rPr lang="en-US" sz="2800" dirty="0" smtClean="0">
                <a:solidFill>
                  <a:schemeClr val="bg1"/>
                </a:solidFill>
                <a:latin typeface="Andalus" panose="02020603050405020304" pitchFamily="18" charset="-78"/>
                <a:cs typeface="Andalus" panose="02020603050405020304" pitchFamily="18" charset="-78"/>
              </a:rPr>
              <a:t>Testing</a:t>
            </a:r>
            <a:endParaRPr lang="en-US" sz="2800" dirty="0">
              <a:solidFill>
                <a:schemeClr val="bg1"/>
              </a:solidFill>
              <a:latin typeface="Andalus" panose="02020603050405020304" pitchFamily="18" charset="-78"/>
              <a:cs typeface="Andalus" panose="02020603050405020304" pitchFamily="18" charset="-78"/>
            </a:endParaRPr>
          </a:p>
          <a:p>
            <a:r>
              <a:rPr lang="en-US" sz="2800" dirty="0">
                <a:solidFill>
                  <a:schemeClr val="bg1"/>
                </a:solidFill>
                <a:latin typeface="Andalus" panose="02020603050405020304" pitchFamily="18" charset="-78"/>
                <a:cs typeface="Andalus" panose="02020603050405020304" pitchFamily="18" charset="-78"/>
              </a:rPr>
              <a:t>	Method Coverage </a:t>
            </a:r>
          </a:p>
          <a:p>
            <a:r>
              <a:rPr lang="en-US" sz="2800" dirty="0">
                <a:solidFill>
                  <a:schemeClr val="bg1"/>
                </a:solidFill>
                <a:latin typeface="Andalus" panose="02020603050405020304" pitchFamily="18" charset="-78"/>
                <a:cs typeface="Andalus" panose="02020603050405020304" pitchFamily="18" charset="-78"/>
              </a:rPr>
              <a:t>	Statement Coverage</a:t>
            </a:r>
          </a:p>
          <a:p>
            <a:r>
              <a:rPr lang="en-US" sz="2800" dirty="0">
                <a:solidFill>
                  <a:schemeClr val="bg1"/>
                </a:solidFill>
                <a:latin typeface="Andalus" panose="02020603050405020304" pitchFamily="18" charset="-78"/>
                <a:cs typeface="Andalus" panose="02020603050405020304" pitchFamily="18" charset="-78"/>
              </a:rPr>
              <a:t>	Branch Coverage</a:t>
            </a:r>
          </a:p>
          <a:p>
            <a:r>
              <a:rPr lang="en-US" sz="2800" dirty="0">
                <a:solidFill>
                  <a:schemeClr val="bg1"/>
                </a:solidFill>
                <a:latin typeface="Andalus" panose="02020603050405020304" pitchFamily="18" charset="-78"/>
                <a:cs typeface="Andalus" panose="02020603050405020304" pitchFamily="18" charset="-78"/>
              </a:rPr>
              <a:t>	Condition Coverage </a:t>
            </a:r>
          </a:p>
          <a:p>
            <a:r>
              <a:rPr lang="en-US" sz="2800" dirty="0">
                <a:solidFill>
                  <a:schemeClr val="bg1"/>
                </a:solidFill>
                <a:latin typeface="Andalus" panose="02020603050405020304" pitchFamily="18" charset="-78"/>
                <a:cs typeface="Andalus" panose="02020603050405020304" pitchFamily="18" charset="-78"/>
              </a:rPr>
              <a:t>	Data Flow Testing </a:t>
            </a:r>
          </a:p>
          <a:p>
            <a:r>
              <a:rPr lang="en-US" sz="2800" dirty="0">
                <a:solidFill>
                  <a:schemeClr val="bg1"/>
                </a:solidFill>
                <a:latin typeface="Andalus" panose="02020603050405020304" pitchFamily="18" charset="-78"/>
                <a:cs typeface="Andalus" panose="02020603050405020304" pitchFamily="18" charset="-78"/>
              </a:rPr>
              <a:t>	Flow </a:t>
            </a:r>
            <a:r>
              <a:rPr lang="en-US" sz="2800" dirty="0" smtClean="0">
                <a:solidFill>
                  <a:schemeClr val="bg1"/>
                </a:solidFill>
                <a:latin typeface="Andalus" panose="02020603050405020304" pitchFamily="18" charset="-78"/>
                <a:cs typeface="Andalus" panose="02020603050405020304" pitchFamily="18" charset="-78"/>
              </a:rPr>
              <a:t>Graph</a:t>
            </a:r>
            <a:r>
              <a:rPr lang="en-US" sz="2800" dirty="0">
                <a:solidFill>
                  <a:schemeClr val="bg1"/>
                </a:solidFill>
                <a:latin typeface="Andalus" panose="02020603050405020304" pitchFamily="18" charset="-78"/>
                <a:cs typeface="Andalus" panose="02020603050405020304" pitchFamily="18" charset="-78"/>
              </a:rPr>
              <a:t>s</a:t>
            </a:r>
          </a:p>
        </p:txBody>
      </p:sp>
    </p:spTree>
    <p:extLst>
      <p:ext uri="{BB962C8B-B14F-4D97-AF65-F5344CB8AC3E}">
        <p14:creationId xmlns:p14="http://schemas.microsoft.com/office/powerpoint/2010/main" val="16984924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59887"/>
          </a:xfrm>
        </p:spPr>
        <p:txBody>
          <a:bodyPr>
            <a:noAutofit/>
          </a:bodyPr>
          <a:lstStyle/>
          <a:p>
            <a:pPr algn="r" rtl="1"/>
            <a:r>
              <a:rPr lang="fa-IR" b="1" dirty="0" smtClean="0">
                <a:solidFill>
                  <a:schemeClr val="bg1"/>
                </a:solidFill>
                <a:cs typeface="B Mitra" panose="00000400000000000000" pitchFamily="2" charset="-78"/>
              </a:rPr>
              <a:t>مزایای </a:t>
            </a:r>
            <a:r>
              <a:rPr lang="fa-IR" b="1" dirty="0">
                <a:solidFill>
                  <a:schemeClr val="bg1"/>
                </a:solidFill>
                <a:cs typeface="B Mitra" panose="00000400000000000000" pitchFamily="2" charset="-78"/>
              </a:rPr>
              <a:t>تست جعبه سفید عبارتند از</a:t>
            </a:r>
            <a:r>
              <a:rPr lang="fa-IR" b="1" dirty="0" smtClean="0">
                <a:solidFill>
                  <a:schemeClr val="bg1"/>
                </a:solidFill>
                <a:cs typeface="B Mitra" panose="00000400000000000000" pitchFamily="2" charset="-78"/>
              </a:rPr>
              <a:t>:</a:t>
            </a:r>
            <a:r>
              <a:rPr lang="en-US" b="1" dirty="0" smtClean="0">
                <a:solidFill>
                  <a:schemeClr val="bg1"/>
                </a:solidFill>
                <a:cs typeface="B Mitra" panose="00000400000000000000" pitchFamily="2" charset="-78"/>
              </a:rPr>
              <a:t/>
            </a:r>
            <a:br>
              <a:rPr lang="en-US" b="1" dirty="0" smtClean="0">
                <a:solidFill>
                  <a:schemeClr val="bg1"/>
                </a:solidFill>
                <a:cs typeface="B Mitra" panose="00000400000000000000" pitchFamily="2" charset="-78"/>
              </a:rPr>
            </a:b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برای شروع این تست نیازی </a:t>
            </a:r>
            <a:r>
              <a:rPr lang="fa-IR" dirty="0" smtClean="0">
                <a:solidFill>
                  <a:schemeClr val="bg1"/>
                </a:solidFill>
                <a:cs typeface="B Mitra" panose="00000400000000000000" pitchFamily="2" charset="-78"/>
              </a:rPr>
              <a:t>به</a:t>
            </a:r>
            <a:r>
              <a:rPr lang="en-US" dirty="0" smtClean="0">
                <a:solidFill>
                  <a:schemeClr val="bg1"/>
                </a:solidFill>
                <a:cs typeface="B Mitra" panose="00000400000000000000" pitchFamily="2" charset="-78"/>
              </a:rPr>
              <a:t> GUI </a:t>
            </a:r>
            <a:r>
              <a:rPr lang="fa-IR" dirty="0">
                <a:solidFill>
                  <a:schemeClr val="bg1"/>
                </a:solidFill>
                <a:cs typeface="B Mitra" panose="00000400000000000000" pitchFamily="2" charset="-78"/>
              </a:rPr>
              <a:t>ندارید و می‌توانید به راحتی تست کنید.</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تمامی مسیرها در کد تست می‌شوند، بنابراین می‌توان گفت به پوشش تست تقریبا کاملی می‌رسید. تستر می‌تواند در مورد اجرای هر کد برنامه، از برنامه نویس سوالات خود را مطرح کند. آگاهی از نحوه کارکردن کدهای برنامه باعث می‌شود خطاها راحت‌تر یافت شوند.</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تستر مانند دستگاهی است که از بیرون به ساختاردرونی کد آگاهی کامل دارد. بنابراین نحوه ورود داده‌ها را شناسایی کرده و درعملکرد سیستم تاثیر مطلوب دارد.</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بهینه سازی کد برنامه به‌واسطه تستر بهتر می‌شود</a:t>
            </a:r>
            <a:r>
              <a:rPr lang="fa-IR" dirty="0" smtClean="0">
                <a:solidFill>
                  <a:schemeClr val="bg1"/>
                </a:solidFill>
                <a:cs typeface="B Mitra" panose="00000400000000000000" pitchFamily="2" charset="-78"/>
              </a:rPr>
              <a:t>.</a:t>
            </a:r>
            <a:endParaRPr lang="en-US" dirty="0">
              <a:solidFill>
                <a:schemeClr val="bg1"/>
              </a:solidFill>
              <a:cs typeface="B Mitra" panose="00000400000000000000" pitchFamily="2" charset="-78"/>
            </a:endParaRP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40235394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59887"/>
          </a:xfrm>
        </p:spPr>
        <p:txBody>
          <a:bodyPr>
            <a:noAutofit/>
          </a:bodyPr>
          <a:lstStyle/>
          <a:p>
            <a:pPr algn="r" rtl="1"/>
            <a:r>
              <a:rPr lang="fa-IR" b="1" dirty="0" smtClean="0">
                <a:solidFill>
                  <a:schemeClr val="bg1"/>
                </a:solidFill>
                <a:cs typeface="B Mitra" panose="00000400000000000000" pitchFamily="2" charset="-78"/>
              </a:rPr>
              <a:t>معایب </a:t>
            </a:r>
            <a:r>
              <a:rPr lang="fa-IR" b="1" dirty="0">
                <a:solidFill>
                  <a:schemeClr val="bg1"/>
                </a:solidFill>
                <a:cs typeface="B Mitra" panose="00000400000000000000" pitchFamily="2" charset="-78"/>
              </a:rPr>
              <a:t>تست جعبه سفیدعبارتند از</a:t>
            </a:r>
            <a:r>
              <a:rPr lang="fa-IR" b="1" dirty="0" smtClean="0">
                <a:solidFill>
                  <a:schemeClr val="bg1"/>
                </a:solidFill>
                <a:cs typeface="B Mitra" panose="00000400000000000000" pitchFamily="2" charset="-78"/>
              </a:rPr>
              <a:t>:</a:t>
            </a:r>
            <a:r>
              <a:rPr lang="en-US" b="1" dirty="0" smtClean="0">
                <a:solidFill>
                  <a:schemeClr val="bg1"/>
                </a:solidFill>
                <a:cs typeface="B Mitra" panose="00000400000000000000" pitchFamily="2" charset="-78"/>
              </a:rPr>
              <a:t/>
            </a:r>
            <a:br>
              <a:rPr lang="en-US" b="1" dirty="0" smtClean="0">
                <a:solidFill>
                  <a:schemeClr val="bg1"/>
                </a:solidFill>
                <a:cs typeface="B Mitra" panose="00000400000000000000" pitchFamily="2" charset="-78"/>
              </a:rPr>
            </a:b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تسلط بر انجام تست در این بخش الزامی است. بنابراین تستر بایستی از دانش برنامه نویسی خوبی برخوردار باشد تا ساختار داخلی کد برنامه را شناخته و تست‌های متفاوتی انجام دهد. برنامه در طول چرخه تولید، مداوم به روز رسانی می‌شود. با هر تغییر برنامه ، اسکریپت‌های تست تغییر می‌کنند. تغییر اسکریپت‌ها کاری هزینه بر است.</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تست‌های بزرگ و زیاد روی برنامه بدین معنا نمی‌باشد که تست کامل صورت گرفته است این تست بسیار هزینه بر از تست‌های دیگر است.</a:t>
            </a:r>
            <a:br>
              <a:rPr lang="fa-IR" dirty="0">
                <a:solidFill>
                  <a:schemeClr val="bg1"/>
                </a:solidFill>
                <a:cs typeface="B Mitra" panose="00000400000000000000" pitchFamily="2" charset="-78"/>
              </a:rPr>
            </a:br>
            <a:endParaRPr lang="en-US" dirty="0">
              <a:solidFill>
                <a:schemeClr val="bg1"/>
              </a:solidFill>
              <a:cs typeface="B Mitra" panose="00000400000000000000" pitchFamily="2" charset="-78"/>
            </a:endParaRP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381279720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59887"/>
          </a:xfrm>
        </p:spPr>
        <p:txBody>
          <a:bodyPr>
            <a:noAutofit/>
          </a:bodyPr>
          <a:lstStyle/>
          <a:p>
            <a:pPr algn="r" rtl="1"/>
            <a:r>
              <a:rPr lang="fa-IR" b="1" dirty="0" smtClean="0">
                <a:solidFill>
                  <a:schemeClr val="bg1"/>
                </a:solidFill>
                <a:cs typeface="B Mitra" panose="00000400000000000000" pitchFamily="2" charset="-78"/>
              </a:rPr>
              <a:t>تست </a:t>
            </a:r>
            <a:r>
              <a:rPr lang="fa-IR" b="1" dirty="0">
                <a:solidFill>
                  <a:schemeClr val="bg1"/>
                </a:solidFill>
                <a:cs typeface="B Mitra" panose="00000400000000000000" pitchFamily="2" charset="-78"/>
              </a:rPr>
              <a:t>جعبه سیاه: وقتی‌که از ساختار داخلی بی خبرید</a:t>
            </a:r>
            <a:r>
              <a:rPr lang="fa-IR" b="1" dirty="0" smtClean="0">
                <a:solidFill>
                  <a:schemeClr val="bg1"/>
                </a:solidFill>
                <a:cs typeface="B Mitra" panose="00000400000000000000" pitchFamily="2" charset="-78"/>
              </a:rPr>
              <a:t>!</a:t>
            </a:r>
            <a:r>
              <a:rPr lang="en-US" b="1" dirty="0" smtClean="0">
                <a:solidFill>
                  <a:schemeClr val="bg1"/>
                </a:solidFill>
                <a:cs typeface="B Mitra" panose="00000400000000000000" pitchFamily="2" charset="-78"/>
              </a:rPr>
              <a:t/>
            </a:r>
            <a:br>
              <a:rPr lang="en-US" b="1" dirty="0" smtClean="0">
                <a:solidFill>
                  <a:schemeClr val="bg1"/>
                </a:solidFill>
                <a:cs typeface="B Mitra" panose="00000400000000000000" pitchFamily="2" charset="-78"/>
              </a:rPr>
            </a:br>
            <a:r>
              <a:rPr lang="fa-IR" b="1" dirty="0">
                <a:solidFill>
                  <a:schemeClr val="bg1"/>
                </a:solidFill>
                <a:cs typeface="B Mitra" panose="00000400000000000000" pitchFamily="2" charset="-78"/>
              </a:rPr>
              <a:t/>
            </a:r>
            <a:br>
              <a:rPr lang="fa-IR" b="1" dirty="0">
                <a:solidFill>
                  <a:schemeClr val="bg1"/>
                </a:solidFill>
                <a:cs typeface="B Mitra" panose="00000400000000000000" pitchFamily="2" charset="-78"/>
              </a:rPr>
            </a:br>
            <a:r>
              <a:rPr lang="fa-IR" dirty="0">
                <a:solidFill>
                  <a:schemeClr val="bg1"/>
                </a:solidFill>
                <a:cs typeface="B Mitra" panose="00000400000000000000" pitchFamily="2" charset="-78"/>
              </a:rPr>
              <a:t>شما نرم‌افزاری را تهیه کرده و بر روی سیستم خود نصب می‌کنید، در اکثر موارد بعد از نصب برنامه فقط یک نسخه اجرایی آن را در سیستم خود خواهید داشت، هیچ دسترسی به سورس کد و منابع دیگر برنامه ندارید. سیستم نرم‌افزاری موجود برای شما مانند یک جعبه سیاه است که شما نمی‌توانید درون آن را مشاهده کنید و به آن دسترسی داشته باشید.</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endParaRPr lang="en-US" dirty="0">
              <a:solidFill>
                <a:schemeClr val="bg1"/>
              </a:solidFill>
              <a:cs typeface="B Mitra" panose="00000400000000000000" pitchFamily="2" charset="-78"/>
            </a:endParaRP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251156807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59887"/>
          </a:xfrm>
        </p:spPr>
        <p:txBody>
          <a:bodyPr>
            <a:noAutofit/>
          </a:bodyPr>
          <a:lstStyle/>
          <a:p>
            <a:pPr algn="r" rtl="1"/>
            <a:r>
              <a:rPr lang="fa-IR" b="1" dirty="0" smtClean="0">
                <a:solidFill>
                  <a:schemeClr val="bg1"/>
                </a:solidFill>
                <a:cs typeface="B Mitra" panose="00000400000000000000" pitchFamily="2" charset="-78"/>
              </a:rPr>
              <a:t>تست جعبه سیاه: وقتی‌که از ساختار داخلی بی خبرید! </a:t>
            </a:r>
            <a:r>
              <a:rPr lang="fa-IR" b="1" dirty="0">
                <a:solidFill>
                  <a:schemeClr val="bg1"/>
                </a:solidFill>
                <a:cs typeface="B Mitra" panose="00000400000000000000" pitchFamily="2" charset="-78"/>
              </a:rPr>
              <a:t>(ادامه)</a:t>
            </a:r>
            <a:r>
              <a:rPr lang="en-US" b="1" dirty="0" smtClean="0">
                <a:solidFill>
                  <a:schemeClr val="bg1"/>
                </a:solidFill>
                <a:cs typeface="B Mitra" panose="00000400000000000000" pitchFamily="2" charset="-78"/>
              </a:rPr>
              <a:t/>
            </a:r>
            <a:br>
              <a:rPr lang="en-US" b="1" dirty="0" smtClean="0">
                <a:solidFill>
                  <a:schemeClr val="bg1"/>
                </a:solidFill>
                <a:cs typeface="B Mitra" panose="00000400000000000000" pitchFamily="2" charset="-78"/>
              </a:rPr>
            </a:br>
            <a:r>
              <a:rPr lang="fa-IR" b="1" dirty="0" smtClean="0">
                <a:solidFill>
                  <a:schemeClr val="bg1"/>
                </a:solidFill>
                <a:cs typeface="B Mitra" panose="00000400000000000000" pitchFamily="2" charset="-78"/>
              </a:rPr>
              <a:t/>
            </a:r>
            <a:br>
              <a:rPr lang="fa-IR" b="1" dirty="0" smtClean="0">
                <a:solidFill>
                  <a:schemeClr val="bg1"/>
                </a:solidFill>
                <a:cs typeface="B Mitra" panose="00000400000000000000" pitchFamily="2" charset="-78"/>
              </a:rPr>
            </a:br>
            <a:r>
              <a:rPr lang="fa-IR" dirty="0">
                <a:solidFill>
                  <a:schemeClr val="bg1"/>
                </a:solidFill>
                <a:cs typeface="B Mitra" panose="00000400000000000000" pitchFamily="2" charset="-78"/>
              </a:rPr>
              <a:t>استراتژی تست جعبه سیاه  دقیقاً </a:t>
            </a:r>
            <a:r>
              <a:rPr lang="fa-IR" dirty="0" smtClean="0">
                <a:solidFill>
                  <a:schemeClr val="bg1"/>
                </a:solidFill>
                <a:cs typeface="B Mitra" panose="00000400000000000000" pitchFamily="2" charset="-78"/>
              </a:rPr>
              <a:t>با </a:t>
            </a:r>
            <a:r>
              <a:rPr lang="fa-IR" dirty="0">
                <a:solidFill>
                  <a:schemeClr val="bg1"/>
                </a:solidFill>
                <a:cs typeface="B Mitra" panose="00000400000000000000" pitchFamily="2" charset="-78"/>
              </a:rPr>
              <a:t>این دیدگاه </a:t>
            </a:r>
            <a:r>
              <a:rPr lang="fa-IR" dirty="0" smtClean="0">
                <a:solidFill>
                  <a:schemeClr val="bg1"/>
                </a:solidFill>
                <a:cs typeface="B Mitra" panose="00000400000000000000" pitchFamily="2" charset="-78"/>
              </a:rPr>
              <a:t>که </a:t>
            </a:r>
            <a:r>
              <a:rPr lang="fa-IR" dirty="0">
                <a:solidFill>
                  <a:schemeClr val="bg1"/>
                </a:solidFill>
                <a:cs typeface="B Mitra" panose="00000400000000000000" pitchFamily="2" charset="-78"/>
              </a:rPr>
              <a:t>شما هیچ اطلاعاتی از کد و طراحی داخلی برنامه </a:t>
            </a:r>
            <a:r>
              <a:rPr lang="fa-IR" dirty="0" smtClean="0">
                <a:solidFill>
                  <a:schemeClr val="bg1"/>
                </a:solidFill>
                <a:cs typeface="B Mitra" panose="00000400000000000000" pitchFamily="2" charset="-78"/>
              </a:rPr>
              <a:t>ندارید آزمون را انجام می دهد.  </a:t>
            </a:r>
            <a:r>
              <a:rPr lang="fa-IR" dirty="0">
                <a:solidFill>
                  <a:schemeClr val="bg1"/>
                </a:solidFill>
                <a:cs typeface="B Mitra" panose="00000400000000000000" pitchFamily="2" charset="-78"/>
              </a:rPr>
              <a:t>هیچ اطلاعاتی از کد و طراحی برنامه در اختیار ما نیست، پس چگونه می‌توان به صحت عملکرد برنامه پی برد؟ جواب خیلی ساده است، با تمرکز بر ورودی‌ها و خروجی‌ها، برای این کار تستر به مستندات نرم‌افزار مراجعه می‌کند تا مشخص کند که سیستم در مقابل یک عمل خاص چه پاسخی را باید بدهد. سپس داده‌هایی را برای هر کدام از عملیات انتخاب می‌کند و رفتار سیستم را در مقابل آن داده‌ها با رفتار واقعی سیستم که در مستندات وجود دارد مقایسه و بررسی می‌کند. این تست جایگزین تست جعبه سفید نمی‌باشد بلکه مکمل آن است وخطاهایی متفاوت با آن </a:t>
            </a:r>
            <a:r>
              <a:rPr lang="fa-IR" dirty="0" smtClean="0">
                <a:solidFill>
                  <a:schemeClr val="bg1"/>
                </a:solidFill>
                <a:cs typeface="B Mitra" panose="00000400000000000000" pitchFamily="2" charset="-78"/>
              </a:rPr>
              <a:t>را تست </a:t>
            </a:r>
            <a:r>
              <a:rPr lang="fa-IR" dirty="0">
                <a:solidFill>
                  <a:schemeClr val="bg1"/>
                </a:solidFill>
                <a:cs typeface="B Mitra" panose="00000400000000000000" pitchFamily="2" charset="-78"/>
              </a:rPr>
              <a:t>می‌کند.</a:t>
            </a:r>
            <a:r>
              <a:rPr lang="fa-IR" dirty="0" smtClean="0">
                <a:solidFill>
                  <a:schemeClr val="bg1"/>
                </a:solidFill>
                <a:cs typeface="B Mitra" panose="00000400000000000000" pitchFamily="2" charset="-78"/>
              </a:rPr>
              <a:t/>
            </a:r>
            <a:br>
              <a:rPr lang="fa-IR" dirty="0" smtClean="0">
                <a:solidFill>
                  <a:schemeClr val="bg1"/>
                </a:solidFill>
                <a:cs typeface="B Mitra" panose="00000400000000000000" pitchFamily="2" charset="-78"/>
              </a:rPr>
            </a:br>
            <a:endParaRPr lang="en-US" dirty="0">
              <a:solidFill>
                <a:schemeClr val="bg1"/>
              </a:solidFill>
              <a:cs typeface="B Mitra" panose="00000400000000000000" pitchFamily="2" charset="-78"/>
            </a:endParaRP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413145888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59887"/>
          </a:xfrm>
        </p:spPr>
        <p:txBody>
          <a:bodyPr>
            <a:noAutofit/>
          </a:bodyPr>
          <a:lstStyle/>
          <a:p>
            <a:pPr algn="r" rtl="1"/>
            <a:r>
              <a:rPr lang="fa-IR" b="1" dirty="0" smtClean="0">
                <a:solidFill>
                  <a:schemeClr val="bg1"/>
                </a:solidFill>
                <a:cs typeface="B Mitra" panose="00000400000000000000" pitchFamily="2" charset="-78"/>
              </a:rPr>
              <a:t>تست جعبه سیاه: وقتی‌که از ساختار داخلی بی خبرید! </a:t>
            </a:r>
            <a:r>
              <a:rPr lang="fa-IR" b="1" dirty="0">
                <a:solidFill>
                  <a:schemeClr val="bg1"/>
                </a:solidFill>
                <a:cs typeface="B Mitra" panose="00000400000000000000" pitchFamily="2" charset="-78"/>
              </a:rPr>
              <a:t>(ادامه)</a:t>
            </a:r>
            <a:r>
              <a:rPr lang="en-US" b="1" dirty="0" smtClean="0">
                <a:solidFill>
                  <a:schemeClr val="bg1"/>
                </a:solidFill>
                <a:cs typeface="B Mitra" panose="00000400000000000000" pitchFamily="2" charset="-78"/>
              </a:rPr>
              <a:t/>
            </a:r>
            <a:br>
              <a:rPr lang="en-US" b="1" dirty="0" smtClean="0">
                <a:solidFill>
                  <a:schemeClr val="bg1"/>
                </a:solidFill>
                <a:cs typeface="B Mitra" panose="00000400000000000000" pitchFamily="2" charset="-78"/>
              </a:rPr>
            </a:br>
            <a:r>
              <a:rPr lang="fa-IR" b="1" dirty="0" smtClean="0">
                <a:solidFill>
                  <a:schemeClr val="bg1"/>
                </a:solidFill>
                <a:cs typeface="B Mitra" panose="00000400000000000000" pitchFamily="2" charset="-78"/>
              </a:rPr>
              <a:t/>
            </a:r>
            <a:br>
              <a:rPr lang="fa-IR" b="1" dirty="0" smtClean="0">
                <a:solidFill>
                  <a:schemeClr val="bg1"/>
                </a:solidFill>
                <a:cs typeface="B Mitra" panose="00000400000000000000" pitchFamily="2" charset="-78"/>
              </a:rPr>
            </a:br>
            <a:r>
              <a:rPr lang="fa-IR" dirty="0">
                <a:solidFill>
                  <a:schemeClr val="bg1"/>
                </a:solidFill>
                <a:cs typeface="B Mitra" panose="00000400000000000000" pitchFamily="2" charset="-78"/>
              </a:rPr>
              <a:t>مزایای استفاده از این روش عبارتند از</a:t>
            </a:r>
            <a:r>
              <a:rPr lang="fa-IR" dirty="0" smtClean="0">
                <a:solidFill>
                  <a:schemeClr val="bg1"/>
                </a:solidFill>
                <a:cs typeface="B Mitra" panose="00000400000000000000" pitchFamily="2" charset="-78"/>
              </a:rPr>
              <a:t>:</a:t>
            </a:r>
            <a:br>
              <a:rPr lang="fa-IR" dirty="0" smtClean="0">
                <a:solidFill>
                  <a:schemeClr val="bg1"/>
                </a:solidFill>
                <a:cs typeface="B Mitra" panose="00000400000000000000" pitchFamily="2" charset="-78"/>
              </a:rPr>
            </a:b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سریع و ارزان است</a:t>
            </a:r>
            <a:r>
              <a:rPr lang="fa-IR" dirty="0" smtClean="0">
                <a:solidFill>
                  <a:schemeClr val="bg1"/>
                </a:solidFill>
                <a:cs typeface="B Mitra" panose="00000400000000000000" pitchFamily="2" charset="-78"/>
              </a:rPr>
              <a:t>.</a:t>
            </a:r>
            <a:r>
              <a:rPr lang="fa-IR" dirty="0">
                <a:solidFill>
                  <a:schemeClr val="bg1"/>
                </a:solidFill>
                <a:cs typeface="B Mitra" panose="00000400000000000000" pitchFamily="2" charset="-78"/>
              </a:rPr>
              <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به سطح مهارت کمتری نسبت به استراتژی جعبه سفید نیاز دارد.</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تعداد زیادی از تسترهای متخصص در این حوزه در دسترس هستند.</a:t>
            </a:r>
            <a:br>
              <a:rPr lang="fa-IR" dirty="0">
                <a:solidFill>
                  <a:schemeClr val="bg1"/>
                </a:solidFill>
                <a:cs typeface="B Mitra" panose="00000400000000000000" pitchFamily="2" charset="-78"/>
              </a:rPr>
            </a:br>
            <a:r>
              <a:rPr lang="fa-IR" dirty="0">
                <a:solidFill>
                  <a:schemeClr val="bg1"/>
                </a:solidFill>
                <a:cs typeface="B Mitra" panose="00000400000000000000" pitchFamily="2" charset="-78"/>
              </a:rPr>
              <a:t>- در این روش معمولا کدی تست می‌شود که به‌کار گرفته شده است.</a:t>
            </a: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268519816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59887"/>
          </a:xfrm>
        </p:spPr>
        <p:txBody>
          <a:bodyPr>
            <a:noAutofit/>
          </a:bodyPr>
          <a:lstStyle/>
          <a:p>
            <a:pPr algn="r" rtl="1"/>
            <a:r>
              <a:rPr lang="fa-IR" b="1" dirty="0" smtClean="0">
                <a:solidFill>
                  <a:schemeClr val="bg1"/>
                </a:solidFill>
                <a:cs typeface="B Mitra" panose="00000400000000000000" pitchFamily="2" charset="-78"/>
              </a:rPr>
              <a:t>تست جعبه سیاه: وقتی‌که از ساختار داخلی بی خبرید! (ادامه)</a:t>
            </a:r>
            <a:br>
              <a:rPr lang="fa-IR" b="1" dirty="0" smtClean="0">
                <a:solidFill>
                  <a:schemeClr val="bg1"/>
                </a:solidFill>
                <a:cs typeface="B Mitra" panose="00000400000000000000" pitchFamily="2" charset="-78"/>
              </a:rPr>
            </a:br>
            <a:r>
              <a:rPr lang="en-US" b="1" dirty="0" smtClean="0">
                <a:solidFill>
                  <a:schemeClr val="bg1"/>
                </a:solidFill>
                <a:cs typeface="B Mitra" panose="00000400000000000000" pitchFamily="2" charset="-78"/>
              </a:rPr>
              <a:t/>
            </a:r>
            <a:br>
              <a:rPr lang="en-US"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۱- بررسی اینکه سیستم نیازمندی‌های عملیاتی و غیرعملیاتی را تامین می‌کند یا نه؟</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۲- اعتبارسنجی ورودی‌ها</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۳- بررسی مقادیر مرزی برای متغیرها: به یک متغیر مقداری کمتر از حداقل مقداری که می‌تواند قبول کند یا بیشتر از حداکثر مقداری که می‌تواند قبول کند می‌دهیم و سیستم را در این شرایط تست می‌کنیم.</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۴- بررسی خروجی‌های سیستم: یک مجموعه از ورودی‌های صحیح با خروجی‌های مربوط به آن را تهیه می‌کنیم و سپس ورودی‌ها را به سیستم وارد می‌کنیم و خروجی‌هایی که توسط سیستم داده می‌شود را با خروجی‌های واقعی مقایسه می کنیم.</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۵- بررسی رفتار سیستم در برابر پردازش ورودها و پرس و جوهای بزرگ و سنگین</a:t>
            </a: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150380527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1569076"/>
            <a:ext cx="11114466" cy="5437031"/>
          </a:xfrm>
        </p:spPr>
        <p:txBody>
          <a:bodyPr>
            <a:noAutofit/>
          </a:bodyPr>
          <a:lstStyle/>
          <a:p>
            <a:pPr algn="l"/>
            <a:r>
              <a:rPr lang="fa-IR" sz="2400" dirty="0" smtClean="0">
                <a:solidFill>
                  <a:schemeClr val="bg1"/>
                </a:solidFill>
                <a:latin typeface="Aparajita" panose="020B0604020202020204" pitchFamily="34" charset="0"/>
                <a:cs typeface="B Mitra" panose="00000400000000000000" pitchFamily="2" charset="-78"/>
              </a:rPr>
              <a:t></a:t>
            </a:r>
            <a:r>
              <a:rPr lang="fa-IR" sz="2400" dirty="0">
                <a:solidFill>
                  <a:schemeClr val="bg1"/>
                </a:solidFill>
                <a:latin typeface="Aparajita" panose="020B0604020202020204" pitchFamily="34" charset="0"/>
                <a:cs typeface="B Mitra" panose="00000400000000000000" pitchFamily="2" charset="-78"/>
              </a:rPr>
              <a:t>	</a:t>
            </a:r>
            <a:r>
              <a:rPr lang="en-US" sz="2400" dirty="0">
                <a:solidFill>
                  <a:schemeClr val="bg1"/>
                </a:solidFill>
                <a:latin typeface="Aparajita" panose="020B0604020202020204" pitchFamily="34" charset="0"/>
                <a:cs typeface="Aparajita" panose="020B0604020202020204" pitchFamily="34" charset="0"/>
              </a:rPr>
              <a:t>Functional testing</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Stress testing </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Recovery Testing</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Volume testing</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User Acceptance </a:t>
            </a:r>
            <a:r>
              <a:rPr lang="en-US" sz="2400" dirty="0" smtClean="0">
                <a:solidFill>
                  <a:schemeClr val="bg1"/>
                </a:solidFill>
                <a:latin typeface="Aparajita" panose="020B0604020202020204" pitchFamily="34" charset="0"/>
                <a:cs typeface="Aparajita" panose="020B0604020202020204" pitchFamily="34" charset="0"/>
              </a:rPr>
              <a:t>testing</a:t>
            </a:r>
            <a:r>
              <a:rPr lang="en-US" sz="2400" dirty="0">
                <a:solidFill>
                  <a:schemeClr val="bg1"/>
                </a:solidFill>
                <a:latin typeface="Aparajita" panose="020B0604020202020204" pitchFamily="34" charset="0"/>
                <a:cs typeface="Aparajita" panose="020B0604020202020204" pitchFamily="34" charset="0"/>
              </a:rPr>
              <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System testing </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Sanity or Smoke testing </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Load testing </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Usability testing </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Exploratory testing </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Ad-hoc Testing </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Alpha testing </a:t>
            </a:r>
            <a:br>
              <a:rPr lang="en-US" sz="2400" dirty="0">
                <a:solidFill>
                  <a:schemeClr val="bg1"/>
                </a:solidFill>
                <a:latin typeface="Aparajita" panose="020B0604020202020204" pitchFamily="34" charset="0"/>
                <a:cs typeface="Aparajita" panose="020B0604020202020204" pitchFamily="34" charset="0"/>
              </a:rPr>
            </a:br>
            <a:r>
              <a:rPr lang="en-US" sz="2400" dirty="0">
                <a:solidFill>
                  <a:schemeClr val="bg1"/>
                </a:solidFill>
                <a:latin typeface="Aparajita" panose="020B0604020202020204" pitchFamily="34" charset="0"/>
                <a:cs typeface="Aparajita" panose="020B0604020202020204" pitchFamily="34" charset="0"/>
              </a:rPr>
              <a:t>	Beta </a:t>
            </a:r>
            <a:r>
              <a:rPr lang="en-US" sz="2400" dirty="0" smtClean="0">
                <a:solidFill>
                  <a:schemeClr val="bg1"/>
                </a:solidFill>
                <a:latin typeface="Aparajita" panose="020B0604020202020204" pitchFamily="34" charset="0"/>
                <a:cs typeface="Aparajita" panose="020B0604020202020204" pitchFamily="34" charset="0"/>
              </a:rPr>
              <a:t>testing</a:t>
            </a:r>
            <a:endParaRPr lang="fa-IR" sz="3200" dirty="0">
              <a:solidFill>
                <a:schemeClr val="bg1"/>
              </a:solidFill>
              <a:latin typeface="Aparajita" panose="020B0604020202020204" pitchFamily="34" charset="0"/>
              <a:cs typeface="B Mitra" panose="00000400000000000000" pitchFamily="2" charset="-78"/>
            </a:endParaRP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
        <p:nvSpPr>
          <p:cNvPr id="5" name="Title 1"/>
          <p:cNvSpPr txBox="1">
            <a:spLocks/>
          </p:cNvSpPr>
          <p:nvPr/>
        </p:nvSpPr>
        <p:spPr>
          <a:xfrm>
            <a:off x="680435" y="435735"/>
            <a:ext cx="11114466" cy="1133341"/>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rtl="1"/>
            <a:r>
              <a:rPr lang="fa-IR" b="1" dirty="0" smtClean="0">
                <a:solidFill>
                  <a:schemeClr val="bg1"/>
                </a:solidFill>
                <a:cs typeface="B Mitra" panose="00000400000000000000" pitchFamily="2" charset="-78"/>
              </a:rPr>
              <a:t>تست جعبه سیاه: وقتی‌که از ساختار داخلی بی خبرید! (ادامه)</a:t>
            </a:r>
          </a:p>
          <a:p>
            <a:pPr algn="r" rtl="1"/>
            <a:endParaRPr lang="fa-IR" b="1" dirty="0" smtClean="0">
              <a:solidFill>
                <a:schemeClr val="bg1"/>
              </a:solidFill>
              <a:cs typeface="B Mitra" panose="00000400000000000000" pitchFamily="2" charset="-78"/>
            </a:endParaRPr>
          </a:p>
          <a:p>
            <a:pPr algn="r" rtl="1"/>
            <a:r>
              <a:rPr lang="fa-IR" dirty="0">
                <a:solidFill>
                  <a:schemeClr val="bg1"/>
                </a:solidFill>
                <a:latin typeface="Aparajita" panose="020B0604020202020204" pitchFamily="34" charset="0"/>
                <a:cs typeface="B Mitra" panose="00000400000000000000" pitchFamily="2" charset="-78"/>
              </a:rPr>
              <a:t>روش‌های مختلف تست در استراتژی جعبه سیاه وجود دارد که عبارتند از:</a:t>
            </a:r>
            <a:endParaRPr lang="fa-IR" dirty="0">
              <a:solidFill>
                <a:schemeClr val="bg1"/>
              </a:solidFill>
              <a:cs typeface="B Mitra" panose="00000400000000000000" pitchFamily="2" charset="-78"/>
            </a:endParaRPr>
          </a:p>
        </p:txBody>
      </p:sp>
    </p:spTree>
    <p:extLst>
      <p:ext uri="{BB962C8B-B14F-4D97-AF65-F5344CB8AC3E}">
        <p14:creationId xmlns:p14="http://schemas.microsoft.com/office/powerpoint/2010/main" val="123612175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59887"/>
          </a:xfrm>
        </p:spPr>
        <p:txBody>
          <a:bodyPr>
            <a:noAutofit/>
          </a:bodyPr>
          <a:lstStyle/>
          <a:p>
            <a:pPr algn="r" rtl="1"/>
            <a:r>
              <a:rPr lang="fa-IR" b="1" dirty="0" smtClean="0">
                <a:solidFill>
                  <a:schemeClr val="bg1"/>
                </a:solidFill>
                <a:cs typeface="B Mitra" panose="00000400000000000000" pitchFamily="2" charset="-78"/>
              </a:rPr>
              <a:t>تست جعبه سیاه: وقتی‌که از ساختار داخلی بی خبرید! (ادامه)</a:t>
            </a:r>
            <a:br>
              <a:rPr lang="fa-IR" b="1" dirty="0" smtClean="0">
                <a:solidFill>
                  <a:schemeClr val="bg1"/>
                </a:solidFill>
                <a:cs typeface="B Mitra" panose="00000400000000000000" pitchFamily="2" charset="-78"/>
              </a:rPr>
            </a:br>
            <a:r>
              <a:rPr lang="en-US" b="1" dirty="0" smtClean="0">
                <a:solidFill>
                  <a:schemeClr val="bg1"/>
                </a:solidFill>
                <a:cs typeface="B Mitra" panose="00000400000000000000" pitchFamily="2" charset="-78"/>
              </a:rPr>
              <a:t/>
            </a:r>
            <a:br>
              <a:rPr lang="en-US" b="1" dirty="0" smtClean="0">
                <a:solidFill>
                  <a:schemeClr val="bg1"/>
                </a:solidFill>
                <a:cs typeface="B Mitra" panose="00000400000000000000" pitchFamily="2" charset="-78"/>
              </a:rPr>
            </a:br>
            <a:r>
              <a:rPr lang="fa-IR" dirty="0">
                <a:solidFill>
                  <a:schemeClr val="bg1"/>
                </a:solidFill>
                <a:cs typeface="B Mitra" panose="00000400000000000000" pitchFamily="2" charset="-78"/>
              </a:rPr>
              <a:t>آیا می‌توان در تست جعبه سیاه مطمئن شد که سیستم به طور کامل تست شده است؟ خیر، هرگز در این تست نمی‌توان مطمئن شد که سیستم به طور کامل تست شده است. پس همیشه در این استراتژی مسیرهایی خواهند بود که تست نمی‌شوند و همیشه برنامه با داده‌های ورودی محدود می‌تواند تست شود. پس از تعیین خطای برنامه می‌توان با استفاده از تست جعبه سفید، کد برنامه را بررسی کرد تا اینکه عامل خطا در داخل کد برنامه مشخص شود. بنابراین تست جعبه سیاه و جعبه سفید مکمل هم بوده و به عبارتی جدایی ناپذیرند.</a:t>
            </a:r>
            <a:endParaRPr lang="fa-IR" sz="3200" dirty="0">
              <a:solidFill>
                <a:schemeClr val="bg1"/>
              </a:solidFill>
              <a:cs typeface="B Mitra" panose="00000400000000000000" pitchFamily="2" charset="-78"/>
            </a:endParaRP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423160286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59887"/>
          </a:xfrm>
        </p:spPr>
        <p:txBody>
          <a:bodyPr>
            <a:noAutofit/>
          </a:bodyPr>
          <a:lstStyle/>
          <a:p>
            <a:pPr algn="r" rtl="1"/>
            <a:r>
              <a:rPr lang="fa-IR" b="1" dirty="0" smtClean="0">
                <a:solidFill>
                  <a:schemeClr val="bg1"/>
                </a:solidFill>
                <a:cs typeface="B Mitra" panose="00000400000000000000" pitchFamily="2" charset="-78"/>
              </a:rPr>
              <a:t>تست </a:t>
            </a:r>
            <a:r>
              <a:rPr lang="fa-IR" b="1" dirty="0">
                <a:solidFill>
                  <a:schemeClr val="bg1"/>
                </a:solidFill>
                <a:cs typeface="B Mitra" panose="00000400000000000000" pitchFamily="2" charset="-78"/>
              </a:rPr>
              <a:t>جعبه خاکستری : ترکیب تست جعبه سفید و </a:t>
            </a:r>
            <a:r>
              <a:rPr lang="fa-IR" b="1" dirty="0" smtClean="0">
                <a:solidFill>
                  <a:schemeClr val="bg1"/>
                </a:solidFill>
                <a:cs typeface="B Mitra" panose="00000400000000000000" pitchFamily="2" charset="-78"/>
              </a:rPr>
              <a:t>سیاه</a:t>
            </a:r>
            <a:r>
              <a:rPr lang="en-US" b="1" dirty="0" smtClean="0">
                <a:solidFill>
                  <a:schemeClr val="bg1"/>
                </a:solidFill>
                <a:cs typeface="B Mitra" panose="00000400000000000000" pitchFamily="2" charset="-78"/>
              </a:rPr>
              <a:t/>
            </a:r>
            <a:br>
              <a:rPr lang="en-US" b="1" dirty="0" smtClean="0">
                <a:solidFill>
                  <a:schemeClr val="bg1"/>
                </a:solidFill>
                <a:cs typeface="B Mitra" panose="00000400000000000000" pitchFamily="2" charset="-78"/>
              </a:rPr>
            </a:br>
            <a:r>
              <a:rPr lang="fa-IR" b="1" dirty="0">
                <a:solidFill>
                  <a:schemeClr val="bg1"/>
                </a:solidFill>
                <a:cs typeface="B Mitra" panose="00000400000000000000" pitchFamily="2" charset="-78"/>
              </a:rPr>
              <a:t/>
            </a:r>
            <a:br>
              <a:rPr lang="fa-IR" b="1" dirty="0">
                <a:solidFill>
                  <a:schemeClr val="bg1"/>
                </a:solidFill>
                <a:cs typeface="B Mitra" panose="00000400000000000000" pitchFamily="2" charset="-78"/>
              </a:rPr>
            </a:br>
            <a:r>
              <a:rPr lang="fa-IR" dirty="0">
                <a:solidFill>
                  <a:schemeClr val="bg1"/>
                </a:solidFill>
                <a:cs typeface="B Mitra" panose="00000400000000000000" pitchFamily="2" charset="-78"/>
              </a:rPr>
              <a:t>تست جعبه خاکستری روشی برای تست نرم‌افزار است که با آگاهی کم از فعالیت‌های داخلی برنامه انجام می‌گیرد. این تست ترکیبی از تست جعبه سفید و سیاه است</a:t>
            </a:r>
            <a:r>
              <a:rPr lang="fa-IR" dirty="0" smtClean="0">
                <a:solidFill>
                  <a:schemeClr val="bg1"/>
                </a:solidFill>
                <a:cs typeface="B Mitra" panose="00000400000000000000" pitchFamily="2" charset="-78"/>
              </a:rPr>
              <a:t>.</a:t>
            </a:r>
            <a:r>
              <a:rPr lang="en-US" dirty="0" smtClean="0">
                <a:solidFill>
                  <a:schemeClr val="bg1"/>
                </a:solidFill>
                <a:cs typeface="B Mitra" panose="00000400000000000000" pitchFamily="2" charset="-78"/>
              </a:rPr>
              <a:t> </a:t>
            </a:r>
            <a:r>
              <a:rPr lang="fa-IR" dirty="0" smtClean="0">
                <a:solidFill>
                  <a:schemeClr val="bg1"/>
                </a:solidFill>
                <a:cs typeface="B Mitra" panose="00000400000000000000" pitchFamily="2" charset="-78"/>
              </a:rPr>
              <a:t>همان‌طور </a:t>
            </a:r>
            <a:r>
              <a:rPr lang="fa-IR" dirty="0">
                <a:solidFill>
                  <a:schemeClr val="bg1"/>
                </a:solidFill>
                <a:cs typeface="B Mitra" panose="00000400000000000000" pitchFamily="2" charset="-78"/>
              </a:rPr>
              <a:t>که می‌دانید تستر در استراتژی جعبه سیاه از ساختار داخلی  برنامه اطلاعی نداشته و در مقابل در استراتژی جعبه سفید آگاهی کامل ازساختار داخلی دارد. اما در استراتژی جعبه خاکستری تستر تا حدودی از ساختار داخلی برنامه آگاه بوده که این شامل دسترسی به ساختارداده‌های داخلی و الگوریتم‌ها در جهت طراحی تست کیس‌ها  است. علت نام‌گذاری این روش آن است که تستر برنامه را مانند جعبه‌ای نیمه شفاف و خاکستری رنگ تصور می‌کند که تا حدودی ساختار داخلی برنامه را از بیرون می‌بیند.</a:t>
            </a: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238082321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59887"/>
          </a:xfrm>
        </p:spPr>
        <p:txBody>
          <a:bodyPr>
            <a:noAutofit/>
          </a:bodyPr>
          <a:lstStyle/>
          <a:p>
            <a:pPr algn="r" rtl="1"/>
            <a:r>
              <a:rPr lang="fa-IR" b="1" dirty="0" smtClean="0">
                <a:solidFill>
                  <a:schemeClr val="bg1"/>
                </a:solidFill>
                <a:cs typeface="B Mitra" panose="00000400000000000000" pitchFamily="2" charset="-78"/>
              </a:rPr>
              <a:t>تست </a:t>
            </a:r>
            <a:r>
              <a:rPr lang="fa-IR" b="1" dirty="0">
                <a:solidFill>
                  <a:schemeClr val="bg1"/>
                </a:solidFill>
                <a:cs typeface="B Mitra" panose="00000400000000000000" pitchFamily="2" charset="-78"/>
              </a:rPr>
              <a:t>جعبه خاکستری : ترکیب تست جعبه سفید و </a:t>
            </a:r>
            <a:r>
              <a:rPr lang="fa-IR" b="1" dirty="0" smtClean="0">
                <a:solidFill>
                  <a:schemeClr val="bg1"/>
                </a:solidFill>
                <a:cs typeface="B Mitra" panose="00000400000000000000" pitchFamily="2" charset="-78"/>
              </a:rPr>
              <a:t>سیاه</a:t>
            </a:r>
            <a:r>
              <a:rPr lang="en-US" b="1" dirty="0" smtClean="0">
                <a:solidFill>
                  <a:schemeClr val="bg1"/>
                </a:solidFill>
                <a:cs typeface="B Mitra" panose="00000400000000000000" pitchFamily="2" charset="-78"/>
              </a:rPr>
              <a:t> </a:t>
            </a:r>
            <a:r>
              <a:rPr lang="fa-IR" b="1" dirty="0">
                <a:solidFill>
                  <a:schemeClr val="bg1"/>
                </a:solidFill>
                <a:cs typeface="B Mitra" panose="00000400000000000000" pitchFamily="2" charset="-78"/>
              </a:rPr>
              <a:t>(ادامه)</a:t>
            </a:r>
            <a:r>
              <a:rPr lang="en-US" b="1" dirty="0" smtClean="0">
                <a:solidFill>
                  <a:schemeClr val="bg1"/>
                </a:solidFill>
                <a:cs typeface="B Mitra" panose="00000400000000000000" pitchFamily="2" charset="-78"/>
              </a:rPr>
              <a:t/>
            </a:r>
            <a:br>
              <a:rPr lang="en-US" b="1" dirty="0" smtClean="0">
                <a:solidFill>
                  <a:schemeClr val="bg1"/>
                </a:solidFill>
                <a:cs typeface="B Mitra" panose="00000400000000000000" pitchFamily="2" charset="-78"/>
              </a:rPr>
            </a:br>
            <a:r>
              <a:rPr lang="en-US" dirty="0" smtClean="0">
                <a:solidFill>
                  <a:schemeClr val="bg1"/>
                </a:solidFill>
                <a:cs typeface="B Mitra" panose="00000400000000000000" pitchFamily="2" charset="-78"/>
              </a:rPr>
              <a:t/>
            </a:r>
            <a:br>
              <a:rPr lang="en-US" dirty="0" smtClean="0">
                <a:solidFill>
                  <a:schemeClr val="bg1"/>
                </a:solidFill>
                <a:cs typeface="B Mitra" panose="00000400000000000000" pitchFamily="2" charset="-78"/>
              </a:rPr>
            </a:br>
            <a:r>
              <a:rPr lang="fa-IR" dirty="0">
                <a:solidFill>
                  <a:schemeClr val="bg1"/>
                </a:solidFill>
                <a:cs typeface="B Mitra" panose="00000400000000000000" pitchFamily="2" charset="-78"/>
              </a:rPr>
              <a:t>یک تستر جعبه خاکستری ساختار درونی برنامه را می‌شناسد و به تمامی مستندات و ساختار داده‌ها دسترسی دارد. این دسترسی او را قادر می‌سازد که به خوبی از الگوریتم‌ها استفاده کرده و آنها را ترکیب کند تا </a:t>
            </a:r>
            <a:r>
              <a:rPr lang="en-US" dirty="0" smtClean="0">
                <a:solidFill>
                  <a:schemeClr val="bg1"/>
                </a:solidFill>
                <a:cs typeface="B Mitra" panose="00000400000000000000" pitchFamily="2" charset="-78"/>
              </a:rPr>
              <a:t> </a:t>
            </a:r>
            <a:r>
              <a:rPr lang="en-US" dirty="0" smtClean="0">
                <a:solidFill>
                  <a:schemeClr val="bg1"/>
                </a:solidFill>
                <a:latin typeface="Angsana New" panose="02020603050405020304" pitchFamily="18" charset="-34"/>
                <a:cs typeface="Angsana New" panose="02020603050405020304" pitchFamily="18" charset="-34"/>
              </a:rPr>
              <a:t>Test </a:t>
            </a:r>
            <a:r>
              <a:rPr lang="en-US" dirty="0">
                <a:solidFill>
                  <a:schemeClr val="bg1"/>
                </a:solidFill>
                <a:latin typeface="Angsana New" panose="02020603050405020304" pitchFamily="18" charset="-34"/>
                <a:cs typeface="Angsana New" panose="02020603050405020304" pitchFamily="18" charset="-34"/>
              </a:rPr>
              <a:t>Case </a:t>
            </a:r>
            <a:r>
              <a:rPr lang="fa-IR" dirty="0">
                <a:solidFill>
                  <a:schemeClr val="bg1"/>
                </a:solidFill>
                <a:cs typeface="B Mitra" panose="00000400000000000000" pitchFamily="2" charset="-78"/>
              </a:rPr>
              <a:t>های بهتری را طراحی کند.</a:t>
            </a: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116666866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631065"/>
            <a:ext cx="11114466" cy="5859887"/>
          </a:xfrm>
        </p:spPr>
        <p:txBody>
          <a:bodyPr>
            <a:noAutofit/>
          </a:bodyPr>
          <a:lstStyle/>
          <a:p>
            <a:pPr algn="r" rtl="1"/>
            <a:r>
              <a:rPr lang="fa-IR" b="1" dirty="0" smtClean="0">
                <a:solidFill>
                  <a:schemeClr val="bg1"/>
                </a:solidFill>
                <a:cs typeface="B Mitra" panose="00000400000000000000" pitchFamily="2" charset="-78"/>
              </a:rPr>
              <a:t>تست </a:t>
            </a:r>
            <a:r>
              <a:rPr lang="fa-IR" b="1" dirty="0">
                <a:solidFill>
                  <a:schemeClr val="bg1"/>
                </a:solidFill>
                <a:cs typeface="B Mitra" panose="00000400000000000000" pitchFamily="2" charset="-78"/>
              </a:rPr>
              <a:t>جعبه خاکستری : ترکیب تست جعبه سفید و </a:t>
            </a:r>
            <a:r>
              <a:rPr lang="fa-IR" b="1" dirty="0" smtClean="0">
                <a:solidFill>
                  <a:schemeClr val="bg1"/>
                </a:solidFill>
                <a:cs typeface="B Mitra" panose="00000400000000000000" pitchFamily="2" charset="-78"/>
              </a:rPr>
              <a:t>سیاه</a:t>
            </a:r>
            <a:r>
              <a:rPr lang="en-US" b="1" dirty="0" smtClean="0">
                <a:solidFill>
                  <a:schemeClr val="bg1"/>
                </a:solidFill>
                <a:cs typeface="B Mitra" panose="00000400000000000000" pitchFamily="2" charset="-78"/>
              </a:rPr>
              <a:t> </a:t>
            </a:r>
            <a:r>
              <a:rPr lang="fa-IR" b="1" dirty="0">
                <a:solidFill>
                  <a:schemeClr val="bg1"/>
                </a:solidFill>
                <a:cs typeface="B Mitra" panose="00000400000000000000" pitchFamily="2" charset="-78"/>
              </a:rPr>
              <a:t>(ادامه)</a:t>
            </a:r>
            <a:r>
              <a:rPr lang="en-US" b="1" dirty="0" smtClean="0">
                <a:solidFill>
                  <a:schemeClr val="bg1"/>
                </a:solidFill>
                <a:cs typeface="B Mitra" panose="00000400000000000000" pitchFamily="2" charset="-78"/>
              </a:rPr>
              <a:t/>
            </a:r>
            <a:br>
              <a:rPr lang="en-US" b="1" dirty="0" smtClean="0">
                <a:solidFill>
                  <a:schemeClr val="bg1"/>
                </a:solidFill>
                <a:cs typeface="B Mitra" panose="00000400000000000000" pitchFamily="2" charset="-78"/>
              </a:rPr>
            </a:br>
            <a:r>
              <a:rPr lang="en-US" dirty="0" smtClean="0">
                <a:solidFill>
                  <a:schemeClr val="bg1"/>
                </a:solidFill>
                <a:cs typeface="B Mitra" panose="00000400000000000000" pitchFamily="2" charset="-78"/>
              </a:rPr>
              <a:t/>
            </a:r>
            <a:br>
              <a:rPr lang="en-US" dirty="0" smtClean="0">
                <a:solidFill>
                  <a:schemeClr val="bg1"/>
                </a:solidFill>
                <a:cs typeface="B Mitra" panose="00000400000000000000" pitchFamily="2" charset="-78"/>
              </a:rPr>
            </a:br>
            <a:r>
              <a:rPr lang="fa-IR" sz="2800" b="1" dirty="0" smtClean="0">
                <a:solidFill>
                  <a:schemeClr val="bg1"/>
                </a:solidFill>
                <a:cs typeface="B Mitra" panose="00000400000000000000" pitchFamily="2" charset="-78"/>
              </a:rPr>
              <a:t>مزایای:</a:t>
            </a:r>
            <a:r>
              <a:rPr lang="fa-IR" sz="2800" dirty="0">
                <a:solidFill>
                  <a:schemeClr val="bg1"/>
                </a:solidFill>
                <a:cs typeface="B Mitra" panose="00000400000000000000" pitchFamily="2" charset="-78"/>
              </a:rPr>
              <a:t/>
            </a:r>
            <a:br>
              <a:rPr lang="fa-IR" sz="2800" dirty="0">
                <a:solidFill>
                  <a:schemeClr val="bg1"/>
                </a:solidFill>
                <a:cs typeface="B Mitra" panose="00000400000000000000" pitchFamily="2" charset="-78"/>
              </a:rPr>
            </a:br>
            <a:r>
              <a:rPr lang="fa-IR" sz="2800" dirty="0">
                <a:solidFill>
                  <a:schemeClr val="bg1"/>
                </a:solidFill>
                <a:cs typeface="B Mitra" panose="00000400000000000000" pitchFamily="2" charset="-78"/>
              </a:rPr>
              <a:t>- ترکیب روش‌ها: این تست ترکیبی از دو روش جعبه سفید و سیاه است، بنابراین از مزایای هر دو آن‌ها می‌توان استفاده کرد.</a:t>
            </a:r>
            <a:br>
              <a:rPr lang="fa-IR" sz="2800" dirty="0">
                <a:solidFill>
                  <a:schemeClr val="bg1"/>
                </a:solidFill>
                <a:cs typeface="B Mitra" panose="00000400000000000000" pitchFamily="2" charset="-78"/>
              </a:rPr>
            </a:br>
            <a:r>
              <a:rPr lang="fa-IR" sz="2800" dirty="0">
                <a:solidFill>
                  <a:schemeClr val="bg1"/>
                </a:solidFill>
                <a:cs typeface="B Mitra" panose="00000400000000000000" pitchFamily="2" charset="-78"/>
              </a:rPr>
              <a:t>- غیر نفوذی: این تست که بر پایه تست عملکردی است، با آگاهی از معماری، ساختار درونی و الگوریتم‌های به کار رفته در برنامه، توانایی تغییر در کدهای برنامه را داشته تا از حملات مختلف جلوگیری کرده و برنامه را ایمن کند.</a:t>
            </a:r>
            <a:br>
              <a:rPr lang="fa-IR" sz="2800" dirty="0">
                <a:solidFill>
                  <a:schemeClr val="bg1"/>
                </a:solidFill>
                <a:cs typeface="B Mitra" panose="00000400000000000000" pitchFamily="2" charset="-78"/>
              </a:rPr>
            </a:br>
            <a:r>
              <a:rPr lang="fa-IR" sz="2800" dirty="0">
                <a:solidFill>
                  <a:schemeClr val="bg1"/>
                </a:solidFill>
                <a:cs typeface="B Mitra" panose="00000400000000000000" pitchFamily="2" charset="-78"/>
              </a:rPr>
              <a:t>- طراحی تست‌های هوشمند: با داشتن مستندات طراحی، ساختار پایگاه داده و ساختار برنامه و با این اساس که اطلاعات محدودی که دردسترس تستر است، می‌تواند سناریوهای تست هوشمند بسیار عالی طراحی کند به ویژه در پروتکل‌های ارتباطی و نوع داده‌هایی که در برنامه استفاده می‌شود.</a:t>
            </a:r>
            <a:br>
              <a:rPr lang="fa-IR" sz="2800" dirty="0">
                <a:solidFill>
                  <a:schemeClr val="bg1"/>
                </a:solidFill>
                <a:cs typeface="B Mitra" panose="00000400000000000000" pitchFamily="2" charset="-78"/>
              </a:rPr>
            </a:br>
            <a:r>
              <a:rPr lang="fa-IR" sz="2800" dirty="0">
                <a:solidFill>
                  <a:schemeClr val="bg1"/>
                </a:solidFill>
                <a:cs typeface="B Mitra" panose="00000400000000000000" pitchFamily="2" charset="-78"/>
              </a:rPr>
              <a:t>- جلوگیری از تست‌های غیر مرتبط: به‌رغم تمامی مزایای فوق و ویژگی‌هایی که بیان شد، این تست مرز بین تستر و برنامه نویس را نگه داشته و تست‌هایی که مختص برنامه نویس می‌باشد را انجام نمی‌دهد.</a:t>
            </a:r>
            <a:br>
              <a:rPr lang="fa-IR" sz="2800" dirty="0">
                <a:solidFill>
                  <a:schemeClr val="bg1"/>
                </a:solidFill>
                <a:cs typeface="B Mitra" panose="00000400000000000000" pitchFamily="2" charset="-78"/>
              </a:rPr>
            </a:br>
            <a:r>
              <a:rPr lang="fa-IR" sz="2800" dirty="0">
                <a:solidFill>
                  <a:schemeClr val="bg1"/>
                </a:solidFill>
                <a:cs typeface="B Mitra" panose="00000400000000000000" pitchFamily="2" charset="-78"/>
              </a:rPr>
              <a:t>- این تست از نقطه نظر کاربر انجام می‌شود نه از دیدگاه طراح !</a:t>
            </a:r>
            <a:endParaRPr lang="fa-IR" dirty="0">
              <a:solidFill>
                <a:schemeClr val="bg1"/>
              </a:solidFill>
              <a:cs typeface="B Mitra" panose="00000400000000000000" pitchFamily="2" charset="-78"/>
            </a:endParaRPr>
          </a:p>
        </p:txBody>
      </p:sp>
      <p:sp>
        <p:nvSpPr>
          <p:cNvPr id="4" name="Title 1"/>
          <p:cNvSpPr txBox="1">
            <a:spLocks/>
          </p:cNvSpPr>
          <p:nvPr/>
        </p:nvSpPr>
        <p:spPr>
          <a:xfrm>
            <a:off x="528035" y="2290293"/>
            <a:ext cx="11114466" cy="151970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972372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15932" y="914400"/>
            <a:ext cx="8024255" cy="2395469"/>
          </a:xfrm>
        </p:spPr>
        <p:txBody>
          <a:bodyPr>
            <a:normAutofit fontScale="90000"/>
          </a:bodyPr>
          <a:lstStyle/>
          <a:p>
            <a:pPr algn="r" rtl="1"/>
            <a:r>
              <a:rPr lang="fa-IR" sz="6000" dirty="0" smtClean="0">
                <a:solidFill>
                  <a:schemeClr val="bg1"/>
                </a:solidFill>
                <a:cs typeface="B Titr" panose="00000700000000000000" pitchFamily="2" charset="-78"/>
              </a:rPr>
              <a:t>مبانی آزمون نرم افزار</a:t>
            </a:r>
            <a:br>
              <a:rPr lang="fa-IR" sz="6000" dirty="0" smtClean="0">
                <a:solidFill>
                  <a:schemeClr val="bg1"/>
                </a:solidFill>
                <a:cs typeface="B Titr" panose="00000700000000000000" pitchFamily="2" charset="-78"/>
              </a:rPr>
            </a:br>
            <a:r>
              <a:rPr lang="en-US" sz="6000" smtClean="0">
                <a:solidFill>
                  <a:schemeClr val="bg1"/>
                </a:solidFill>
                <a:cs typeface="B Titr" panose="00000700000000000000" pitchFamily="2" charset="-78"/>
              </a:rPr>
              <a:t/>
            </a:r>
            <a:br>
              <a:rPr lang="en-US" sz="6000" smtClean="0">
                <a:solidFill>
                  <a:schemeClr val="bg1"/>
                </a:solidFill>
                <a:cs typeface="B Titr" panose="00000700000000000000" pitchFamily="2" charset="-78"/>
              </a:rPr>
            </a:br>
            <a:r>
              <a:rPr lang="fa-IR" sz="6000" smtClean="0">
                <a:solidFill>
                  <a:schemeClr val="bg1"/>
                </a:solidFill>
                <a:cs typeface="B Titr" panose="00000700000000000000" pitchFamily="2" charset="-78"/>
              </a:rPr>
              <a:t>انواع </a:t>
            </a:r>
            <a:r>
              <a:rPr lang="fa-IR" sz="6000" dirty="0" smtClean="0">
                <a:solidFill>
                  <a:schemeClr val="bg1"/>
                </a:solidFill>
                <a:cs typeface="B Titr" panose="00000700000000000000" pitchFamily="2" charset="-78"/>
              </a:rPr>
              <a:t>آزمون</a:t>
            </a:r>
            <a:endParaRPr lang="en-US" sz="6000" dirty="0">
              <a:solidFill>
                <a:schemeClr val="bg1"/>
              </a:solidFill>
              <a:cs typeface="B Titr" panose="00000700000000000000" pitchFamily="2" charset="-78"/>
            </a:endParaRPr>
          </a:p>
        </p:txBody>
      </p:sp>
      <p:pic>
        <p:nvPicPr>
          <p:cNvPr id="4" name="Picture 3" descr="C:\Users\ava\Downloads\Documents\Testing_Wallpaper.png"/>
          <p:cNvPicPr/>
          <p:nvPr/>
        </p:nvPicPr>
        <p:blipFill>
          <a:blip r:embed="rId2">
            <a:extLst>
              <a:ext uri="{28A0092B-C50C-407E-A947-70E740481C1C}">
                <a14:useLocalDpi xmlns:a14="http://schemas.microsoft.com/office/drawing/2010/main" val="0"/>
              </a:ext>
            </a:extLst>
          </a:blip>
          <a:srcRect/>
          <a:stretch>
            <a:fillRect/>
          </a:stretch>
        </p:blipFill>
        <p:spPr bwMode="auto">
          <a:xfrm>
            <a:off x="547151" y="3670478"/>
            <a:ext cx="4295305" cy="291199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0674498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4000" b="1" dirty="0" smtClean="0">
                <a:solidFill>
                  <a:schemeClr val="bg1"/>
                </a:solidFill>
                <a:cs typeface="B Mitra" panose="00000400000000000000" pitchFamily="2" charset="-78"/>
              </a:rPr>
              <a:t>انواع </a:t>
            </a:r>
            <a:r>
              <a:rPr lang="fa-IR" sz="4000" b="1" dirty="0">
                <a:solidFill>
                  <a:schemeClr val="bg1"/>
                </a:solidFill>
                <a:cs typeface="B Mitra" panose="00000400000000000000" pitchFamily="2" charset="-78"/>
              </a:rPr>
              <a:t>تست</a:t>
            </a:r>
            <a:r>
              <a:rPr lang="fa-IR" sz="4000" b="1" dirty="0" smtClean="0">
                <a:solidFill>
                  <a:schemeClr val="bg1"/>
                </a:solidFill>
                <a:cs typeface="B Mitra" panose="00000400000000000000" pitchFamily="2" charset="-78"/>
              </a:rPr>
              <a:t>:</a:t>
            </a:r>
            <a:r>
              <a:rPr lang="fa-IR" sz="4000" dirty="0">
                <a:solidFill>
                  <a:schemeClr val="bg1"/>
                </a:solidFill>
                <a:cs typeface="B Mitra" panose="00000400000000000000" pitchFamily="2" charset="-78"/>
              </a:rPr>
              <a:t/>
            </a:r>
            <a:br>
              <a:rPr lang="fa-IR" sz="4000" dirty="0">
                <a:solidFill>
                  <a:schemeClr val="bg1"/>
                </a:solidFill>
                <a:cs typeface="B Mitra" panose="00000400000000000000" pitchFamily="2" charset="-78"/>
              </a:rPr>
            </a:br>
            <a:r>
              <a:rPr lang="fa-IR" sz="4000" dirty="0">
                <a:solidFill>
                  <a:schemeClr val="bg1"/>
                </a:solidFill>
                <a:cs typeface="B Mitra" panose="00000400000000000000" pitchFamily="2" charset="-78"/>
              </a:rPr>
              <a:t>یکی از مهمترین مراحل تولید نرم افزار، فاز تست و رفع اشکال سیستم </a:t>
            </a:r>
            <a:r>
              <a:rPr lang="fa-IR" sz="4000" dirty="0" smtClean="0">
                <a:solidFill>
                  <a:schemeClr val="bg1"/>
                </a:solidFill>
                <a:cs typeface="B Mitra" panose="00000400000000000000" pitchFamily="2" charset="-78"/>
              </a:rPr>
              <a:t>است که </a:t>
            </a:r>
            <a:r>
              <a:rPr lang="fa-IR" sz="4000" dirty="0">
                <a:solidFill>
                  <a:schemeClr val="bg1"/>
                </a:solidFill>
                <a:cs typeface="B Mitra" panose="00000400000000000000" pitchFamily="2" charset="-78"/>
              </a:rPr>
              <a:t>در تمام متدهای تولید سیستم‌های نرم‌افزاری از جمله </a:t>
            </a:r>
            <a:r>
              <a:rPr lang="en-US" dirty="0" smtClean="0">
                <a:solidFill>
                  <a:schemeClr val="bg1"/>
                </a:solidFill>
                <a:latin typeface="Arial" panose="020B0604020202020204" pitchFamily="34" charset="0"/>
                <a:cs typeface="Arial" panose="020B0604020202020204" pitchFamily="34" charset="0"/>
              </a:rPr>
              <a:t>RUP</a:t>
            </a:r>
            <a:r>
              <a:rPr lang="fa-IR" dirty="0" smtClean="0">
                <a:solidFill>
                  <a:schemeClr val="bg1"/>
                </a:solidFill>
                <a:cs typeface="B Mitra" panose="00000400000000000000" pitchFamily="2" charset="-78"/>
              </a:rPr>
              <a:t> </a:t>
            </a:r>
            <a:r>
              <a:rPr lang="fa-IR" sz="4000" dirty="0" smtClean="0">
                <a:solidFill>
                  <a:schemeClr val="bg1"/>
                </a:solidFill>
                <a:cs typeface="B Mitra" panose="00000400000000000000" pitchFamily="2" charset="-78"/>
              </a:rPr>
              <a:t>برای </a:t>
            </a:r>
            <a:r>
              <a:rPr lang="fa-IR" sz="4000" dirty="0">
                <a:solidFill>
                  <a:schemeClr val="bg1"/>
                </a:solidFill>
                <a:cs typeface="B Mitra" panose="00000400000000000000" pitchFamily="2" charset="-78"/>
              </a:rPr>
              <a:t>آن روش مدونی در نظر گرفته شده </a:t>
            </a:r>
            <a:r>
              <a:rPr lang="fa-IR" sz="4000" dirty="0" smtClean="0">
                <a:solidFill>
                  <a:schemeClr val="bg1"/>
                </a:solidFill>
                <a:cs typeface="B Mitra" panose="00000400000000000000" pitchFamily="2" charset="-78"/>
              </a:rPr>
              <a:t>است.</a:t>
            </a:r>
            <a:br>
              <a:rPr lang="fa-IR" sz="4000" dirty="0" smtClean="0">
                <a:solidFill>
                  <a:schemeClr val="bg1"/>
                </a:solidFill>
                <a:cs typeface="B Mitra" panose="00000400000000000000" pitchFamily="2" charset="-78"/>
              </a:rPr>
            </a:br>
            <a:r>
              <a:rPr lang="fa-IR" sz="4000" dirty="0">
                <a:solidFill>
                  <a:schemeClr val="bg1"/>
                </a:solidFill>
                <a:cs typeface="B Mitra" panose="00000400000000000000" pitchFamily="2" charset="-78"/>
              </a:rPr>
              <a:t/>
            </a:r>
            <a:br>
              <a:rPr lang="fa-IR" sz="4000" dirty="0">
                <a:solidFill>
                  <a:schemeClr val="bg1"/>
                </a:solidFill>
                <a:cs typeface="B Mitra" panose="00000400000000000000" pitchFamily="2" charset="-78"/>
              </a:rPr>
            </a:br>
            <a:r>
              <a:rPr lang="fa-IR" sz="4000" dirty="0">
                <a:solidFill>
                  <a:schemeClr val="bg1"/>
                </a:solidFill>
                <a:cs typeface="B Mitra" panose="00000400000000000000" pitchFamily="2" charset="-78"/>
              </a:rPr>
              <a:t>تعریف تست یک نرم‌افزار را می‌توان فرآیندی جهت کشف خطاهای کشف نشده نرم‌افزار در جهت مرتفع نمودن آن‌ها عنوان نمود</a:t>
            </a:r>
            <a:r>
              <a:rPr lang="fa-IR" sz="4000" dirty="0" smtClean="0">
                <a:solidFill>
                  <a:schemeClr val="bg1"/>
                </a:solidFill>
                <a:cs typeface="B Mitra" panose="00000400000000000000" pitchFamily="2" charset="-78"/>
              </a:rPr>
              <a:t>. انواع </a:t>
            </a:r>
            <a:r>
              <a:rPr lang="fa-IR" sz="4000" dirty="0">
                <a:solidFill>
                  <a:schemeClr val="bg1"/>
                </a:solidFill>
                <a:cs typeface="B Mitra" panose="00000400000000000000" pitchFamily="2" charset="-78"/>
              </a:rPr>
              <a:t>مختلف تست نرم‌افزار عبارتند از تست </a:t>
            </a:r>
            <a:r>
              <a:rPr lang="fa-IR" sz="4000" dirty="0" smtClean="0">
                <a:solidFill>
                  <a:schemeClr val="bg1"/>
                </a:solidFill>
                <a:cs typeface="B Mitra" panose="00000400000000000000" pitchFamily="2" charset="-78"/>
              </a:rPr>
              <a:t>کارایی، </a:t>
            </a:r>
            <a:r>
              <a:rPr lang="fa-IR" sz="4000" dirty="0">
                <a:solidFill>
                  <a:schemeClr val="bg1"/>
                </a:solidFill>
                <a:cs typeface="B Mitra" panose="00000400000000000000" pitchFamily="2" charset="-78"/>
              </a:rPr>
              <a:t>تست استرس، تست اکتشافی، تست تطبیق پذیری با محیط، تست امنیت </a:t>
            </a:r>
            <a:r>
              <a:rPr lang="fa-IR" sz="4000" dirty="0" smtClean="0">
                <a:solidFill>
                  <a:schemeClr val="bg1"/>
                </a:solidFill>
                <a:cs typeface="B Mitra" panose="00000400000000000000" pitchFamily="2" charset="-78"/>
              </a:rPr>
              <a:t>و ... </a:t>
            </a:r>
            <a:endParaRPr lang="en-US" sz="4000" dirty="0">
              <a:solidFill>
                <a:schemeClr val="bg1"/>
              </a:solidFill>
              <a:cs typeface="B Mitra" panose="00000400000000000000" pitchFamily="2" charset="-78"/>
            </a:endParaRPr>
          </a:p>
        </p:txBody>
      </p:sp>
    </p:spTree>
    <p:extLst>
      <p:ext uri="{BB962C8B-B14F-4D97-AF65-F5344CB8AC3E}">
        <p14:creationId xmlns:p14="http://schemas.microsoft.com/office/powerpoint/2010/main" val="102355127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125" y="502277"/>
            <a:ext cx="11513711" cy="5821250"/>
          </a:xfrm>
        </p:spPr>
        <p:txBody>
          <a:bodyPr>
            <a:noAutofit/>
          </a:bodyPr>
          <a:lstStyle/>
          <a:p>
            <a:pPr lvl="2" algn="r" defTabSz="457200" rtl="1">
              <a:spcBef>
                <a:spcPct val="0"/>
              </a:spcBef>
            </a:pPr>
            <a:r>
              <a:rPr lang="fa-IR" sz="3600" b="1" dirty="0" smtClean="0">
                <a:solidFill>
                  <a:schemeClr val="bg1"/>
                </a:solidFill>
                <a:cs typeface="B Mitra" panose="00000400000000000000" pitchFamily="2" charset="-78"/>
              </a:rPr>
              <a:t>تست کارایی (</a:t>
            </a:r>
            <a:r>
              <a:rPr lang="en-US" sz="3600" b="1" dirty="0" smtClean="0">
                <a:solidFill>
                  <a:schemeClr val="bg1"/>
                </a:solidFill>
                <a:cs typeface="B Mitra" panose="00000400000000000000" pitchFamily="2" charset="-78"/>
              </a:rPr>
              <a:t>performance</a:t>
            </a:r>
            <a:r>
              <a:rPr lang="fa-IR" sz="3600" b="1" dirty="0" smtClean="0">
                <a:solidFill>
                  <a:schemeClr val="bg1"/>
                </a:solidFill>
                <a:cs typeface="B Mitra" panose="00000400000000000000" pitchFamily="2" charset="-78"/>
              </a:rPr>
              <a:t>):</a:t>
            </a:r>
            <a:br>
              <a:rPr lang="fa-IR" sz="3600" b="1" dirty="0" smtClean="0">
                <a:solidFill>
                  <a:schemeClr val="bg1"/>
                </a:solidFill>
                <a:cs typeface="B Mitra" panose="00000400000000000000" pitchFamily="2" charset="-78"/>
              </a:rPr>
            </a:b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در این نوع تست، نرم‌افزار از نظر درستی </a:t>
            </a:r>
            <a:r>
              <a:rPr lang="fa-IR" sz="3600" dirty="0" smtClean="0">
                <a:solidFill>
                  <a:schemeClr val="bg1"/>
                </a:solidFill>
                <a:cs typeface="B Mitra" panose="00000400000000000000" pitchFamily="2" charset="-78"/>
              </a:rPr>
              <a:t>کارایی بررسی </a:t>
            </a:r>
            <a:r>
              <a:rPr lang="fa-IR" sz="3600" dirty="0">
                <a:solidFill>
                  <a:schemeClr val="bg1"/>
                </a:solidFill>
                <a:cs typeface="B Mitra" panose="00000400000000000000" pitchFamily="2" charset="-78"/>
              </a:rPr>
              <a:t>شده و کامپوننت‌ها و فرآیندها تست می‌شوند. این استراتژی با تست کدهای نرم‌افزاری و ساختمان داخلی آن سر و کار دارد. در این روش، کدها باید به گونه‌ای اجرا و بررسی شوند که مطمئن شویم سطر به سطر کدهای برنامه حداقل یک بار اجرا شده است. می‌توان گفت که تست‌ها طوری نوشته می‌شوند تا ببینند که آیا نرم‌افزار همان‌گونه که انتظار می‌رود عمل می‌کند یا خیر؟ معمولا تست </a:t>
            </a:r>
            <a:r>
              <a:rPr lang="fa-IR" sz="3600" dirty="0" smtClean="0">
                <a:solidFill>
                  <a:schemeClr val="bg1"/>
                </a:solidFill>
                <a:cs typeface="B Mitra" panose="00000400000000000000" pitchFamily="2" charset="-78"/>
              </a:rPr>
              <a:t>کارایی در </a:t>
            </a:r>
            <a:r>
              <a:rPr lang="fa-IR" sz="3600" dirty="0">
                <a:solidFill>
                  <a:schemeClr val="bg1"/>
                </a:solidFill>
                <a:cs typeface="B Mitra" panose="00000400000000000000" pitchFamily="2" charset="-78"/>
              </a:rPr>
              <a:t>انتهای کار انجام می‌شود ولی می‌توان از همان ابتدای کار با تست کردن قسمت‌های کوچک مثل کامپوننت‌ها نتیجه نهایی را ساده کرد</a:t>
            </a:r>
            <a:r>
              <a:rPr lang="fa-IR" sz="3600" dirty="0" smtClean="0">
                <a:solidFill>
                  <a:schemeClr val="bg1"/>
                </a:solidFill>
                <a:cs typeface="B Mitra" panose="00000400000000000000" pitchFamily="2" charset="-78"/>
              </a:rPr>
              <a:t>.</a:t>
            </a:r>
            <a:endParaRPr lang="en-US" sz="3600" dirty="0">
              <a:solidFill>
                <a:schemeClr val="bg1"/>
              </a:solidFill>
              <a:cs typeface="B Mitra" panose="00000400000000000000" pitchFamily="2" charset="-78"/>
            </a:endParaRPr>
          </a:p>
        </p:txBody>
      </p:sp>
    </p:spTree>
    <p:extLst>
      <p:ext uri="{BB962C8B-B14F-4D97-AF65-F5344CB8AC3E}">
        <p14:creationId xmlns:p14="http://schemas.microsoft.com/office/powerpoint/2010/main" val="311703148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125" y="502277"/>
            <a:ext cx="11513711" cy="5821250"/>
          </a:xfrm>
        </p:spPr>
        <p:txBody>
          <a:bodyPr>
            <a:noAutofit/>
          </a:bodyPr>
          <a:lstStyle/>
          <a:p>
            <a:pPr lvl="2" algn="r" defTabSz="457200" rtl="1">
              <a:spcBef>
                <a:spcPct val="0"/>
              </a:spcBef>
            </a:pPr>
            <a:r>
              <a:rPr lang="fa-IR" sz="3600" b="1" dirty="0" smtClean="0">
                <a:solidFill>
                  <a:schemeClr val="bg1"/>
                </a:solidFill>
                <a:cs typeface="B Mitra" panose="00000400000000000000" pitchFamily="2" charset="-78"/>
              </a:rPr>
              <a:t>تست کارایی (</a:t>
            </a:r>
            <a:r>
              <a:rPr lang="en-US" sz="3600" b="1" dirty="0" smtClean="0">
                <a:solidFill>
                  <a:schemeClr val="bg1"/>
                </a:solidFill>
                <a:cs typeface="B Mitra" panose="00000400000000000000" pitchFamily="2" charset="-78"/>
              </a:rPr>
              <a:t>performance</a:t>
            </a:r>
            <a:r>
              <a:rPr lang="fa-IR" sz="3600" b="1" dirty="0" smtClean="0">
                <a:solidFill>
                  <a:schemeClr val="bg1"/>
                </a:solidFill>
                <a:cs typeface="B Mitra" panose="00000400000000000000" pitchFamily="2" charset="-78"/>
              </a:rPr>
              <a:t>)</a:t>
            </a:r>
            <a:r>
              <a:rPr lang="en-US" sz="3600" b="1" dirty="0" smtClean="0">
                <a:solidFill>
                  <a:schemeClr val="bg1"/>
                </a:solidFill>
                <a:cs typeface="B Mitra" panose="00000400000000000000" pitchFamily="2" charset="-78"/>
              </a:rPr>
              <a:t> </a:t>
            </a:r>
            <a:r>
              <a:rPr lang="fa-IR" sz="3600" b="1" dirty="0" smtClean="0">
                <a:solidFill>
                  <a:schemeClr val="bg1"/>
                </a:solidFill>
                <a:cs typeface="B Mitra" panose="00000400000000000000" pitchFamily="2" charset="-78"/>
              </a:rPr>
              <a:t>(ادامه):</a:t>
            </a:r>
            <a:br>
              <a:rPr lang="fa-IR" sz="3600" b="1" dirty="0" smtClean="0">
                <a:solidFill>
                  <a:schemeClr val="bg1"/>
                </a:solidFill>
                <a:cs typeface="B Mitra" panose="00000400000000000000" pitchFamily="2" charset="-78"/>
              </a:rPr>
            </a:b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هم‌چنین تست </a:t>
            </a:r>
            <a:r>
              <a:rPr lang="fa-IR" sz="3600" dirty="0" smtClean="0">
                <a:solidFill>
                  <a:schemeClr val="bg1"/>
                </a:solidFill>
                <a:cs typeface="B Mitra" panose="00000400000000000000" pitchFamily="2" charset="-78"/>
              </a:rPr>
              <a:t>کارایی </a:t>
            </a:r>
            <a:r>
              <a:rPr lang="fa-IR" sz="3600" dirty="0">
                <a:solidFill>
                  <a:schemeClr val="bg1"/>
                </a:solidFill>
                <a:cs typeface="B Mitra" panose="00000400000000000000" pitchFamily="2" charset="-78"/>
              </a:rPr>
              <a:t>می‌تواند مشکلات برنامه را پیدا کند به طور مثال:</a:t>
            </a:r>
            <a:br>
              <a:rPr lang="fa-IR"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a:t>
            </a:r>
            <a:r>
              <a:rPr lang="en-US" sz="3600" dirty="0" smtClean="0">
                <a:solidFill>
                  <a:schemeClr val="bg1"/>
                </a:solidFill>
                <a:cs typeface="B Mitra" panose="00000400000000000000" pitchFamily="2" charset="-78"/>
              </a:rPr>
              <a:t> </a:t>
            </a:r>
            <a:r>
              <a:rPr lang="fa-IR" sz="3600" dirty="0" smtClean="0">
                <a:solidFill>
                  <a:schemeClr val="bg1"/>
                </a:solidFill>
                <a:cs typeface="B Mitra" panose="00000400000000000000" pitchFamily="2" charset="-78"/>
              </a:rPr>
              <a:t>پایگاه </a:t>
            </a:r>
            <a:r>
              <a:rPr lang="fa-IR" sz="3600" dirty="0">
                <a:solidFill>
                  <a:schemeClr val="bg1"/>
                </a:solidFill>
                <a:cs typeface="B Mitra" panose="00000400000000000000" pitchFamily="2" charset="-78"/>
              </a:rPr>
              <a:t>داده با مقدار کمی از داده‌ها اجرا نشود.</a:t>
            </a:r>
            <a:br>
              <a:rPr lang="fa-IR"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برنامه </a:t>
            </a:r>
            <a:r>
              <a:rPr lang="fa-IR" sz="3600" dirty="0">
                <a:solidFill>
                  <a:schemeClr val="bg1"/>
                </a:solidFill>
                <a:cs typeface="B Mitra" panose="00000400000000000000" pitchFamily="2" charset="-78"/>
              </a:rPr>
              <a:t>در زمان پیک، به علت بار زیاد نتواند اجرا شود.</a:t>
            </a:r>
            <a:br>
              <a:rPr lang="fa-IR"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تست </a:t>
            </a:r>
            <a:r>
              <a:rPr lang="fa-IR" sz="3600" dirty="0" smtClean="0">
                <a:solidFill>
                  <a:schemeClr val="bg1"/>
                </a:solidFill>
                <a:cs typeface="B Mitra" panose="00000400000000000000" pitchFamily="2" charset="-78"/>
              </a:rPr>
              <a:t>کارایی </a:t>
            </a:r>
            <a:r>
              <a:rPr lang="fa-IR" sz="3600" dirty="0">
                <a:solidFill>
                  <a:schemeClr val="bg1"/>
                </a:solidFill>
                <a:cs typeface="B Mitra" panose="00000400000000000000" pitchFamily="2" charset="-78"/>
              </a:rPr>
              <a:t>ارزیابی مجموعه‌های بسیار متفاوتی از مهارت‌های </a:t>
            </a:r>
            <a:r>
              <a:rPr lang="fa-IR" sz="3600" dirty="0" smtClean="0">
                <a:solidFill>
                  <a:schemeClr val="bg1"/>
                </a:solidFill>
                <a:cs typeface="B Mitra" panose="00000400000000000000" pitchFamily="2" charset="-78"/>
              </a:rPr>
              <a:t>کاراییی </a:t>
            </a:r>
            <a:r>
              <a:rPr lang="fa-IR" sz="3600" dirty="0">
                <a:solidFill>
                  <a:schemeClr val="bg1"/>
                </a:solidFill>
                <a:cs typeface="B Mitra" panose="00000400000000000000" pitchFamily="2" charset="-78"/>
              </a:rPr>
              <a:t>و یا توانایی برنامه را انجام می‌دهد. این تست در صنعت نرم افزار بسیار شایع می‌باشد و کاستی‌ها و مشکلات عملیاتی در برنامه را قبل از اجرا شدن آن نمایش می‌دهد. </a:t>
            </a:r>
            <a:endParaRPr lang="en-US" sz="3600" dirty="0">
              <a:solidFill>
                <a:schemeClr val="bg1"/>
              </a:solidFill>
              <a:cs typeface="B Mitra" panose="00000400000000000000" pitchFamily="2" charset="-78"/>
            </a:endParaRPr>
          </a:p>
        </p:txBody>
      </p:sp>
    </p:spTree>
    <p:extLst>
      <p:ext uri="{BB962C8B-B14F-4D97-AF65-F5344CB8AC3E}">
        <p14:creationId xmlns:p14="http://schemas.microsoft.com/office/powerpoint/2010/main" val="387915876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125" y="502277"/>
            <a:ext cx="11513711" cy="5821250"/>
          </a:xfrm>
        </p:spPr>
        <p:txBody>
          <a:bodyPr>
            <a:noAutofit/>
          </a:bodyPr>
          <a:lstStyle/>
          <a:p>
            <a:pPr lvl="2" algn="r" defTabSz="457200" rtl="1">
              <a:spcBef>
                <a:spcPct val="0"/>
              </a:spcBef>
            </a:pPr>
            <a:r>
              <a:rPr lang="fa-IR" sz="3600" b="1" dirty="0" smtClean="0">
                <a:solidFill>
                  <a:schemeClr val="bg1"/>
                </a:solidFill>
                <a:cs typeface="B Mitra" panose="00000400000000000000" pitchFamily="2" charset="-78"/>
              </a:rPr>
              <a:t>تست کارایی (</a:t>
            </a:r>
            <a:r>
              <a:rPr lang="en-US" sz="3600" b="1" dirty="0" smtClean="0">
                <a:solidFill>
                  <a:schemeClr val="bg1"/>
                </a:solidFill>
                <a:cs typeface="B Mitra" panose="00000400000000000000" pitchFamily="2" charset="-78"/>
              </a:rPr>
              <a:t>performance</a:t>
            </a:r>
            <a:r>
              <a:rPr lang="fa-IR" sz="3600" b="1" dirty="0" smtClean="0">
                <a:solidFill>
                  <a:schemeClr val="bg1"/>
                </a:solidFill>
                <a:cs typeface="B Mitra" panose="00000400000000000000" pitchFamily="2" charset="-78"/>
              </a:rPr>
              <a:t>)</a:t>
            </a:r>
            <a:r>
              <a:rPr lang="en-US" sz="3600" b="1" dirty="0" smtClean="0">
                <a:solidFill>
                  <a:schemeClr val="bg1"/>
                </a:solidFill>
                <a:cs typeface="B Mitra" panose="00000400000000000000" pitchFamily="2" charset="-78"/>
              </a:rPr>
              <a:t> </a:t>
            </a:r>
            <a:r>
              <a:rPr lang="fa-IR" sz="3600" b="1" dirty="0" smtClean="0">
                <a:solidFill>
                  <a:schemeClr val="bg1"/>
                </a:solidFill>
                <a:cs typeface="B Mitra" panose="00000400000000000000" pitchFamily="2" charset="-78"/>
              </a:rPr>
              <a:t>(ادامه):</a:t>
            </a:r>
            <a:br>
              <a:rPr lang="fa-IR" sz="3600" b="1" dirty="0" smtClean="0">
                <a:solidFill>
                  <a:schemeClr val="bg1"/>
                </a:solidFill>
                <a:cs typeface="B Mitra" panose="00000400000000000000" pitchFamily="2" charset="-78"/>
              </a:rPr>
            </a:br>
            <a:r>
              <a:rPr lang="fa-IR" sz="3600" b="1" dirty="0" smtClean="0">
                <a:solidFill>
                  <a:schemeClr val="bg1"/>
                </a:solidFill>
                <a:cs typeface="B Mitra" panose="00000400000000000000" pitchFamily="2" charset="-78"/>
              </a:rPr>
              <a:t>معرفی </a:t>
            </a:r>
            <a:r>
              <a:rPr lang="fa-IR" sz="3600" b="1" dirty="0">
                <a:solidFill>
                  <a:schemeClr val="bg1"/>
                </a:solidFill>
                <a:cs typeface="B Mitra" panose="00000400000000000000" pitchFamily="2" charset="-78"/>
              </a:rPr>
              <a:t>ابزار</a:t>
            </a:r>
            <a:r>
              <a:rPr lang="fa-IR" sz="3600" b="1" dirty="0" smtClean="0">
                <a:solidFill>
                  <a:schemeClr val="bg1"/>
                </a:solidFill>
                <a:cs typeface="B Mitra" panose="00000400000000000000" pitchFamily="2" charset="-78"/>
              </a:rPr>
              <a:t>:</a:t>
            </a:r>
            <a:br>
              <a:rPr lang="fa-IR" sz="3600" b="1" dirty="0" smtClean="0">
                <a:solidFill>
                  <a:schemeClr val="bg1"/>
                </a:solidFill>
                <a:cs typeface="B Mitra" panose="00000400000000000000" pitchFamily="2" charset="-78"/>
              </a:rPr>
            </a:b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ابزارهای تست </a:t>
            </a:r>
            <a:r>
              <a:rPr lang="fa-IR" sz="3600" dirty="0" smtClean="0">
                <a:solidFill>
                  <a:schemeClr val="bg1"/>
                </a:solidFill>
                <a:cs typeface="B Mitra" panose="00000400000000000000" pitchFamily="2" charset="-78"/>
              </a:rPr>
              <a:t>کارایی </a:t>
            </a:r>
            <a:r>
              <a:rPr lang="fa-IR" sz="3600" dirty="0">
                <a:solidFill>
                  <a:schemeClr val="bg1"/>
                </a:solidFill>
                <a:cs typeface="B Mitra" panose="00000400000000000000" pitchFamily="2" charset="-78"/>
              </a:rPr>
              <a:t>می‌بایستی مشخصات زیر را داشته </a:t>
            </a:r>
            <a:r>
              <a:rPr lang="fa-IR" sz="3600" dirty="0" smtClean="0">
                <a:solidFill>
                  <a:schemeClr val="bg1"/>
                </a:solidFill>
                <a:cs typeface="B Mitra" panose="00000400000000000000" pitchFamily="2" charset="-78"/>
              </a:rPr>
              <a:t>باشند:</a:t>
            </a: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بایستی </a:t>
            </a:r>
            <a:r>
              <a:rPr lang="fa-IR" sz="3600" dirty="0">
                <a:solidFill>
                  <a:schemeClr val="bg1"/>
                </a:solidFill>
                <a:cs typeface="B Mitra" panose="00000400000000000000" pitchFamily="2" charset="-78"/>
              </a:rPr>
              <a:t>بار بر روی سیستم در حال تست، تولید کنند.</a:t>
            </a:r>
            <a:br>
              <a:rPr lang="fa-IR"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زمان </a:t>
            </a:r>
            <a:r>
              <a:rPr lang="fa-IR" sz="3600" dirty="0">
                <a:solidFill>
                  <a:schemeClr val="bg1"/>
                </a:solidFill>
                <a:cs typeface="B Mitra" panose="00000400000000000000" pitchFamily="2" charset="-78"/>
              </a:rPr>
              <a:t>پاسخ سرور را اندازه گیری کنند.</a:t>
            </a:r>
            <a:br>
              <a:rPr lang="fa-IR"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توان </a:t>
            </a:r>
            <a:r>
              <a:rPr lang="fa-IR" sz="3600" dirty="0">
                <a:solidFill>
                  <a:schemeClr val="bg1"/>
                </a:solidFill>
                <a:cs typeface="B Mitra" panose="00000400000000000000" pitchFamily="2" charset="-78"/>
              </a:rPr>
              <a:t>اندازه گیری داشته باشند.</a:t>
            </a:r>
            <a:br>
              <a:rPr lang="fa-IR"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a:r>
            <a:br>
              <a:rPr lang="fa-IR" sz="3600" dirty="0" smtClean="0">
                <a:solidFill>
                  <a:schemeClr val="bg1"/>
                </a:solidFill>
                <a:cs typeface="B Mitra" panose="00000400000000000000" pitchFamily="2" charset="-78"/>
              </a:rPr>
            </a:br>
            <a:endParaRPr lang="en-US" sz="3600" dirty="0">
              <a:solidFill>
                <a:schemeClr val="bg1"/>
              </a:solidFill>
              <a:cs typeface="B Mitra" panose="00000400000000000000" pitchFamily="2" charset="-78"/>
            </a:endParaRPr>
          </a:p>
        </p:txBody>
      </p:sp>
    </p:spTree>
    <p:extLst>
      <p:ext uri="{BB962C8B-B14F-4D97-AF65-F5344CB8AC3E}">
        <p14:creationId xmlns:p14="http://schemas.microsoft.com/office/powerpoint/2010/main" val="201056964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156" y="0"/>
            <a:ext cx="11513711" cy="4610637"/>
          </a:xfrm>
        </p:spPr>
        <p:txBody>
          <a:bodyPr>
            <a:noAutofit/>
          </a:bodyPr>
          <a:lstStyle/>
          <a:p>
            <a:pPr lvl="2" algn="r" defTabSz="457200" rtl="1">
              <a:spcBef>
                <a:spcPct val="0"/>
              </a:spcBef>
            </a:pPr>
            <a:r>
              <a:rPr lang="fa-IR" sz="3600" b="1" dirty="0" smtClean="0">
                <a:solidFill>
                  <a:schemeClr val="bg1"/>
                </a:solidFill>
                <a:cs typeface="B Mitra" panose="00000400000000000000" pitchFamily="2" charset="-78"/>
              </a:rPr>
              <a:t>تست کارایی (</a:t>
            </a:r>
            <a:r>
              <a:rPr lang="en-US" sz="3600" b="1" dirty="0" smtClean="0">
                <a:solidFill>
                  <a:schemeClr val="bg1"/>
                </a:solidFill>
                <a:cs typeface="B Mitra" panose="00000400000000000000" pitchFamily="2" charset="-78"/>
              </a:rPr>
              <a:t>performance</a:t>
            </a:r>
            <a:r>
              <a:rPr lang="fa-IR" sz="3600" b="1" dirty="0" smtClean="0">
                <a:solidFill>
                  <a:schemeClr val="bg1"/>
                </a:solidFill>
                <a:cs typeface="B Mitra" panose="00000400000000000000" pitchFamily="2" charset="-78"/>
              </a:rPr>
              <a:t>)</a:t>
            </a:r>
            <a:r>
              <a:rPr lang="en-US" sz="3600" b="1" dirty="0" smtClean="0">
                <a:solidFill>
                  <a:schemeClr val="bg1"/>
                </a:solidFill>
                <a:cs typeface="B Mitra" panose="00000400000000000000" pitchFamily="2" charset="-78"/>
              </a:rPr>
              <a:t> </a:t>
            </a:r>
            <a:r>
              <a:rPr lang="fa-IR" sz="3600" b="1" dirty="0" smtClean="0">
                <a:solidFill>
                  <a:schemeClr val="bg1"/>
                </a:solidFill>
                <a:cs typeface="B Mitra" panose="00000400000000000000" pitchFamily="2" charset="-78"/>
              </a:rPr>
              <a:t>(ادامه):</a:t>
            </a:r>
            <a:br>
              <a:rPr lang="fa-IR" sz="3600" b="1" dirty="0" smtClean="0">
                <a:solidFill>
                  <a:schemeClr val="bg1"/>
                </a:solidFill>
                <a:cs typeface="B Mitra" panose="00000400000000000000" pitchFamily="2" charset="-78"/>
              </a:rPr>
            </a:br>
            <a:r>
              <a:rPr lang="fa-IR" sz="3600" b="1" dirty="0" smtClean="0">
                <a:solidFill>
                  <a:schemeClr val="bg1"/>
                </a:solidFill>
                <a:cs typeface="B Mitra" panose="00000400000000000000" pitchFamily="2" charset="-78"/>
              </a:rPr>
              <a:t/>
            </a:r>
            <a:br>
              <a:rPr lang="fa-IR" sz="3600" b="1" dirty="0" smtClean="0">
                <a:solidFill>
                  <a:schemeClr val="bg1"/>
                </a:solidFill>
                <a:cs typeface="B Mitra" panose="00000400000000000000" pitchFamily="2" charset="-78"/>
              </a:rPr>
            </a:br>
            <a:r>
              <a:rPr lang="fa-IR" sz="3600" b="1" dirty="0" smtClean="0">
                <a:solidFill>
                  <a:schemeClr val="bg1"/>
                </a:solidFill>
                <a:cs typeface="B Mitra" panose="00000400000000000000" pitchFamily="2" charset="-78"/>
              </a:rPr>
              <a:t>معرفی ابزار:</a:t>
            </a:r>
            <a:br>
              <a:rPr lang="fa-IR" sz="3600" b="1" dirty="0" smtClean="0">
                <a:solidFill>
                  <a:schemeClr val="bg1"/>
                </a:solidFill>
                <a:cs typeface="B Mitra" panose="00000400000000000000" pitchFamily="2" charset="-78"/>
              </a:rPr>
            </a:br>
            <a:r>
              <a:rPr lang="fa-IR" sz="3600" dirty="0" smtClean="0">
                <a:solidFill>
                  <a:schemeClr val="bg1"/>
                </a:solidFill>
                <a:cs typeface="B Mitra" panose="00000400000000000000" pitchFamily="2" charset="-78"/>
              </a:rPr>
              <a:t/>
            </a:r>
            <a:br>
              <a:rPr lang="fa-IR" sz="3600" dirty="0" smtClean="0">
                <a:solidFill>
                  <a:schemeClr val="bg1"/>
                </a:solidFill>
                <a:cs typeface="B Mitra" panose="00000400000000000000" pitchFamily="2" charset="-78"/>
              </a:rPr>
            </a:br>
            <a:r>
              <a:rPr lang="fa-IR" sz="3600" dirty="0" smtClean="0">
                <a:solidFill>
                  <a:schemeClr val="bg1"/>
                </a:solidFill>
                <a:cs typeface="B Mitra" panose="00000400000000000000" pitchFamily="2" charset="-78"/>
              </a:rPr>
              <a:t>جی میتر آپاچی (</a:t>
            </a:r>
            <a:r>
              <a:rPr lang="en-US" sz="3600" dirty="0" smtClean="0">
                <a:solidFill>
                  <a:schemeClr val="bg1"/>
                </a:solidFill>
                <a:cs typeface="B Mitra" panose="00000400000000000000" pitchFamily="2" charset="-78"/>
              </a:rPr>
              <a:t>Apache </a:t>
            </a:r>
            <a:r>
              <a:rPr lang="en-US" sz="3600" dirty="0" err="1" smtClean="0">
                <a:solidFill>
                  <a:schemeClr val="bg1"/>
                </a:solidFill>
                <a:cs typeface="B Mitra" panose="00000400000000000000" pitchFamily="2" charset="-78"/>
              </a:rPr>
              <a:t>Jmeter</a:t>
            </a:r>
            <a:r>
              <a:rPr lang="fa-IR" sz="3600" dirty="0" smtClean="0">
                <a:solidFill>
                  <a:schemeClr val="bg1"/>
                </a:solidFill>
                <a:cs typeface="B Mitra" panose="00000400000000000000" pitchFamily="2" charset="-78"/>
              </a:rPr>
              <a:t>) یکی از ابزارهای تست کارایی است.</a:t>
            </a: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جی‌میتر آپاچی به صورت متن باز  بوده که برای پلت فرم‌های جاوا به کار می‌رود. عمدتا از این ابزار به عنوان تست </a:t>
            </a:r>
            <a:r>
              <a:rPr lang="fa-IR" sz="3600" dirty="0" smtClean="0">
                <a:solidFill>
                  <a:schemeClr val="bg1"/>
                </a:solidFill>
                <a:cs typeface="B Mitra" panose="00000400000000000000" pitchFamily="2" charset="-78"/>
              </a:rPr>
              <a:t>کارایی </a:t>
            </a:r>
            <a:r>
              <a:rPr lang="fa-IR" sz="3600" dirty="0">
                <a:solidFill>
                  <a:schemeClr val="bg1"/>
                </a:solidFill>
                <a:cs typeface="B Mitra" panose="00000400000000000000" pitchFamily="2" charset="-78"/>
              </a:rPr>
              <a:t>استفاده می‌کنند اما می‌توانید از آن در تست‌های دیگر مانند تست بار و استرس استفاده کنید</a:t>
            </a:r>
            <a:r>
              <a:rPr lang="fa-IR" sz="3600" dirty="0" smtClean="0">
                <a:solidFill>
                  <a:schemeClr val="bg1"/>
                </a:solidFill>
                <a:cs typeface="B Mitra" panose="00000400000000000000" pitchFamily="2" charset="-78"/>
              </a:rPr>
              <a:t>.</a:t>
            </a:r>
            <a:endParaRPr lang="en-US" sz="3600" dirty="0">
              <a:solidFill>
                <a:schemeClr val="bg1"/>
              </a:solidFill>
              <a:cs typeface="B Mitra" panose="00000400000000000000" pitchFamily="2" charset="-78"/>
            </a:endParaRPr>
          </a:p>
        </p:txBody>
      </p:sp>
      <p:pic>
        <p:nvPicPr>
          <p:cNvPr id="3" name="Picture 2" descr="http://testology.ir/wp-content/uploads/2014/07/Apache-JMeter.jpg"/>
          <p:cNvPicPr/>
          <p:nvPr/>
        </p:nvPicPr>
        <p:blipFill>
          <a:blip r:embed="rId2">
            <a:extLst>
              <a:ext uri="{28A0092B-C50C-407E-A947-70E740481C1C}">
                <a14:useLocalDpi xmlns:a14="http://schemas.microsoft.com/office/drawing/2010/main" val="0"/>
              </a:ext>
            </a:extLst>
          </a:blip>
          <a:srcRect/>
          <a:stretch>
            <a:fillRect/>
          </a:stretch>
        </p:blipFill>
        <p:spPr bwMode="auto">
          <a:xfrm>
            <a:off x="1803042" y="4610637"/>
            <a:ext cx="2434845" cy="1725366"/>
          </a:xfrm>
          <a:prstGeom prst="rect">
            <a:avLst/>
          </a:prstGeom>
          <a:noFill/>
          <a:ln>
            <a:noFill/>
          </a:ln>
        </p:spPr>
      </p:pic>
    </p:spTree>
    <p:extLst>
      <p:ext uri="{BB962C8B-B14F-4D97-AF65-F5344CB8AC3E}">
        <p14:creationId xmlns:p14="http://schemas.microsoft.com/office/powerpoint/2010/main" val="318884113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156" y="0"/>
            <a:ext cx="11513711" cy="5486400"/>
          </a:xfrm>
        </p:spPr>
        <p:txBody>
          <a:bodyPr>
            <a:noAutofit/>
          </a:bodyPr>
          <a:lstStyle/>
          <a:p>
            <a:pPr lvl="2" algn="r" defTabSz="457200" rtl="1">
              <a:spcBef>
                <a:spcPct val="0"/>
              </a:spcBef>
            </a:pPr>
            <a:r>
              <a:rPr lang="fa-IR" sz="3600" b="1" dirty="0" smtClean="0">
                <a:solidFill>
                  <a:schemeClr val="bg1"/>
                </a:solidFill>
                <a:cs typeface="B Mitra" panose="00000400000000000000" pitchFamily="2" charset="-78"/>
              </a:rPr>
              <a:t>تست کارایی (</a:t>
            </a:r>
            <a:r>
              <a:rPr lang="en-US" sz="3600" b="1" dirty="0" smtClean="0">
                <a:solidFill>
                  <a:schemeClr val="bg1"/>
                </a:solidFill>
                <a:cs typeface="B Mitra" panose="00000400000000000000" pitchFamily="2" charset="-78"/>
              </a:rPr>
              <a:t>performance</a:t>
            </a:r>
            <a:r>
              <a:rPr lang="fa-IR" sz="3600" b="1" dirty="0" smtClean="0">
                <a:solidFill>
                  <a:schemeClr val="bg1"/>
                </a:solidFill>
                <a:cs typeface="B Mitra" panose="00000400000000000000" pitchFamily="2" charset="-78"/>
              </a:rPr>
              <a:t>)</a:t>
            </a:r>
            <a:r>
              <a:rPr lang="en-US" sz="3600" b="1" dirty="0" smtClean="0">
                <a:solidFill>
                  <a:schemeClr val="bg1"/>
                </a:solidFill>
                <a:cs typeface="B Mitra" panose="00000400000000000000" pitchFamily="2" charset="-78"/>
              </a:rPr>
              <a:t> </a:t>
            </a:r>
            <a:r>
              <a:rPr lang="fa-IR" sz="3600" b="1" dirty="0" smtClean="0">
                <a:solidFill>
                  <a:schemeClr val="bg1"/>
                </a:solidFill>
                <a:cs typeface="B Mitra" panose="00000400000000000000" pitchFamily="2" charset="-78"/>
              </a:rPr>
              <a:t>(ادامه):</a:t>
            </a:r>
            <a:br>
              <a:rPr lang="fa-IR" sz="3600" b="1" dirty="0" smtClean="0">
                <a:solidFill>
                  <a:schemeClr val="bg1"/>
                </a:solidFill>
                <a:cs typeface="B Mitra" panose="00000400000000000000" pitchFamily="2" charset="-78"/>
              </a:rPr>
            </a:br>
            <a:r>
              <a:rPr lang="fa-IR" sz="3600" b="1" dirty="0" smtClean="0">
                <a:solidFill>
                  <a:schemeClr val="bg1"/>
                </a:solidFill>
                <a:cs typeface="B Mitra" panose="00000400000000000000" pitchFamily="2" charset="-78"/>
              </a:rPr>
              <a:t>معرفی ابزار (ادامه):</a:t>
            </a: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این ابزار تمامی بار برنامه را روی سرور یا شبکه وارد می‌کند تا </a:t>
            </a:r>
            <a:r>
              <a:rPr lang="fa-IR" sz="3600" dirty="0" smtClean="0">
                <a:solidFill>
                  <a:schemeClr val="bg1"/>
                </a:solidFill>
                <a:cs typeface="B Mitra" panose="00000400000000000000" pitchFamily="2" charset="-78"/>
              </a:rPr>
              <a:t>کارایی </a:t>
            </a:r>
            <a:r>
              <a:rPr lang="fa-IR" sz="3600" dirty="0">
                <a:solidFill>
                  <a:schemeClr val="bg1"/>
                </a:solidFill>
                <a:cs typeface="B Mitra" panose="00000400000000000000" pitchFamily="2" charset="-78"/>
              </a:rPr>
              <a:t>آن‌ها را مورد تست قرار دهد</a:t>
            </a:r>
            <a:r>
              <a:rPr lang="fa-IR" sz="3600" dirty="0" smtClean="0">
                <a:solidFill>
                  <a:schemeClr val="bg1"/>
                </a:solidFill>
                <a:cs typeface="B Mitra" panose="00000400000000000000" pitchFamily="2" charset="-78"/>
              </a:rPr>
              <a:t>. در </a:t>
            </a:r>
            <a:r>
              <a:rPr lang="fa-IR" sz="3600" dirty="0">
                <a:solidFill>
                  <a:schemeClr val="bg1"/>
                </a:solidFill>
                <a:cs typeface="B Mitra" panose="00000400000000000000" pitchFamily="2" charset="-78"/>
              </a:rPr>
              <a:t>انتهای تست، تجزیه و تحلیل نتیجه تست با استفاده از گزارش گیری‌های متنوع ارائه می‌شود. عناصر جی‌میتر را می‌توان در تست </a:t>
            </a:r>
            <a:r>
              <a:rPr lang="fa-IR" sz="3600" dirty="0" smtClean="0">
                <a:solidFill>
                  <a:schemeClr val="bg1"/>
                </a:solidFill>
                <a:cs typeface="B Mitra" panose="00000400000000000000" pitchFamily="2" charset="-78"/>
              </a:rPr>
              <a:t>کارایی </a:t>
            </a:r>
            <a:r>
              <a:rPr lang="fa-IR" sz="3600" dirty="0">
                <a:solidFill>
                  <a:schemeClr val="bg1"/>
                </a:solidFill>
                <a:cs typeface="B Mitra" panose="00000400000000000000" pitchFamily="2" charset="-78"/>
              </a:rPr>
              <a:t>و تست فانکشنال به وسیله </a:t>
            </a:r>
            <a:r>
              <a:rPr lang="en-US" sz="3600" dirty="0" err="1">
                <a:solidFill>
                  <a:schemeClr val="bg1"/>
                </a:solidFill>
                <a:cs typeface="B Mitra" panose="00000400000000000000" pitchFamily="2" charset="-78"/>
              </a:rPr>
              <a:t>TestPlan</a:t>
            </a:r>
            <a:r>
              <a:rPr lang="en-US" sz="3600" dirty="0">
                <a:solidFill>
                  <a:schemeClr val="bg1"/>
                </a:solidFill>
                <a:cs typeface="B Mitra" panose="00000400000000000000" pitchFamily="2" charset="-78"/>
              </a:rPr>
              <a:t> </a:t>
            </a:r>
            <a:r>
              <a:rPr lang="fa-IR" sz="3600" dirty="0">
                <a:solidFill>
                  <a:schemeClr val="bg1"/>
                </a:solidFill>
                <a:cs typeface="B Mitra" panose="00000400000000000000" pitchFamily="2" charset="-78"/>
              </a:rPr>
              <a:t>یکپارچه کرد به این‌صورت که جی‌میتر به شما اجازه می‌دهد که با همان </a:t>
            </a:r>
            <a:r>
              <a:rPr lang="en-US" sz="3600" dirty="0" err="1">
                <a:solidFill>
                  <a:schemeClr val="bg1"/>
                </a:solidFill>
                <a:cs typeface="B Mitra" panose="00000400000000000000" pitchFamily="2" charset="-78"/>
              </a:rPr>
              <a:t>TestPlan</a:t>
            </a:r>
            <a:r>
              <a:rPr lang="en-US" sz="3600" dirty="0">
                <a:solidFill>
                  <a:schemeClr val="bg1"/>
                </a:solidFill>
                <a:cs typeface="B Mitra" panose="00000400000000000000" pitchFamily="2" charset="-78"/>
              </a:rPr>
              <a:t> </a:t>
            </a:r>
            <a:r>
              <a:rPr lang="fa-IR" sz="3600" dirty="0">
                <a:solidFill>
                  <a:schemeClr val="bg1"/>
                </a:solidFill>
                <a:cs typeface="B Mitra" panose="00000400000000000000" pitchFamily="2" charset="-78"/>
              </a:rPr>
              <a:t>فانکشنال، تست بار را هم انجام دهید. این کار انعطاف پذیری جی‌میتر را نشان می‌دهد که برای پروژه‌های تست بسیار کارآمد می‌باشد. این برنامه قابل حمل بوده و نیازی به نصب نیست</a:t>
            </a:r>
            <a:r>
              <a:rPr lang="fa-IR" sz="3600" dirty="0" smtClean="0">
                <a:solidFill>
                  <a:schemeClr val="bg1"/>
                </a:solidFill>
                <a:cs typeface="B Mitra" panose="00000400000000000000" pitchFamily="2" charset="-78"/>
              </a:rPr>
              <a:t>.</a:t>
            </a:r>
            <a:endParaRPr lang="en-US" sz="3600" dirty="0">
              <a:solidFill>
                <a:schemeClr val="bg1"/>
              </a:solidFill>
              <a:cs typeface="B Mitra" panose="00000400000000000000" pitchFamily="2" charset="-78"/>
            </a:endParaRPr>
          </a:p>
        </p:txBody>
      </p:sp>
      <p:pic>
        <p:nvPicPr>
          <p:cNvPr id="3" name="Picture 2" descr="http://testology.ir/wp-content/uploads/2014/07/Apache-JMeter.jpg"/>
          <p:cNvPicPr/>
          <p:nvPr/>
        </p:nvPicPr>
        <p:blipFill>
          <a:blip r:embed="rId2">
            <a:extLst>
              <a:ext uri="{28A0092B-C50C-407E-A947-70E740481C1C}">
                <a14:useLocalDpi xmlns:a14="http://schemas.microsoft.com/office/drawing/2010/main" val="0"/>
              </a:ext>
            </a:extLst>
          </a:blip>
          <a:srcRect/>
          <a:stretch>
            <a:fillRect/>
          </a:stretch>
        </p:blipFill>
        <p:spPr bwMode="auto">
          <a:xfrm>
            <a:off x="1455312" y="4842457"/>
            <a:ext cx="2434845" cy="1725366"/>
          </a:xfrm>
          <a:prstGeom prst="rect">
            <a:avLst/>
          </a:prstGeom>
          <a:noFill/>
          <a:ln>
            <a:noFill/>
          </a:ln>
        </p:spPr>
      </p:pic>
    </p:spTree>
    <p:extLst>
      <p:ext uri="{BB962C8B-B14F-4D97-AF65-F5344CB8AC3E}">
        <p14:creationId xmlns:p14="http://schemas.microsoft.com/office/powerpoint/2010/main" val="358333445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270456"/>
            <a:ext cx="11513711" cy="6156102"/>
          </a:xfrm>
        </p:spPr>
        <p:txBody>
          <a:bodyPr>
            <a:noAutofit/>
          </a:bodyPr>
          <a:lstStyle/>
          <a:p>
            <a:pPr lvl="2" algn="r" defTabSz="457200" rtl="1">
              <a:spcBef>
                <a:spcPct val="0"/>
              </a:spcBef>
            </a:pPr>
            <a:r>
              <a:rPr lang="fa-IR" sz="3600" b="1" dirty="0" smtClean="0">
                <a:solidFill>
                  <a:schemeClr val="bg1"/>
                </a:solidFill>
                <a:cs typeface="B Mitra" panose="00000400000000000000" pitchFamily="2" charset="-78"/>
              </a:rPr>
              <a:t>تست استرس:</a:t>
            </a: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تست استرس یا تست فشار به ما اجازه می‌دهد که وضعیت بار نهایی که در آن عملکرد سیستم غیر قابل قبول است را تعیین کنیم. در این نوع از تست، کارایی سیستم تحت بارهای افزایشی تدریجی اندازه گیری می‌شود. این به تسترها کمک می‌کند که نقطه نهایی که سیستم در </a:t>
            </a:r>
            <a:r>
              <a:rPr lang="fa-IR" sz="3600" dirty="0" smtClean="0">
                <a:solidFill>
                  <a:schemeClr val="bg1"/>
                </a:solidFill>
                <a:cs typeface="B Mitra" panose="00000400000000000000" pitchFamily="2" charset="-78"/>
              </a:rPr>
              <a:t>آن</a:t>
            </a:r>
            <a:r>
              <a:rPr lang="en-US" sz="3600" dirty="0" smtClean="0">
                <a:solidFill>
                  <a:schemeClr val="bg1"/>
                </a:solidFill>
                <a:cs typeface="B Mitra" panose="00000400000000000000" pitchFamily="2" charset="-78"/>
              </a:rPr>
              <a:t>fail </a:t>
            </a:r>
            <a:r>
              <a:rPr lang="fa-IR" sz="3600" dirty="0" smtClean="0">
                <a:solidFill>
                  <a:schemeClr val="bg1"/>
                </a:solidFill>
                <a:cs typeface="B Mitra" panose="00000400000000000000" pitchFamily="2" charset="-78"/>
              </a:rPr>
              <a:t> می‌شود </a:t>
            </a:r>
            <a:r>
              <a:rPr lang="fa-IR" sz="3600" dirty="0">
                <a:solidFill>
                  <a:schemeClr val="bg1"/>
                </a:solidFill>
                <a:cs typeface="B Mitra" panose="00000400000000000000" pitchFamily="2" charset="-78"/>
              </a:rPr>
              <a:t>را تعیین کنند. بار سنگینی که می‌توان به برنامه وارد کرد می‌تواند شامل مقادیر زیر </a:t>
            </a:r>
            <a:r>
              <a:rPr lang="fa-IR" sz="3600" dirty="0" smtClean="0">
                <a:solidFill>
                  <a:schemeClr val="bg1"/>
                </a:solidFill>
                <a:cs typeface="B Mitra" panose="00000400000000000000" pitchFamily="2" charset="-78"/>
              </a:rPr>
              <a:t>باشد:</a:t>
            </a: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a:t>
            </a:r>
            <a:r>
              <a:rPr lang="fa-IR" sz="3600" dirty="0">
                <a:solidFill>
                  <a:schemeClr val="bg1"/>
                </a:solidFill>
                <a:cs typeface="B Mitra" panose="00000400000000000000" pitchFamily="2" charset="-78"/>
              </a:rPr>
              <a:t>	مقادیرعددی پیچیده</a:t>
            </a:r>
            <a:br>
              <a:rPr lang="fa-IR"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a:t>
            </a:r>
            <a:r>
              <a:rPr lang="fa-IR" sz="3600" dirty="0">
                <a:solidFill>
                  <a:schemeClr val="bg1"/>
                </a:solidFill>
                <a:cs typeface="B Mitra" panose="00000400000000000000" pitchFamily="2" charset="-78"/>
              </a:rPr>
              <a:t>	مقادیر زیاد ورودی</a:t>
            </a:r>
            <a:br>
              <a:rPr lang="fa-IR" sz="3600" dirty="0">
                <a:solidFill>
                  <a:schemeClr val="bg1"/>
                </a:solidFill>
                <a:cs typeface="B Mitra" panose="00000400000000000000" pitchFamily="2" charset="-78"/>
              </a:rPr>
            </a:br>
            <a:r>
              <a:rPr lang="fa-IR" sz="3600" dirty="0" smtClean="0">
                <a:solidFill>
                  <a:schemeClr val="bg1"/>
                </a:solidFill>
                <a:cs typeface="B Mitra" panose="00000400000000000000" pitchFamily="2" charset="-78"/>
              </a:rPr>
              <a:t>-</a:t>
            </a:r>
            <a:r>
              <a:rPr lang="fa-IR" sz="3600" dirty="0">
                <a:solidFill>
                  <a:schemeClr val="bg1"/>
                </a:solidFill>
                <a:cs typeface="B Mitra" panose="00000400000000000000" pitchFamily="2" charset="-78"/>
              </a:rPr>
              <a:t>	مقادیر زیاد پرس و جو</a:t>
            </a:r>
            <a:br>
              <a:rPr lang="fa-IR"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هدف از این تست، طراحی محیطی مخرب‌تر از محیطی که برنامه در دنیای واقعی و در شرایط نرمال با آن روبرو می‌شد، است</a:t>
            </a:r>
            <a:r>
              <a:rPr lang="fa-IR" sz="3600" dirty="0" smtClean="0">
                <a:solidFill>
                  <a:schemeClr val="bg1"/>
                </a:solidFill>
                <a:cs typeface="B Mitra" panose="00000400000000000000" pitchFamily="2" charset="-78"/>
              </a:rPr>
              <a:t>.</a:t>
            </a:r>
            <a:endParaRPr lang="en-US" sz="3600" dirty="0">
              <a:solidFill>
                <a:schemeClr val="bg1"/>
              </a:solidFill>
              <a:cs typeface="B Mitra" panose="00000400000000000000" pitchFamily="2" charset="-78"/>
            </a:endParaRPr>
          </a:p>
        </p:txBody>
      </p:sp>
    </p:spTree>
    <p:extLst>
      <p:ext uri="{BB962C8B-B14F-4D97-AF65-F5344CB8AC3E}">
        <p14:creationId xmlns:p14="http://schemas.microsoft.com/office/powerpoint/2010/main" val="266877888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270456"/>
            <a:ext cx="11513711" cy="4327302"/>
          </a:xfrm>
        </p:spPr>
        <p:txBody>
          <a:bodyPr>
            <a:noAutofit/>
          </a:bodyPr>
          <a:lstStyle/>
          <a:p>
            <a:pPr lvl="2" algn="r" defTabSz="457200" rtl="1">
              <a:spcBef>
                <a:spcPct val="0"/>
              </a:spcBef>
            </a:pPr>
            <a:r>
              <a:rPr lang="fa-IR" sz="3600" b="1" dirty="0" smtClean="0">
                <a:solidFill>
                  <a:schemeClr val="bg1"/>
                </a:solidFill>
                <a:cs typeface="B Mitra" panose="00000400000000000000" pitchFamily="2" charset="-78"/>
              </a:rPr>
              <a:t>تست استرس (ادامه):</a:t>
            </a: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200" b="1" dirty="0" smtClean="0">
                <a:solidFill>
                  <a:schemeClr val="bg1"/>
                </a:solidFill>
                <a:cs typeface="B Mitra" panose="00000400000000000000" pitchFamily="2" charset="-78"/>
              </a:rPr>
              <a:t>معرفی ابزار:</a:t>
            </a:r>
            <a:r>
              <a:rPr lang="fa-IR" sz="3200" b="1" dirty="0">
                <a:solidFill>
                  <a:schemeClr val="bg1"/>
                </a:solidFill>
                <a:cs typeface="B Mitra" panose="00000400000000000000" pitchFamily="2" charset="-78"/>
              </a:rPr>
              <a:t/>
            </a:r>
            <a:br>
              <a:rPr lang="fa-IR" sz="3200" b="1" dirty="0">
                <a:solidFill>
                  <a:schemeClr val="bg1"/>
                </a:solidFill>
                <a:cs typeface="B Mitra" panose="00000400000000000000" pitchFamily="2" charset="-78"/>
              </a:rPr>
            </a:br>
            <a:r>
              <a:rPr lang="fa-IR" sz="3200" dirty="0">
                <a:solidFill>
                  <a:schemeClr val="bg1"/>
                </a:solidFill>
                <a:cs typeface="B Mitra" panose="00000400000000000000" pitchFamily="2" charset="-78"/>
              </a:rPr>
              <a:t>در این </a:t>
            </a:r>
            <a:r>
              <a:rPr lang="fa-IR" sz="3200" dirty="0" smtClean="0">
                <a:solidFill>
                  <a:schemeClr val="bg1"/>
                </a:solidFill>
                <a:cs typeface="B Mitra" panose="00000400000000000000" pitchFamily="2" charset="-78"/>
              </a:rPr>
              <a:t>قسمت ابزار</a:t>
            </a:r>
            <a:r>
              <a:rPr lang="en-US" sz="2800" dirty="0" smtClean="0">
                <a:solidFill>
                  <a:schemeClr val="bg1"/>
                </a:solidFill>
                <a:latin typeface="Andalus" panose="02020603050405020304" pitchFamily="18" charset="-78"/>
                <a:cs typeface="Andalus" panose="02020603050405020304" pitchFamily="18" charset="-78"/>
              </a:rPr>
              <a:t>Load </a:t>
            </a:r>
            <a:r>
              <a:rPr lang="en-US" sz="2800" dirty="0">
                <a:solidFill>
                  <a:schemeClr val="bg1"/>
                </a:solidFill>
                <a:latin typeface="Andalus" panose="02020603050405020304" pitchFamily="18" charset="-78"/>
                <a:cs typeface="Andalus" panose="02020603050405020304" pitchFamily="18" charset="-78"/>
              </a:rPr>
              <a:t>UI</a:t>
            </a:r>
            <a:r>
              <a:rPr lang="en-US" sz="3200" dirty="0">
                <a:solidFill>
                  <a:schemeClr val="bg1"/>
                </a:solidFill>
                <a:cs typeface="B Mitra" panose="00000400000000000000" pitchFamily="2" charset="-78"/>
              </a:rPr>
              <a:t> </a:t>
            </a:r>
            <a:r>
              <a:rPr lang="fa-IR" sz="3200" dirty="0" smtClean="0">
                <a:solidFill>
                  <a:schemeClr val="bg1"/>
                </a:solidFill>
                <a:cs typeface="B Mitra" panose="00000400000000000000" pitchFamily="2" charset="-78"/>
              </a:rPr>
              <a:t> را </a:t>
            </a:r>
            <a:r>
              <a:rPr lang="fa-IR" sz="3200" dirty="0">
                <a:solidFill>
                  <a:schemeClr val="bg1"/>
                </a:solidFill>
                <a:cs typeface="B Mitra" panose="00000400000000000000" pitchFamily="2" charset="-78"/>
              </a:rPr>
              <a:t>معرفی </a:t>
            </a:r>
            <a:r>
              <a:rPr lang="fa-IR" sz="3200" dirty="0" smtClean="0">
                <a:solidFill>
                  <a:schemeClr val="bg1"/>
                </a:solidFill>
                <a:cs typeface="B Mitra" panose="00000400000000000000" pitchFamily="2" charset="-78"/>
              </a:rPr>
              <a:t>می‌کنیم.</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این ابزار به صورت متن باز </a:t>
            </a:r>
            <a:r>
              <a:rPr lang="fa-IR" sz="3200" dirty="0" smtClean="0">
                <a:solidFill>
                  <a:schemeClr val="bg1"/>
                </a:solidFill>
                <a:cs typeface="B Mitra" panose="00000400000000000000" pitchFamily="2" charset="-78"/>
              </a:rPr>
              <a:t>بوده </a:t>
            </a:r>
            <a:r>
              <a:rPr lang="fa-IR" sz="3200" dirty="0">
                <a:solidFill>
                  <a:schemeClr val="bg1"/>
                </a:solidFill>
                <a:cs typeface="B Mitra" panose="00000400000000000000" pitchFamily="2" charset="-78"/>
              </a:rPr>
              <a:t>و برای برنامه‌های تحت وب به کار می‌رود و در نوع خود انعطاف پذیرترین ابزار تست استرس است. این ابزار به شما اجازه می‌دهد در حین تست کردن، تست‌ها را بسازید، به‌روز یا پیکربندی کنید. از دیگر ویژگی‌های این ابزار گزارش‌های متنوعی است که پس از تحلیل تست، به شما ارائه می‌دهد. همچنین هنگام به‌روز رسانی نیازی نیست که برای اعمال تغییرات آن را بسته و دوباره باز کنید، بلکه به صورت خودکار به‌روز رسانی بر روی آن انجام می‌شود</a:t>
            </a:r>
            <a:r>
              <a:rPr lang="fa-IR" sz="3200" dirty="0" smtClean="0">
                <a:solidFill>
                  <a:schemeClr val="bg1"/>
                </a:solidFill>
                <a:cs typeface="B Mitra" panose="00000400000000000000" pitchFamily="2" charset="-78"/>
              </a:rPr>
              <a:t>.</a:t>
            </a:r>
            <a:endParaRPr lang="en-US" sz="3200" dirty="0">
              <a:solidFill>
                <a:schemeClr val="bg1"/>
              </a:solidFill>
              <a:cs typeface="B Mitra" panose="00000400000000000000" pitchFamily="2" charset="-78"/>
            </a:endParaRPr>
          </a:p>
        </p:txBody>
      </p:sp>
      <p:pic>
        <p:nvPicPr>
          <p:cNvPr id="3" name="Picture 2" descr="http://testology.ir/wp-content/uploads/2014/07/LoadUI.jpg"/>
          <p:cNvPicPr/>
          <p:nvPr/>
        </p:nvPicPr>
        <p:blipFill>
          <a:blip r:embed="rId2">
            <a:extLst>
              <a:ext uri="{28A0092B-C50C-407E-A947-70E740481C1C}">
                <a14:useLocalDpi xmlns:a14="http://schemas.microsoft.com/office/drawing/2010/main" val="0"/>
              </a:ext>
            </a:extLst>
          </a:blip>
          <a:srcRect/>
          <a:stretch>
            <a:fillRect/>
          </a:stretch>
        </p:blipFill>
        <p:spPr bwMode="auto">
          <a:xfrm>
            <a:off x="1276081" y="4597758"/>
            <a:ext cx="1371600" cy="1562100"/>
          </a:xfrm>
          <a:prstGeom prst="rect">
            <a:avLst/>
          </a:prstGeom>
          <a:noFill/>
          <a:ln>
            <a:noFill/>
          </a:ln>
        </p:spPr>
      </p:pic>
    </p:spTree>
    <p:extLst>
      <p:ext uri="{BB962C8B-B14F-4D97-AF65-F5344CB8AC3E}">
        <p14:creationId xmlns:p14="http://schemas.microsoft.com/office/powerpoint/2010/main" val="178613710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270456"/>
            <a:ext cx="11513711" cy="6156102"/>
          </a:xfrm>
        </p:spPr>
        <p:txBody>
          <a:bodyPr>
            <a:noAutofit/>
          </a:bodyPr>
          <a:lstStyle/>
          <a:p>
            <a:pPr lvl="2" algn="r" defTabSz="457200" rtl="1">
              <a:spcBef>
                <a:spcPct val="0"/>
              </a:spcBef>
            </a:pPr>
            <a:r>
              <a:rPr lang="fa-IR" sz="3200" b="1" dirty="0" smtClean="0">
                <a:solidFill>
                  <a:schemeClr val="bg1"/>
                </a:solidFill>
                <a:cs typeface="B Mitra" panose="00000400000000000000" pitchFamily="2" charset="-78"/>
              </a:rPr>
              <a:t>تست اکتشافی:</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در تست اکتشافی فرض می‌شود شخصی که هیچ‌گونه دانشی در خصوص نرم‌افزار ندارد در حال کار با سیستم است و به روش‌های غیر معمول نرم‌افزار را مورد تست قرار می‌دهد. روشی جالب و قوی برای تست نرم‌افزار است. سوالی که در این جا مطرح می‌شود این است که تستر چگونه می‌تواند این تست را انجام دهد؟ تستر می‌بایستی مهارت‌هایی را برای کشف خطا داشته باشد که عبارتند </a:t>
            </a:r>
            <a:r>
              <a:rPr lang="fa-IR" sz="3200" dirty="0" smtClean="0">
                <a:solidFill>
                  <a:schemeClr val="bg1"/>
                </a:solidFill>
                <a:cs typeface="B Mitra" panose="00000400000000000000" pitchFamily="2" charset="-78"/>
              </a:rPr>
              <a:t>از:</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پرسش</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مشاهده</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تفکر انتقادی</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تفکر جانبی</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آموزش سریع</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ارتباطات شفاهی و کتبی</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شکار اشکالات و بررسی </a:t>
            </a:r>
            <a:r>
              <a:rPr lang="fa-IR" sz="3200" dirty="0" smtClean="0">
                <a:solidFill>
                  <a:schemeClr val="bg1"/>
                </a:solidFill>
                <a:cs typeface="B Mitra" panose="00000400000000000000" pitchFamily="2" charset="-78"/>
              </a:rPr>
              <a:t>اشکالات</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60740200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270456"/>
            <a:ext cx="11513711" cy="6156102"/>
          </a:xfrm>
        </p:spPr>
        <p:txBody>
          <a:bodyPr>
            <a:noAutofit/>
          </a:bodyPr>
          <a:lstStyle/>
          <a:p>
            <a:pPr lvl="2" algn="r" defTabSz="457200" rtl="1">
              <a:spcBef>
                <a:spcPct val="0"/>
              </a:spcBef>
            </a:pPr>
            <a:r>
              <a:rPr lang="fa-IR" sz="3600" b="1" dirty="0" smtClean="0">
                <a:solidFill>
                  <a:schemeClr val="bg1"/>
                </a:solidFill>
                <a:cs typeface="B Mitra" panose="00000400000000000000" pitchFamily="2" charset="-78"/>
              </a:rPr>
              <a:t>تست اکتشافی (ادامه):</a:t>
            </a:r>
            <a:br>
              <a:rPr lang="fa-IR" sz="3600" b="1" dirty="0" smtClean="0">
                <a:solidFill>
                  <a:schemeClr val="bg1"/>
                </a:solidFill>
                <a:cs typeface="B Mitra" panose="00000400000000000000" pitchFamily="2" charset="-78"/>
              </a:rPr>
            </a:br>
            <a:r>
              <a:rPr lang="fa-IR" sz="3600" dirty="0">
                <a:solidFill>
                  <a:schemeClr val="bg1"/>
                </a:solidFill>
                <a:cs typeface="B Mitra" panose="00000400000000000000" pitchFamily="2" charset="-78"/>
              </a:rPr>
              <a:t/>
            </a:r>
            <a:br>
              <a:rPr lang="fa-IR" sz="3600" dirty="0">
                <a:solidFill>
                  <a:schemeClr val="bg1"/>
                </a:solidFill>
                <a:cs typeface="B Mitra" panose="00000400000000000000" pitchFamily="2" charset="-78"/>
              </a:rPr>
            </a:br>
            <a:r>
              <a:rPr lang="fa-IR" sz="3600" dirty="0">
                <a:solidFill>
                  <a:schemeClr val="bg1"/>
                </a:solidFill>
                <a:cs typeface="B Mitra" panose="00000400000000000000" pitchFamily="2" charset="-78"/>
              </a:rPr>
              <a:t>این تست را می‌توان از همان ابتدای طراحی تا مرحله اجرای برنامه به صورت موازی انجام داد که تاثیر زیادی در طراحی، اجرای تست و آموزش آن دارد. می‌توان گفت تست اکتشافی مانند بازی شطرنج است. بازیکن هر چقدر که مهارت داشته باشد و خوب بازی کند حرکت بعدی او بسته به حرکت حریف می‌باشد. بنابراین تستر می‌بایستی در هر مرحله، تست‌های قبلی را مطالعه کرده و نتایج را در تست بعدی به کار بندد تا خطایی  کشف شود. برای کشف بهتر از ابزار، اسناد و اسکریپت‌ها می‌توان استفاده کرد.</a:t>
            </a:r>
            <a:endParaRPr lang="en-US" sz="3600" dirty="0">
              <a:solidFill>
                <a:schemeClr val="bg1"/>
              </a:solidFill>
              <a:cs typeface="B Mitra" panose="00000400000000000000" pitchFamily="2" charset="-78"/>
            </a:endParaRPr>
          </a:p>
        </p:txBody>
      </p:sp>
    </p:spTree>
    <p:extLst>
      <p:ext uri="{BB962C8B-B14F-4D97-AF65-F5344CB8AC3E}">
        <p14:creationId xmlns:p14="http://schemas.microsoft.com/office/powerpoint/2010/main" val="58876789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270456"/>
            <a:ext cx="11513711" cy="6156102"/>
          </a:xfrm>
        </p:spPr>
        <p:txBody>
          <a:bodyPr>
            <a:noAutofit/>
          </a:bodyPr>
          <a:lstStyle/>
          <a:p>
            <a:pPr lvl="2" algn="r" defTabSz="457200" rtl="1">
              <a:spcBef>
                <a:spcPct val="0"/>
              </a:spcBef>
            </a:pPr>
            <a:r>
              <a:rPr lang="fa-IR" sz="3200" b="1" dirty="0" smtClean="0">
                <a:solidFill>
                  <a:schemeClr val="bg1"/>
                </a:solidFill>
                <a:cs typeface="B Mitra" panose="00000400000000000000" pitchFamily="2" charset="-78"/>
              </a:rPr>
              <a:t>تست رگرسیون:</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بعد از تغییر نرم‌افزار تست رگرسیون انجام می‌شود. تست رگرسیون تمام تست‌هایی که قبلا نرم‌افزار آن‌ها را با موفقیت انجام داده را دوباره اجرا می‌کند تا اطمینان حاصل کند که نرم‌افزار تصادفا در عملکردهای قبلی دچار خطا نشده است. بنابراین قبل از اینکه یک نسخه جدید از محصول نرم‌افزاری منتشر شود، تست‌های قدیمی را در برابر نسخه جدید اجرا کنید تا مطمئن شوید که تمام قابلیت های قدیمی هنوز هم کار می‌کنند</a:t>
            </a:r>
            <a:r>
              <a:rPr lang="fa-IR" sz="3200" dirty="0" smtClean="0">
                <a:solidFill>
                  <a:schemeClr val="bg1"/>
                </a:solidFill>
                <a:cs typeface="B Mitra" panose="00000400000000000000" pitchFamily="2" charset="-78"/>
              </a:rPr>
              <a:t>. این </a:t>
            </a:r>
            <a:r>
              <a:rPr lang="fa-IR" sz="3200" dirty="0">
                <a:solidFill>
                  <a:schemeClr val="bg1"/>
                </a:solidFill>
                <a:cs typeface="B Mitra" panose="00000400000000000000" pitchFamily="2" charset="-78"/>
              </a:rPr>
              <a:t>تست می‌تواند در هیچ یا همه سطوح قبلی صورت گیرد و همچنین روی تست مجدد بعد از اعمال تغییرات تمرکز دارد.</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هدف تست رگرسیون کاهش دو ریسک می‌باشد:</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تغییری که می‌باید یک خطا را از بین ‌ببرد، شکست می‌خورد.</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بعضی تغییرات اثرات جانبی دارند اگر تصحیح نشود خطای قبلی باقی می‌ماند و اگر تصحیح شود خطای جدید ایجاد می‌شود</a:t>
            </a:r>
            <a:r>
              <a:rPr lang="fa-IR" sz="3200" dirty="0" smtClean="0">
                <a:solidFill>
                  <a:schemeClr val="bg1"/>
                </a:solidFill>
                <a:cs typeface="B Mitra" panose="00000400000000000000" pitchFamily="2" charset="-78"/>
              </a:rPr>
              <a:t>.</a:t>
            </a:r>
            <a:endParaRPr lang="en-US" sz="3600" dirty="0">
              <a:solidFill>
                <a:schemeClr val="bg1"/>
              </a:solidFill>
              <a:cs typeface="B Mitra" panose="00000400000000000000" pitchFamily="2" charset="-78"/>
            </a:endParaRPr>
          </a:p>
        </p:txBody>
      </p:sp>
    </p:spTree>
    <p:extLst>
      <p:ext uri="{BB962C8B-B14F-4D97-AF65-F5344CB8AC3E}">
        <p14:creationId xmlns:p14="http://schemas.microsoft.com/office/powerpoint/2010/main" val="119483990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035" y="270456"/>
            <a:ext cx="11513711" cy="6156102"/>
          </a:xfrm>
        </p:spPr>
        <p:txBody>
          <a:bodyPr>
            <a:noAutofit/>
          </a:bodyPr>
          <a:lstStyle/>
          <a:p>
            <a:pPr lvl="2" algn="r" defTabSz="457200" rtl="1">
              <a:spcBef>
                <a:spcPct val="0"/>
              </a:spcBef>
            </a:pPr>
            <a:r>
              <a:rPr lang="fa-IR" sz="3200" b="1" dirty="0" smtClean="0">
                <a:solidFill>
                  <a:schemeClr val="bg1"/>
                </a:solidFill>
                <a:cs typeface="B Mitra" panose="00000400000000000000" pitchFamily="2" charset="-78"/>
              </a:rPr>
              <a:t>تست رگرسیون:</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معرفی ابزار:</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در این بخش ابزار </a:t>
            </a:r>
            <a:r>
              <a:rPr lang="fa-IR" sz="3200" dirty="0" smtClean="0">
                <a:solidFill>
                  <a:schemeClr val="bg1"/>
                </a:solidFill>
                <a:cs typeface="B Mitra" panose="00000400000000000000" pitchFamily="2" charset="-78"/>
              </a:rPr>
              <a:t>سلنیوم (</a:t>
            </a:r>
            <a:r>
              <a:rPr lang="en-US" sz="3200" dirty="0">
                <a:solidFill>
                  <a:schemeClr val="bg1"/>
                </a:solidFill>
                <a:latin typeface="Andalus" panose="02020603050405020304" pitchFamily="18" charset="-78"/>
                <a:cs typeface="Andalus" panose="02020603050405020304" pitchFamily="18" charset="-78"/>
              </a:rPr>
              <a:t>Selenium</a:t>
            </a: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را معرفی می‌کنیم.</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این ابزار به صورت متن باز بوده که برای برنامه‌های تحت وب خودکار استفاده می‌شود. این ابزار به صورت گسترده بر روی مرورگرها، سیستم عامل‌ها، زبان‌های برنامه نویسی محبوب مانند جاوا، سی شارپ، جاوا اسکریپت و … و فریم ورک‌ها اجرا می‌شود. تست خودکار سلنیوم مجموعه‌ای از ابزار است که توسط بسیاری از سازمان‌ها در سراسر جهان مورد استفاده قرار می‌گیرد. این مجموعه می‌تواند تست‌های زیادی مانند تست خودکار فانکشنال، تست خودکار رگرسیون، تست خودکار سازگاری با مرورگر و … را انجام دهد.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به صورت منظم تست رگرسیون را انجام دهید. تست رگرسیون در مواقع تغییر کد، رفع خطا، افزودن قابلیت جدید به برنامه انجام می‌شود. همچنین با خودکار کردن تست رگرسیون در هزینه و زمان صرفه جویی کنید. با تغییر برنامه و توسعه آن، تست هم با این تغییرات به روز شده و دوباره اجرا می‌شود</a:t>
            </a: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endParaRPr lang="en-US" sz="3600" dirty="0">
              <a:solidFill>
                <a:schemeClr val="bg1"/>
              </a:solidFill>
              <a:cs typeface="B Mitra" panose="00000400000000000000" pitchFamily="2" charset="-78"/>
            </a:endParaRPr>
          </a:p>
        </p:txBody>
      </p:sp>
    </p:spTree>
    <p:extLst>
      <p:ext uri="{BB962C8B-B14F-4D97-AF65-F5344CB8AC3E}">
        <p14:creationId xmlns:p14="http://schemas.microsoft.com/office/powerpoint/2010/main" val="230880903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18952" y="914400"/>
            <a:ext cx="9621235" cy="2395469"/>
          </a:xfrm>
        </p:spPr>
        <p:txBody>
          <a:bodyPr>
            <a:normAutofit/>
          </a:bodyPr>
          <a:lstStyle/>
          <a:p>
            <a:pPr algn="r" rtl="1"/>
            <a:r>
              <a:rPr lang="fa-IR" sz="6000" dirty="0" smtClean="0">
                <a:solidFill>
                  <a:schemeClr val="bg1"/>
                </a:solidFill>
                <a:cs typeface="B Titr" panose="00000700000000000000" pitchFamily="2" charset="-78"/>
              </a:rPr>
              <a:t>مبانی آزمون نرم افزار</a:t>
            </a:r>
            <a:r>
              <a:rPr lang="fa-IR" sz="6000" smtClean="0">
                <a:solidFill>
                  <a:schemeClr val="bg1"/>
                </a:solidFill>
                <a:cs typeface="B Titr" panose="00000700000000000000" pitchFamily="2" charset="-78"/>
              </a:rPr>
              <a:t/>
            </a:r>
            <a:br>
              <a:rPr lang="fa-IR" sz="6000" smtClean="0">
                <a:solidFill>
                  <a:schemeClr val="bg1"/>
                </a:solidFill>
                <a:cs typeface="B Titr" panose="00000700000000000000" pitchFamily="2" charset="-78"/>
              </a:rPr>
            </a:br>
            <a:r>
              <a:rPr lang="fa-IR" sz="6000" smtClean="0">
                <a:solidFill>
                  <a:schemeClr val="bg1"/>
                </a:solidFill>
                <a:cs typeface="B Titr" panose="00000700000000000000" pitchFamily="2" charset="-78"/>
              </a:rPr>
              <a:t> </a:t>
            </a:r>
            <a:r>
              <a:rPr lang="fa-IR" sz="6000" dirty="0" smtClean="0">
                <a:solidFill>
                  <a:schemeClr val="bg1"/>
                </a:solidFill>
                <a:cs typeface="B Titr" panose="00000700000000000000" pitchFamily="2" charset="-78"/>
              </a:rPr>
              <a:t>فرآیند آزمون و سطوح تست</a:t>
            </a:r>
            <a:endParaRPr lang="en-US" sz="6000" dirty="0">
              <a:solidFill>
                <a:schemeClr val="bg1"/>
              </a:solidFill>
              <a:cs typeface="B Titr" panose="00000700000000000000" pitchFamily="2" charset="-78"/>
            </a:endParaRPr>
          </a:p>
        </p:txBody>
      </p:sp>
      <p:pic>
        <p:nvPicPr>
          <p:cNvPr id="4" name="Picture 3" descr="C:\Users\ava\Downloads\Documents\Testing_Wallpaper.png"/>
          <p:cNvPicPr/>
          <p:nvPr/>
        </p:nvPicPr>
        <p:blipFill>
          <a:blip r:embed="rId2">
            <a:extLst>
              <a:ext uri="{28A0092B-C50C-407E-A947-70E740481C1C}">
                <a14:useLocalDpi xmlns:a14="http://schemas.microsoft.com/office/drawing/2010/main" val="0"/>
              </a:ext>
            </a:extLst>
          </a:blip>
          <a:srcRect/>
          <a:stretch>
            <a:fillRect/>
          </a:stretch>
        </p:blipFill>
        <p:spPr bwMode="auto">
          <a:xfrm>
            <a:off x="547151" y="3670478"/>
            <a:ext cx="4295305" cy="291199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1032648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3200" b="1" dirty="0">
                <a:solidFill>
                  <a:schemeClr val="bg1"/>
                </a:solidFill>
                <a:cs typeface="B Mitra" panose="00000400000000000000" pitchFamily="2" charset="-78"/>
              </a:rPr>
              <a:t>فرایند تست نرم </a:t>
            </a:r>
            <a:r>
              <a:rPr lang="fa-IR" sz="3200" b="1" dirty="0" smtClean="0">
                <a:solidFill>
                  <a:schemeClr val="bg1"/>
                </a:solidFill>
                <a:cs typeface="B Mitra" panose="00000400000000000000" pitchFamily="2" charset="-78"/>
              </a:rPr>
              <a:t>افزار</a:t>
            </a:r>
            <a:br>
              <a:rPr lang="fa-IR" sz="3200"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-تست </a:t>
            </a:r>
            <a:r>
              <a:rPr lang="fa-IR" sz="3200" dirty="0">
                <a:solidFill>
                  <a:schemeClr val="bg1"/>
                </a:solidFill>
                <a:cs typeface="B Mitra" panose="00000400000000000000" pitchFamily="2" charset="-78"/>
              </a:rPr>
              <a:t>نرم افزار نه یک فعالیت، بلکه یک فرایند است. </a:t>
            </a:r>
            <a:r>
              <a:rPr lang="fa-IR" sz="3200" dirty="0" smtClean="0">
                <a:solidFill>
                  <a:schemeClr val="bg1"/>
                </a:solidFill>
                <a:cs typeface="B Mitra" panose="00000400000000000000" pitchFamily="2" charset="-78"/>
              </a:rPr>
              <a:t/>
            </a:r>
            <a:br>
              <a:rPr lang="fa-IR" sz="3200" dirty="0" smtClean="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r>
            <a:br>
              <a:rPr lang="fa-IR" sz="3200" dirty="0" smtClean="0">
                <a:solidFill>
                  <a:schemeClr val="bg1"/>
                </a:solidFill>
                <a:cs typeface="B Mitra" panose="00000400000000000000" pitchFamily="2" charset="-78"/>
              </a:rPr>
            </a:br>
            <a:r>
              <a:rPr lang="fa-IR" sz="3200" dirty="0" smtClean="0">
                <a:solidFill>
                  <a:schemeClr val="bg1"/>
                </a:solidFill>
                <a:cs typeface="B Mitra" panose="00000400000000000000" pitchFamily="2" charset="-78"/>
              </a:rPr>
              <a:t>-فرایند تست شامل </a:t>
            </a:r>
            <a:r>
              <a:rPr lang="fa-IR" sz="3200" dirty="0">
                <a:solidFill>
                  <a:schemeClr val="bg1"/>
                </a:solidFill>
                <a:cs typeface="B Mitra" panose="00000400000000000000" pitchFamily="2" charset="-78"/>
              </a:rPr>
              <a:t>فعالیت های طراحی موارد آزمون </a:t>
            </a:r>
            <a:r>
              <a:rPr lang="fa-IR" sz="3200" dirty="0" smtClean="0">
                <a:solidFill>
                  <a:schemeClr val="bg1"/>
                </a:solidFill>
                <a:cs typeface="B Mitra" panose="00000400000000000000" pitchFamily="2" charset="-78"/>
              </a:rPr>
              <a:t>(مجموعه تست)، </a:t>
            </a:r>
            <a:r>
              <a:rPr lang="fa-IR" sz="3200" dirty="0">
                <a:solidFill>
                  <a:schemeClr val="bg1"/>
                </a:solidFill>
                <a:cs typeface="B Mitra" panose="00000400000000000000" pitchFamily="2" charset="-78"/>
              </a:rPr>
              <a:t>اجرای سیستم تحت تست با </a:t>
            </a:r>
            <a:r>
              <a:rPr lang="fa-IR" sz="3200" dirty="0" smtClean="0">
                <a:solidFill>
                  <a:schemeClr val="bg1"/>
                </a:solidFill>
                <a:cs typeface="B Mitra" panose="00000400000000000000" pitchFamily="2" charset="-78"/>
              </a:rPr>
              <a:t>استفاده از </a:t>
            </a:r>
            <a:r>
              <a:rPr lang="fa-IR" sz="3200" dirty="0">
                <a:solidFill>
                  <a:schemeClr val="bg1"/>
                </a:solidFill>
                <a:cs typeface="B Mitra" panose="00000400000000000000" pitchFamily="2" charset="-78"/>
              </a:rPr>
              <a:t>موارد آزمون و ارزیابی نتایج </a:t>
            </a:r>
            <a:r>
              <a:rPr lang="fa-IR" sz="3200" dirty="0" smtClean="0">
                <a:solidFill>
                  <a:schemeClr val="bg1"/>
                </a:solidFill>
                <a:cs typeface="B Mitra" panose="00000400000000000000" pitchFamily="2" charset="-78"/>
              </a:rPr>
              <a:t>است. </a:t>
            </a:r>
            <a:br>
              <a:rPr lang="fa-IR" sz="3200" dirty="0" smtClean="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r>
            <a:br>
              <a:rPr lang="fa-IR" sz="3200" dirty="0" smtClean="0">
                <a:solidFill>
                  <a:schemeClr val="bg1"/>
                </a:solidFill>
                <a:cs typeface="B Mitra" panose="00000400000000000000" pitchFamily="2" charset="-78"/>
              </a:rPr>
            </a:br>
            <a:r>
              <a:rPr lang="fa-IR" sz="3200" dirty="0" smtClean="0">
                <a:solidFill>
                  <a:schemeClr val="bg1"/>
                </a:solidFill>
                <a:cs typeface="B Mitra" panose="00000400000000000000" pitchFamily="2" charset="-78"/>
              </a:rPr>
              <a:t>-یک </a:t>
            </a:r>
            <a:r>
              <a:rPr lang="fa-IR" sz="3200" dirty="0">
                <a:solidFill>
                  <a:schemeClr val="bg1"/>
                </a:solidFill>
                <a:cs typeface="B Mitra" panose="00000400000000000000" pitchFamily="2" charset="-78"/>
              </a:rPr>
              <a:t>مورد آزمون، دنباله ای از فراخوانی توابع </a:t>
            </a:r>
            <a:r>
              <a:rPr lang="fa-IR" sz="3200" dirty="0" smtClean="0">
                <a:solidFill>
                  <a:schemeClr val="bg1"/>
                </a:solidFill>
                <a:cs typeface="B Mitra" panose="00000400000000000000" pitchFamily="2" charset="-78"/>
              </a:rPr>
              <a:t>به همراه </a:t>
            </a:r>
            <a:r>
              <a:rPr lang="fa-IR" sz="3200" dirty="0">
                <a:solidFill>
                  <a:schemeClr val="bg1"/>
                </a:solidFill>
                <a:cs typeface="B Mitra" panose="00000400000000000000" pitchFamily="2" charset="-78"/>
              </a:rPr>
              <a:t>مقادیر پارامترهای لازم برای هر فراخوانی است که به این مقادیر، داده تست </a:t>
            </a:r>
            <a:r>
              <a:rPr lang="fa-IR" sz="3200" dirty="0" smtClean="0">
                <a:solidFill>
                  <a:schemeClr val="bg1"/>
                </a:solidFill>
                <a:cs typeface="B Mitra" panose="00000400000000000000" pitchFamily="2" charset="-78"/>
              </a:rPr>
              <a:t>گفته می </a:t>
            </a:r>
            <a:r>
              <a:rPr lang="fa-IR" sz="3200" dirty="0">
                <a:solidFill>
                  <a:schemeClr val="bg1"/>
                </a:solidFill>
                <a:cs typeface="B Mitra" panose="00000400000000000000" pitchFamily="2" charset="-78"/>
              </a:rPr>
              <a:t>شود. </a:t>
            </a:r>
            <a:r>
              <a:rPr lang="fa-IR" sz="3200" dirty="0" smtClean="0">
                <a:solidFill>
                  <a:schemeClr val="bg1"/>
                </a:solidFill>
                <a:cs typeface="B Mitra" panose="00000400000000000000" pitchFamily="2" charset="-78"/>
              </a:rPr>
              <a:t/>
            </a:r>
            <a:br>
              <a:rPr lang="fa-IR" sz="3200" dirty="0" smtClean="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r>
            <a:br>
              <a:rPr lang="fa-IR" sz="3200" dirty="0" smtClean="0">
                <a:solidFill>
                  <a:schemeClr val="bg1"/>
                </a:solidFill>
                <a:cs typeface="B Mitra" panose="00000400000000000000" pitchFamily="2" charset="-78"/>
              </a:rPr>
            </a:b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39715203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3200" b="1" dirty="0">
                <a:solidFill>
                  <a:schemeClr val="bg1"/>
                </a:solidFill>
                <a:cs typeface="B Mitra" panose="00000400000000000000" pitchFamily="2" charset="-78"/>
              </a:rPr>
              <a:t>فرایند تست نرم </a:t>
            </a:r>
            <a:r>
              <a:rPr lang="fa-IR" sz="3200" b="1" dirty="0" smtClean="0">
                <a:solidFill>
                  <a:schemeClr val="bg1"/>
                </a:solidFill>
                <a:cs typeface="B Mitra" panose="00000400000000000000" pitchFamily="2" charset="-78"/>
              </a:rPr>
              <a:t>افزار (ادامه)</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به </a:t>
            </a:r>
            <a:r>
              <a:rPr lang="fa-IR" sz="3200" dirty="0">
                <a:solidFill>
                  <a:schemeClr val="bg1"/>
                </a:solidFill>
                <a:cs typeface="B Mitra" panose="00000400000000000000" pitchFamily="2" charset="-78"/>
              </a:rPr>
              <a:t>عنوان منبع طراحی موارد آزمون و تهیه داده تست، می توان مشخصات </a:t>
            </a:r>
            <a:r>
              <a:rPr lang="fa-IR" sz="3200" dirty="0" smtClean="0">
                <a:solidFill>
                  <a:schemeClr val="bg1"/>
                </a:solidFill>
                <a:cs typeface="B Mitra" panose="00000400000000000000" pitchFamily="2" charset="-78"/>
              </a:rPr>
              <a:t>و یا پیاده </a:t>
            </a:r>
            <a:r>
              <a:rPr lang="fa-IR" sz="3200" dirty="0">
                <a:solidFill>
                  <a:schemeClr val="bg1"/>
                </a:solidFill>
                <a:cs typeface="B Mitra" panose="00000400000000000000" pitchFamily="2" charset="-78"/>
              </a:rPr>
              <a:t>سازی آن را در نظر گرفت</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a:t>
            </a: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از آنجا که تست، یک فرایند به شدت زمان بر و هزینه بر </a:t>
            </a:r>
            <a:r>
              <a:rPr lang="fa-IR" sz="3200" dirty="0" smtClean="0">
                <a:solidFill>
                  <a:schemeClr val="bg1"/>
                </a:solidFill>
                <a:cs typeface="B Mitra" panose="00000400000000000000" pitchFamily="2" charset="-78"/>
              </a:rPr>
              <a:t>است لازم </a:t>
            </a:r>
            <a:r>
              <a:rPr lang="fa-IR" sz="3200" dirty="0">
                <a:solidFill>
                  <a:schemeClr val="bg1"/>
                </a:solidFill>
                <a:cs typeface="B Mitra" panose="00000400000000000000" pitchFamily="2" charset="-78"/>
              </a:rPr>
              <a:t>است تا جای ممکن موارد آزمونی انتخاب کنیم که احتمال آشکارسازی خطاها را </a:t>
            </a:r>
            <a:r>
              <a:rPr lang="fa-IR" sz="3200" dirty="0" smtClean="0">
                <a:solidFill>
                  <a:schemeClr val="bg1"/>
                </a:solidFill>
                <a:cs typeface="B Mitra" panose="00000400000000000000" pitchFamily="2" charset="-78"/>
              </a:rPr>
              <a:t>داشته باشند.</a:t>
            </a:r>
            <a:br>
              <a:rPr lang="fa-IR" sz="3200" dirty="0" smtClean="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a:t>
            </a: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روش های گوناگونی برای ارزیابی کامل بودن مجموعه های تست وجود دارد که ازآن جمله می توان به تحلیل پوشش </a:t>
            </a:r>
            <a:r>
              <a:rPr lang="fa-IR" sz="3200" dirty="0" smtClean="0">
                <a:solidFill>
                  <a:schemeClr val="bg1"/>
                </a:solidFill>
                <a:cs typeface="B Mitra" panose="00000400000000000000" pitchFamily="2" charset="-78"/>
              </a:rPr>
              <a:t>اشاره کرد. </a:t>
            </a:r>
            <a:r>
              <a:rPr lang="fa-IR" sz="3200" dirty="0">
                <a:solidFill>
                  <a:schemeClr val="bg1"/>
                </a:solidFill>
                <a:cs typeface="B Mitra" panose="00000400000000000000" pitchFamily="2" charset="-78"/>
              </a:rPr>
              <a:t>برای این کار، با توجه به منبع تولید </a:t>
            </a:r>
            <a:r>
              <a:rPr lang="fa-IR" sz="3200" dirty="0" smtClean="0">
                <a:solidFill>
                  <a:schemeClr val="bg1"/>
                </a:solidFill>
                <a:cs typeface="B Mitra" panose="00000400000000000000" pitchFamily="2" charset="-78"/>
              </a:rPr>
              <a:t>مورد آزمون </a:t>
            </a:r>
            <a:r>
              <a:rPr lang="fa-IR" sz="3200" dirty="0">
                <a:solidFill>
                  <a:schemeClr val="bg1"/>
                </a:solidFill>
                <a:cs typeface="B Mitra" panose="00000400000000000000" pitchFamily="2" charset="-78"/>
              </a:rPr>
              <a:t>معیارهایی در نظر گرفته می شود که هر چه مورد آزمون تولید شده به میزان بیشتری </a:t>
            </a:r>
            <a:r>
              <a:rPr lang="fa-IR" sz="3200" dirty="0" smtClean="0">
                <a:solidFill>
                  <a:schemeClr val="bg1"/>
                </a:solidFill>
                <a:cs typeface="B Mitra" panose="00000400000000000000" pitchFamily="2" charset="-78"/>
              </a:rPr>
              <a:t>این معیارها </a:t>
            </a:r>
            <a:r>
              <a:rPr lang="fa-IR" sz="3200" dirty="0">
                <a:solidFill>
                  <a:schemeClr val="bg1"/>
                </a:solidFill>
                <a:cs typeface="B Mitra" panose="00000400000000000000" pitchFamily="2" charset="-78"/>
              </a:rPr>
              <a:t>را پوشش دهد بهتر است.</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273344841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3"/>
            <a:ext cx="11114466" cy="2511380"/>
          </a:xfrm>
        </p:spPr>
        <p:txBody>
          <a:bodyPr>
            <a:noAutofit/>
          </a:bodyPr>
          <a:lstStyle/>
          <a:p>
            <a:pPr algn="r" rtl="1"/>
            <a:r>
              <a:rPr lang="fa-IR" sz="3200" b="1" dirty="0">
                <a:solidFill>
                  <a:schemeClr val="bg1"/>
                </a:solidFill>
                <a:cs typeface="B Mitra" panose="00000400000000000000" pitchFamily="2" charset="-78"/>
              </a:rPr>
              <a:t>فرایند تست نرم </a:t>
            </a:r>
            <a:r>
              <a:rPr lang="fa-IR" sz="3200" b="1" dirty="0" smtClean="0">
                <a:solidFill>
                  <a:schemeClr val="bg1"/>
                </a:solidFill>
                <a:cs typeface="B Mitra" panose="00000400000000000000" pitchFamily="2" charset="-78"/>
              </a:rPr>
              <a:t>افزار (ادامه)</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وقتی موارد آزمون تولید شدند، به کمک داده تست روی سیستم تحت تست </a:t>
            </a:r>
            <a:r>
              <a:rPr lang="fa-IR" sz="3200" dirty="0" smtClean="0">
                <a:solidFill>
                  <a:schemeClr val="bg1"/>
                </a:solidFill>
                <a:cs typeface="B Mitra" panose="00000400000000000000" pitchFamily="2" charset="-78"/>
              </a:rPr>
              <a:t>اجرا می </a:t>
            </a:r>
            <a:r>
              <a:rPr lang="fa-IR" sz="3200" dirty="0">
                <a:solidFill>
                  <a:schemeClr val="bg1"/>
                </a:solidFill>
                <a:cs typeface="B Mitra" panose="00000400000000000000" pitchFamily="2" charset="-78"/>
              </a:rPr>
              <a:t>شوند. سپس جواب سیستم </a:t>
            </a:r>
            <a:r>
              <a:rPr lang="fa-IR" sz="3200" dirty="0" smtClean="0">
                <a:solidFill>
                  <a:schemeClr val="bg1"/>
                </a:solidFill>
                <a:cs typeface="B Mitra" panose="00000400000000000000" pitchFamily="2" charset="-78"/>
              </a:rPr>
              <a:t>(نتیجه تست) </a:t>
            </a:r>
            <a:r>
              <a:rPr lang="fa-IR" sz="3200" dirty="0">
                <a:solidFill>
                  <a:schemeClr val="bg1"/>
                </a:solidFill>
                <a:cs typeface="B Mitra" panose="00000400000000000000" pitchFamily="2" charset="-78"/>
              </a:rPr>
              <a:t>با خروجی مورد انتظار مقایسه می شود که </a:t>
            </a:r>
            <a:r>
              <a:rPr lang="fa-IR" sz="3200" dirty="0" smtClean="0">
                <a:solidFill>
                  <a:schemeClr val="bg1"/>
                </a:solidFill>
                <a:cs typeface="B Mitra" panose="00000400000000000000" pitchFamily="2" charset="-78"/>
              </a:rPr>
              <a:t>اگر این </a:t>
            </a:r>
            <a:r>
              <a:rPr lang="fa-IR" sz="3200" dirty="0">
                <a:solidFill>
                  <a:schemeClr val="bg1"/>
                </a:solidFill>
                <a:cs typeface="B Mitra" panose="00000400000000000000" pitchFamily="2" charset="-78"/>
              </a:rPr>
              <a:t>دو با یکدیگر منطبق نباشند، وجود خطا گزارش می شود.</a:t>
            </a:r>
            <a:endParaRPr lang="en-US" sz="3200" dirty="0">
              <a:solidFill>
                <a:schemeClr val="bg1"/>
              </a:solidFill>
              <a:cs typeface="B Mitra" panose="00000400000000000000"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5684" y="2949263"/>
            <a:ext cx="4309432" cy="3479947"/>
          </a:xfrm>
          <a:prstGeom prst="rect">
            <a:avLst/>
          </a:prstGeom>
        </p:spPr>
      </p:pic>
    </p:spTree>
    <p:extLst>
      <p:ext uri="{BB962C8B-B14F-4D97-AF65-F5344CB8AC3E}">
        <p14:creationId xmlns:p14="http://schemas.microsoft.com/office/powerpoint/2010/main" val="81149298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3200" b="1" dirty="0">
                <a:solidFill>
                  <a:schemeClr val="bg1"/>
                </a:solidFill>
                <a:cs typeface="B Mitra" panose="00000400000000000000" pitchFamily="2" charset="-78"/>
              </a:rPr>
              <a:t>سطوح تست نرم </a:t>
            </a:r>
            <a:r>
              <a:rPr lang="fa-IR" sz="3200" b="1" dirty="0" smtClean="0">
                <a:solidFill>
                  <a:schemeClr val="bg1"/>
                </a:solidFill>
                <a:cs typeface="B Mitra" panose="00000400000000000000" pitchFamily="2" charset="-78"/>
              </a:rPr>
              <a:t>افزار</a:t>
            </a:r>
            <a:br>
              <a:rPr lang="fa-IR" sz="3200" b="1" dirty="0" smtClean="0">
                <a:solidFill>
                  <a:schemeClr val="bg1"/>
                </a:solidFill>
                <a:cs typeface="B Mitra" panose="00000400000000000000" pitchFamily="2" charset="-78"/>
              </a:rPr>
            </a:br>
            <a:r>
              <a:rPr lang="fa-IR" sz="3200" dirty="0" smtClean="0">
                <a:solidFill>
                  <a:schemeClr val="bg1"/>
                </a:solidFill>
                <a:cs typeface="B Mitra" panose="00000400000000000000" pitchFamily="2" charset="-78"/>
              </a:rPr>
              <a:t>چرخه </a:t>
            </a:r>
            <a:r>
              <a:rPr lang="fa-IR" sz="3200" dirty="0">
                <a:solidFill>
                  <a:schemeClr val="bg1"/>
                </a:solidFill>
                <a:cs typeface="B Mitra" panose="00000400000000000000" pitchFamily="2" charset="-78"/>
              </a:rPr>
              <a:t>حیات توسعه نرم افزار از فازهای متعددی تشکیل شده است که هر یک از آن </a:t>
            </a:r>
            <a:r>
              <a:rPr lang="fa-IR" sz="3200" dirty="0" smtClean="0">
                <a:solidFill>
                  <a:schemeClr val="bg1"/>
                </a:solidFill>
                <a:cs typeface="B Mitra" panose="00000400000000000000" pitchFamily="2" charset="-78"/>
              </a:rPr>
              <a:t>ها می </a:t>
            </a:r>
            <a:r>
              <a:rPr lang="fa-IR" sz="3200" dirty="0">
                <a:solidFill>
                  <a:schemeClr val="bg1"/>
                </a:solidFill>
                <a:cs typeface="B Mitra" panose="00000400000000000000" pitchFamily="2" charset="-78"/>
              </a:rPr>
              <a:t>تواند مستعد بروز خطا باشند. به طور کلی می توان فازهای توسعه نرم افزار را به 4 </a:t>
            </a:r>
            <a:r>
              <a:rPr lang="fa-IR" sz="3200" dirty="0" smtClean="0">
                <a:solidFill>
                  <a:schemeClr val="bg1"/>
                </a:solidFill>
                <a:cs typeface="B Mitra" panose="00000400000000000000" pitchFamily="2" charset="-78"/>
              </a:rPr>
              <a:t>دسته اصلی </a:t>
            </a:r>
            <a:r>
              <a:rPr lang="fa-IR" sz="3200" dirty="0">
                <a:solidFill>
                  <a:schemeClr val="bg1"/>
                </a:solidFill>
                <a:cs typeface="B Mitra" panose="00000400000000000000" pitchFamily="2" charset="-78"/>
              </a:rPr>
              <a:t>تقسیم کرد که عبارت اند از</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smtClean="0">
                <a:solidFill>
                  <a:schemeClr val="bg1"/>
                </a:solidFill>
                <a:cs typeface="B Mitra" panose="00000400000000000000" pitchFamily="2" charset="-78"/>
              </a:rPr>
              <a:t>1. </a:t>
            </a:r>
            <a:r>
              <a:rPr lang="fa-IR" sz="3200" dirty="0">
                <a:solidFill>
                  <a:schemeClr val="bg1"/>
                </a:solidFill>
                <a:cs typeface="B Mitra" panose="00000400000000000000" pitchFamily="2" charset="-78"/>
              </a:rPr>
              <a:t>نیازمندی ها</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2. مشخصات </a:t>
            </a:r>
            <a:r>
              <a:rPr lang="fa-IR" sz="3200" dirty="0">
                <a:solidFill>
                  <a:schemeClr val="bg1"/>
                </a:solidFill>
                <a:cs typeface="B Mitra" panose="00000400000000000000" pitchFamily="2" charset="-78"/>
              </a:rPr>
              <a:t>سیستم</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3. طراحی </a:t>
            </a:r>
            <a:r>
              <a:rPr lang="fa-IR" sz="3200" dirty="0">
                <a:solidFill>
                  <a:schemeClr val="bg1"/>
                </a:solidFill>
                <a:cs typeface="B Mitra" panose="00000400000000000000" pitchFamily="2" charset="-78"/>
              </a:rPr>
              <a:t>زیرسیستم ها</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4. </a:t>
            </a:r>
            <a:r>
              <a:rPr lang="fa-IR" sz="3200" dirty="0">
                <a:solidFill>
                  <a:schemeClr val="bg1"/>
                </a:solidFill>
                <a:cs typeface="B Mitra" panose="00000400000000000000" pitchFamily="2" charset="-78"/>
              </a:rPr>
              <a:t>پیاده سازی واحد </a:t>
            </a:r>
            <a:r>
              <a:rPr lang="fa-IR" sz="3200" dirty="0" smtClean="0">
                <a:solidFill>
                  <a:schemeClr val="bg1"/>
                </a:solidFill>
                <a:cs typeface="B Mitra" panose="00000400000000000000" pitchFamily="2" charset="-78"/>
              </a:rPr>
              <a:t>ها</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هر یک از این دسته ها را می توان به عنوان یک سطح مجزا در نظر گرفت و آن ها را </a:t>
            </a:r>
            <a:r>
              <a:rPr lang="fa-IR" sz="3200" dirty="0" smtClean="0">
                <a:solidFill>
                  <a:schemeClr val="bg1"/>
                </a:solidFill>
                <a:cs typeface="B Mitra" panose="00000400000000000000" pitchFamily="2" charset="-78"/>
              </a:rPr>
              <a:t>مورد بررسی </a:t>
            </a:r>
            <a:r>
              <a:rPr lang="fa-IR" sz="3200" dirty="0">
                <a:solidFill>
                  <a:schemeClr val="bg1"/>
                </a:solidFill>
                <a:cs typeface="B Mitra" panose="00000400000000000000" pitchFamily="2" charset="-78"/>
              </a:rPr>
              <a:t>و تست قرارداد. </a:t>
            </a:r>
            <a:r>
              <a:rPr lang="fa-IR" sz="3200" dirty="0" smtClean="0">
                <a:solidFill>
                  <a:schemeClr val="bg1"/>
                </a:solidFill>
                <a:cs typeface="B Mitra" panose="00000400000000000000" pitchFamily="2" charset="-78"/>
              </a:rPr>
              <a:t>متناظر </a:t>
            </a:r>
            <a:r>
              <a:rPr lang="fa-IR" sz="3200" dirty="0">
                <a:solidFill>
                  <a:schemeClr val="bg1"/>
                </a:solidFill>
                <a:cs typeface="B Mitra" panose="00000400000000000000" pitchFamily="2" charset="-78"/>
              </a:rPr>
              <a:t>با هر سطح از توسعه نرم افزار، یک سطح </a:t>
            </a:r>
            <a:r>
              <a:rPr lang="fa-IR" sz="3200" dirty="0" smtClean="0">
                <a:solidFill>
                  <a:schemeClr val="bg1"/>
                </a:solidFill>
                <a:cs typeface="B Mitra" panose="00000400000000000000" pitchFamily="2" charset="-78"/>
              </a:rPr>
              <a:t>تست ویژه </a:t>
            </a:r>
            <a:r>
              <a:rPr lang="fa-IR" sz="3200" dirty="0">
                <a:solidFill>
                  <a:schemeClr val="bg1"/>
                </a:solidFill>
                <a:cs typeface="B Mitra" panose="00000400000000000000" pitchFamily="2" charset="-78"/>
              </a:rPr>
              <a:t>را نشان می دهد. این سطوح تست </a:t>
            </a:r>
            <a:r>
              <a:rPr lang="fa-IR" sz="3200" dirty="0" smtClean="0">
                <a:solidFill>
                  <a:schemeClr val="bg1"/>
                </a:solidFill>
                <a:cs typeface="B Mitra" panose="00000400000000000000" pitchFamily="2" charset="-78"/>
              </a:rPr>
              <a:t>شامل: </a:t>
            </a:r>
            <a:r>
              <a:rPr lang="fa-IR" sz="3200" dirty="0">
                <a:solidFill>
                  <a:schemeClr val="bg1"/>
                </a:solidFill>
                <a:cs typeface="B Mitra" panose="00000400000000000000" pitchFamily="2" charset="-78"/>
              </a:rPr>
              <a:t>تست </a:t>
            </a:r>
            <a:r>
              <a:rPr lang="fa-IR" sz="3200" b="1" dirty="0">
                <a:solidFill>
                  <a:schemeClr val="bg1"/>
                </a:solidFill>
                <a:cs typeface="B Mitra" panose="00000400000000000000" pitchFamily="2" charset="-78"/>
              </a:rPr>
              <a:t>واحد</a:t>
            </a:r>
            <a:r>
              <a:rPr lang="fa-IR" sz="3200" dirty="0">
                <a:solidFill>
                  <a:schemeClr val="bg1"/>
                </a:solidFill>
                <a:cs typeface="B Mitra" panose="00000400000000000000" pitchFamily="2" charset="-78"/>
              </a:rPr>
              <a:t>، تست </a:t>
            </a:r>
            <a:r>
              <a:rPr lang="fa-IR" sz="3200" b="1" dirty="0">
                <a:solidFill>
                  <a:schemeClr val="bg1"/>
                </a:solidFill>
                <a:cs typeface="B Mitra" panose="00000400000000000000" pitchFamily="2" charset="-78"/>
              </a:rPr>
              <a:t>جامعیت</a:t>
            </a:r>
            <a:r>
              <a:rPr lang="fa-IR" sz="3200" dirty="0">
                <a:solidFill>
                  <a:schemeClr val="bg1"/>
                </a:solidFill>
                <a:cs typeface="B Mitra" panose="00000400000000000000" pitchFamily="2" charset="-78"/>
              </a:rPr>
              <a:t>، تست </a:t>
            </a:r>
            <a:r>
              <a:rPr lang="fa-IR" sz="3200" b="1" dirty="0" smtClean="0">
                <a:solidFill>
                  <a:schemeClr val="bg1"/>
                </a:solidFill>
                <a:cs typeface="B Mitra" panose="00000400000000000000" pitchFamily="2" charset="-78"/>
              </a:rPr>
              <a:t>سیستم</a:t>
            </a:r>
            <a:r>
              <a:rPr lang="fa-IR" sz="3200" dirty="0" smtClean="0">
                <a:solidFill>
                  <a:schemeClr val="bg1"/>
                </a:solidFill>
                <a:cs typeface="B Mitra" panose="00000400000000000000" pitchFamily="2" charset="-78"/>
              </a:rPr>
              <a:t> و </a:t>
            </a:r>
            <a:r>
              <a:rPr lang="fa-IR" sz="3200" dirty="0">
                <a:solidFill>
                  <a:schemeClr val="bg1"/>
                </a:solidFill>
                <a:cs typeface="B Mitra" panose="00000400000000000000" pitchFamily="2" charset="-78"/>
              </a:rPr>
              <a:t>تست </a:t>
            </a:r>
            <a:r>
              <a:rPr lang="fa-IR" sz="3200" b="1" dirty="0">
                <a:solidFill>
                  <a:schemeClr val="bg1"/>
                </a:solidFill>
                <a:cs typeface="B Mitra" panose="00000400000000000000" pitchFamily="2" charset="-78"/>
              </a:rPr>
              <a:t>پذیرش</a:t>
            </a:r>
            <a:r>
              <a:rPr lang="fa-IR" sz="3200" dirty="0">
                <a:solidFill>
                  <a:schemeClr val="bg1"/>
                </a:solidFill>
                <a:cs typeface="B Mitra" panose="00000400000000000000" pitchFamily="2" charset="-78"/>
              </a:rPr>
              <a:t> </a:t>
            </a:r>
            <a:r>
              <a:rPr lang="fa-IR" sz="3200" dirty="0" smtClean="0">
                <a:solidFill>
                  <a:schemeClr val="bg1"/>
                </a:solidFill>
                <a:cs typeface="B Mitra" panose="00000400000000000000" pitchFamily="2" charset="-78"/>
              </a:rPr>
              <a:t>هستند.</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142827061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850005"/>
          </a:xfrm>
        </p:spPr>
        <p:txBody>
          <a:bodyPr>
            <a:noAutofit/>
          </a:bodyPr>
          <a:lstStyle/>
          <a:p>
            <a:pPr algn="r" rtl="1"/>
            <a:r>
              <a:rPr lang="fa-IR" sz="3200" b="1" dirty="0">
                <a:solidFill>
                  <a:schemeClr val="bg1"/>
                </a:solidFill>
                <a:cs typeface="B Mitra" panose="00000400000000000000" pitchFamily="2" charset="-78"/>
              </a:rPr>
              <a:t>سطوح تست نرم </a:t>
            </a:r>
            <a:r>
              <a:rPr lang="fa-IR" sz="3200" b="1" dirty="0" smtClean="0">
                <a:solidFill>
                  <a:schemeClr val="bg1"/>
                </a:solidFill>
                <a:cs typeface="B Mitra" panose="00000400000000000000" pitchFamily="2" charset="-78"/>
              </a:rPr>
              <a:t>افزار (ادامه)</a:t>
            </a:r>
            <a:br>
              <a:rPr lang="fa-IR" sz="3200" b="1" dirty="0" smtClean="0">
                <a:solidFill>
                  <a:schemeClr val="bg1"/>
                </a:solidFill>
                <a:cs typeface="B Mitra" panose="00000400000000000000" pitchFamily="2" charset="-78"/>
              </a:rPr>
            </a:br>
            <a:endParaRPr lang="en-US" sz="3200" dirty="0">
              <a:solidFill>
                <a:schemeClr val="bg1"/>
              </a:solidFill>
              <a:cs typeface="B Mitra" panose="00000400000000000000"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3637" y="1504186"/>
            <a:ext cx="7582958" cy="5163271"/>
          </a:xfrm>
          <a:prstGeom prst="rect">
            <a:avLst/>
          </a:prstGeom>
        </p:spPr>
      </p:pic>
    </p:spTree>
    <p:extLst>
      <p:ext uri="{BB962C8B-B14F-4D97-AF65-F5344CB8AC3E}">
        <p14:creationId xmlns:p14="http://schemas.microsoft.com/office/powerpoint/2010/main" val="241400818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3200" b="1" dirty="0">
                <a:solidFill>
                  <a:schemeClr val="bg1"/>
                </a:solidFill>
                <a:cs typeface="B Mitra" panose="00000400000000000000" pitchFamily="2" charset="-78"/>
              </a:rPr>
              <a:t>سطوح تست نرم </a:t>
            </a:r>
            <a:r>
              <a:rPr lang="fa-IR" sz="3200" b="1" dirty="0" smtClean="0">
                <a:solidFill>
                  <a:schemeClr val="bg1"/>
                </a:solidFill>
                <a:cs typeface="B Mitra" panose="00000400000000000000" pitchFamily="2" charset="-78"/>
              </a:rPr>
              <a:t>افزار-تست واحد</a:t>
            </a:r>
            <a:r>
              <a:rPr lang="fa-IR" sz="3200" b="1" dirty="0">
                <a:solidFill>
                  <a:schemeClr val="bg1"/>
                </a:solidFill>
                <a:cs typeface="B Mitra" panose="00000400000000000000" pitchFamily="2" charset="-78"/>
              </a:rPr>
              <a:t/>
            </a:r>
            <a:br>
              <a:rPr lang="fa-IR" sz="3200" b="1" dirty="0">
                <a:solidFill>
                  <a:schemeClr val="bg1"/>
                </a:solidFill>
                <a:cs typeface="B Mitra" panose="00000400000000000000" pitchFamily="2" charset="-78"/>
              </a:rPr>
            </a:br>
            <a:r>
              <a:rPr lang="fa-IR" sz="3200" dirty="0">
                <a:solidFill>
                  <a:schemeClr val="bg1"/>
                </a:solidFill>
                <a:cs typeface="B Mitra" panose="00000400000000000000" pitchFamily="2" charset="-78"/>
              </a:rPr>
              <a:t>تست </a:t>
            </a:r>
            <a:r>
              <a:rPr lang="fa-IR" sz="3200" dirty="0" smtClean="0">
                <a:solidFill>
                  <a:schemeClr val="bg1"/>
                </a:solidFill>
                <a:cs typeface="B Mitra" panose="00000400000000000000" pitchFamily="2" charset="-78"/>
              </a:rPr>
              <a:t>واحد، </a:t>
            </a:r>
            <a:r>
              <a:rPr lang="fa-IR" sz="3200" dirty="0">
                <a:solidFill>
                  <a:schemeClr val="bg1"/>
                </a:solidFill>
                <a:cs typeface="B Mitra" panose="00000400000000000000" pitchFamily="2" charset="-78"/>
              </a:rPr>
              <a:t>به تست مجزای واحدهای برنامه اشاره دارد و توسط برنامه نویس </a:t>
            </a:r>
            <a:r>
              <a:rPr lang="fa-IR" sz="3200" dirty="0" smtClean="0">
                <a:solidFill>
                  <a:schemeClr val="bg1"/>
                </a:solidFill>
                <a:cs typeface="B Mitra" panose="00000400000000000000" pitchFamily="2" charset="-78"/>
              </a:rPr>
              <a:t>انجام می </a:t>
            </a:r>
            <a:r>
              <a:rPr lang="fa-IR" sz="3200" dirty="0">
                <a:solidFill>
                  <a:schemeClr val="bg1"/>
                </a:solidFill>
                <a:cs typeface="B Mitra" panose="00000400000000000000" pitchFamily="2" charset="-78"/>
              </a:rPr>
              <a:t>شود. توابع، روال ها یا تابع ها نمونه هایی از واحدهای برنامه هستند. حتی در یک </a:t>
            </a:r>
            <a:r>
              <a:rPr lang="fa-IR" sz="3200" dirty="0" smtClean="0">
                <a:solidFill>
                  <a:schemeClr val="bg1"/>
                </a:solidFill>
                <a:cs typeface="B Mitra" panose="00000400000000000000" pitchFamily="2" charset="-78"/>
              </a:rPr>
              <a:t>زبان برنامه </a:t>
            </a:r>
            <a:r>
              <a:rPr lang="fa-IR" sz="3200" dirty="0">
                <a:solidFill>
                  <a:schemeClr val="bg1"/>
                </a:solidFill>
                <a:cs typeface="B Mitra" panose="00000400000000000000" pitchFamily="2" charset="-78"/>
              </a:rPr>
              <a:t>نویسی شئ گرا، کلاس نیز یک واحد برنامه است. دو علتِ تست واحد عبارت اند از</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1. </a:t>
            </a:r>
            <a:r>
              <a:rPr lang="fa-IR" sz="3200" dirty="0">
                <a:solidFill>
                  <a:schemeClr val="bg1"/>
                </a:solidFill>
                <a:cs typeface="B Mitra" panose="00000400000000000000" pitchFamily="2" charset="-78"/>
              </a:rPr>
              <a:t>خطا مربوط به یک واحد برنامه است، بنابراین به آسانی قابل رفع است.</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2. </a:t>
            </a:r>
            <a:r>
              <a:rPr lang="fa-IR" sz="3200" dirty="0">
                <a:solidFill>
                  <a:schemeClr val="bg1"/>
                </a:solidFill>
                <a:cs typeface="B Mitra" panose="00000400000000000000" pitchFamily="2" charset="-78"/>
              </a:rPr>
              <a:t>می توان بررسی کرد که هر اجرای مجزای روال های واحد برنامه، نتایج مورد نظر </a:t>
            </a:r>
            <a:r>
              <a:rPr lang="fa-IR" sz="3200" dirty="0" smtClean="0">
                <a:solidFill>
                  <a:schemeClr val="bg1"/>
                </a:solidFill>
                <a:cs typeface="B Mitra" panose="00000400000000000000" pitchFamily="2" charset="-78"/>
              </a:rPr>
              <a:t>را تولید </a:t>
            </a:r>
            <a:r>
              <a:rPr lang="fa-IR" sz="3200" dirty="0">
                <a:solidFill>
                  <a:schemeClr val="bg1"/>
                </a:solidFill>
                <a:cs typeface="B Mitra" panose="00000400000000000000" pitchFamily="2" charset="-78"/>
              </a:rPr>
              <a:t>می کنند.</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اجرای مجزا، به مسیرهای مجزا در واحد برنامه اشاره دارد. ایده آل این است که تا </a:t>
            </a:r>
            <a:r>
              <a:rPr lang="fa-IR" sz="3200" dirty="0" smtClean="0">
                <a:solidFill>
                  <a:schemeClr val="bg1"/>
                </a:solidFill>
                <a:cs typeface="B Mitra" panose="00000400000000000000" pitchFamily="2" charset="-78"/>
              </a:rPr>
              <a:t>جای ممکن </a:t>
            </a:r>
            <a:r>
              <a:rPr lang="fa-IR" sz="3200" dirty="0">
                <a:solidFill>
                  <a:schemeClr val="bg1"/>
                </a:solidFill>
                <a:cs typeface="B Mitra" panose="00000400000000000000" pitchFamily="2" charset="-78"/>
              </a:rPr>
              <a:t>مسیرهای مجزا در طول تست واحد، در نظر گرفته شوند. برای این کار، نیاز به </a:t>
            </a:r>
            <a:r>
              <a:rPr lang="fa-IR" sz="3200" dirty="0" smtClean="0">
                <a:solidFill>
                  <a:schemeClr val="bg1"/>
                </a:solidFill>
                <a:cs typeface="B Mitra" panose="00000400000000000000" pitchFamily="2" charset="-78"/>
              </a:rPr>
              <a:t>انتخاب دقیق </a:t>
            </a:r>
            <a:r>
              <a:rPr lang="fa-IR" sz="3200" dirty="0">
                <a:solidFill>
                  <a:schemeClr val="bg1"/>
                </a:solidFill>
                <a:cs typeface="B Mitra" panose="00000400000000000000" pitchFamily="2" charset="-78"/>
              </a:rPr>
              <a:t>داده ورودی برای هر اجرای مجزا وجود دارد.</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14184511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3200" b="1" dirty="0">
                <a:solidFill>
                  <a:schemeClr val="bg1"/>
                </a:solidFill>
                <a:cs typeface="B Mitra" panose="00000400000000000000" pitchFamily="2" charset="-78"/>
              </a:rPr>
              <a:t>سطوح تست نرم </a:t>
            </a:r>
            <a:r>
              <a:rPr lang="fa-IR" sz="3200" b="1" dirty="0" smtClean="0">
                <a:solidFill>
                  <a:schemeClr val="bg1"/>
                </a:solidFill>
                <a:cs typeface="B Mitra" panose="00000400000000000000" pitchFamily="2" charset="-78"/>
              </a:rPr>
              <a:t>افزار-تست واحد (ادامه)</a:t>
            </a:r>
            <a:r>
              <a:rPr lang="fa-IR" sz="3200" b="1" dirty="0">
                <a:solidFill>
                  <a:schemeClr val="bg1"/>
                </a:solidFill>
                <a:cs typeface="B Mitra" panose="00000400000000000000" pitchFamily="2" charset="-78"/>
              </a:rPr>
              <a:t/>
            </a:r>
            <a:br>
              <a:rPr lang="fa-IR" sz="3200" b="1" dirty="0">
                <a:solidFill>
                  <a:schemeClr val="bg1"/>
                </a:solidFill>
                <a:cs typeface="B Mitra" panose="00000400000000000000" pitchFamily="2" charset="-78"/>
              </a:rPr>
            </a:br>
            <a:r>
              <a:rPr lang="fa-IR" sz="3200" dirty="0">
                <a:solidFill>
                  <a:schemeClr val="bg1"/>
                </a:solidFill>
                <a:cs typeface="B Mitra" panose="00000400000000000000" pitchFamily="2" charset="-78"/>
              </a:rPr>
              <a:t>برنامه نویس به شیوه زیر </a:t>
            </a:r>
            <a:r>
              <a:rPr lang="fa-IR" sz="3200" dirty="0" smtClean="0">
                <a:solidFill>
                  <a:schemeClr val="bg1"/>
                </a:solidFill>
                <a:cs typeface="B Mitra" panose="00000400000000000000" pitchFamily="2" charset="-78"/>
              </a:rPr>
              <a:t>ملزم به </a:t>
            </a:r>
            <a:r>
              <a:rPr lang="fa-IR" sz="3200" dirty="0">
                <a:solidFill>
                  <a:schemeClr val="bg1"/>
                </a:solidFill>
                <a:cs typeface="B Mitra" panose="00000400000000000000" pitchFamily="2" charset="-78"/>
              </a:rPr>
              <a:t>تست واحد برنامه </a:t>
            </a:r>
            <a:r>
              <a:rPr lang="fa-IR" sz="3200" dirty="0" smtClean="0">
                <a:solidFill>
                  <a:schemeClr val="bg1"/>
                </a:solidFill>
                <a:cs typeface="B Mitra" panose="00000400000000000000" pitchFamily="2" charset="-78"/>
              </a:rPr>
              <a:t>است:</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1. </a:t>
            </a:r>
            <a:r>
              <a:rPr lang="fa-IR" sz="3200" dirty="0">
                <a:solidFill>
                  <a:schemeClr val="bg1"/>
                </a:solidFill>
                <a:cs typeface="B Mitra" panose="00000400000000000000" pitchFamily="2" charset="-78"/>
              </a:rPr>
              <a:t>اجرای هر خط از کد</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2. </a:t>
            </a:r>
            <a:r>
              <a:rPr lang="fa-IR" sz="3200" dirty="0">
                <a:solidFill>
                  <a:schemeClr val="bg1"/>
                </a:solidFill>
                <a:cs typeface="B Mitra" panose="00000400000000000000" pitchFamily="2" charset="-78"/>
              </a:rPr>
              <a:t>اجرای هر گزاره از واحد برنامه در هر دو حالت درست و نادرست</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3. </a:t>
            </a:r>
            <a:r>
              <a:rPr lang="fa-IR" sz="3200" dirty="0">
                <a:solidFill>
                  <a:schemeClr val="bg1"/>
                </a:solidFill>
                <a:cs typeface="B Mitra" panose="00000400000000000000" pitchFamily="2" charset="-78"/>
              </a:rPr>
              <a:t>مشاهده این که واحد برنامه، عملکرد مورد نظر را انجام می دهد و اطمینان از عدم </a:t>
            </a:r>
            <a:r>
              <a:rPr lang="fa-IR" sz="3200" dirty="0" smtClean="0">
                <a:solidFill>
                  <a:schemeClr val="bg1"/>
                </a:solidFill>
                <a:cs typeface="B Mitra" panose="00000400000000000000" pitchFamily="2" charset="-78"/>
              </a:rPr>
              <a:t>وجودخطا </a:t>
            </a:r>
            <a:r>
              <a:rPr lang="fa-IR" sz="3200" dirty="0">
                <a:solidFill>
                  <a:schemeClr val="bg1"/>
                </a:solidFill>
                <a:cs typeface="B Mitra" panose="00000400000000000000" pitchFamily="2" charset="-78"/>
              </a:rPr>
              <a:t>در آن.</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219378316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3200" b="1" dirty="0">
                <a:solidFill>
                  <a:schemeClr val="bg1"/>
                </a:solidFill>
                <a:cs typeface="B Mitra" panose="00000400000000000000" pitchFamily="2" charset="-78"/>
              </a:rPr>
              <a:t>تست </a:t>
            </a:r>
            <a:r>
              <a:rPr lang="fa-IR" sz="3200" b="1" dirty="0" smtClean="0">
                <a:solidFill>
                  <a:schemeClr val="bg1"/>
                </a:solidFill>
                <a:cs typeface="B Mitra" panose="00000400000000000000" pitchFamily="2" charset="-78"/>
              </a:rPr>
              <a:t>جامعیت:</a:t>
            </a:r>
            <a:br>
              <a:rPr lang="fa-IR" sz="3200"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برنامه های نرم افزاری با سرعت زیادی در حال تکامل هستند و مستقل از هم نیستند؛</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بلکه مجموعه ای از مؤلفه های پیچیده و به هم پیوسته را تشکیل می دهند. هرکدام از این مؤلفه </a:t>
            </a:r>
            <a:r>
              <a:rPr lang="fa-IR" sz="3200" dirty="0" smtClean="0">
                <a:solidFill>
                  <a:schemeClr val="bg1"/>
                </a:solidFill>
                <a:cs typeface="B Mitra" panose="00000400000000000000" pitchFamily="2" charset="-78"/>
              </a:rPr>
              <a:t>ها، ممکن </a:t>
            </a:r>
            <a:r>
              <a:rPr lang="fa-IR" sz="3200" dirty="0">
                <a:solidFill>
                  <a:schemeClr val="bg1"/>
                </a:solidFill>
                <a:cs typeface="B Mitra" panose="00000400000000000000" pitchFamily="2" charset="-78"/>
              </a:rPr>
              <a:t>است از فناوری، توسعه دهنده و توپولوژی پیاده سازی مختلفی شکل گرفته باشند. تست</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جامعیت، برای بررسی کارکرد قسمت های مختلف برنامه </a:t>
            </a:r>
            <a:r>
              <a:rPr lang="fa-IR" sz="3200" dirty="0" smtClean="0">
                <a:solidFill>
                  <a:schemeClr val="bg1"/>
                </a:solidFill>
                <a:cs typeface="B Mitra" panose="00000400000000000000" pitchFamily="2" charset="-78"/>
              </a:rPr>
              <a:t>(زیرسیستم ها) </a:t>
            </a:r>
            <a:r>
              <a:rPr lang="fa-IR" sz="3200" dirty="0">
                <a:solidFill>
                  <a:schemeClr val="bg1"/>
                </a:solidFill>
                <a:cs typeface="B Mitra" panose="00000400000000000000" pitchFamily="2" charset="-78"/>
              </a:rPr>
              <a:t>با یکدیگر، با قطعات</a:t>
            </a:r>
            <a:br>
              <a:rPr lang="fa-IR" sz="3200" dirty="0">
                <a:solidFill>
                  <a:schemeClr val="bg1"/>
                </a:solidFill>
                <a:cs typeface="B Mitra" panose="00000400000000000000" pitchFamily="2" charset="-78"/>
              </a:rPr>
            </a:br>
            <a:r>
              <a:rPr lang="fa-IR" sz="3200" dirty="0">
                <a:solidFill>
                  <a:schemeClr val="bg1"/>
                </a:solidFill>
                <a:cs typeface="B Mitra" panose="00000400000000000000" pitchFamily="2" charset="-78"/>
              </a:rPr>
              <a:t>سیستم و یا حتی با سیستم عامل اجرا می شود و عموماً توسط یک گروه تست صورت می گیرد.</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84441210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3200" b="1" dirty="0">
                <a:solidFill>
                  <a:schemeClr val="bg1"/>
                </a:solidFill>
                <a:cs typeface="B Mitra" panose="00000400000000000000" pitchFamily="2" charset="-78"/>
              </a:rPr>
              <a:t>تست </a:t>
            </a:r>
            <a:r>
              <a:rPr lang="fa-IR" sz="3200" b="1" dirty="0" smtClean="0">
                <a:solidFill>
                  <a:schemeClr val="bg1"/>
                </a:solidFill>
                <a:cs typeface="B Mitra" panose="00000400000000000000" pitchFamily="2" charset="-78"/>
              </a:rPr>
              <a:t>سیستم:</a:t>
            </a:r>
            <a:br>
              <a:rPr lang="fa-IR" sz="3200"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تست </a:t>
            </a:r>
            <a:r>
              <a:rPr lang="fa-IR" sz="3200" dirty="0">
                <a:solidFill>
                  <a:schemeClr val="bg1"/>
                </a:solidFill>
                <a:cs typeface="B Mitra" panose="00000400000000000000" pitchFamily="2" charset="-78"/>
              </a:rPr>
              <a:t>سیستم، شامل تست رفتار یک محصول نرم افزاری یکپارچه، بر اساس </a:t>
            </a:r>
            <a:r>
              <a:rPr lang="fa-IR" sz="3200" dirty="0" smtClean="0">
                <a:solidFill>
                  <a:schemeClr val="bg1"/>
                </a:solidFill>
                <a:cs typeface="B Mitra" panose="00000400000000000000" pitchFamily="2" charset="-78"/>
              </a:rPr>
              <a:t>سند مشخصات </a:t>
            </a:r>
            <a:r>
              <a:rPr lang="fa-IR" sz="3200" dirty="0">
                <a:solidFill>
                  <a:schemeClr val="bg1"/>
                </a:solidFill>
                <a:cs typeface="B Mitra" panose="00000400000000000000" pitchFamily="2" charset="-78"/>
              </a:rPr>
              <a:t>نیازمندی ها است. این تست، بر ارزیابی نیازمندی های عملیاتی و تجاری </a:t>
            </a:r>
            <a:r>
              <a:rPr lang="fa-IR" sz="3200" dirty="0" smtClean="0">
                <a:solidFill>
                  <a:schemeClr val="bg1"/>
                </a:solidFill>
                <a:cs typeface="B Mitra" panose="00000400000000000000" pitchFamily="2" charset="-78"/>
              </a:rPr>
              <a:t>کاربر نهایی </a:t>
            </a:r>
            <a:r>
              <a:rPr lang="fa-IR" sz="3200" dirty="0">
                <a:solidFill>
                  <a:schemeClr val="bg1"/>
                </a:solidFill>
                <a:cs typeface="B Mitra" panose="00000400000000000000" pitchFamily="2" charset="-78"/>
              </a:rPr>
              <a:t>تمرکز دارد</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برای </a:t>
            </a:r>
            <a:r>
              <a:rPr lang="fa-IR" sz="3200" dirty="0">
                <a:solidFill>
                  <a:schemeClr val="bg1"/>
                </a:solidFill>
                <a:cs typeface="B Mitra" panose="00000400000000000000" pitchFamily="2" charset="-78"/>
              </a:rPr>
              <a:t>انجام این تست، نیازی به دانستن طراحی داخلی یا ساختار کد </a:t>
            </a:r>
            <a:r>
              <a:rPr lang="fa-IR" sz="3200" dirty="0" smtClean="0">
                <a:solidFill>
                  <a:schemeClr val="bg1"/>
                </a:solidFill>
                <a:cs typeface="B Mitra" panose="00000400000000000000" pitchFamily="2" charset="-78"/>
              </a:rPr>
              <a:t>وجود ندارد</a:t>
            </a:r>
            <a:r>
              <a:rPr lang="fa-IR" sz="3200" dirty="0">
                <a:solidFill>
                  <a:schemeClr val="bg1"/>
                </a:solidFill>
                <a:cs typeface="B Mitra" panose="00000400000000000000" pitchFamily="2" charset="-78"/>
              </a:rPr>
              <a:t>. این تست پس از تکمیل تست جامعیت سیستم، زمانی که نیازهای عملکردی و </a:t>
            </a:r>
            <a:r>
              <a:rPr lang="fa-IR" sz="3200" dirty="0" smtClean="0">
                <a:solidFill>
                  <a:schemeClr val="bg1"/>
                </a:solidFill>
                <a:cs typeface="B Mitra" panose="00000400000000000000" pitchFamily="2" charset="-78"/>
              </a:rPr>
              <a:t>غیر عملکردی </a:t>
            </a:r>
            <a:r>
              <a:rPr lang="fa-IR" sz="3200" dirty="0">
                <a:solidFill>
                  <a:schemeClr val="bg1"/>
                </a:solidFill>
                <a:cs typeface="B Mitra" panose="00000400000000000000" pitchFamily="2" charset="-78"/>
              </a:rPr>
              <a:t>بررسی شده اند انجام می گیرد. </a:t>
            </a:r>
            <a:r>
              <a:rPr lang="fa-IR" sz="3200" dirty="0" smtClean="0">
                <a:solidFill>
                  <a:schemeClr val="bg1"/>
                </a:solidFill>
                <a:cs typeface="B Mitra" panose="00000400000000000000" pitchFamily="2" charset="-78"/>
              </a:rPr>
              <a:t/>
            </a:r>
            <a:br>
              <a:rPr lang="fa-IR" sz="3200" dirty="0" smtClean="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a:t>
            </a:r>
            <a:r>
              <a:rPr lang="fa-IR" sz="3200" dirty="0" smtClean="0">
                <a:solidFill>
                  <a:schemeClr val="bg1"/>
                </a:solidFill>
                <a:cs typeface="B Mitra" panose="00000400000000000000" pitchFamily="2" charset="-78"/>
              </a:rPr>
              <a:t>هدف </a:t>
            </a:r>
            <a:r>
              <a:rPr lang="fa-IR" sz="3200" dirty="0">
                <a:solidFill>
                  <a:schemeClr val="bg1"/>
                </a:solidFill>
                <a:cs typeface="B Mitra" panose="00000400000000000000" pitchFamily="2" charset="-78"/>
              </a:rPr>
              <a:t>از تست جامعیت، یافتن خطا بر اساس </a:t>
            </a:r>
            <a:r>
              <a:rPr lang="fa-IR" sz="3200" dirty="0" smtClean="0">
                <a:solidFill>
                  <a:schemeClr val="bg1"/>
                </a:solidFill>
                <a:cs typeface="B Mitra" panose="00000400000000000000" pitchFamily="2" charset="-78"/>
              </a:rPr>
              <a:t>قطعات یکپارچه (جامعیت) </a:t>
            </a:r>
            <a:r>
              <a:rPr lang="fa-IR" sz="3200" dirty="0">
                <a:solidFill>
                  <a:schemeClr val="bg1"/>
                </a:solidFill>
                <a:cs typeface="B Mitra" panose="00000400000000000000" pitchFamily="2" charset="-78"/>
              </a:rPr>
              <a:t>است؛ اما تست سیستم، خطاها را بر اساس رفتار برنامه نرم افزاری، </a:t>
            </a:r>
            <a:r>
              <a:rPr lang="fa-IR" sz="3200" dirty="0" smtClean="0">
                <a:solidFill>
                  <a:schemeClr val="bg1"/>
                </a:solidFill>
                <a:cs typeface="B Mitra" panose="00000400000000000000" pitchFamily="2" charset="-78"/>
              </a:rPr>
              <a:t>طراحی نرم </a:t>
            </a:r>
            <a:r>
              <a:rPr lang="fa-IR" sz="3200" dirty="0">
                <a:solidFill>
                  <a:schemeClr val="bg1"/>
                </a:solidFill>
                <a:cs typeface="B Mitra" panose="00000400000000000000" pitchFamily="2" charset="-78"/>
              </a:rPr>
              <a:t>افزار و انتظارات کاربر نهایی پیدا می کند.</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182747855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3200" b="1" dirty="0">
                <a:solidFill>
                  <a:schemeClr val="bg1"/>
                </a:solidFill>
                <a:cs typeface="B Mitra" panose="00000400000000000000" pitchFamily="2" charset="-78"/>
              </a:rPr>
              <a:t>تست </a:t>
            </a:r>
            <a:r>
              <a:rPr lang="fa-IR" sz="3200" b="1" dirty="0" smtClean="0">
                <a:solidFill>
                  <a:schemeClr val="bg1"/>
                </a:solidFill>
                <a:cs typeface="B Mitra" panose="00000400000000000000" pitchFamily="2" charset="-78"/>
              </a:rPr>
              <a:t>سیستم-</a:t>
            </a:r>
            <a:r>
              <a:rPr lang="fa-IR" sz="3200" b="1" dirty="0">
                <a:solidFill>
                  <a:schemeClr val="bg1"/>
                </a:solidFill>
                <a:cs typeface="B Mitra" panose="00000400000000000000" pitchFamily="2" charset="-78"/>
              </a:rPr>
              <a:t> </a:t>
            </a:r>
            <a:r>
              <a:rPr lang="fa-IR" sz="3200" b="1" dirty="0" smtClean="0">
                <a:solidFill>
                  <a:schemeClr val="bg1"/>
                </a:solidFill>
                <a:cs typeface="B Mitra" panose="00000400000000000000" pitchFamily="2" charset="-78"/>
              </a:rPr>
              <a:t>اهمیت:</a:t>
            </a:r>
            <a:br>
              <a:rPr lang="fa-IR" sz="3200"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در چرخه حیات توسعه نرم </a:t>
            </a:r>
            <a:r>
              <a:rPr lang="fa-IR" sz="3200" dirty="0" smtClean="0">
                <a:solidFill>
                  <a:schemeClr val="bg1"/>
                </a:solidFill>
                <a:cs typeface="B Mitra" panose="00000400000000000000" pitchFamily="2" charset="-78"/>
              </a:rPr>
              <a:t>افزار، </a:t>
            </a:r>
            <a:r>
              <a:rPr lang="fa-IR" sz="3200" dirty="0">
                <a:solidFill>
                  <a:schemeClr val="bg1"/>
                </a:solidFill>
                <a:cs typeface="B Mitra" panose="00000400000000000000" pitchFamily="2" charset="-78"/>
              </a:rPr>
              <a:t>تست سیستم اولین سطحی از تست است که </a:t>
            </a:r>
            <a:r>
              <a:rPr lang="fa-IR" sz="3200" dirty="0" smtClean="0">
                <a:solidFill>
                  <a:schemeClr val="bg1"/>
                </a:solidFill>
                <a:cs typeface="B Mitra" panose="00000400000000000000" pitchFamily="2" charset="-78"/>
              </a:rPr>
              <a:t>روی کل </a:t>
            </a:r>
            <a:r>
              <a:rPr lang="fa-IR" sz="3200" dirty="0">
                <a:solidFill>
                  <a:schemeClr val="bg1"/>
                </a:solidFill>
                <a:cs typeface="B Mitra" panose="00000400000000000000" pitchFamily="2" charset="-78"/>
              </a:rPr>
              <a:t>آن انجام می شود.</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در این مرحله بررسی می شود که آیا سیستم نیازهای عملکردی را می پذیرد یا خیر</a:t>
            </a:r>
            <a:r>
              <a:rPr lang="fa-IR" sz="3200" dirty="0" smtClean="0">
                <a:solidFill>
                  <a:schemeClr val="bg1"/>
                </a:solidFill>
                <a:cs typeface="B Mitra" panose="00000400000000000000" pitchFamily="2" charset="-78"/>
              </a:rPr>
              <a:t>.</a:t>
            </a: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تست سیستم، امکان وارسی و اعتبارسنجی معماری برنامه و نیز نیازمندی های </a:t>
            </a:r>
            <a:r>
              <a:rPr lang="fa-IR" sz="3200" dirty="0" smtClean="0">
                <a:solidFill>
                  <a:schemeClr val="bg1"/>
                </a:solidFill>
                <a:cs typeface="B Mitra" panose="00000400000000000000" pitchFamily="2" charset="-78"/>
              </a:rPr>
              <a:t>تجاری را </a:t>
            </a:r>
            <a:r>
              <a:rPr lang="fa-IR" sz="3200" dirty="0">
                <a:solidFill>
                  <a:schemeClr val="bg1"/>
                </a:solidFill>
                <a:cs typeface="B Mitra" panose="00000400000000000000" pitchFamily="2" charset="-78"/>
              </a:rPr>
              <a:t>فراهم می کند.</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سیستم در محیطی مشابه با محیطی که در نهایت در آنجا مستقر خواهد شد، </a:t>
            </a:r>
            <a:r>
              <a:rPr lang="fa-IR" sz="3200" dirty="0" smtClean="0">
                <a:solidFill>
                  <a:schemeClr val="bg1"/>
                </a:solidFill>
                <a:cs typeface="B Mitra" panose="00000400000000000000" pitchFamily="2" charset="-78"/>
              </a:rPr>
              <a:t>تست می </a:t>
            </a:r>
            <a:r>
              <a:rPr lang="fa-IR" sz="3200" dirty="0">
                <a:solidFill>
                  <a:schemeClr val="bg1"/>
                </a:solidFill>
                <a:cs typeface="B Mitra" panose="00000400000000000000" pitchFamily="2" charset="-78"/>
              </a:rPr>
              <a:t>شود.</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299902248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2"/>
            <a:ext cx="11114466" cy="5924281"/>
          </a:xfrm>
        </p:spPr>
        <p:txBody>
          <a:bodyPr>
            <a:noAutofit/>
          </a:bodyPr>
          <a:lstStyle/>
          <a:p>
            <a:pPr algn="r" rtl="1"/>
            <a:r>
              <a:rPr lang="fa-IR" sz="3200" b="1" dirty="0">
                <a:solidFill>
                  <a:schemeClr val="bg1"/>
                </a:solidFill>
                <a:cs typeface="B Mitra" panose="00000400000000000000" pitchFamily="2" charset="-78"/>
              </a:rPr>
              <a:t>تست </a:t>
            </a:r>
            <a:r>
              <a:rPr lang="fa-IR" sz="3200" b="1" dirty="0" smtClean="0">
                <a:solidFill>
                  <a:schemeClr val="bg1"/>
                </a:solidFill>
                <a:cs typeface="B Mitra" panose="00000400000000000000" pitchFamily="2" charset="-78"/>
              </a:rPr>
              <a:t>سیستم-</a:t>
            </a:r>
            <a:r>
              <a:rPr lang="fa-IR" sz="3200" b="1" dirty="0">
                <a:solidFill>
                  <a:schemeClr val="bg1"/>
                </a:solidFill>
                <a:cs typeface="B Mitra" panose="00000400000000000000" pitchFamily="2" charset="-78"/>
              </a:rPr>
              <a:t> </a:t>
            </a:r>
            <a:r>
              <a:rPr lang="fa-IR" sz="3200" b="1" dirty="0" smtClean="0">
                <a:solidFill>
                  <a:schemeClr val="bg1"/>
                </a:solidFill>
                <a:cs typeface="B Mitra" panose="00000400000000000000" pitchFamily="2" charset="-78"/>
              </a:rPr>
              <a:t>شرایط:</a:t>
            </a:r>
            <a:br>
              <a:rPr lang="fa-IR" sz="3200"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تست واحد باید پایان یافته باشد</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قطعات باید کاملاً یکپارچه شده باشند</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مشخصات سند توسعه نرم افزار به طور کامل توسعه یافته باشد</a:t>
            </a:r>
            <a:r>
              <a:rPr lang="fa-IR" sz="3200" dirty="0" smtClean="0">
                <a:solidFill>
                  <a:schemeClr val="bg1"/>
                </a:solidFill>
                <a:cs typeface="B Mitra" panose="00000400000000000000" pitchFamily="2" charset="-78"/>
              </a:rPr>
              <a:t>.</a:t>
            </a:r>
            <a:br>
              <a:rPr lang="fa-IR" sz="3200"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sz="3200" dirty="0" smtClean="0">
                <a:solidFill>
                  <a:schemeClr val="bg1"/>
                </a:solidFill>
                <a:cs typeface="B Mitra" panose="00000400000000000000" pitchFamily="2" charset="-78"/>
              </a:rPr>
              <a:t>- </a:t>
            </a:r>
            <a:r>
              <a:rPr lang="fa-IR" sz="3200" dirty="0">
                <a:solidFill>
                  <a:schemeClr val="bg1"/>
                </a:solidFill>
                <a:cs typeface="B Mitra" panose="00000400000000000000" pitchFamily="2" charset="-78"/>
              </a:rPr>
              <a:t>محیط تست مهیا باشد.</a:t>
            </a:r>
            <a:endParaRPr lang="en-US" sz="3200" dirty="0">
              <a:solidFill>
                <a:schemeClr val="bg1"/>
              </a:solidFill>
              <a:cs typeface="B Mitra" panose="00000400000000000000" pitchFamily="2" charset="-78"/>
            </a:endParaRPr>
          </a:p>
        </p:txBody>
      </p:sp>
    </p:spTree>
    <p:extLst>
      <p:ext uri="{BB962C8B-B14F-4D97-AF65-F5344CB8AC3E}">
        <p14:creationId xmlns:p14="http://schemas.microsoft.com/office/powerpoint/2010/main" val="165424289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83" y="437883"/>
            <a:ext cx="11114466" cy="3606084"/>
          </a:xfrm>
        </p:spPr>
        <p:txBody>
          <a:bodyPr>
            <a:noAutofit/>
          </a:bodyPr>
          <a:lstStyle/>
          <a:p>
            <a:pPr algn="r" rtl="1"/>
            <a:r>
              <a:rPr lang="fa-IR" sz="3200" b="1" dirty="0" smtClean="0">
                <a:solidFill>
                  <a:schemeClr val="bg1"/>
                </a:solidFill>
                <a:cs typeface="B Mitra" panose="00000400000000000000" pitchFamily="2" charset="-78"/>
              </a:rPr>
              <a:t>تست پذیرش:</a:t>
            </a:r>
            <a:br>
              <a:rPr lang="fa-IR" sz="3200" b="1" dirty="0" smtClean="0">
                <a:solidFill>
                  <a:schemeClr val="bg1"/>
                </a:solidFill>
                <a:cs typeface="B Mitra" panose="00000400000000000000" pitchFamily="2" charset="-78"/>
              </a:rPr>
            </a:br>
            <a:r>
              <a:rPr lang="fa-IR" sz="3200" dirty="0">
                <a:solidFill>
                  <a:schemeClr val="bg1"/>
                </a:solidFill>
                <a:cs typeface="B Mitra" panose="00000400000000000000" pitchFamily="2" charset="-78"/>
              </a:rPr>
              <a:t/>
            </a:r>
            <a:br>
              <a:rPr lang="fa-IR" sz="3200" dirty="0">
                <a:solidFill>
                  <a:schemeClr val="bg1"/>
                </a:solidFill>
                <a:cs typeface="B Mitra" panose="00000400000000000000" pitchFamily="2" charset="-78"/>
              </a:rPr>
            </a:br>
            <a:r>
              <a:rPr lang="fa-IR" dirty="0">
                <a:solidFill>
                  <a:schemeClr val="bg1"/>
                </a:solidFill>
                <a:cs typeface="B Mitra" panose="00000400000000000000" pitchFamily="2" charset="-78"/>
              </a:rPr>
              <a:t>پس از تست کامل سیستم، تست پذیرش صورت می گیرد که تأیید می کند سیستم </a:t>
            </a:r>
            <a:r>
              <a:rPr lang="fa-IR" dirty="0" smtClean="0">
                <a:solidFill>
                  <a:schemeClr val="bg1"/>
                </a:solidFill>
                <a:cs typeface="B Mitra" panose="00000400000000000000" pitchFamily="2" charset="-78"/>
              </a:rPr>
              <a:t>برای در </a:t>
            </a:r>
            <a:r>
              <a:rPr lang="fa-IR" dirty="0">
                <a:solidFill>
                  <a:schemeClr val="bg1"/>
                </a:solidFill>
                <a:cs typeface="B Mitra" panose="00000400000000000000" pitchFamily="2" charset="-78"/>
              </a:rPr>
              <a:t>دسترس قرار گرفتن کاربر نهایی آماده است. در حقیقت، مقبول بودن سیستم برای </a:t>
            </a:r>
            <a:r>
              <a:rPr lang="fa-IR" dirty="0" smtClean="0">
                <a:solidFill>
                  <a:schemeClr val="bg1"/>
                </a:solidFill>
                <a:cs typeface="B Mitra" panose="00000400000000000000" pitchFamily="2" charset="-78"/>
              </a:rPr>
              <a:t>تحویل به </a:t>
            </a:r>
            <a:r>
              <a:rPr lang="fa-IR" dirty="0">
                <a:solidFill>
                  <a:schemeClr val="bg1"/>
                </a:solidFill>
                <a:cs typeface="B Mitra" panose="00000400000000000000" pitchFamily="2" charset="-78"/>
              </a:rPr>
              <a:t>کاربر، در این سطح از تست مورد بررسی قرار می گیرد.</a:t>
            </a:r>
            <a:endParaRPr lang="en-US" dirty="0">
              <a:solidFill>
                <a:schemeClr val="bg1"/>
              </a:solidFill>
              <a:cs typeface="B Mitra" panose="00000400000000000000" pitchFamily="2" charset="-78"/>
            </a:endParaRPr>
          </a:p>
        </p:txBody>
      </p:sp>
    </p:spTree>
    <p:extLst>
      <p:ext uri="{BB962C8B-B14F-4D97-AF65-F5344CB8AC3E}">
        <p14:creationId xmlns:p14="http://schemas.microsoft.com/office/powerpoint/2010/main" val="38492349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4487332"/>
            <a:ext cx="10391618" cy="1507067"/>
          </a:xfrm>
        </p:spPr>
        <p:txBody>
          <a:bodyPr/>
          <a:lstStyle/>
          <a:p>
            <a:endParaRPr lang="en-US" dirty="0"/>
          </a:p>
        </p:txBody>
      </p:sp>
      <p:sp>
        <p:nvSpPr>
          <p:cNvPr id="3" name="Content Placeholder 2"/>
          <p:cNvSpPr>
            <a:spLocks noGrp="1"/>
          </p:cNvSpPr>
          <p:nvPr>
            <p:ph idx="1"/>
          </p:nvPr>
        </p:nvSpPr>
        <p:spPr>
          <a:xfrm>
            <a:off x="684211" y="685800"/>
            <a:ext cx="10391619" cy="3615267"/>
          </a:xfrm>
        </p:spPr>
        <p:txBody>
          <a:bodyPr/>
          <a:lstStyle/>
          <a:p>
            <a:endParaRPr lang="en-US"/>
          </a:p>
        </p:txBody>
      </p:sp>
    </p:spTree>
    <p:extLst>
      <p:ext uri="{BB962C8B-B14F-4D97-AF65-F5344CB8AC3E}">
        <p14:creationId xmlns:p14="http://schemas.microsoft.com/office/powerpoint/2010/main" val="3090420341"/>
      </p:ext>
    </p:extLst>
  </p:cSld>
  <p:clrMapOvr>
    <a:masterClrMapping/>
  </p:clrMapOvr>
</p:sld>
</file>

<file path=ppt/theme/theme1.xml><?xml version="1.0" encoding="utf-8"?>
<a:theme xmlns:a="http://schemas.openxmlformats.org/drawingml/2006/main" name="Slice">
  <a:themeElements>
    <a:clrScheme name="Custom 3">
      <a:dk1>
        <a:sysClr val="windowText" lastClr="000000"/>
      </a:dk1>
      <a:lt1>
        <a:sysClr val="window" lastClr="FFFFFF"/>
      </a:lt1>
      <a:dk2>
        <a:srgbClr val="F9E5A6"/>
      </a:dk2>
      <a:lt2>
        <a:srgbClr val="FFF6CF"/>
      </a:lt2>
      <a:accent1>
        <a:srgbClr val="760603"/>
      </a:accent1>
      <a:accent2>
        <a:srgbClr val="9F761A"/>
      </a:accent2>
      <a:accent3>
        <a:srgbClr val="92A200"/>
      </a:accent3>
      <a:accent4>
        <a:srgbClr val="4AA157"/>
      </a:accent4>
      <a:accent5>
        <a:srgbClr val="46788D"/>
      </a:accent5>
      <a:accent6>
        <a:srgbClr val="A848A8"/>
      </a:accent6>
      <a:hlink>
        <a:srgbClr val="460402"/>
      </a:hlink>
      <a:folHlink>
        <a:srgbClr val="991111"/>
      </a:folHlink>
    </a:clrScheme>
    <a:fontScheme name="Slice">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162000"/>
                <a:satMod val="200000"/>
                <a:lumMod val="124000"/>
              </a:schemeClr>
            </a:gs>
            <a:gs pos="100000">
              <a:schemeClr val="phClr">
                <a:shade val="96000"/>
                <a:hueMod val="88000"/>
                <a:satMod val="220000"/>
                <a:lumMod val="82000"/>
              </a:schemeClr>
            </a:gs>
          </a:gsLst>
          <a:lin ang="6120000" scaled="1"/>
        </a:gradFill>
        <a:gradFill rotWithShape="1">
          <a:gsLst>
            <a:gs pos="0">
              <a:schemeClr val="phClr">
                <a:tint val="97000"/>
                <a:hueMod val="142000"/>
                <a:satMod val="200000"/>
                <a:lumMod val="118000"/>
              </a:schemeClr>
            </a:gs>
            <a:gs pos="100000">
              <a:schemeClr val="phClr">
                <a:shade val="92000"/>
                <a:hueMod val="22000"/>
                <a:satMod val="220000"/>
                <a:lumMod val="62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282EB108-EDE6-4B8E-957B-D4A69BF580EA}"/>
    </a:ext>
  </a:extLst>
</a:theme>
</file>

<file path=docProps/app.xml><?xml version="1.0" encoding="utf-8"?>
<Properties xmlns="http://schemas.openxmlformats.org/officeDocument/2006/extended-properties" xmlns:vt="http://schemas.openxmlformats.org/officeDocument/2006/docPropsVTypes">
  <Template/>
  <TotalTime>299</TotalTime>
  <Words>8565</Words>
  <Application>Microsoft Office PowerPoint</Application>
  <PresentationFormat>Widescreen</PresentationFormat>
  <Paragraphs>132</Paragraphs>
  <Slides>85</Slides>
  <Notes>0</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85</vt:i4>
      </vt:variant>
    </vt:vector>
  </HeadingPairs>
  <TitlesOfParts>
    <vt:vector size="104" baseType="lpstr">
      <vt:lpstr>Andalus</vt:lpstr>
      <vt:lpstr>Angsana New</vt:lpstr>
      <vt:lpstr>Aparajita</vt:lpstr>
      <vt:lpstr>Arial</vt:lpstr>
      <vt:lpstr>B Mitra</vt:lpstr>
      <vt:lpstr>B Nazanin</vt:lpstr>
      <vt:lpstr>B Titr</vt:lpstr>
      <vt:lpstr>B Zar</vt:lpstr>
      <vt:lpstr>BNazanin</vt:lpstr>
      <vt:lpstr>Calibri</vt:lpstr>
      <vt:lpstr>Calisto MT</vt:lpstr>
      <vt:lpstr>Cambria</vt:lpstr>
      <vt:lpstr>Century Gothic</vt:lpstr>
      <vt:lpstr>Google Sans</vt:lpstr>
      <vt:lpstr>Tahoma</vt:lpstr>
      <vt:lpstr>Times New Roman</vt:lpstr>
      <vt:lpstr>TrebuchetMS</vt:lpstr>
      <vt:lpstr>Wingdings 3</vt:lpstr>
      <vt:lpstr>Slice</vt:lpstr>
      <vt:lpstr>مبانی آزمون نرم افزار</vt:lpstr>
      <vt:lpstr>آزمون نرم‌افزار چیست؟  سازمان‌ها یا شرکت‌هایی که نرم افزارها را توسعه می‌دهند، محصولی به نام نرم افزار تولید می‌کنند. ولی چه عامل یا عواملی باعث می‌شوند که یک نرم افزار از نرم افزار مشابه دیگر متمایز و برجسته شود؟ عوامل متعددی را می‌توان نام برد که باعث این برتری و تمایز شود اما یکی از این عوامل می‌تواند کیفیت محصول نهایی باشد که به بازار عرضه خواهد شد. اما برای رسیدن به این نقطه تمایز و برتری باید چگونه عمل کرد و اندیشید؟ یک پاسخ به این سوال می‌تواند آزمون نرم افزار و نحوه انجام آن باشد. حتی آزمون را می‌توان یکی از زیرمجموعه‌های مبحث کیفیت نرم افزار با نام “تضمین کیفیت” درنظر گرفت. در واقع آزمون نرم افزار به دنبال خطایابی و عیب یابی محصول، قبل از تحویل به مشتری است. اینکه هم توسعه‌دهندگان و هم کاربران نهایی برروی یک نرم افزار کارآمد و قابل بکارگیری که پاسخگوی نیازمندی‌های تعریف شده باشد، هم نظر باشند.</vt:lpstr>
      <vt:lpstr>معنای آزمون  نرم افزار:  - تلاش‌هایی در جهت عیب یابی و رفع آن، نه تلاش در جهت اثبات کامل صحت نرم افزار، زیرا این قضیه با ماهیت آزمون تفاوت دارد. - آزمون نرم‌افزار یا آزمایش نرم‌افزار، تحقیق برروی کیفیت یک محصول یا سرویس نرم‌افزاری و ارایه اطلاعات ناشی از آن به مشتری‌ها است. این تحقیق جستجوی نرم‌افزار مزبور برای یافتن خطاها را نیز دربرمی‌گیرد ولی به آن محدود نمی‌شود. - آزمون‌ها یک سری از سوال و جواب‌هایی هستند که نرم‌افزار را با آن امتحان می‌کنیم در حالی که از برنامه انتظار داریم با توجه به ورودی‌هایی که با استفاده از سوالات وارد می‌کنیم، جواب‌های صحیحی را به عنوان خروجی به دست دهد.</vt:lpstr>
      <vt:lpstr>معنای آزمون  نرم افزار (ادامه):  - آزمون نرم‌افزار حیطه وسیعی از فعالیت‌های مربوط به تولید برنامه‌های کامپیوتری را دربرمی‌گیرد که از آزمون کردن کد برنامه توسط برنامه‌نویس گرفته تا نشان دادن عملکرد درست یک سیستم اطلاعاتی بزرگ به مشتری و ارزیابی نرم‌افزار در حین رانش یک شبکه مرکزی کاربردی را دربرمی‌گیرد. - آزمون نرم افزار شامل فرآیند اجراهای متعدد برنامه با هدف یافتن باگ‌های نرم افزاری است اما محدود به آن نمی‌باشد، تضمین اینکه تا چه حد نیازمندی‌های موجود را برآورده می‌کند و آیا با انتظارات مشتری سازگار است یا خیر نیز توسط فرآیند آزمون مشخص می‌شود.</vt:lpstr>
      <vt:lpstr>معنای آزمون  نرم افزار (ادامه):  - آزمون ها به دفعات تکرار خواهند شد تا مشکلات هر چه بیشتر نمایان شوند. استاندارد آزمون نرم افزار فرآیندهایی را در جهت آشکارسازی و برطرف کردن عیوب سیستم دنبال خواهد کرد. - آزمون نرم‌افزاراز وظایف توسعه دهندگان نرم‌افزار است و نه از وظایف تحویل گیرندگان آن. - دایجسترا در تعریف آزمون می گوید: آزمون فقط می‌تواند وجود خطاها را نشان دهد نه عدم وجود آنها را !</vt:lpstr>
      <vt:lpstr>وارسی و اعتبار سنجی:  - آزمون نرم افزار به طور رسمی جزئی از وارسی و اعتبارسنجی نرم افزار می‌باشد، که این دو واژه به صورت زیر تعریف و با هم مقایسه می‌شوند.  وارسی verification: فرآیندی است که برای اطمینان از تطابق ویژگیهای تولیدات یک فعالیت در چرخه توسعه نرم افزار، با نیازهای اعلام شده همان مرحله انجام میشود. آیا محصول به درستی ایجاد شده است؟  اعتبارسنجی validation: یعنی بررسی این که خروجی مطابق با خواسته ها باشد. اعتبارسنجی فرآیند مقایسه مشخصات محصول با نیازمندی های واقعی کاربر است.  آیا محصول در برآوردن نیازها به درستی عمل می‌کند ؟</vt:lpstr>
      <vt:lpstr>تفاوت وارسی و اعتبار سنجی:  </vt:lpstr>
      <vt:lpstr>1-2 اهداف آزمون *آزمون فرآیند اجرای برنامه به قصد یافتن خطاهاست. *مورد آزمون خوب، موردی است که احتمال یافتن خطاهای کشف شده در آن، بالا باشد. * آزمون موفق، آزمونی است که خطاهای کشف نشده را کشف می‌کند.  در واقع هدف فرآیند آزمون در یک جمله ” ایجاد اعتماد نسبت به سیستم ” است.  اما چطور می‌توان نسبت به سیستم ایجاد اعتماد نمود؟  چه اصولی از آزمون را بایستی رعایت کرد تا به این اهداف رسید؟ </vt:lpstr>
      <vt:lpstr>چه کسی آزمون می‌کند؟ در صنعت IT، شرکت‌های بزرگ، تیمی برای بررسی نرم افزارهای تولیدی در چارچوب الزامات و فعالیت‌های شرکت دارند که این تیم، تیم آزمون می‌باشد. در اغلب موارد آزمون کننده در یکی از بخش‌های زیر قرار می‌گیرد: - بخش آزمون نرم افزار - بخش توسعه نرم افزار شرکت‌ها طراحی‌های متفاوت و وظایف و نقش‌های متفاوتی برای اشخاصی که آزمون نرم افزار انجام می‌دهند، قائل می‌شوند. این نقش‌ها عبارتند از: آزمون کننده نرم افزار، تضمین کیفیت نرم افزار( QA)، تحلیلگر و … </vt:lpstr>
      <vt:lpstr>تفاوت آزمون نرم افزار با اشكال زدايي نرم افزار:  اگرچه هدف هر دو افزايش كيفيت نرم افزار است، اما اشكال زدايي، اشكالات نرم افزار را رفع ميكند ولي آزمون، نقاط ضعف نرم افزار را شناسايي مي كند.كه شامل جنبه هاي سيستمي نيز مي شود كه قرار است نرم افزار در آنجا كار كند.  براي مثال حتي اگر هيچ اشكالي در برنامه موجود نباشد، ممكن است عيب و نقص در نرم افزار كشف شود . به عبارت ديگر، اشكال زدايي ، مشخصات از پيش تعيين شده را ارضاء ميكند در حاليكه آزمون ، شرايطي را شناسايي مي كند كه براي كاربران ايجاد مشكل ميكند.  </vt:lpstr>
      <vt:lpstr>تفاوت آزمون نرم افزار با اشكال زدايي نرم افزار (ادامه): </vt:lpstr>
      <vt:lpstr>چرخه آزمون نرم افزار: اگرچه فرايند آزمون در سازمان هاي مختلف متفاوت است، اما آزمون نرم افزار داراي چرخه زير است:  • تحليل نيازها : فرايند آزمون بايد در فاز تحليل نيازهاي چرخه زندگي نرم افزار انجام پذيرد.  • تحليل طراحي : در طي فاز طراحي، آزمون كنندگان با طراحان همكاري مي كنند تا مشخص شود كه كدام قسمت از طراحي قابل آزمون است و در هنگام آزمون از كدام پارامترها بايد استفاده شود.  • طراحي آزمون : در اين مرحله استراتژي آزمون مشخص ميشود.  • اجراي آزمون : آزمون كنندگان نرم افزار را اجرا كرده و آزمون مي كنند و هرگونه خطا را به تيم توسعه دهنده گزارش ميكنند.  • گزارش آزمون : بعد از اينكه فرايند آزمون تكميل شد، آزمون كنندگان نتايج بدست آمده را درقالب يك گزارش تهيه مي كنند و مشخص مي شود كه آيا نرم افزار قابل استفاده است يا خير. </vt:lpstr>
      <vt:lpstr>آزمون نرم افزار در کدام مرحله فرآیند یا چرخه توسعه نرم افزار قرار دارد؟  همانطور که در شکل پایین نشان داده شده است، مرحله چهارم، قبل از نگهداری، متعلق به فرآیند آزمون نرم افزار است، یعنی دقیقا بخش آخر تولید نرم افزار مربوط به آزمون خواهد بود. البته این بدان معنا نیست که همزمان با مراحلی مثل طراحی و کد و دیگر موارد، آزمون نرم افزاری صورت نمی گیرد، خیر، در میان این فرآیندها آزمون هایی صورت می گیرد، ولی در مقیاس کوچکتر .  اما هدف از نمایش این تصویر در وهله اول اهمیت آزمون نرم افزار به عنوان یکی از فرآیندهای اصلی توسعه نرم افزار و در وهله دوم نقش آن به عنوان یک خاتمه دهنده تاثیرگذار است. </vt:lpstr>
      <vt:lpstr>چه زمانی تست شروع می‌شود؟  در طول چرخه عمر توسعه نرم افزار که به آن SDLC(Software Development Life Cycle) گفته می‌شود، تست آغاز شده و تا استقرار نرم افزار به طول می‌انجامد. با این حال تمامی این تست‌ها بستگی به مدل توسعه‌ای دارد که شرکت‌ها انجام می‌دهند. به طور مثال در مدل آبشاری، تست در مرحله تولید نرم افزار انجام می‌شود اما در مدل افزایشی، تست در پایان هر افزایش یا تغییر، تکرار می‌شود و در پایان تولید نرم افزار هم دوباره تست انجام می‌شود. در هر مرحله از SDLC ، تجزیه و تحلیل و تاییدیه‌های مورد نیاز نیز برای تست در نظر گرفته می‌شود. بررسی طراحی در مرحله طراحی محصول نیز به قصد بهبود طراحی در حوزه تست نیز در نظر گرفته می‌شود. انجام تست توسط یک توسعه دهنده پس از اتمام کد نیز به عنوان تست واحد (Unit Test) طبقه بندی می‌شود.  </vt:lpstr>
      <vt:lpstr>انجام تست در طولSDLC  مزایای زیر را در بر دارد:   ۱- کاهش زمان تولید ۲- کاهش هزینه ها ۳- کاهش زمان دوباره کاری‌ها ۴- کاهش خطاهای نرم افزاری ۵- افزایش بازدهی ۶- افزایش کیفیت نرم افزار ۷- تحویل به موقع پروژه به کارفرما ۸- افزایش رضایت مشتری</vt:lpstr>
      <vt:lpstr>چه زمانی تست پایان می‌یابد؟  بر خلاف آنکه می‌دانیم چه زمانی تست را آغاز کنیم، تعیین زمان پایان تست بسیار دشوار است. تست فرآیندی بی پایان می‌باشد و تعیین زمانی برای توقف آن بسیار دشوار است و نمی‌توان با اطمینان گفت که نرم افزار تولیدی ۱۰۰% تست شده است.</vt:lpstr>
      <vt:lpstr>مواردی که نبایستی برای تست درنظر گرفته شود:  ۱- تعیین مهلت تست ۲- اطمینان از کامل بودن تست </vt:lpstr>
      <vt:lpstr> برای چه تست کنیم؟ برنامه نویس یک خطایی را انجام می‌دهد که منجر به یک شکست در کد منبع نرم افزار می‌شود. اگر این خطا کامپایل و اجرا شود، در موقعیت‌های خاصی سیستم نتایج نادرستی تولید می‌کند که منجر به شکست می‌شود. لزوماً همه خطاها منجر به شکست نمی‌شوند! برای مثال خطاها در کدهایی که برنامه هرگز به اجرای آنها نمی‌رسد، هرگز منجر به شکست نخواهد شد. یک خطا زمانی منجر به شکست می‌شود، که محیط تغییر می‌کند. مثالی از این تغییرات در محیط شامل:  نرم افزارهایی هستند که در یک پلتفرم جدید سخت افزاری یا نرم افزاری، یا تغییرات در داده‌های منبع، یا تعاملات با نرم افزارهای متفاوت اجرا می‌شوند.</vt:lpstr>
      <vt:lpstr>شکست (Failure): ناتوانی آشکار یک برنامه در انجام عملکرد مورد انتظار است به عنوان مثال نقص سیستم که به علت خروجی اشتباه به وجود آمده است یا محدودیت فضا و زمان برآورده نشده و یا یک پایان غیر طبیعی برای برنامه است.  گسل (Fault): شرایطی که باعث شود نرم افزار در اجرای دستور مورد نیازش دچار شکست شود. نقص استاتیک در نرم افزار را Fault  گویند. به عبارت دیگر میتوان گفت علت شکست، گسل است. </vt:lpstr>
      <vt:lpstr>خطا(error) : عبارت است از کارهایی که منجر به نتیجه اشتباه یا نادرست می شوند.به عبارت دیگر هنگامی که یک گسل اتفاق می افد در ابتدا باعث میشود که برنامه وارد یک حالت ناپایدار شود که خطا نامیده می شود.  فرایند ظهور شکست به شکل زیر است.    که می تواند به شکل بازگشتی تکرار شود.</vt:lpstr>
      <vt:lpstr>نقص(Defect) : ناشی از ابزار است و معمولا به مشکلاتی اشاره می کند که در محصولات نرم افزاری است و ضرورتا به این معنی نیست که در کد bug وجود دارد بلکه می تواند تابعی باشد که اجرا نشده است اما در ابزار نرم افزار تعریف شده است.  اشکال(Bug): اشکال نوعی خطا یا اشتباه در اجرای نرم افزار است که موجب نتایج اشتباه یا اجرا نشدن نرم افزار می شود. علت این اشکالات می تواند اشتباه در هنگام برنامه نویسی و خطای سهوی و عمدی باشد. شرکتهای سازنده نرم افزارها برای حل این مشکل قبل از ارایه نسخه نهایی، نسخه های تحت عنوان آلفا یا بتا انتشار می دهند تا افرادی آن ها را بررسی کنند و این اشکال ها را گزارش دهند.</vt:lpstr>
      <vt:lpstr>خطر(Risk) : یک اتفاق غیر قطعی است که احتمال وقوع و آسیب رسانی دارد. تعریف مدیریت ریسک یک مساله مهم و نگران کننده در هر پروژه نرم افزاری است و انواع مختلفی دارد:  ریسک در زمانبندی: زمانبندی پروژه، زمانی دچار لغزش می شود که وظایف پروژه به خوبی مشخص نشده باشد. ریسک در زمانبند اساسا در پروژه و در نهایت بر اقتصاد شرکت اثر می گذارد و منجر به شکست پروژه می شود.  ریسک بودجه: عبارت است از تخمین اشتباه بودجه، افزایش هزینه و توسعه پروژه  ریسک عملیاتی: این ریسک منجر به پیاده سازی پروسه نامناسب، شکست سیستم با ریسک های خارجی میشود.  ریسک تکنیکی: این ریسک منجر به شکست کارایی و عملکرد می شود.</vt:lpstr>
      <vt:lpstr>مورد آزمون (test case) چیست؟  مورد آزمون یکی از مباحث مهم در مهندسی نرم افزار می باشد. در زیر سه تعریف از مورد آزمون آمده است:  تعریف 1 : مجموعه ای از ورودی ها، شرایط اجرا و نتایج مورد انتظار می باشد که از آن به منظور تست و آزمون یک هدف خاص مثلا اجرای یک برنامه بخصوص و یا بررسی انطباق یک برنامه با یکسری نیاز های خاص استفاده می شود .   </vt:lpstr>
      <vt:lpstr>مورد آزمون (test case) چیست؟ (ادامه)  تعریف 2 : یک مورد آزمون یا test case یک خلاصه وضعیتی از بعضی از چیزهایی با مواردی هست که باید تست شوند. به عنوان مثال اگر شما در حال آزمایش یک تابع ریشه دوم باشید، یک ایده برای این آزمون" تست اعداد کمتر از صفر" خواهد بود. در واقع ایده ای برای بررسی اینکه آیا یک دسته کد یک مورد خطا ایجاد می کند یا نه؟  تعریف 3: مورد آزمون ها شامل ورودی هایی خاص یا روشهایی هستند که شما برای تست یک نرم افزار بکار می برید.</vt:lpstr>
      <vt:lpstr>مورد آزمون (test case) چیست؟ (ادامه)  یکی از چالش برانگیزترین انتظارات در تست نرم افزار طراحی یک test case خوب است که یک هنر پیچیده ای بحساب می آید. یک مورد آزمون خوب را از راه های گوناگونی می توان ایجاد کرد و به اصطلاح میلیونها راه برای ایجاد آن وجود دارد. با این مقدمه مشخصات کلی برای ایجاد یک مورد آزمون خوب در ادامه آمده است:  الف- قابلیت نگهداری داشته باشد  ب- تکرار پذیر باشد ج- قابل رد یابی باشد  د- موثر باشد ه- بوسیله تسترهای دیگر قابل اجرا باشد و- قابل اطمینان باشد</vt:lpstr>
      <vt:lpstr>خروجی مورد انتظار:  روش های گوناگونی در جهت تست یک محصول نرم افزاری وجود دارد و هر نوع از این تست ها برای بررسی یک جز خاص از نرم افزار مورد استفاده قرار می گیرند . در حالت کلی باید بیان کرد که زمانی که از یک نوع تست استفاده می کنیم و برای آن یک test case در نظر می گیریم، با توجه به طراحی نرم افزار انتظار داریم که خروجی تست با خروجی مد نظر ما یکی باشد تا بنا را بر صحت محصول نرم افزاری بگذاریم . در واقع این خروجی مورد انتظار بر اساس طراحی های انجام شده در نظر گرفته شده است و انتظار می رود که محصول با نشان دادن خروجی مورد انتظار، درستی خود را تایید کند .</vt:lpstr>
      <vt:lpstr>مفهوم تست کامل  تست کامل به معنی بررسی تمام و کمال محصول است .این تست تا زمانی که تمام اشکالات بر طرف شوند ادامه می یابد . تست کامل در معانی زیر نیز به کار می رود :  1) تکمیل کشف هر اشکالی در محصول  2)  بررسی کامل هر جنبه از محصول  3) تکمیل آزمایش که فکر می کنید مفید و مقرون به صرفه برای انجام در این زمان است.   4) اهداف بیان شده در پروژه به طور کامل بر آورده شود.   5) تکمیل توافق آزمون</vt:lpstr>
      <vt:lpstr>اصول اساسی تست نرم افزار:  طراحی نرم افزار بدون رعایت اصول مهندسی نرم افزارهمانند ساخت خانه بدون نقشه استاندارد و مهندسی شده است! متاسفانه در بسیاری از شرکت‌های تولید کننده نرم افزار جهت تولید محصولات نرم افزاری اصول مهندسی را رعایت نمی‌کنند ویا تعدادی از مراحل مخصوصا مرحله تست را از چرخه تولید نرم افزار خارج می‌کنند. این امر باعث کاهش قیمت تولیدی نرم افزار می‌شود اما هزینه پشتیبانی و نگهداری آن را چندین برابر می‌کند. چراکه بسیاری از ایرادهای برنامه در مرحله تست برطرف نمی‌شوند.  </vt:lpstr>
      <vt:lpstr>اصول اساسی تست نرم افزار (ادامه):  مهندس نرم افزار پیش از اعمال روش‌ها در خصوص موارد تست، بایستی اصول اساسی که تست نرم افزار را هدایت می‌کند، درک کند. مجموعه‌ای از این اصول عبارتند از:  1. تست با توجه به نیازمندی‌های کاربر 2. برنامه ریزی قبل از اجرا 3. قانون پارتو 4. شروع تست از اجزای کوچک  5. تست کامل ممکن نیست 6. انجام تست توسط شخص ثالث بی‌طرف 7. تست‌های اولیه و متناوب 8. کوهی از خطاها 9. ازبین رفتن ردپا 10. وابستگی تست به محتوا 11. تست جعبه سفید: بررسی منطق درونی نرم‌افزار</vt:lpstr>
      <vt:lpstr> تست با توجه به نیازمندی‌های کاربر:  همان‌طور که می‌دانید شناسایی نیازمندی‌های کاربر اولین گام چرخه تولید نرم افزار می‌باشد. این نیازها طی یک کار تیمی و روش‌های متفاوت با مشارکت مشتریان یا کاربران و توسعه دهندگان شناسایی می‌شوند. سپس نیازهای عمومی، ضروری، اولویت بالا و حداقل نیازها مشخص می‌گردد. پس از شناخت نیازمندی‌ها، تست‌ها بایستی تاحد خواسته‌های مشتری قابل ردیابی باشند.  برنامه ریزی قبل از اجرا:  پس از شناخت نیازمندی‌ها و مشخص کردن آن‌ها، برای هر بخش نوشتن برنامه تست (test plan) ضروری است. همه تست‌ها را می‌توان پیش از تولید هرگونه کد، برنامه ریزی و طراحی کرد. </vt:lpstr>
      <vt:lpstr> قانون پارتو:  این قانون بدین معنا است که در هرچیزی، میزان اندکی (۲۰ درصد) دارای اهمیت حیاتی و بسیاری (۸۰ درصد) کم اهمیت و یا دارای اهمیت ناچیز است. مدیران پروژه‌ها می‌دانند که ۲۰ درصد کار (اولین ۱۰ درصد و آخرین ۱۰ درصد) ۸۰ درصد زمان و منابع را مصرف می‌کند بنابراین با تمرکز برآن ۲۰ درصد، ۸۰ درصد نتایج را می‌توان تولید کرد. تست هم از این قاعده مستثنی نیست! یعنی ۸۰ درصد خطاهای کشف نشده در ۲۰ درصد کد است. یا به عبارتی ۲۰ درصد نواقص باعث ۸۰ درصد مشکلات می‌شوند. این اصل به عنوان یک یادآوری روزانه می‌تواند درخدمت ما باشد و به ما بگوید که زمان و انرژی خود را بر آنچه که واقعا مهم است، متمرکز کنیم.  </vt:lpstr>
      <vt:lpstr>شروع تست از اجزای کوچک:  تست باید از اجزای کوچک شروع شده و به ابعاد بزرگتر گسترش یابد. اولین تست‌ها بر روی هر یک از مولفه‌ها انجام می‌شوند. با پیشرفت تست، خطاهای مجموعه‌ای از مولفه‌های مجتمع و سپس کل برنامه یافت می‌شود.  تست کامل   ممکن نیست:  تعداد مسیرهای ممکن برای تست برنامه زیاد است. لذا اجرای هر ترکیبی از مسیرها امکان پذیر نیست. ولی این امکان وجود دارد که برنامه را در حد کفایت پوشش دهیم. غیرممکن است که بتوان یک برنامه را به طور کامل تست کرد. رعایت اصول تست نرم افزار باعث افزایش زمان تولید و بهره مندی از متخصصین مرتبط در آن زمینه و افزایش هزینه تولید نرم افزار می‌شود اما با در نظر گرفتن کاهش چشمگیر هزینه‌های پشتیبانی و توسعه، نرم افزار تولید شده بسیار مقرون به صرفه تر خواهد بود!</vt:lpstr>
      <vt:lpstr> انجام تست توسط شخص ثالث بی‌طرف   برای موثر بودن بایستی تست توسط شخص ثالث بی‌طرف انجام شود. منظور از موثربودن این است که خطاها را با احتمال بیشتری پیدا کنیم. به دلایلی که در بخش‌های بعدی ذکر می‌کنیم، مهندس نرم‌افزاری که سیستم را برنامه نویسی کرده است، بهترین کسی نیست که باید همه تست‌ها را انجام دهد. بنابراین برنامه نویس بایستی از تست‌های مختلف برنامه خود اجتناب کند.</vt:lpstr>
      <vt:lpstr>تست‌های اولیه و متناوب   تست در همان ابتدای کار آغاز شده و در طول چرخه حیات نرم‌افزار ادامه یافته و به صورت متناوب تکرار می‌شود. تست‌های اولیه کمک می‌کنند تا در مراحل اولیه از فرآیند توسعه نرم‌افزار، خطاها تشخیص داده شده و تصحیح آنها به سادگی انجام شود. این تست‌ها باعث کاهش هزینه می‌گردند. این نکته قابل ذکر است که تکرار تست و تناوب آن در طول تولید برنامه بایستی گسترش پیدا کند.</vt:lpstr>
      <vt:lpstr>کوهی از خطاها:   در پروژه‌های تست، خطاها توزیع نمی‌شوند! در جایی از برنامه که خطا کشف می‌شود این احتمال که خطاهای بیشتری را بتوان پیدا کرد بیشتر است. احتمال اینکه اشکالات بیشتری در قسمتی از برنامه کشف شود متناسب با تعداد اشکالات کشف شده قبلی در آن بخش از برنامه است. به عبارت دیگر هر چه در ماژولی از برنامه خطاهای بیشتری پیدا کنید، احتمال وجود خطاهای دیگر در آن ماژول بیشتر است. </vt:lpstr>
      <vt:lpstr>ازبین رفتن ردپا:   در طول زمان ردپای تست از بین می‌رود. به عبارتی برنامه پس از مدتی در برابر تست‌های تکراری مقاوم خواهد شد. اگر test case ها را فقط تکرار می‌کنید، آنها نمی‌توانند خطاهای جدید را کشف کنند. خطاها با بروز رسانی بخش‌هایی از برنامه و در توابع تست نشده کشف می‌شوند. به منظور جلوگیری از این اثر، test case ها بایستی در طول زمان به روز رسانی کنید.  وابستگی تست به محتوا:  هیچ دو سیستمی یکسان نیستند که شما بتوانید یک تست را به یک شیوه برای هردوی آن‌ها اجرا کنید. تعریف معیارهای ورودی، خروجی و …. بایستی برای هر برنامه با توجه به محتوای تست تعریف شود. به طور مثال تست وب سایت‌ها بسیار متفاوت از تست سیستم‌های بانکی می‌باشد.</vt:lpstr>
      <vt:lpstr>PowerPoint Presentation</vt:lpstr>
      <vt:lpstr>   در شرکتی که فعالیت می‌کنید، آیا تست نرم‌افزار را در نظر گرفته‌اند؟ اگر به صورت مستقل در حال نوشتن برنامه‌ای هستید، تست را در نظر گرفته‌اید؟ شرکت‌ها چه زمانی را برای تست برنامه ریزی می‌کنند؟ در پایان پروژه‌ها؟ در محیط عملیاتی مشتری؟ یا ابتدای کار؟ تست از همان ابتدای پروژه شروع می‌شود. بدین ترتیب که از فاز تحلیل، استراتژی تست تعیین می‌شود. بر اساس این استراتژی برنامه‌های تست  اولیه طراحی شده و انواع تست مشخص می‌شود. سپس تست آغاز شده و تا هنگامی‌که برنامه در محیط مشتری استقرار یابد، ادامه پیدا می‌کند. بنابراین تست در همه مراحل توسعه نرم‌افزار، همراه شما خواهد بود. به‌عبارتی می‌توان گفت استراتژی تست نرم‌افزار یک توصیف رسمی از این است که نرم‌افزار چگونه تست خواهد شد. </vt:lpstr>
      <vt:lpstr>هدف استراتژی تست   هدف استراتژی تست تعریف همه مراحل برای فرآیند تست نرم‌افزار است که شامل:  - برنامه‌ریزی تست  - طراحی ابزار تست  - اجرای تست  - جمع آوری  - ارزیابی   داده‌های به‌دست آمده باشد. </vt:lpstr>
      <vt:lpstr>مطرح‌ترین استراتژی‌های تست نرم‌افزار  همان‌طور که می‌دانید از مطرح‌ترین استراتژی‌های تست نرم‌افزار می‌توان به موارد زیر اشاره کرد:  جعبه سفید  جعبه سیاه  جعبه خاکستری  این تست‌ها عموما در قالب تست نفوذپذیری مطرح می‌گردند، همان‌طور که از نامش پیداست تمام توان در این تست‌ها برای پیداکردن حفره‌ها و عیوب سیستم به‌کار گرفته می‌شود. در ادامه به طور مفصل در زمینه سه روش اشاره شده بحث می‌کنیم. اما پیش از این لازم است بدانیم که تفاوت روش‌های مطرح شده در میزان اطلاعاتی – مربوط به نرم‌افزاری- است که در اختیار تستر قرار می‌گیرد</vt:lpstr>
      <vt:lpstr>استراتژی تست جعبه سفید  نام جعبه سفید این استراتژی به نوعی نمادین می‌باشد، فقط در جهت هماهنگی با جعبه سیاه و حس تضاد به چنین اسمی معروف است، در غیر این‌صورت باید آن را جعبه شفاف یا شیشه‌ای  نامید. این استراتژی یکی از روش‌های برجسته طراحی موارد تست یا آزمون نرم‌افزار است که هدف اصلی آن بررسی منطق درونی نرم‌افزار است. در واقع طی این تست روال منطقی برنامه دنبال خواهد شد. در استراتژی جعبه سفید جزئیات نرم‌افزار مانند کدهای منبع، مستندات طراحی و… را درون یک جعبه شیشه‌ای گذاشته‌ایم، بدین‌صورت که می‌توان محتویات داخل آن را مشاهده و از نحوه عملکرد آن آگاه شد.  افرادی که این استراتژی را پیاده سازی می‌کنند معمولا اعضای تیم توسعه و تیم مستقل تست هستند. این افراد توسط این استراتژی به منطق درونی و ساختار طراحی و کدنویسی نرم‌افزار احاطه خواهند داشت. وقتی از مستندات و جزئیات دقیق یک محصول نرم‌افزاری آگاه باشیم، قاعدتا از نحوه پیاده سازی آن هم آگاه خواهیم بود. بنابراین فرد یا تیم مورد نظر با آگاهی کامل از ریز جزئیات نرم‌افزار به بررسی آن می‌پردازد.</vt:lpstr>
      <vt:lpstr>PowerPoint Presentation</vt:lpstr>
      <vt:lpstr>هدف از تست جعبه سفید:  اهدافی که از این استراتژی دنبال می‌شوند عبارتند از:    1) بررسی حفره‌های امنیتی   2)  بررسی مسیرهای مسدود یا ناقص   3)  بررسی ساختار پیاده‌سازی شده با مستندات تهیه شده   4)  بررسی خروجی‌های مورد انتظار   5)  بررسی تمامی حلقه‌ها و شروط آن‌ها   6)  بررسی خط به خط کد برنامه و یا هر بخشی از آن و پوشش تست ۱۰۰ درصد   7)  و بالاتر و برتر از همه این اهداف، می‌توان گفت بررسی مراحل در چرخه توسعه تست نرم افزار  که اشاره به تست واحد ، تست یکپارچه‌سازی  و تست سیستم  داشت. </vt:lpstr>
      <vt:lpstr>اعمالی که در این استراتژی انجام می‌شود:  ۱- بررسی سطر به سطر کد :  بررسی خطوط کد، به‌صورت خط به خط و جزء به جزء، به ‌صورتی‌که خطوط کد و مسیرهای مستقل داخل یک پیمانه حداقل یک بار اجرا و تست شوند.  ۲- بررسی همه انشعاب‌ها  :  در کد برنامه باید تمام عبارت‌های شرطی ( if else ها و Switch case ها) را تک به تک مورد بررسی قرار داد. در یک عبارت if else هم قسمت if و هم قسمت else هر کدام به‌صورت مجزا یک بار اجراء شوند. حتی else هایی که شاید هیچ‌گاه اجرا نشوند را تست می‌کنیم. </vt:lpstr>
      <vt:lpstr>اعمالی که در این استراتژی انجام می‌شود (ادامه):  ۳- بررسی همه حلقه‌ها: حلقه‌ها در نرم‌افزار نقش اساسی دارند، چون می‌توانند با اشتباه جزئی مقدار زیادی از منابع را مصرف کنند. برای مثال شرط خروج از حلقه به اشتباه هیچ وقت True نشود! برای مثال حلقه‌ها را با ورودی بزرگتر از شرط خروج حلقه چک کنید یعنی حلقه اصلا اجر نشود. تستی طراحی کنید که حلقه دقیقا یک بار اجراء شود، تستی طراحی کنید که حلقه در یک بازه خاص اجراء شود و ….  همه حلقه‌ها باید تست شوند، زیرا می‌دانیم که حلقه‌ها نقش تاثیرگذاری در برنامه، خصوصا در بخش حافظه ایفا می‌کنند. بنابراین بررسی روند کارکرد و فضای مصرفی آنها لازم به‌نظر می‌رسد. </vt:lpstr>
      <vt:lpstr>اعمالی که در این استراتژی انجام می‌شود (ادامه):  ۴- از تمامی ساختارهای اطلاعاتی داخلی در جهت تضمین اعتبار نرم‌افزار استفاده کنیم. ۵- مدیریت خطای مطلوب : بررسی اینکه اگر به یک متد یک ورودی نامعتبر وارد شود، نحوه آگاه سازی و نمایش مطلوب خطا برای کاربر چگونه باشد؟ ۶- بررسی امنیت : سیستم را از این جهت که چگونه در برابر دسترسی‌های غیرمجاز، هک، کرک و هر چیز دیگر که می‌تواند به آن آسیب برساند مورد بررسی قرار می‌دهد. در این‌جا ما باید مکان‌هایی از کد که داده‌ها را اعتبارسنجی و مدیریت می‌کنند، دسترسی به منابع یا عملیات مهم و حیاتی را انجام می‌دهند را بررسی کنیم.  </vt:lpstr>
      <vt:lpstr>روش‌های مختلف تست در استراتژی جعبه سفید  برای موارد بالا و مواردی دیگری که ذکر نشد روش‌های مختلف تست در استراتژی جعبه سفید وجود دارد که عبارتند از:</vt:lpstr>
      <vt:lpstr>مزایای تست جعبه سفید عبارتند از:      برای شروع این تست نیازی به GUI ندارید و می‌توانید به راحتی تست کنید.     تمامی مسیرها در کد تست می‌شوند، بنابراین می‌توان گفت به پوشش تست تقریبا کاملی می‌رسید. تستر می‌تواند در مورد اجرای هر کد برنامه، از برنامه نویس سوالات خود را مطرح کند. آگاهی از نحوه کارکردن کدهای برنامه باعث می‌شود خطاها راحت‌تر یافت شوند.     تستر مانند دستگاهی است که از بیرون به ساختاردرونی کد آگاهی کامل دارد. بنابراین نحوه ورود داده‌ها را شناسایی کرده و درعملکرد سیستم تاثیر مطلوب دارد.     بهینه سازی کد برنامه به‌واسطه تستر بهتر می‌شود.</vt:lpstr>
      <vt:lpstr>معایب تست جعبه سفیدعبارتند از:    تسلط بر انجام تست در این بخش الزامی است. بنابراین تستر بایستی از دانش برنامه نویسی خوبی برخوردار باشد تا ساختار داخلی کد برنامه را شناخته و تست‌های متفاوتی انجام دهد. برنامه در طول چرخه تولید، مداوم به روز رسانی می‌شود. با هر تغییر برنامه ، اسکریپت‌های تست تغییر می‌کنند. تغییر اسکریپت‌ها کاری هزینه بر است.     تست‌های بزرگ و زیاد روی برنامه بدین معنا نمی‌باشد که تست کامل صورت گرفته است این تست بسیار هزینه بر از تست‌های دیگر است. </vt:lpstr>
      <vt:lpstr>تست جعبه سیاه: وقتی‌که از ساختار داخلی بی خبرید!  شما نرم‌افزاری را تهیه کرده و بر روی سیستم خود نصب می‌کنید، در اکثر موارد بعد از نصب برنامه فقط یک نسخه اجرایی آن را در سیستم خود خواهید داشت، هیچ دسترسی به سورس کد و منابع دیگر برنامه ندارید. سیستم نرم‌افزاری موجود برای شما مانند یک جعبه سیاه است که شما نمی‌توانید درون آن را مشاهده کنید و به آن دسترسی داشته باشید.  </vt:lpstr>
      <vt:lpstr>تست جعبه سیاه: وقتی‌که از ساختار داخلی بی خبرید! (ادامه)  استراتژی تست جعبه سیاه  دقیقاً با این دیدگاه که شما هیچ اطلاعاتی از کد و طراحی داخلی برنامه ندارید آزمون را انجام می دهد.  هیچ اطلاعاتی از کد و طراحی برنامه در اختیار ما نیست، پس چگونه می‌توان به صحت عملکرد برنامه پی برد؟ جواب خیلی ساده است، با تمرکز بر ورودی‌ها و خروجی‌ها، برای این کار تستر به مستندات نرم‌افزار مراجعه می‌کند تا مشخص کند که سیستم در مقابل یک عمل خاص چه پاسخی را باید بدهد. سپس داده‌هایی را برای هر کدام از عملیات انتخاب می‌کند و رفتار سیستم را در مقابل آن داده‌ها با رفتار واقعی سیستم که در مستندات وجود دارد مقایسه و بررسی می‌کند. این تست جایگزین تست جعبه سفید نمی‌باشد بلکه مکمل آن است وخطاهایی متفاوت با آن را تست می‌کند. </vt:lpstr>
      <vt:lpstr>تست جعبه سیاه: وقتی‌که از ساختار داخلی بی خبرید! (ادامه)  مزایای استفاده از این روش عبارتند از:  - سریع و ارزان است. - به سطح مهارت کمتری نسبت به استراتژی جعبه سفید نیاز دارد. - تعداد زیادی از تسترهای متخصص در این حوزه در دسترس هستند. - در این روش معمولا کدی تست می‌شود که به‌کار گرفته شده است.</vt:lpstr>
      <vt:lpstr>تست جعبه سیاه: وقتی‌که از ساختار داخلی بی خبرید! (ادامه)  ۱- بررسی اینکه سیستم نیازمندی‌های عملیاتی و غیرعملیاتی را تامین می‌کند یا نه؟ ۲- اعتبارسنجی ورودی‌ها ۳- بررسی مقادیر مرزی برای متغیرها: به یک متغیر مقداری کمتر از حداقل مقداری که می‌تواند قبول کند یا بیشتر از حداکثر مقداری که می‌تواند قبول کند می‌دهیم و سیستم را در این شرایط تست می‌کنیم. ۴- بررسی خروجی‌های سیستم: یک مجموعه از ورودی‌های صحیح با خروجی‌های مربوط به آن را تهیه می‌کنیم و سپس ورودی‌ها را به سیستم وارد می‌کنیم و خروجی‌هایی که توسط سیستم داده می‌شود را با خروجی‌های واقعی مقایسه می کنیم. ۵- بررسی رفتار سیستم در برابر پردازش ورودها و پرس و جوهای بزرگ و سنگین</vt:lpstr>
      <vt:lpstr> Functional testing  Stress testing   Recovery Testing  Volume testing  User Acceptance testing  System testing   Sanity or Smoke testing   Load testing   Usability testing   Exploratory testing   Ad-hoc Testing   Alpha testing   Beta testing</vt:lpstr>
      <vt:lpstr>تست جعبه سیاه: وقتی‌که از ساختار داخلی بی خبرید! (ادامه)  آیا می‌توان در تست جعبه سیاه مطمئن شد که سیستم به طور کامل تست شده است؟ خیر، هرگز در این تست نمی‌توان مطمئن شد که سیستم به طور کامل تست شده است. پس همیشه در این استراتژی مسیرهایی خواهند بود که تست نمی‌شوند و همیشه برنامه با داده‌های ورودی محدود می‌تواند تست شود. پس از تعیین خطای برنامه می‌توان با استفاده از تست جعبه سفید، کد برنامه را بررسی کرد تا اینکه عامل خطا در داخل کد برنامه مشخص شود. بنابراین تست جعبه سیاه و جعبه سفید مکمل هم بوده و به عبارتی جدایی ناپذیرند.</vt:lpstr>
      <vt:lpstr>تست جعبه خاکستری : ترکیب تست جعبه سفید و سیاه  تست جعبه خاکستری روشی برای تست نرم‌افزار است که با آگاهی کم از فعالیت‌های داخلی برنامه انجام می‌گیرد. این تست ترکیبی از تست جعبه سفید و سیاه است. همان‌طور که می‌دانید تستر در استراتژی جعبه سیاه از ساختار داخلی  برنامه اطلاعی نداشته و در مقابل در استراتژی جعبه سفید آگاهی کامل ازساختار داخلی دارد. اما در استراتژی جعبه خاکستری تستر تا حدودی از ساختار داخلی برنامه آگاه بوده که این شامل دسترسی به ساختارداده‌های داخلی و الگوریتم‌ها در جهت طراحی تست کیس‌ها  است. علت نام‌گذاری این روش آن است که تستر برنامه را مانند جعبه‌ای نیمه شفاف و خاکستری رنگ تصور می‌کند که تا حدودی ساختار داخلی برنامه را از بیرون می‌بیند.</vt:lpstr>
      <vt:lpstr>تست جعبه خاکستری : ترکیب تست جعبه سفید و سیاه (ادامه)  یک تستر جعبه خاکستری ساختار درونی برنامه را می‌شناسد و به تمامی مستندات و ساختار داده‌ها دسترسی دارد. این دسترسی او را قادر می‌سازد که به خوبی از الگوریتم‌ها استفاده کرده و آنها را ترکیب کند تا  Test Case های بهتری را طراحی کند.</vt:lpstr>
      <vt:lpstr>تست جعبه خاکستری : ترکیب تست جعبه سفید و سیاه (ادامه)  مزایای: - ترکیب روش‌ها: این تست ترکیبی از دو روش جعبه سفید و سیاه است، بنابراین از مزایای هر دو آن‌ها می‌توان استفاده کرد. - غیر نفوذی: این تست که بر پایه تست عملکردی است، با آگاهی از معماری، ساختار درونی و الگوریتم‌های به کار رفته در برنامه، توانایی تغییر در کدهای برنامه را داشته تا از حملات مختلف جلوگیری کرده و برنامه را ایمن کند. - طراحی تست‌های هوشمند: با داشتن مستندات طراحی، ساختار پایگاه داده و ساختار برنامه و با این اساس که اطلاعات محدودی که دردسترس تستر است، می‌تواند سناریوهای تست هوشمند بسیار عالی طراحی کند به ویژه در پروتکل‌های ارتباطی و نوع داده‌هایی که در برنامه استفاده می‌شود. - جلوگیری از تست‌های غیر مرتبط: به‌رغم تمامی مزایای فوق و ویژگی‌هایی که بیان شد، این تست مرز بین تستر و برنامه نویس را نگه داشته و تست‌هایی که مختص برنامه نویس می‌باشد را انجام نمی‌دهد. - این تست از نقطه نظر کاربر انجام می‌شود نه از دیدگاه طراح !</vt:lpstr>
      <vt:lpstr>مبانی آزمون نرم افزار  انواع آزمون</vt:lpstr>
      <vt:lpstr>انواع تست: یکی از مهمترین مراحل تولید نرم افزار، فاز تست و رفع اشکال سیستم است که در تمام متدهای تولید سیستم‌های نرم‌افزاری از جمله RUP برای آن روش مدونی در نظر گرفته شده است.  تعریف تست یک نرم‌افزار را می‌توان فرآیندی جهت کشف خطاهای کشف نشده نرم‌افزار در جهت مرتفع نمودن آن‌ها عنوان نمود. انواع مختلف تست نرم‌افزار عبارتند از تست کارایی، تست استرس، تست اکتشافی، تست تطبیق پذیری با محیط، تست امنیت و ... </vt:lpstr>
      <vt:lpstr>تست کارایی (performance):  در این نوع تست، نرم‌افزار از نظر درستی کارایی بررسی شده و کامپوننت‌ها و فرآیندها تست می‌شوند. این استراتژی با تست کدهای نرم‌افزاری و ساختمان داخلی آن سر و کار دارد. در این روش، کدها باید به گونه‌ای اجرا و بررسی شوند که مطمئن شویم سطر به سطر کدهای برنامه حداقل یک بار اجرا شده است. می‌توان گفت که تست‌ها طوری نوشته می‌شوند تا ببینند که آیا نرم‌افزار همان‌گونه که انتظار می‌رود عمل می‌کند یا خیر؟ معمولا تست کارایی در انتهای کار انجام می‌شود ولی می‌توان از همان ابتدای کار با تست کردن قسمت‌های کوچک مثل کامپوننت‌ها نتیجه نهایی را ساده کرد.</vt:lpstr>
      <vt:lpstr>تست کارایی (performance) (ادامه):  هم‌چنین تست کارایی می‌تواند مشکلات برنامه را پیدا کند به طور مثال: - پایگاه داده با مقدار کمی از داده‌ها اجرا نشود. - برنامه در زمان پیک، به علت بار زیاد نتواند اجرا شود. تست کارایی ارزیابی مجموعه‌های بسیار متفاوتی از مهارت‌های کاراییی و یا توانایی برنامه را انجام می‌دهد. این تست در صنعت نرم افزار بسیار شایع می‌باشد و کاستی‌ها و مشکلات عملیاتی در برنامه را قبل از اجرا شدن آن نمایش می‌دهد. </vt:lpstr>
      <vt:lpstr>تست کارایی (performance) (ادامه): معرفی ابزار:  ابزارهای تست کارایی می‌بایستی مشخصات زیر را داشته باشند: - بایستی بار بر روی سیستم در حال تست، تولید کنند. - زمان پاسخ سرور را اندازه گیری کنند. - توان اندازه گیری داشته باشند.  </vt:lpstr>
      <vt:lpstr>تست کارایی (performance) (ادامه):  معرفی ابزار:  جی میتر آپاچی (Apache Jmeter) یکی از ابزارهای تست کارایی است. جی‌میتر آپاچی به صورت متن باز  بوده که برای پلت فرم‌های جاوا به کار می‌رود. عمدتا از این ابزار به عنوان تست کارایی استفاده می‌کنند اما می‌توانید از آن در تست‌های دیگر مانند تست بار و استرس استفاده کنید.</vt:lpstr>
      <vt:lpstr>تست کارایی (performance) (ادامه): معرفی ابزار (ادامه): این ابزار تمامی بار برنامه را روی سرور یا شبکه وارد می‌کند تا کارایی آن‌ها را مورد تست قرار دهد. در انتهای تست، تجزیه و تحلیل نتیجه تست با استفاده از گزارش گیری‌های متنوع ارائه می‌شود. عناصر جی‌میتر را می‌توان در تست کارایی و تست فانکشنال به وسیله TestPlan یکپارچه کرد به این‌صورت که جی‌میتر به شما اجازه می‌دهد که با همان TestPlan فانکشنال، تست بار را هم انجام دهید. این کار انعطاف پذیری جی‌میتر را نشان می‌دهد که برای پروژه‌های تست بسیار کارآمد می‌باشد. این برنامه قابل حمل بوده و نیازی به نصب نیست.</vt:lpstr>
      <vt:lpstr>تست استرس: تست استرس یا تست فشار به ما اجازه می‌دهد که وضعیت بار نهایی که در آن عملکرد سیستم غیر قابل قبول است را تعیین کنیم. در این نوع از تست، کارایی سیستم تحت بارهای افزایشی تدریجی اندازه گیری می‌شود. این به تسترها کمک می‌کند که نقطه نهایی که سیستم در آنfail  می‌شود را تعیین کنند. بار سنگینی که می‌توان به برنامه وارد کرد می‌تواند شامل مقادیر زیر باشد: - مقادیرعددی پیچیده - مقادیر زیاد ورودی - مقادیر زیاد پرس و جو هدف از این تست، طراحی محیطی مخرب‌تر از محیطی که برنامه در دنیای واقعی و در شرایط نرمال با آن روبرو می‌شد، است.</vt:lpstr>
      <vt:lpstr>تست استرس (ادامه): معرفی ابزار: در این قسمت ابزارLoad UI  را معرفی می‌کنیم. این ابزار به صورت متن باز بوده و برای برنامه‌های تحت وب به کار می‌رود و در نوع خود انعطاف پذیرترین ابزار تست استرس است. این ابزار به شما اجازه می‌دهد در حین تست کردن، تست‌ها را بسازید، به‌روز یا پیکربندی کنید. از دیگر ویژگی‌های این ابزار گزارش‌های متنوعی است که پس از تحلیل تست، به شما ارائه می‌دهد. همچنین هنگام به‌روز رسانی نیازی نیست که برای اعمال تغییرات آن را بسته و دوباره باز کنید، بلکه به صورت خودکار به‌روز رسانی بر روی آن انجام می‌شود.</vt:lpstr>
      <vt:lpstr>تست اکتشافی: در تست اکتشافی فرض می‌شود شخصی که هیچ‌گونه دانشی در خصوص نرم‌افزار ندارد در حال کار با سیستم است و به روش‌های غیر معمول نرم‌افزار را مورد تست قرار می‌دهد. روشی جالب و قوی برای تست نرم‌افزار است. سوالی که در این جا مطرح می‌شود این است که تستر چگونه می‌تواند این تست را انجام دهد؟ تستر می‌بایستی مهارت‌هایی را برای کشف خطا داشته باشد که عبارتند از: - پرسش - مشاهده - تفکر انتقادی - تفکر جانبی - آموزش سریع - ارتباطات شفاهی و کتبی - شکار اشکالات و بررسی اشکالات</vt:lpstr>
      <vt:lpstr>تست اکتشافی (ادامه):  این تست را می‌توان از همان ابتدای طراحی تا مرحله اجرای برنامه به صورت موازی انجام داد که تاثیر زیادی در طراحی، اجرای تست و آموزش آن دارد. می‌توان گفت تست اکتشافی مانند بازی شطرنج است. بازیکن هر چقدر که مهارت داشته باشد و خوب بازی کند حرکت بعدی او بسته به حرکت حریف می‌باشد. بنابراین تستر می‌بایستی در هر مرحله، تست‌های قبلی را مطالعه کرده و نتایج را در تست بعدی به کار بندد تا خطایی  کشف شود. برای کشف بهتر از ابزار، اسناد و اسکریپت‌ها می‌توان استفاده کرد.</vt:lpstr>
      <vt:lpstr>تست رگرسیون: بعد از تغییر نرم‌افزار تست رگرسیون انجام می‌شود. تست رگرسیون تمام تست‌هایی که قبلا نرم‌افزار آن‌ها را با موفقیت انجام داده را دوباره اجرا می‌کند تا اطمینان حاصل کند که نرم‌افزار تصادفا در عملکردهای قبلی دچار خطا نشده است. بنابراین قبل از اینکه یک نسخه جدید از محصول نرم‌افزاری منتشر شود، تست‌های قدیمی را در برابر نسخه جدید اجرا کنید تا مطمئن شوید که تمام قابلیت های قدیمی هنوز هم کار می‌کنند. این تست می‌تواند در هیچ یا همه سطوح قبلی صورت گیرد و همچنین روی تست مجدد بعد از اعمال تغییرات تمرکز دارد. هدف تست رگرسیون کاهش دو ریسک می‌باشد: - تغییری که می‌باید یک خطا را از بین ‌ببرد، شکست می‌خورد. - بعضی تغییرات اثرات جانبی دارند اگر تصحیح نشود خطای قبلی باقی می‌ماند و اگر تصحیح شود خطای جدید ایجاد می‌شود.</vt:lpstr>
      <vt:lpstr>تست رگرسیون: معرفی ابزار: در این بخش ابزار سلنیوم (Selenium) را معرفی می‌کنیم. این ابزار به صورت متن باز بوده که برای برنامه‌های تحت وب خودکار استفاده می‌شود. این ابزار به صورت گسترده بر روی مرورگرها، سیستم عامل‌ها، زبان‌های برنامه نویسی محبوب مانند جاوا، سی شارپ، جاوا اسکریپت و … و فریم ورک‌ها اجرا می‌شود. تست خودکار سلنیوم مجموعه‌ای از ابزار است که توسط بسیاری از سازمان‌ها در سراسر جهان مورد استفاده قرار می‌گیرد. این مجموعه می‌تواند تست‌های زیادی مانند تست خودکار فانکشنال، تست خودکار رگرسیون، تست خودکار سازگاری با مرورگر و … را انجام دهد.  به صورت منظم تست رگرسیون را انجام دهید. تست رگرسیون در مواقع تغییر کد، رفع خطا، افزودن قابلیت جدید به برنامه انجام می‌شود. همچنین با خودکار کردن تست رگرسیون در هزینه و زمان صرفه جویی کنید. با تغییر برنامه و توسعه آن، تست هم با این تغییرات به روز شده و دوباره اجرا می‌شود. </vt:lpstr>
      <vt:lpstr>مبانی آزمون نرم افزار  فرآیند آزمون و سطوح تست</vt:lpstr>
      <vt:lpstr>فرایند تست نرم افزار  -تست نرم افزار نه یک فعالیت، بلکه یک فرایند است.   -فرایند تست شامل فعالیت های طراحی موارد آزمون (مجموعه تست)، اجرای سیستم تحت تست با استفاده از موارد آزمون و ارزیابی نتایج است.   -یک مورد آزمون، دنباله ای از فراخوانی توابع به همراه مقادیر پارامترهای لازم برای هر فراخوانی است که به این مقادیر، داده تست گفته می شود.   </vt:lpstr>
      <vt:lpstr>فرایند تست نرم افزار (ادامه) - به عنوان منبع طراحی موارد آزمون و تهیه داده تست، می توان مشخصات و یا پیاده سازی آن را در نظر گرفت.  - از آنجا که تست، یک فرایند به شدت زمان بر و هزینه بر است لازم است تا جای ممکن موارد آزمونی انتخاب کنیم که احتمال آشکارسازی خطاها را داشته باشند.  - روش های گوناگونی برای ارزیابی کامل بودن مجموعه های تست وجود دارد که ازآن جمله می توان به تحلیل پوشش اشاره کرد. برای این کار، با توجه به منبع تولید مورد آزمون معیارهایی در نظر گرفته می شود که هر چه مورد آزمون تولید شده به میزان بیشتری این معیارها را پوشش دهد بهتر است.</vt:lpstr>
      <vt:lpstr>فرایند تست نرم افزار (ادامه) وقتی موارد آزمون تولید شدند، به کمک داده تست روی سیستم تحت تست اجرا می شوند. سپس جواب سیستم (نتیجه تست) با خروجی مورد انتظار مقایسه می شود که اگر این دو با یکدیگر منطبق نباشند، وجود خطا گزارش می شود.</vt:lpstr>
      <vt:lpstr>سطوح تست نرم افزار چرخه حیات توسعه نرم افزار از فازهای متعددی تشکیل شده است که هر یک از آن ها می تواند مستعد بروز خطا باشند. به طور کلی می توان فازهای توسعه نرم افزار را به 4 دسته اصلی تقسیم کرد که عبارت اند از: 1. نیازمندی ها 2. مشخصات سیستم 3. طراحی زیرسیستم ها 4. پیاده سازی واحد ها هر یک از این دسته ها را می توان به عنوان یک سطح مجزا در نظر گرفت و آن ها را مورد بررسی و تست قرارداد. متناظر با هر سطح از توسعه نرم افزار، یک سطح تست ویژه را نشان می دهد. این سطوح تست شامل: تست واحد، تست جامعیت، تست سیستم و تست پذیرش هستند.</vt:lpstr>
      <vt:lpstr>سطوح تست نرم افزار (ادامه) </vt:lpstr>
      <vt:lpstr>سطوح تست نرم افزار-تست واحد تست واحد، به تست مجزای واحدهای برنامه اشاره دارد و توسط برنامه نویس انجام می شود. توابع، روال ها یا تابع ها نمونه هایی از واحدهای برنامه هستند. حتی در یک زبان برنامه نویسی شئ گرا، کلاس نیز یک واحد برنامه است. دو علتِ تست واحد عبارت اند از:  1. خطا مربوط به یک واحد برنامه است، بنابراین به آسانی قابل رفع است. 2. می توان بررسی کرد که هر اجرای مجزای روال های واحد برنامه، نتایج مورد نظر را تولید می کنند. اجرای مجزا، به مسیرهای مجزا در واحد برنامه اشاره دارد. ایده آل این است که تا جای ممکن مسیرهای مجزا در طول تست واحد، در نظر گرفته شوند. برای این کار، نیاز به انتخاب دقیق داده ورودی برای هر اجرای مجزا وجود دارد.</vt:lpstr>
      <vt:lpstr>سطوح تست نرم افزار-تست واحد (ادامه) برنامه نویس به شیوه زیر ملزم به تست واحد برنامه است:  1. اجرای هر خط از کد.  2. اجرای هر گزاره از واحد برنامه در هر دو حالت درست و نادرست.  3. مشاهده این که واحد برنامه، عملکرد مورد نظر را انجام می دهد و اطمینان از عدم وجودخطا در آن.</vt:lpstr>
      <vt:lpstr>تست جامعیت:  برنامه های نرم افزاری با سرعت زیادی در حال تکامل هستند و مستقل از هم نیستند؛ بلکه مجموعه ای از مؤلفه های پیچیده و به هم پیوسته را تشکیل می دهند. هرکدام از این مؤلفه ها، ممکن است از فناوری، توسعه دهنده و توپولوژی پیاده سازی مختلفی شکل گرفته باشند. تست جامعیت، برای بررسی کارکرد قسمت های مختلف برنامه (زیرسیستم ها) با یکدیگر، با قطعات سیستم و یا حتی با سیستم عامل اجرا می شود و عموماً توسط یک گروه تست صورت می گیرد.</vt:lpstr>
      <vt:lpstr>تست سیستم:  - تست سیستم، شامل تست رفتار یک محصول نرم افزاری یکپارچه، بر اساس سند مشخصات نیازمندی ها است. این تست، بر ارزیابی نیازمندی های عملیاتی و تجاری کاربر نهایی تمرکز دارد.  -  برای انجام این تست، نیازی به دانستن طراحی داخلی یا ساختار کد وجود ندارد. این تست پس از تکمیل تست جامعیت سیستم، زمانی که نیازهای عملکردی و غیر عملکردی بررسی شده اند انجام می گیرد.   -هدف از تست جامعیت، یافتن خطا بر اساس قطعات یکپارچه (جامعیت) است؛ اما تست سیستم، خطاها را بر اساس رفتار برنامه نرم افزاری، طراحی نرم افزار و انتظارات کاربر نهایی پیدا می کند.</vt:lpstr>
      <vt:lpstr>تست سیستم- اهمیت:  - در چرخه حیات توسعه نرم افزار، تست سیستم اولین سطحی از تست است که روی کل آن انجام می شود. - در این مرحله بررسی می شود که آیا سیستم نیازهای عملکردی را می پذیرد یا خیر. - تست سیستم، امکان وارسی و اعتبارسنجی معماری برنامه و نیز نیازمندی های تجاری را فراهم می کند. - سیستم در محیطی مشابه با محیطی که در نهایت در آنجا مستقر خواهد شد، تست می شود.</vt:lpstr>
      <vt:lpstr>تست سیستم- شرایط:  - تست واحد باید پایان یافته باشد.  - قطعات باید کاملاً یکپارچه شده باشند.  - مشخصات سند توسعه نرم افزار به طور کامل توسعه یافته باشد.  - محیط تست مهیا باشد.</vt:lpstr>
      <vt:lpstr>تست پذیرش:  پس از تست کامل سیستم، تست پذیرش صورت می گیرد که تأیید می کند سیستم برای در دسترس قرار گرفتن کاربر نهایی آماده است. در حقیقت، مقبول بودن سیستم برای تحویل به کاربر، در این سطح از تست مورد بررسی قرار می گیرد.</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مبانی آزمون نرم افزار</dc:title>
  <dc:creator>sajad</dc:creator>
  <cp:lastModifiedBy>Microsoft Surface</cp:lastModifiedBy>
  <cp:revision>26</cp:revision>
  <dcterms:created xsi:type="dcterms:W3CDTF">2017-09-23T15:51:43Z</dcterms:created>
  <dcterms:modified xsi:type="dcterms:W3CDTF">2025-05-24T06:18:16Z</dcterms:modified>
</cp:coreProperties>
</file>