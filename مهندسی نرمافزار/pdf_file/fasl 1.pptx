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sldIdLst>
    <p:sldId id="271" r:id="rId2"/>
    <p:sldId id="272" r:id="rId3"/>
    <p:sldId id="268" r:id="rId4"/>
    <p:sldId id="273" r:id="rId5"/>
    <p:sldId id="315" r:id="rId6"/>
    <p:sldId id="274" r:id="rId7"/>
    <p:sldId id="275" r:id="rId8"/>
    <p:sldId id="276" r:id="rId9"/>
    <p:sldId id="316" r:id="rId10"/>
    <p:sldId id="279" r:id="rId11"/>
    <p:sldId id="280" r:id="rId12"/>
    <p:sldId id="281" r:id="rId13"/>
    <p:sldId id="282" r:id="rId14"/>
    <p:sldId id="283" r:id="rId15"/>
    <p:sldId id="284" r:id="rId16"/>
    <p:sldId id="286" r:id="rId17"/>
    <p:sldId id="304" r:id="rId18"/>
    <p:sldId id="309" r:id="rId19"/>
    <p:sldId id="311" r:id="rId20"/>
    <p:sldId id="312" r:id="rId21"/>
    <p:sldId id="313" r:id="rId22"/>
    <p:sldId id="314" r:id="rId23"/>
    <p:sldId id="293" r:id="rId24"/>
    <p:sldId id="300" r:id="rId25"/>
    <p:sldId id="301" r:id="rId26"/>
    <p:sldId id="303" r:id="rId27"/>
  </p:sldIdLst>
  <p:sldSz cx="9144000" cy="6858000" type="screen4x3"/>
  <p:notesSz cx="7315200" cy="9601200"/>
  <p:defaultTextStyle>
    <a:defPPr>
      <a:defRPr lang="en-US"/>
    </a:defPPr>
    <a:lvl1pPr algn="ctr" rtl="0" fontAlgn="base">
      <a:spcBef>
        <a:spcPct val="0"/>
      </a:spcBef>
      <a:spcAft>
        <a:spcPct val="0"/>
      </a:spcAft>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1pPr>
    <a:lvl2pPr marL="457200" algn="ctr" rtl="0" fontAlgn="base">
      <a:spcBef>
        <a:spcPct val="0"/>
      </a:spcBef>
      <a:spcAft>
        <a:spcPct val="0"/>
      </a:spcAft>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2pPr>
    <a:lvl3pPr marL="914400" algn="ctr" rtl="0" fontAlgn="base">
      <a:spcBef>
        <a:spcPct val="0"/>
      </a:spcBef>
      <a:spcAft>
        <a:spcPct val="0"/>
      </a:spcAft>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3pPr>
    <a:lvl4pPr marL="1371600" algn="ctr" rtl="0" fontAlgn="base">
      <a:spcBef>
        <a:spcPct val="0"/>
      </a:spcBef>
      <a:spcAft>
        <a:spcPct val="0"/>
      </a:spcAft>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4pPr>
    <a:lvl5pPr marL="1828800" algn="ctr" rtl="0" fontAlgn="base">
      <a:spcBef>
        <a:spcPct val="0"/>
      </a:spcBef>
      <a:spcAft>
        <a:spcPct val="0"/>
      </a:spcAft>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5pPr>
    <a:lvl6pPr marL="2286000" algn="l" defTabSz="914400" rtl="0" eaLnBrk="1" latinLnBrk="0" hangingPunct="1">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6pPr>
    <a:lvl7pPr marL="2743200" algn="l" defTabSz="914400" rtl="0" eaLnBrk="1" latinLnBrk="0" hangingPunct="1">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7pPr>
    <a:lvl8pPr marL="3200400" algn="l" defTabSz="914400" rtl="0" eaLnBrk="1" latinLnBrk="0" hangingPunct="1">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8pPr>
    <a:lvl9pPr marL="3657600" algn="l" defTabSz="914400" rtl="0" eaLnBrk="1" latinLnBrk="0" hangingPunct="1">
      <a:defRPr sz="1400" kern="1200">
        <a:solidFill>
          <a:schemeClr val="bg1"/>
        </a:solidFill>
        <a:effectLst>
          <a:outerShdw blurRad="38100" dist="38100" dir="2700000" algn="tl">
            <a:srgbClr val="000000">
              <a:alpha val="43137"/>
            </a:srgbClr>
          </a:outerShdw>
        </a:effectLst>
        <a:latin typeface="Times New Roman" pitchFamily="18" charset="0"/>
        <a:ea typeface="굴림" pitchFamily="34"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7C02"/>
    <a:srgbClr val="002164"/>
    <a:srgbClr val="003399"/>
    <a:srgbClr val="000066"/>
    <a:srgbClr val="111111"/>
    <a:srgbClr val="D0D505"/>
    <a:srgbClr val="328F03"/>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9" autoAdjust="0"/>
    <p:restoredTop sz="99467" autoAdjust="0"/>
  </p:normalViewPr>
  <p:slideViewPr>
    <p:cSldViewPr snapToGrid="0">
      <p:cViewPr>
        <p:scale>
          <a:sx n="50" d="100"/>
          <a:sy n="50" d="100"/>
        </p:scale>
        <p:origin x="864" y="5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54AB02A5-4FE5-49D9-9E24-09F23B90C450}" type="datetimeFigureOut">
              <a:rPr lang="en-US" smtClean="0"/>
              <a:pPr/>
              <a:t>3/4/2025</a:t>
            </a:fld>
            <a:endParaRPr lang="en-US"/>
          </a:p>
        </p:txBody>
      </p:sp>
      <p:sp>
        <p:nvSpPr>
          <p:cNvPr id="20" name="Footer Placeholder 19"/>
          <p:cNvSpPr>
            <a:spLocks noGrp="1"/>
          </p:cNvSpPr>
          <p:nvPr>
            <p:ph type="ftr" sz="quarter" idx="11"/>
          </p:nvPr>
        </p:nvSpPr>
        <p:spPr/>
        <p:txBody>
          <a:bodyPr/>
          <a:lstStyle/>
          <a:p>
            <a:r>
              <a:rPr lang="en-US" altLang="ko-KR" smtClean="0"/>
              <a:t>Company Logo</a:t>
            </a:r>
            <a:endParaRPr lang="en-US" altLang="ko-KR"/>
          </a:p>
        </p:txBody>
      </p:sp>
      <p:sp>
        <p:nvSpPr>
          <p:cNvPr id="10" name="Slide Number Placeholder 9"/>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AB02A5-4FE5-49D9-9E24-09F23B90C450}" type="datetimeFigureOut">
              <a:rPr lang="en-US" smtClean="0"/>
              <a:pPr/>
              <a:t>3/4/2025</a:t>
            </a:fld>
            <a:endParaRPr lang="en-US"/>
          </a:p>
        </p:txBody>
      </p:sp>
      <p:sp>
        <p:nvSpPr>
          <p:cNvPr id="5" name="Footer Placeholder 4"/>
          <p:cNvSpPr>
            <a:spLocks noGrp="1"/>
          </p:cNvSpPr>
          <p:nvPr>
            <p:ph type="ftr" sz="quarter" idx="11"/>
          </p:nvPr>
        </p:nvSpPr>
        <p:spPr/>
        <p:txBody>
          <a:bodyPr/>
          <a:lstStyle/>
          <a:p>
            <a:r>
              <a:rPr lang="en-US" altLang="ko-KR" smtClean="0"/>
              <a:t>Company Logo</a:t>
            </a:r>
            <a:endParaRPr lang="en-US" altLang="ko-KR"/>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4AB02A5-4FE5-49D9-9E24-09F23B90C450}" type="datetimeFigureOut">
              <a:rPr lang="en-US" smtClean="0"/>
              <a:pPr/>
              <a:t>3/4/2025</a:t>
            </a:fld>
            <a:endParaRPr lang="en-US"/>
          </a:p>
        </p:txBody>
      </p:sp>
      <p:sp>
        <p:nvSpPr>
          <p:cNvPr id="5" name="Footer Placeholder 4"/>
          <p:cNvSpPr>
            <a:spLocks noGrp="1"/>
          </p:cNvSpPr>
          <p:nvPr>
            <p:ph type="ftr" sz="quarter" idx="11"/>
          </p:nvPr>
        </p:nvSpPr>
        <p:spPr/>
        <p:txBody>
          <a:bodyPr/>
          <a:lstStyle/>
          <a:p>
            <a:r>
              <a:rPr lang="en-US" altLang="ko-KR" smtClean="0"/>
              <a:t>Company Logo</a:t>
            </a:r>
            <a:endParaRPr lang="en-US" altLang="ko-KR"/>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AB02A5-4FE5-49D9-9E24-09F23B90C450}" type="datetimeFigureOut">
              <a:rPr lang="en-US" smtClean="0"/>
              <a:pPr/>
              <a:t>3/4/2025</a:t>
            </a:fld>
            <a:endParaRPr lang="en-US"/>
          </a:p>
        </p:txBody>
      </p:sp>
      <p:sp>
        <p:nvSpPr>
          <p:cNvPr id="6" name="Footer Placeholder 5"/>
          <p:cNvSpPr>
            <a:spLocks noGrp="1"/>
          </p:cNvSpPr>
          <p:nvPr>
            <p:ph type="ftr" sz="quarter" idx="11"/>
          </p:nvPr>
        </p:nvSpPr>
        <p:spPr/>
        <p:txBody>
          <a:bodyPr/>
          <a:lstStyle/>
          <a:p>
            <a:r>
              <a:rPr lang="en-US" altLang="ko-KR" smtClean="0"/>
              <a:t>Company Logo</a:t>
            </a:r>
            <a:endParaRPr lang="en-US" altLang="ko-KR"/>
          </a:p>
        </p:txBody>
      </p:sp>
      <p:sp>
        <p:nvSpPr>
          <p:cNvPr id="7" name="Slide Number Placeholder 6"/>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4AB02A5-4FE5-49D9-9E24-09F23B90C450}" type="datetimeFigureOut">
              <a:rPr lang="en-US" smtClean="0"/>
              <a:pPr/>
              <a:t>3/4/2025</a:t>
            </a:fld>
            <a:endParaRPr lang="en-US"/>
          </a:p>
        </p:txBody>
      </p:sp>
      <p:sp>
        <p:nvSpPr>
          <p:cNvPr id="8" name="Footer Placeholder 7"/>
          <p:cNvSpPr>
            <a:spLocks noGrp="1"/>
          </p:cNvSpPr>
          <p:nvPr>
            <p:ph type="ftr" sz="quarter" idx="11"/>
          </p:nvPr>
        </p:nvSpPr>
        <p:spPr/>
        <p:txBody>
          <a:bodyPr/>
          <a:lstStyle/>
          <a:p>
            <a:r>
              <a:rPr lang="en-US" altLang="ko-KR" smtClean="0"/>
              <a:t>Company Logo</a:t>
            </a:r>
            <a:endParaRPr lang="en-US" altLang="ko-KR"/>
          </a:p>
        </p:txBody>
      </p:sp>
      <p:sp>
        <p:nvSpPr>
          <p:cNvPr id="9" name="Slide Number Placeholder 8"/>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4AB02A5-4FE5-49D9-9E24-09F23B90C450}" type="datetimeFigureOut">
              <a:rPr lang="en-US" smtClean="0"/>
              <a:pPr/>
              <a:t>3/4/2025</a:t>
            </a:fld>
            <a:endParaRPr lang="en-US"/>
          </a:p>
        </p:txBody>
      </p:sp>
      <p:sp>
        <p:nvSpPr>
          <p:cNvPr id="4" name="Footer Placeholder 3"/>
          <p:cNvSpPr>
            <a:spLocks noGrp="1"/>
          </p:cNvSpPr>
          <p:nvPr>
            <p:ph type="ftr" sz="quarter" idx="11"/>
          </p:nvPr>
        </p:nvSpPr>
        <p:spPr/>
        <p:txBody>
          <a:bodyPr/>
          <a:lstStyle/>
          <a:p>
            <a:r>
              <a:rPr lang="en-US" altLang="ko-KR" smtClean="0"/>
              <a:t>Company Logo</a:t>
            </a:r>
            <a:endParaRPr lang="en-US" altLang="ko-KR"/>
          </a:p>
        </p:txBody>
      </p:sp>
      <p:sp>
        <p:nvSpPr>
          <p:cNvPr id="5" name="Slide Number Placeholder 4"/>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54AB02A5-4FE5-49D9-9E24-09F23B90C450}" type="datetimeFigureOut">
              <a:rPr lang="en-US" smtClean="0"/>
              <a:pPr/>
              <a:t>3/4/2025</a:t>
            </a:fld>
            <a:endParaRPr lang="en-US"/>
          </a:p>
        </p:txBody>
      </p:sp>
      <p:sp>
        <p:nvSpPr>
          <p:cNvPr id="3" name="Footer Placeholder 2"/>
          <p:cNvSpPr>
            <a:spLocks noGrp="1"/>
          </p:cNvSpPr>
          <p:nvPr>
            <p:ph type="ftr" sz="quarter" idx="11"/>
          </p:nvPr>
        </p:nvSpPr>
        <p:spPr/>
        <p:txBody>
          <a:bodyPr/>
          <a:lstStyle/>
          <a:p>
            <a:r>
              <a:rPr lang="en-US" altLang="ko-KR" smtClean="0"/>
              <a:t>Company Logo</a:t>
            </a:r>
            <a:endParaRPr lang="en-US" altLang="ko-KR"/>
          </a:p>
        </p:txBody>
      </p:sp>
      <p:sp>
        <p:nvSpPr>
          <p:cNvPr id="4" name="Slide Number Placeholder 3"/>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AB02A5-4FE5-49D9-9E24-09F23B90C450}" type="datetimeFigureOut">
              <a:rPr lang="en-US" smtClean="0"/>
              <a:pPr/>
              <a:t>3/4/2025</a:t>
            </a:fld>
            <a:endParaRPr lang="en-US"/>
          </a:p>
        </p:txBody>
      </p:sp>
      <p:sp>
        <p:nvSpPr>
          <p:cNvPr id="6" name="Footer Placeholder 5"/>
          <p:cNvSpPr>
            <a:spLocks noGrp="1"/>
          </p:cNvSpPr>
          <p:nvPr>
            <p:ph type="ftr" sz="quarter" idx="11"/>
          </p:nvPr>
        </p:nvSpPr>
        <p:spPr/>
        <p:txBody>
          <a:bodyPr/>
          <a:lstStyle/>
          <a:p>
            <a:r>
              <a:rPr lang="en-US" altLang="ko-KR" smtClean="0"/>
              <a:t>Company Logo</a:t>
            </a:r>
            <a:endParaRPr lang="en-US" altLang="ko-KR"/>
          </a:p>
        </p:txBody>
      </p:sp>
      <p:sp>
        <p:nvSpPr>
          <p:cNvPr id="7" name="Slide Number Placeholder 6"/>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4AB02A5-4FE5-49D9-9E24-09F23B90C450}" type="datetimeFigureOut">
              <a:rPr lang="en-US" smtClean="0"/>
              <a:pPr/>
              <a:t>3/4/2025</a:t>
            </a:fld>
            <a:endParaRPr lang="en-US"/>
          </a:p>
        </p:txBody>
      </p:sp>
      <p:sp>
        <p:nvSpPr>
          <p:cNvPr id="6" name="Footer Placeholder 5"/>
          <p:cNvSpPr>
            <a:spLocks noGrp="1"/>
          </p:cNvSpPr>
          <p:nvPr>
            <p:ph type="ftr" sz="quarter" idx="11"/>
          </p:nvPr>
        </p:nvSpPr>
        <p:spPr/>
        <p:txBody>
          <a:bodyPr/>
          <a:lstStyle/>
          <a:p>
            <a:r>
              <a:rPr lang="en-US" altLang="ko-KR" smtClean="0"/>
              <a:t>Company Logo</a:t>
            </a:r>
            <a:endParaRPr lang="en-US" altLang="ko-KR"/>
          </a:p>
        </p:txBody>
      </p:sp>
      <p:sp>
        <p:nvSpPr>
          <p:cNvPr id="7" name="Slide Number Placeholder 6"/>
          <p:cNvSpPr>
            <a:spLocks noGrp="1"/>
          </p:cNvSpPr>
          <p:nvPr>
            <p:ph type="sldNum" sz="quarter" idx="12"/>
          </p:nvPr>
        </p:nvSpPr>
        <p:spPr/>
        <p:txBody>
          <a:bodyPr/>
          <a:lstStyle/>
          <a:p>
            <a:fld id="{6294C92D-0306-4E69-9CD3-20855E849650}" type="slidenum">
              <a:rPr kumimoji="0" lang="en-US" smtClean="0"/>
              <a:pPr/>
              <a:t>‹#›</a:t>
            </a:fld>
            <a:endParaRPr kumimoji="0"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AB02A5-4FE5-49D9-9E24-09F23B90C450}" type="datetimeFigureOut">
              <a:rPr lang="en-US" smtClean="0"/>
              <a:pPr/>
              <a:t>3/4/2025</a:t>
            </a:fld>
            <a:endParaRPr lang="en-US"/>
          </a:p>
        </p:txBody>
      </p:sp>
      <p:sp>
        <p:nvSpPr>
          <p:cNvPr id="5" name="Footer Placeholder 4"/>
          <p:cNvSpPr>
            <a:spLocks noGrp="1"/>
          </p:cNvSpPr>
          <p:nvPr>
            <p:ph type="ftr" sz="quarter" idx="11"/>
          </p:nvPr>
        </p:nvSpPr>
        <p:spPr/>
        <p:txBody>
          <a:bodyPr/>
          <a:lstStyle/>
          <a:p>
            <a:r>
              <a:rPr lang="en-US" altLang="ko-KR" smtClean="0"/>
              <a:t>Company Logo</a:t>
            </a:r>
            <a:endParaRPr lang="en-US" altLang="ko-KR"/>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AB02A5-4FE5-49D9-9E24-09F23B90C450}" type="datetimeFigureOut">
              <a:rPr lang="en-US" smtClean="0"/>
              <a:pPr/>
              <a:t>3/4/2025</a:t>
            </a:fld>
            <a:endParaRPr lang="en-US"/>
          </a:p>
        </p:txBody>
      </p:sp>
      <p:sp>
        <p:nvSpPr>
          <p:cNvPr id="5" name="Footer Placeholder 4"/>
          <p:cNvSpPr>
            <a:spLocks noGrp="1"/>
          </p:cNvSpPr>
          <p:nvPr>
            <p:ph type="ftr" sz="quarter" idx="11"/>
          </p:nvPr>
        </p:nvSpPr>
        <p:spPr/>
        <p:txBody>
          <a:bodyPr/>
          <a:lstStyle/>
          <a:p>
            <a:r>
              <a:rPr lang="en-US" altLang="ko-KR" smtClean="0"/>
              <a:t>Company Logo</a:t>
            </a:r>
            <a:endParaRPr lang="en-US" altLang="ko-KR"/>
          </a:p>
        </p:txBody>
      </p:sp>
      <p:sp>
        <p:nvSpPr>
          <p:cNvPr id="6" name="Slide Number Placeholder 5"/>
          <p:cNvSpPr>
            <a:spLocks noGrp="1"/>
          </p:cNvSpPr>
          <p:nvPr>
            <p:ph type="sldNum" sz="quarter" idx="12"/>
          </p:nvPr>
        </p:nvSpPr>
        <p:spPr/>
        <p:txBody>
          <a:bodyPr/>
          <a:lstStyle/>
          <a:p>
            <a:fld id="{6294C92D-0306-4E69-9CD3-20855E849650}"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pPr algn="r" eaLnBrk="1" latinLnBrk="0" hangingPunct="1"/>
            <a:fld id="{54AB02A5-4FE5-49D9-9E24-09F23B90C450}" type="datetimeFigureOut">
              <a:rPr lang="en-US" smtClean="0"/>
              <a:pPr algn="r" eaLnBrk="1" latinLnBrk="0" hangingPunct="1"/>
              <a:t>3/4/2025</a:t>
            </a:fld>
            <a:endParaRPr lang="en-US" sz="1200">
              <a:solidFill>
                <a:schemeClr val="bg2">
                  <a:shade val="50000"/>
                </a:schemeClr>
              </a:solidFill>
            </a:endParaRPr>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altLang="ko-KR" smtClean="0"/>
              <a:t>Company Logo</a:t>
            </a:r>
            <a:endParaRPr lang="en-US" altLang="ko-K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lgn="ctr" eaLnBrk="1" latinLnBrk="0" hangingPunct="1"/>
            <a:fld id="{6294C92D-0306-4E69-9CD3-20855E849650}" type="slidenum">
              <a:rPr kumimoji="0" lang="en-US" smtClean="0"/>
              <a:pPr algn="ctr" eaLnBrk="1" latinLnBrk="0" hangingPunct="1"/>
              <a:t>‹#›</a:t>
            </a:fld>
            <a:endParaRPr kumimoji="0" lang="en-US" sz="1200">
              <a:solidFill>
                <a:schemeClr val="bg2">
                  <a:shade val="50000"/>
                </a:schemeClr>
              </a:solidFill>
              <a:effectLst/>
            </a:endParaRPr>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sldNum="0"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725" y="2037907"/>
            <a:ext cx="8264275" cy="1172493"/>
          </a:xfrm>
        </p:spPr>
        <p:txBody>
          <a:bodyPr>
            <a:noAutofit/>
          </a:bodyPr>
          <a:lstStyle/>
          <a:p>
            <a:pPr marL="457200" indent="-457200" algn="ctr" rtl="1"/>
            <a:r>
              <a:rPr lang="fa-IR" sz="3600" dirty="0" smtClean="0">
                <a:solidFill>
                  <a:srgbClr val="FF0000"/>
                </a:solidFill>
                <a:cs typeface="B Nazanin" panose="00000400000000000000" pitchFamily="2" charset="-78"/>
              </a:rPr>
              <a:t>فصل اول</a:t>
            </a:r>
            <a:r>
              <a:rPr lang="en-US" sz="3600" dirty="0" smtClean="0">
                <a:solidFill>
                  <a:srgbClr val="FF0000"/>
                </a:solidFill>
                <a:cs typeface="B Nazanin" panose="00000400000000000000" pitchFamily="2" charset="-78"/>
              </a:rPr>
              <a:t/>
            </a:r>
            <a:br>
              <a:rPr lang="en-US" sz="3600" dirty="0" smtClean="0">
                <a:solidFill>
                  <a:srgbClr val="FF0000"/>
                </a:solidFill>
                <a:cs typeface="B Nazanin" panose="00000400000000000000" pitchFamily="2" charset="-78"/>
              </a:rPr>
            </a:br>
            <a:r>
              <a:rPr lang="fa-IR" sz="3600" dirty="0" smtClean="0">
                <a:solidFill>
                  <a:srgbClr val="FF0000"/>
                </a:solidFill>
                <a:cs typeface="B Nazanin" panose="00000400000000000000" pitchFamily="2" charset="-78"/>
              </a:rPr>
              <a:t/>
            </a:r>
            <a:br>
              <a:rPr lang="fa-IR" sz="3600" dirty="0" smtClean="0">
                <a:solidFill>
                  <a:srgbClr val="FF0000"/>
                </a:solidFill>
                <a:cs typeface="B Nazanin" panose="00000400000000000000" pitchFamily="2" charset="-78"/>
              </a:rPr>
            </a:br>
            <a:r>
              <a:rPr lang="fa-IR" sz="3600" dirty="0" smtClean="0">
                <a:solidFill>
                  <a:srgbClr val="FF0000"/>
                </a:solidFill>
                <a:cs typeface="B Nazanin" panose="00000400000000000000" pitchFamily="2" charset="-78"/>
              </a:rPr>
              <a:t>معیارهای پروژه وفرآیند نرم افزار</a:t>
            </a:r>
            <a:endParaRPr lang="en-US" sz="3600" dirty="0">
              <a:solidFill>
                <a:srgbClr val="FF0000"/>
              </a:solidFill>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p:txBody>
      </p:sp>
    </p:spTree>
    <p:extLst>
      <p:ext uri="{BB962C8B-B14F-4D97-AF65-F5344CB8AC3E}">
        <p14:creationId xmlns:p14="http://schemas.microsoft.com/office/powerpoint/2010/main" val="389002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7412" y="391611"/>
            <a:ext cx="7848600" cy="609600"/>
          </a:xfrm>
        </p:spPr>
        <p:txBody>
          <a:bodyPr>
            <a:normAutofit fontScale="90000"/>
          </a:bodyPr>
          <a:lstStyle/>
          <a:p>
            <a:pPr algn="r" rtl="1"/>
            <a:r>
              <a:rPr lang="fa-IR" dirty="0" smtClean="0">
                <a:cs typeface="B Nazanin" panose="00000400000000000000" pitchFamily="2" charset="-78"/>
              </a:rPr>
              <a:t>نگاهی گذرا:</a:t>
            </a:r>
            <a:endParaRPr lang="en-US" dirty="0">
              <a:cs typeface="B Nazanin" panose="00000400000000000000" pitchFamily="2" charset="-78"/>
            </a:endParaRPr>
          </a:p>
        </p:txBody>
      </p:sp>
      <p:sp>
        <p:nvSpPr>
          <p:cNvPr id="3" name="Content Placeholder 2"/>
          <p:cNvSpPr>
            <a:spLocks noGrp="1"/>
          </p:cNvSpPr>
          <p:nvPr>
            <p:ph idx="1"/>
          </p:nvPr>
        </p:nvSpPr>
        <p:spPr>
          <a:xfrm>
            <a:off x="1045029" y="1252310"/>
            <a:ext cx="7680960" cy="5326620"/>
          </a:xfrm>
          <a:noFill/>
        </p:spPr>
        <p:txBody>
          <a:bodyPr>
            <a:normAutofit fontScale="77500" lnSpcReduction="20000"/>
          </a:bodyPr>
          <a:lstStyle/>
          <a:p>
            <a:pPr algn="just" rtl="1">
              <a:lnSpc>
                <a:spcPct val="170000"/>
              </a:lnSpc>
              <a:buFont typeface="Wingdings" pitchFamily="2" charset="2"/>
              <a:buChar char="Ø"/>
            </a:pPr>
            <a:r>
              <a:rPr lang="fa-IR" sz="2400" dirty="0" smtClean="0">
                <a:solidFill>
                  <a:srgbClr val="FF0000"/>
                </a:solidFill>
                <a:latin typeface="Majalla UI (Body)"/>
                <a:cs typeface="B Nazanin" panose="00000400000000000000" pitchFamily="2" charset="-78"/>
              </a:rPr>
              <a:t>اندازه گیری چیست؟</a:t>
            </a:r>
            <a:r>
              <a:rPr lang="fa-IR" sz="2400" dirty="0">
                <a:solidFill>
                  <a:srgbClr val="FF0000"/>
                </a:solidFill>
                <a:latin typeface="Majalla UI (Body)"/>
                <a:cs typeface="B Nazanin" panose="00000400000000000000" pitchFamily="2" charset="-78"/>
              </a:rPr>
              <a:t> </a:t>
            </a:r>
            <a:r>
              <a:rPr lang="fa-IR" sz="2400" dirty="0" smtClean="0">
                <a:latin typeface="Majalla UI (Body)"/>
                <a:cs typeface="B Nazanin" panose="00000400000000000000" pitchFamily="2" charset="-78"/>
              </a:rPr>
              <a:t>معیارھای</a:t>
            </a:r>
            <a:r>
              <a:rPr lang="en-US" sz="2400" dirty="0" smtClean="0">
                <a:latin typeface="Majalla UI (Body)"/>
                <a:cs typeface="B Nazanin" panose="00000400000000000000" pitchFamily="2" charset="-78"/>
              </a:rPr>
              <a:t> </a:t>
            </a:r>
            <a:r>
              <a:rPr lang="fa-IR" sz="2400" dirty="0" smtClean="0">
                <a:latin typeface="Majalla UI (Body)"/>
                <a:cs typeface="B Nazanin" panose="00000400000000000000" pitchFamily="2" charset="-78"/>
              </a:rPr>
              <a:t> (متریکها) </a:t>
            </a:r>
            <a:r>
              <a:rPr lang="fa-IR" sz="2400" dirty="0">
                <a:latin typeface="Majalla UI (Body)"/>
                <a:cs typeface="B Nazanin" panose="00000400000000000000" pitchFamily="2" charset="-78"/>
              </a:rPr>
              <a:t>فرآیند و محصول نرم افزاری </a:t>
            </a:r>
            <a:r>
              <a:rPr lang="fa-IR" sz="2400" dirty="0" smtClean="0">
                <a:latin typeface="Majalla UI (Body)"/>
                <a:cs typeface="B Nazanin" panose="00000400000000000000" pitchFamily="2" charset="-78"/>
              </a:rPr>
              <a:t>مقادیری کمی </a:t>
            </a:r>
            <a:r>
              <a:rPr lang="fa-IR" sz="2400" dirty="0">
                <a:latin typeface="Majalla UI (Body)"/>
                <a:cs typeface="B Nazanin" panose="00000400000000000000" pitchFamily="2" charset="-78"/>
              </a:rPr>
              <a:t>ھستند </a:t>
            </a:r>
            <a:r>
              <a:rPr lang="fa-IR" sz="2400" dirty="0" smtClean="0">
                <a:latin typeface="Majalla UI (Body)"/>
                <a:cs typeface="B Nazanin" panose="00000400000000000000" pitchFamily="2" charset="-78"/>
              </a:rPr>
              <a:t>که درک بازدهی فرآیند نرم افزار و پروژه هایی را امکان پذیر می سازند و به افرادی که با</a:t>
            </a:r>
            <a:r>
              <a:rPr lang="en-US" sz="2400" dirty="0" smtClean="0">
                <a:latin typeface="Majalla UI (Body)"/>
                <a:cs typeface="B Nazanin" panose="00000400000000000000" pitchFamily="2" charset="-78"/>
              </a:rPr>
              <a:t> </a:t>
            </a:r>
            <a:r>
              <a:rPr lang="fa-IR" sz="2400" dirty="0" smtClean="0">
                <a:latin typeface="Majalla UI (Body)"/>
                <a:cs typeface="B Nazanin" panose="00000400000000000000" pitchFamily="2" charset="-78"/>
              </a:rPr>
              <a:t>نرم افزار کار میکنند امکان میدهد تا نسبت به کارامد بودن فرایند و پروژه های نرم افزاری بینش پیدا کنند.(</a:t>
            </a:r>
            <a:r>
              <a:rPr lang="fa-IR" sz="2400" dirty="0" smtClean="0">
                <a:solidFill>
                  <a:srgbClr val="2B7C02"/>
                </a:solidFill>
                <a:latin typeface="Majalla UI (Body)"/>
                <a:cs typeface="B Nazanin" panose="00000400000000000000" pitchFamily="2" charset="-78"/>
              </a:rPr>
              <a:t>توضیح</a:t>
            </a:r>
            <a:r>
              <a:rPr lang="fa-IR" sz="2400" dirty="0" smtClean="0">
                <a:latin typeface="Majalla UI (Body)"/>
                <a:cs typeface="B Nazanin" panose="00000400000000000000" pitchFamily="2" charset="-78"/>
              </a:rPr>
              <a:t>)</a:t>
            </a:r>
            <a:endParaRPr lang="fa-IR" sz="2600" dirty="0">
              <a:latin typeface="Majalla UI (Body)"/>
              <a:cs typeface="B Nazanin" panose="00000400000000000000" pitchFamily="2" charset="-78"/>
            </a:endParaRPr>
          </a:p>
          <a:p>
            <a:pPr algn="just" rtl="1">
              <a:buFont typeface="Wingdings" pitchFamily="2" charset="2"/>
              <a:buChar char="v"/>
            </a:pPr>
            <a:r>
              <a:rPr lang="fa-IR" sz="2600" dirty="0" smtClean="0">
                <a:latin typeface="Majalla UI (Body)"/>
                <a:cs typeface="B Nazanin" panose="00000400000000000000" pitchFamily="2" charset="-78"/>
              </a:rPr>
              <a:t>چه میکند؟</a:t>
            </a:r>
          </a:p>
          <a:p>
            <a:pPr algn="just" rtl="1">
              <a:buFont typeface="Wingdings" pitchFamily="2" charset="2"/>
              <a:buChar char="v"/>
            </a:pPr>
            <a:r>
              <a:rPr lang="fa-IR" sz="2600" dirty="0" smtClean="0">
                <a:latin typeface="Majalla UI (Body)"/>
                <a:cs typeface="B Nazanin" panose="00000400000000000000" pitchFamily="2" charset="-78"/>
              </a:rPr>
              <a:t>چرا اهمیت دارد؟</a:t>
            </a:r>
          </a:p>
          <a:p>
            <a:pPr algn="just" rtl="1">
              <a:buFont typeface="Wingdings" pitchFamily="2" charset="2"/>
              <a:buChar char="v"/>
            </a:pPr>
            <a:r>
              <a:rPr lang="fa-IR" sz="2600" dirty="0" smtClean="0">
                <a:latin typeface="Majalla UI (Body)"/>
                <a:cs typeface="B Nazanin" panose="00000400000000000000" pitchFamily="2" charset="-78"/>
              </a:rPr>
              <a:t>مراحل کار کدام است؟</a:t>
            </a:r>
          </a:p>
          <a:p>
            <a:pPr algn="just" rtl="1">
              <a:buFont typeface="Wingdings" pitchFamily="2" charset="2"/>
              <a:buChar char="v"/>
            </a:pPr>
            <a:r>
              <a:rPr lang="fa-IR" sz="2600" dirty="0" smtClean="0">
                <a:latin typeface="Majalla UI (Body)"/>
                <a:cs typeface="B Nazanin" panose="00000400000000000000" pitchFamily="2" charset="-78"/>
              </a:rPr>
              <a:t>محصول کار چیست؟</a:t>
            </a:r>
            <a:endParaRPr lang="en-US" sz="2600" dirty="0" smtClean="0">
              <a:latin typeface="Majalla UI (Body)"/>
              <a:cs typeface="B Nazanin" panose="00000400000000000000" pitchFamily="2" charset="-78"/>
            </a:endParaRPr>
          </a:p>
          <a:p>
            <a:pPr algn="just" rtl="1">
              <a:buFont typeface="Wingdings" pitchFamily="2" charset="2"/>
              <a:buChar char="v"/>
            </a:pPr>
            <a:endParaRPr lang="fa-IR" sz="2600" dirty="0" smtClean="0">
              <a:latin typeface="Majalla UI (Body)"/>
              <a:cs typeface="B Nazanin" panose="00000400000000000000" pitchFamily="2" charset="-78"/>
            </a:endParaRPr>
          </a:p>
          <a:p>
            <a:pPr marL="457200" lvl="1" indent="0" algn="just" rtl="1">
              <a:buNone/>
            </a:pPr>
            <a:r>
              <a:rPr lang="fa-IR" sz="2600" dirty="0">
                <a:solidFill>
                  <a:srgbClr val="FF0000"/>
                </a:solidFill>
                <a:latin typeface="Majalla UI (Body)"/>
                <a:cs typeface="B Nazanin" panose="00000400000000000000" pitchFamily="2" charset="-78"/>
              </a:rPr>
              <a:t>دلایل اندازه گیري منابع/محصولات و </a:t>
            </a:r>
            <a:r>
              <a:rPr lang="fa-IR" sz="2600" dirty="0" smtClean="0">
                <a:solidFill>
                  <a:srgbClr val="FF0000"/>
                </a:solidFill>
                <a:latin typeface="Majalla UI (Body)"/>
                <a:cs typeface="B Nazanin" panose="00000400000000000000" pitchFamily="2" charset="-78"/>
              </a:rPr>
              <a:t>فرآیندها</a:t>
            </a:r>
          </a:p>
          <a:p>
            <a:pPr algn="just" rtl="1">
              <a:buFont typeface="Arial" pitchFamily="34" charset="0"/>
              <a:buChar char="•"/>
            </a:pPr>
            <a:r>
              <a:rPr lang="fa-IR" sz="2600" dirty="0" smtClean="0">
                <a:solidFill>
                  <a:schemeClr val="tx1"/>
                </a:solidFill>
                <a:latin typeface="Majalla UI (Body)"/>
                <a:cs typeface="B Nazanin" panose="00000400000000000000" pitchFamily="2" charset="-78"/>
              </a:rPr>
              <a:t>مشخص کردن ویژگی ها</a:t>
            </a:r>
          </a:p>
          <a:p>
            <a:pPr algn="just" rtl="1">
              <a:buFont typeface="Arial" pitchFamily="34" charset="0"/>
              <a:buChar char="•"/>
            </a:pPr>
            <a:r>
              <a:rPr lang="fa-IR" sz="2600" dirty="0" smtClean="0">
                <a:solidFill>
                  <a:schemeClr val="tx1"/>
                </a:solidFill>
                <a:latin typeface="Majalla UI (Body)"/>
                <a:cs typeface="B Nazanin" panose="00000400000000000000" pitchFamily="2" charset="-78"/>
              </a:rPr>
              <a:t>ارزیابی کردن </a:t>
            </a:r>
          </a:p>
          <a:p>
            <a:pPr algn="just" rtl="1">
              <a:buFont typeface="Arial" pitchFamily="34" charset="0"/>
              <a:buChar char="•"/>
            </a:pPr>
            <a:r>
              <a:rPr lang="fa-IR" sz="2600" dirty="0" smtClean="0">
                <a:solidFill>
                  <a:schemeClr val="tx1"/>
                </a:solidFill>
                <a:latin typeface="Majalla UI (Body)"/>
                <a:cs typeface="B Nazanin" panose="00000400000000000000" pitchFamily="2" charset="-78"/>
              </a:rPr>
              <a:t>پیش بینی کردن</a:t>
            </a:r>
          </a:p>
          <a:p>
            <a:pPr algn="just" rtl="1">
              <a:buFont typeface="Arial" pitchFamily="34" charset="0"/>
              <a:buChar char="•"/>
            </a:pPr>
            <a:r>
              <a:rPr lang="fa-IR" sz="2600" dirty="0" smtClean="0">
                <a:solidFill>
                  <a:schemeClr val="tx1"/>
                </a:solidFill>
                <a:latin typeface="Majalla UI (Body)"/>
                <a:cs typeface="B Nazanin" panose="00000400000000000000" pitchFamily="2" charset="-78"/>
              </a:rPr>
              <a:t>بهبود بخشیدن</a:t>
            </a:r>
          </a:p>
          <a:p>
            <a:pPr algn="just" rtl="1"/>
            <a:endParaRPr lang="fa-IR" dirty="0">
              <a:latin typeface="Majalla UI (Body)"/>
              <a:cs typeface="B Nazanin" panose="00000400000000000000" pitchFamily="2" charset="-78"/>
            </a:endParaRPr>
          </a:p>
          <a:p>
            <a:pPr marL="0" indent="0" algn="just" rtl="1">
              <a:buNone/>
            </a:pPr>
            <a:endParaRPr lang="fa-IR" dirty="0" smtClean="0">
              <a:latin typeface="Majalla UI (Body)"/>
              <a:cs typeface="B Nazanin" panose="00000400000000000000" pitchFamily="2" charset="-78"/>
            </a:endParaRPr>
          </a:p>
          <a:p>
            <a:pPr algn="just" rtl="1"/>
            <a:endParaRPr lang="fa-IR" dirty="0" smtClean="0">
              <a:latin typeface="Majalla UI (Body)"/>
              <a:cs typeface="B Nazanin" panose="00000400000000000000" pitchFamily="2" charset="-78"/>
            </a:endParaRPr>
          </a:p>
          <a:p>
            <a:pPr algn="just" rtl="1"/>
            <a:endParaRPr lang="en-US" dirty="0">
              <a:latin typeface="Majalla UI (Body)"/>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p:txBody>
      </p:sp>
    </p:spTree>
    <p:extLst>
      <p:ext uri="{BB962C8B-B14F-4D97-AF65-F5344CB8AC3E}">
        <p14:creationId xmlns:p14="http://schemas.microsoft.com/office/powerpoint/2010/main" val="65996165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lgn="r" rtl="1">
              <a:buFont typeface="Wingdings" pitchFamily="2" charset="2"/>
              <a:buChar char="v"/>
            </a:pPr>
            <a:r>
              <a:rPr lang="fa-IR" sz="3600" dirty="0" smtClean="0">
                <a:solidFill>
                  <a:srgbClr val="FF0000"/>
                </a:solidFill>
                <a:effectLst/>
                <a:cs typeface="B Nazanin" panose="00000400000000000000" pitchFamily="2" charset="-78"/>
              </a:rPr>
              <a:t>اندازه ها، متریکها و معیارها</a:t>
            </a:r>
            <a:endParaRPr lang="en-US" sz="3600" dirty="0">
              <a:solidFill>
                <a:srgbClr val="FF0000"/>
              </a:solidFill>
              <a:effectLst/>
              <a:cs typeface="B Nazanin" panose="00000400000000000000" pitchFamily="2" charset="-78"/>
            </a:endParaRPr>
          </a:p>
        </p:txBody>
      </p:sp>
      <p:sp>
        <p:nvSpPr>
          <p:cNvPr id="3" name="Content Placeholder 2"/>
          <p:cNvSpPr>
            <a:spLocks noGrp="1"/>
          </p:cNvSpPr>
          <p:nvPr>
            <p:ph idx="1"/>
          </p:nvPr>
        </p:nvSpPr>
        <p:spPr/>
        <p:txBody>
          <a:bodyPr/>
          <a:lstStyle/>
          <a:p>
            <a:pPr algn="r" rtl="1"/>
            <a:r>
              <a:rPr lang="fa-IR" dirty="0" smtClean="0">
                <a:solidFill>
                  <a:srgbClr val="FF0000"/>
                </a:solidFill>
                <a:cs typeface="B Nazanin" panose="00000400000000000000" pitchFamily="2" charset="-78"/>
              </a:rPr>
              <a:t>میزان (اندازه):</a:t>
            </a:r>
            <a:r>
              <a:rPr lang="fa-IR" dirty="0" smtClean="0">
                <a:cs typeface="B Nazanin" panose="00000400000000000000" pitchFamily="2" charset="-78"/>
              </a:rPr>
              <a:t>یک شاخص کمی است که یکی از ویژگیهای یک محصول یا فرایند را فراهم می آورد.</a:t>
            </a:r>
          </a:p>
          <a:p>
            <a:pPr algn="r" rtl="1"/>
            <a:endParaRPr lang="fa-IR" dirty="0" smtClean="0">
              <a:cs typeface="B Nazanin" panose="00000400000000000000" pitchFamily="2" charset="-78"/>
            </a:endParaRPr>
          </a:p>
          <a:p>
            <a:pPr algn="r" rtl="1"/>
            <a:r>
              <a:rPr lang="fa-IR" dirty="0" smtClean="0">
                <a:solidFill>
                  <a:srgbClr val="FF0000"/>
                </a:solidFill>
                <a:cs typeface="B Nazanin" panose="00000400000000000000" pitchFamily="2" charset="-78"/>
              </a:rPr>
              <a:t>اندازه گیری</a:t>
            </a:r>
            <a:r>
              <a:rPr lang="fa-IR" dirty="0" smtClean="0">
                <a:cs typeface="B Nazanin" panose="00000400000000000000" pitchFamily="2" charset="-78"/>
              </a:rPr>
              <a:t> :عمل تعیین میزان</a:t>
            </a:r>
            <a:r>
              <a:rPr lang="en-US" dirty="0" smtClean="0">
                <a:cs typeface="B Nazanin" panose="00000400000000000000" pitchFamily="2" charset="-78"/>
              </a:rPr>
              <a:t> </a:t>
            </a:r>
            <a:r>
              <a:rPr lang="fa-IR" dirty="0" smtClean="0">
                <a:cs typeface="B Nazanin" panose="00000400000000000000" pitchFamily="2" charset="-78"/>
              </a:rPr>
              <a:t> یا اندازه است .</a:t>
            </a:r>
          </a:p>
          <a:p>
            <a:pPr algn="r" rtl="1"/>
            <a:endParaRPr lang="fa-IR" dirty="0" smtClean="0">
              <a:cs typeface="B Nazanin" panose="00000400000000000000" pitchFamily="2" charset="-78"/>
            </a:endParaRPr>
          </a:p>
          <a:p>
            <a:pPr algn="r" rtl="1"/>
            <a:r>
              <a:rPr lang="fa-IR" dirty="0" smtClean="0">
                <a:solidFill>
                  <a:srgbClr val="FF0000"/>
                </a:solidFill>
                <a:cs typeface="B Nazanin" panose="00000400000000000000" pitchFamily="2" charset="-78"/>
              </a:rPr>
              <a:t>شاخص</a:t>
            </a:r>
            <a:r>
              <a:rPr lang="fa-IR" dirty="0" smtClean="0">
                <a:cs typeface="B Nazanin" panose="00000400000000000000" pitchFamily="2" charset="-78"/>
              </a:rPr>
              <a:t>:معیار یا ترکیبی از معیارهاست که درکی ازفرآیند نرم افزار،پروژه  نرم افزاری یا خود محصول بدست میدهد.</a:t>
            </a:r>
          </a:p>
          <a:p>
            <a:pPr algn="r" rtl="1"/>
            <a:endParaRPr lang="fa-IR" dirty="0">
              <a:cs typeface="B Nazanin" panose="00000400000000000000" pitchFamily="2" charset="-78"/>
            </a:endParaRPr>
          </a:p>
          <a:p>
            <a:pPr algn="r" rtl="1"/>
            <a:endParaRPr lang="fa-IR" dirty="0" smtClean="0">
              <a:cs typeface="B Nazanin" panose="00000400000000000000" pitchFamily="2" charset="-78"/>
            </a:endParaRPr>
          </a:p>
          <a:p>
            <a:pPr algn="r" rtl="1"/>
            <a:endParaRPr lang="fa-IR" dirty="0">
              <a:cs typeface="B Nazanin" panose="00000400000000000000" pitchFamily="2" charset="-78"/>
            </a:endParaRPr>
          </a:p>
          <a:p>
            <a:pPr algn="r" rtl="1"/>
            <a:endParaRPr lang="fa-IR" dirty="0" smtClean="0">
              <a:cs typeface="B Nazanin" panose="00000400000000000000" pitchFamily="2" charset="-78"/>
            </a:endParaRPr>
          </a:p>
          <a:p>
            <a:pPr algn="r" rtl="1"/>
            <a:endParaRPr lang="fa-IR" dirty="0">
              <a:cs typeface="B Nazanin" panose="00000400000000000000" pitchFamily="2" charset="-78"/>
            </a:endParaRPr>
          </a:p>
          <a:p>
            <a:pPr marL="0" indent="0" algn="r" rtl="1">
              <a:buNone/>
            </a:pPr>
            <a:endParaRPr lang="fa-IR" dirty="0" smtClean="0">
              <a:cs typeface="B Nazanin" panose="00000400000000000000" pitchFamily="2" charset="-78"/>
            </a:endParaRPr>
          </a:p>
          <a:p>
            <a:pPr algn="r" rtl="1"/>
            <a:endParaRPr lang="en-US"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a:p>
        </p:txBody>
      </p:sp>
    </p:spTree>
    <p:extLst>
      <p:ext uri="{BB962C8B-B14F-4D97-AF65-F5344CB8AC3E}">
        <p14:creationId xmlns:p14="http://schemas.microsoft.com/office/powerpoint/2010/main" val="370472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521" y="361361"/>
            <a:ext cx="7848600" cy="609600"/>
          </a:xfrm>
        </p:spPr>
        <p:txBody>
          <a:bodyPr>
            <a:normAutofit fontScale="90000"/>
          </a:bodyPr>
          <a:lstStyle/>
          <a:p>
            <a:pPr marL="457200" indent="-457200" algn="r" rtl="1">
              <a:buFont typeface="Wingdings" pitchFamily="2" charset="2"/>
              <a:buChar char="v"/>
            </a:pPr>
            <a:r>
              <a:rPr lang="fa-IR" dirty="0" smtClean="0">
                <a:solidFill>
                  <a:srgbClr val="FF0000"/>
                </a:solidFill>
                <a:effectLst/>
                <a:cs typeface="B Nazanin" panose="00000400000000000000" pitchFamily="2" charset="-78"/>
              </a:rPr>
              <a:t>معیارها در دامنه فرآیند و پروژه</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199409" y="1269498"/>
            <a:ext cx="7415202" cy="5380684"/>
          </a:xfrm>
        </p:spPr>
        <p:txBody>
          <a:bodyPr>
            <a:normAutofit fontScale="62500" lnSpcReduction="20000"/>
          </a:bodyPr>
          <a:lstStyle/>
          <a:p>
            <a:pPr algn="just" rtl="1">
              <a:lnSpc>
                <a:spcPct val="170000"/>
              </a:lnSpc>
            </a:pPr>
            <a:r>
              <a:rPr lang="fa-IR" dirty="0" smtClean="0">
                <a:solidFill>
                  <a:srgbClr val="FF0000"/>
                </a:solidFill>
                <a:cs typeface="B Nazanin" panose="00000400000000000000" pitchFamily="2" charset="-78"/>
              </a:rPr>
              <a:t>شاخص های فرآیند (معیار شاخص) </a:t>
            </a:r>
            <a:r>
              <a:rPr lang="fa-IR" dirty="0" smtClean="0">
                <a:cs typeface="B Nazanin" panose="00000400000000000000" pitchFamily="2" charset="-78"/>
              </a:rPr>
              <a:t>به سازمان مهندسی نرم افزار این امکان را میدهد که از بازدهی</a:t>
            </a:r>
            <a:r>
              <a:rPr lang="en-US" dirty="0" smtClean="0">
                <a:cs typeface="B Nazanin" panose="00000400000000000000" pitchFamily="2" charset="-78"/>
              </a:rPr>
              <a:t> </a:t>
            </a:r>
            <a:r>
              <a:rPr lang="fa-IR" dirty="0" smtClean="0">
                <a:cs typeface="B Nazanin" panose="00000400000000000000" pitchFamily="2" charset="-78"/>
              </a:rPr>
              <a:t>و کارایی یک فرآیند موجود دیدی درست بدست آورد. یک معیار شاخص، همان بینشی را بوجود می آورد که به مدیر پروژه یا مهندس نرم افزار امکان میدهد فرایند یا پروژه را تنظیم کرده و امور را به نحو بهتری انجام دهند. </a:t>
            </a:r>
          </a:p>
          <a:p>
            <a:pPr algn="just" rtl="1"/>
            <a:endParaRPr lang="fa-IR" dirty="0">
              <a:cs typeface="B Nazanin" panose="00000400000000000000" pitchFamily="2" charset="-78"/>
            </a:endParaRPr>
          </a:p>
          <a:p>
            <a:pPr algn="just" rtl="1"/>
            <a:r>
              <a:rPr lang="fa-IR" dirty="0" smtClean="0">
                <a:solidFill>
                  <a:srgbClr val="FF0000"/>
                </a:solidFill>
                <a:cs typeface="B Nazanin" panose="00000400000000000000" pitchFamily="2" charset="-78"/>
              </a:rPr>
              <a:t>شاخص های پروژه مدیر پروژه را قادر میسازد تا:</a:t>
            </a:r>
          </a:p>
          <a:p>
            <a:pPr marL="457200" indent="-457200" algn="just" rtl="1">
              <a:buFont typeface="+mj-lt"/>
              <a:buAutoNum type="arabicPeriod"/>
            </a:pPr>
            <a:r>
              <a:rPr lang="fa-IR" dirty="0" smtClean="0">
                <a:cs typeface="B Nazanin" panose="00000400000000000000" pitchFamily="2" charset="-78"/>
              </a:rPr>
              <a:t>     به وضعیت پروژه در حال پیشرفت دست پیدا کند</a:t>
            </a:r>
          </a:p>
          <a:p>
            <a:pPr marL="457200" indent="-457200" algn="just" rtl="1">
              <a:buFont typeface="+mj-lt"/>
              <a:buAutoNum type="arabicPeriod"/>
            </a:pPr>
            <a:r>
              <a:rPr lang="fa-IR" dirty="0">
                <a:cs typeface="B Nazanin" panose="00000400000000000000" pitchFamily="2" charset="-78"/>
              </a:rPr>
              <a:t> </a:t>
            </a:r>
            <a:r>
              <a:rPr lang="fa-IR" dirty="0" smtClean="0">
                <a:cs typeface="B Nazanin" panose="00000400000000000000" pitchFamily="2" charset="-78"/>
              </a:rPr>
              <a:t>    خطرات بالقوه دنبال کند</a:t>
            </a:r>
          </a:p>
          <a:p>
            <a:pPr marL="457200" indent="-457200" algn="just" rtl="1">
              <a:buFont typeface="+mj-lt"/>
              <a:buAutoNum type="arabicPeriod"/>
            </a:pPr>
            <a:r>
              <a:rPr lang="fa-IR" dirty="0">
                <a:cs typeface="B Nazanin" panose="00000400000000000000" pitchFamily="2" charset="-78"/>
              </a:rPr>
              <a:t> </a:t>
            </a:r>
            <a:r>
              <a:rPr lang="fa-IR" dirty="0" smtClean="0">
                <a:cs typeface="B Nazanin" panose="00000400000000000000" pitchFamily="2" charset="-78"/>
              </a:rPr>
              <a:t>    نواحی مشکل آفرین را پیش از بحرانی شدن آنها کشف کند</a:t>
            </a:r>
          </a:p>
          <a:p>
            <a:pPr marL="457200" indent="-457200" algn="just" rtl="1">
              <a:buFont typeface="+mj-lt"/>
              <a:buAutoNum type="arabicPeriod"/>
            </a:pPr>
            <a:r>
              <a:rPr lang="fa-IR" dirty="0">
                <a:cs typeface="B Nazanin" panose="00000400000000000000" pitchFamily="2" charset="-78"/>
              </a:rPr>
              <a:t> </a:t>
            </a:r>
            <a:r>
              <a:rPr lang="fa-IR" dirty="0" smtClean="0">
                <a:cs typeface="B Nazanin" panose="00000400000000000000" pitchFamily="2" charset="-78"/>
              </a:rPr>
              <a:t>    جریان کار یا وظایف را تنظیم کند</a:t>
            </a:r>
          </a:p>
          <a:p>
            <a:pPr marL="457200" indent="-457200" algn="just" rtl="1">
              <a:buFont typeface="+mj-lt"/>
              <a:buAutoNum type="arabicPeriod"/>
            </a:pPr>
            <a:r>
              <a:rPr lang="fa-IR" dirty="0">
                <a:cs typeface="B Nazanin" panose="00000400000000000000" pitchFamily="2" charset="-78"/>
              </a:rPr>
              <a:t> </a:t>
            </a:r>
            <a:r>
              <a:rPr lang="fa-IR" dirty="0" smtClean="0">
                <a:cs typeface="B Nazanin" panose="00000400000000000000" pitchFamily="2" charset="-78"/>
              </a:rPr>
              <a:t>    توانایی تیم پروژه را برای کنترل کیفیت محصولات نرم افزاری ارزیابی    کند .</a:t>
            </a:r>
          </a:p>
          <a:p>
            <a:pPr marL="0" indent="0" algn="just" rtl="1">
              <a:buNone/>
            </a:pPr>
            <a:r>
              <a:rPr lang="fa-IR" dirty="0" smtClean="0">
                <a:cs typeface="B Nazanin" panose="00000400000000000000" pitchFamily="2" charset="-78"/>
              </a:rPr>
              <a:t> </a:t>
            </a:r>
          </a:p>
          <a:p>
            <a:pPr marL="0" indent="0" algn="just" rtl="1">
              <a:buNone/>
            </a:pPr>
            <a:endParaRPr lang="fa-IR" dirty="0" smtClean="0">
              <a:cs typeface="B Nazanin" panose="00000400000000000000" pitchFamily="2" charset="-78"/>
            </a:endParaRPr>
          </a:p>
          <a:p>
            <a:pPr marL="0" indent="0" algn="just" rtl="1">
              <a:buNone/>
            </a:pPr>
            <a:endParaRPr lang="en-US"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a:p>
        </p:txBody>
      </p:sp>
    </p:spTree>
    <p:extLst>
      <p:ext uri="{BB962C8B-B14F-4D97-AF65-F5344CB8AC3E}">
        <p14:creationId xmlns:p14="http://schemas.microsoft.com/office/powerpoint/2010/main" val="187287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endParaRPr lang="en-US" dirty="0"/>
          </a:p>
        </p:txBody>
      </p:sp>
      <p:sp>
        <p:nvSpPr>
          <p:cNvPr id="3" name="Content Placeholder 2"/>
          <p:cNvSpPr>
            <a:spLocks noGrp="1"/>
          </p:cNvSpPr>
          <p:nvPr>
            <p:ph idx="1"/>
          </p:nvPr>
        </p:nvSpPr>
        <p:spPr>
          <a:xfrm>
            <a:off x="378823" y="444137"/>
            <a:ext cx="8307977" cy="5968538"/>
          </a:xfrm>
        </p:spPr>
        <p:txBody>
          <a:bodyPr>
            <a:normAutofit/>
          </a:bodyPr>
          <a:lstStyle/>
          <a:p>
            <a:pPr algn="r" rtl="1">
              <a:buFont typeface="Wingdings" pitchFamily="2" charset="2"/>
              <a:buChar char="v"/>
            </a:pPr>
            <a:r>
              <a:rPr lang="fa-IR" sz="2400" dirty="0">
                <a:solidFill>
                  <a:srgbClr val="FF0000"/>
                </a:solidFill>
                <a:cs typeface="B Nazanin" panose="00000400000000000000" pitchFamily="2" charset="-78"/>
              </a:rPr>
              <a:t>عوامل موثر بر كیفیت نرم افزاري و كارايي سازماني</a:t>
            </a:r>
          </a:p>
          <a:p>
            <a:pPr algn="r" rtl="1"/>
            <a:endParaRPr lang="fa-IR" sz="2400" dirty="0">
              <a:cs typeface="B Nazanin" panose="00000400000000000000" pitchFamily="2" charset="-78"/>
            </a:endParaRPr>
          </a:p>
          <a:p>
            <a:pPr marL="82296" indent="0" algn="r" rtl="1">
              <a:buNone/>
            </a:pPr>
            <a:r>
              <a:rPr lang="fa-IR" sz="2400" b="1" u="sng" dirty="0">
                <a:solidFill>
                  <a:srgbClr val="FF0000"/>
                </a:solidFill>
                <a:cs typeface="B Nazanin" panose="00000400000000000000" pitchFamily="2" charset="-78"/>
              </a:rPr>
              <a:t>مثلث فرآیند </a:t>
            </a:r>
          </a:p>
          <a:p>
            <a:pPr algn="r" rtl="1"/>
            <a:r>
              <a:rPr lang="fa-IR" sz="2400" dirty="0" smtClean="0">
                <a:cs typeface="B Nazanin" panose="00000400000000000000" pitchFamily="2" charset="-78"/>
              </a:rPr>
              <a:t>مهار</a:t>
            </a:r>
            <a:r>
              <a:rPr lang="fa-IR" sz="2400" b="0" dirty="0" smtClean="0">
                <a:cs typeface="B Nazanin" panose="00000400000000000000" pitchFamily="2" charset="-78"/>
              </a:rPr>
              <a:t>ت </a:t>
            </a:r>
            <a:r>
              <a:rPr lang="fa-IR" sz="2400" b="0" dirty="0">
                <a:cs typeface="B Nazanin" panose="00000400000000000000" pitchFamily="2" charset="-78"/>
              </a:rPr>
              <a:t>و انگیزه افراد بیشترين تاثیر</a:t>
            </a:r>
          </a:p>
          <a:p>
            <a:pPr algn="r" rtl="1"/>
            <a:r>
              <a:rPr lang="fa-IR" sz="2400" b="0" dirty="0">
                <a:cs typeface="B Nazanin" panose="00000400000000000000" pitchFamily="2" charset="-78"/>
              </a:rPr>
              <a:t>پیچیدگي محصول</a:t>
            </a:r>
          </a:p>
          <a:p>
            <a:pPr algn="r" rtl="1"/>
            <a:r>
              <a:rPr lang="fa-IR" sz="2400" b="0" dirty="0">
                <a:cs typeface="B Nazanin" panose="00000400000000000000" pitchFamily="2" charset="-78"/>
              </a:rPr>
              <a:t>فناوري يا روشھاي مھندسي نرم </a:t>
            </a:r>
            <a:r>
              <a:rPr lang="fa-IR" sz="2400" b="0" dirty="0" smtClean="0">
                <a:cs typeface="B Nazanin" panose="00000400000000000000" pitchFamily="2" charset="-78"/>
              </a:rPr>
              <a:t>افزار</a:t>
            </a:r>
            <a:endParaRPr lang="en-US" sz="2400" b="0" dirty="0" smtClean="0">
              <a:cs typeface="B Nazanin" panose="00000400000000000000" pitchFamily="2" charset="-78"/>
            </a:endParaRPr>
          </a:p>
          <a:p>
            <a:pPr marL="82296" indent="0" algn="r" rtl="1">
              <a:buNone/>
            </a:pPr>
            <a:r>
              <a:rPr lang="fa-IR" sz="2400" b="1" u="sng" dirty="0" smtClean="0">
                <a:solidFill>
                  <a:srgbClr val="FF0000"/>
                </a:solidFill>
                <a:cs typeface="B Nazanin" panose="00000400000000000000" pitchFamily="2" charset="-78"/>
              </a:rPr>
              <a:t>دایره </a:t>
            </a:r>
            <a:r>
              <a:rPr lang="fa-IR" sz="2400" b="1" u="sng" dirty="0">
                <a:solidFill>
                  <a:srgbClr val="FF0000"/>
                </a:solidFill>
                <a:cs typeface="B Nazanin" panose="00000400000000000000" pitchFamily="2" charset="-78"/>
              </a:rPr>
              <a:t>شرایط محیطی</a:t>
            </a:r>
          </a:p>
          <a:p>
            <a:pPr algn="r" rtl="1"/>
            <a:r>
              <a:rPr lang="fa-IR" sz="2400" b="0" dirty="0">
                <a:cs typeface="B Nazanin" panose="00000400000000000000" pitchFamily="2" charset="-78"/>
              </a:rPr>
              <a:t>محیط توسعه (</a:t>
            </a:r>
            <a:r>
              <a:rPr lang="fa-IR" sz="2400" b="0" dirty="0" smtClean="0">
                <a:cs typeface="B Nazanin" panose="00000400000000000000" pitchFamily="2" charset="-78"/>
              </a:rPr>
              <a:t>ابزارهای </a:t>
            </a:r>
            <a:r>
              <a:rPr lang="en-US" sz="2400" b="0" dirty="0" smtClean="0">
                <a:cs typeface="B Nazanin" panose="00000400000000000000" pitchFamily="2" charset="-78"/>
              </a:rPr>
              <a:t>CASE</a:t>
            </a:r>
            <a:r>
              <a:rPr lang="fa-IR" sz="2400" b="0" dirty="0" smtClean="0">
                <a:cs typeface="B Nazanin" panose="00000400000000000000" pitchFamily="2" charset="-78"/>
              </a:rPr>
              <a:t>)</a:t>
            </a:r>
            <a:endParaRPr lang="fa-IR" sz="2400" b="0" dirty="0">
              <a:cs typeface="B Nazanin" panose="00000400000000000000" pitchFamily="2" charset="-78"/>
            </a:endParaRPr>
          </a:p>
          <a:p>
            <a:pPr algn="r" rtl="1"/>
            <a:r>
              <a:rPr lang="fa-IR" sz="2400" b="0" dirty="0">
                <a:cs typeface="B Nazanin" panose="00000400000000000000" pitchFamily="2" charset="-78"/>
              </a:rPr>
              <a:t>شرایط تجاری </a:t>
            </a:r>
            <a:r>
              <a:rPr lang="fa-IR" sz="2400" b="0" dirty="0" smtClean="0">
                <a:cs typeface="B Nazanin" panose="00000400000000000000" pitchFamily="2" charset="-78"/>
              </a:rPr>
              <a:t>(قوانین تجاری)</a:t>
            </a:r>
            <a:endParaRPr lang="fa-IR" sz="2400" b="0" dirty="0">
              <a:cs typeface="B Nazanin" panose="00000400000000000000" pitchFamily="2" charset="-78"/>
            </a:endParaRPr>
          </a:p>
          <a:p>
            <a:pPr algn="r" rtl="1"/>
            <a:r>
              <a:rPr lang="fa-IR" sz="2400" b="0" dirty="0">
                <a:cs typeface="B Nazanin" panose="00000400000000000000" pitchFamily="2" charset="-78"/>
              </a:rPr>
              <a:t>خصوصیات مشتری (سهولت ارتباط</a:t>
            </a:r>
            <a:r>
              <a:rPr lang="fa-IR" sz="2400" b="0" dirty="0" smtClean="0">
                <a:cs typeface="B Nazanin" panose="00000400000000000000" pitchFamily="2" charset="-78"/>
              </a:rPr>
              <a:t>)</a:t>
            </a:r>
            <a:endParaRPr lang="en-US" sz="2400" b="0" dirty="0" smtClean="0">
              <a:cs typeface="B Nazanin" panose="00000400000000000000" pitchFamily="2" charset="-78"/>
            </a:endParaRPr>
          </a:p>
          <a:p>
            <a:pPr algn="r" rtl="1">
              <a:buNone/>
            </a:pPr>
            <a:endParaRPr lang="en-US" sz="2400" b="0" dirty="0" smtClean="0">
              <a:cs typeface="B Nazanin" panose="00000400000000000000" pitchFamily="2" charset="-78"/>
            </a:endParaRPr>
          </a:p>
          <a:p>
            <a:pPr algn="r" rtl="1">
              <a:buNone/>
            </a:pPr>
            <a:r>
              <a:rPr lang="fa-IR" sz="2400" dirty="0" smtClean="0">
                <a:cs typeface="B Nazanin" panose="00000400000000000000" pitchFamily="2" charset="-78"/>
              </a:rPr>
              <a:t>بازدهی یک فرآیند نرم افزاری را به طور غیر مستقیم اندازه گیری میکنیم</a:t>
            </a:r>
            <a:r>
              <a:rPr lang="fa-IR" sz="2400" dirty="0" smtClean="0">
                <a:solidFill>
                  <a:srgbClr val="00B050"/>
                </a:solidFill>
                <a:cs typeface="B Nazanin" panose="00000400000000000000" pitchFamily="2" charset="-78"/>
              </a:rPr>
              <a:t>(توضیح)</a:t>
            </a:r>
          </a:p>
          <a:p>
            <a:pPr algn="r" rtl="1"/>
            <a:endParaRPr lang="en-US" sz="2400" b="0" dirty="0">
              <a:cs typeface="B Nazanin" panose="00000400000000000000" pitchFamily="2" charset="-78"/>
            </a:endParaRPr>
          </a:p>
          <a:p>
            <a:pPr algn="r" rtl="1"/>
            <a:endParaRPr lang="fa-IR" sz="2400" b="0" dirty="0">
              <a:cs typeface="B Nazanin" panose="00000400000000000000" pitchFamily="2" charset="-78"/>
            </a:endParaRPr>
          </a:p>
          <a:p>
            <a:pPr marL="0" indent="0">
              <a:buNone/>
            </a:pPr>
            <a:endParaRPr lang="en-US" sz="240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277" y="1425093"/>
            <a:ext cx="3306513" cy="2990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4832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8" y="439738"/>
            <a:ext cx="8726800" cy="706482"/>
          </a:xfrm>
        </p:spPr>
        <p:txBody>
          <a:bodyPr>
            <a:normAutofit fontScale="90000"/>
          </a:bodyPr>
          <a:lstStyle/>
          <a:p>
            <a:pPr marL="457200" indent="-457200" algn="r" rtl="1">
              <a:buFont typeface="Wingdings" pitchFamily="2" charset="2"/>
              <a:buChar char="v"/>
            </a:pPr>
            <a:r>
              <a:rPr lang="fa-IR" dirty="0" smtClean="0">
                <a:solidFill>
                  <a:srgbClr val="FF0000"/>
                </a:solidFill>
                <a:effectLst/>
                <a:cs typeface="B Nazanin" panose="00000400000000000000" pitchFamily="2" charset="-78"/>
              </a:rPr>
              <a:t>انواع داده های قابل حصول از فرآیند:</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128156" y="1094704"/>
            <a:ext cx="7809782" cy="5175921"/>
          </a:xfrm>
        </p:spPr>
        <p:txBody>
          <a:bodyPr>
            <a:normAutofit fontScale="85000" lnSpcReduction="10000"/>
          </a:bodyPr>
          <a:lstStyle/>
          <a:p>
            <a:pPr marL="457200" indent="-457200" algn="just" rtl="1">
              <a:buFont typeface="+mj-lt"/>
              <a:buAutoNum type="arabicParenR"/>
            </a:pPr>
            <a:endParaRPr lang="fa-IR" dirty="0">
              <a:cs typeface="B Nazanin" panose="00000400000000000000" pitchFamily="2" charset="-78"/>
            </a:endParaRPr>
          </a:p>
          <a:p>
            <a:pPr marL="457200" indent="-457200" algn="just" rtl="1">
              <a:buFont typeface="+mj-lt"/>
              <a:buAutoNum type="arabicParenR"/>
            </a:pPr>
            <a:r>
              <a:rPr lang="fa-IR" dirty="0" smtClean="0">
                <a:cs typeface="B Nazanin" panose="00000400000000000000" pitchFamily="2" charset="-78"/>
              </a:rPr>
              <a:t>فرایند نرم افزار شخصی (</a:t>
            </a:r>
            <a:r>
              <a:rPr lang="en-US" dirty="0" smtClean="0">
                <a:cs typeface="B Nazanin" panose="00000400000000000000" pitchFamily="2" charset="-78"/>
              </a:rPr>
              <a:t>psp</a:t>
            </a:r>
            <a:r>
              <a:rPr lang="fa-IR" dirty="0" smtClean="0">
                <a:cs typeface="B Nazanin" panose="00000400000000000000" pitchFamily="2" charset="-78"/>
              </a:rPr>
              <a:t>): </a:t>
            </a:r>
            <a:r>
              <a:rPr lang="fa-IR" b="0" dirty="0" smtClean="0">
                <a:cs typeface="B Nazanin" panose="00000400000000000000" pitchFamily="2" charset="-78"/>
              </a:rPr>
              <a:t>یک مجموعه ساخت یافته از توصیفات فرآیند اندازه گیری ها و روشهایی است که میتواند به مهندسان کمک کند تا کارایی شخصی خویش را بهبود بخشند.این فرآیند، فرم ها،نوشتارها و استاندارد هایی را فراهم میاورد که در برآورد و طرح ریزی کارشان کمک میکند. در این نوع فرایند،روشی که برای یک مهندس مفید است برای مهندس دیگر مناسب نمیباشد.</a:t>
            </a:r>
          </a:p>
          <a:p>
            <a:pPr marL="457200" indent="-457200" algn="just" rtl="1">
              <a:buFont typeface="+mj-lt"/>
              <a:buAutoNum type="arabicParenR"/>
            </a:pPr>
            <a:endParaRPr lang="fa-IR" b="0" dirty="0">
              <a:cs typeface="B Nazanin" panose="00000400000000000000" pitchFamily="2" charset="-78"/>
            </a:endParaRPr>
          </a:p>
          <a:p>
            <a:pPr marL="457200" indent="-457200" algn="just" rtl="1">
              <a:buFont typeface="+mj-lt"/>
              <a:buAutoNum type="arabicParenR"/>
            </a:pPr>
            <a:r>
              <a:rPr lang="fa-IR" dirty="0" smtClean="0">
                <a:cs typeface="B Nazanin" panose="00000400000000000000" pitchFamily="2" charset="-78"/>
              </a:rPr>
              <a:t>معیارهای عمومی فرآیند: </a:t>
            </a:r>
          </a:p>
          <a:p>
            <a:pPr algn="just" rtl="1">
              <a:buNone/>
            </a:pPr>
            <a:r>
              <a:rPr lang="fa-IR" dirty="0">
                <a:cs typeface="B Nazanin" panose="00000400000000000000" pitchFamily="2" charset="-78"/>
              </a:rPr>
              <a:t> </a:t>
            </a:r>
            <a:r>
              <a:rPr lang="fa-IR" b="0" dirty="0" smtClean="0">
                <a:cs typeface="B Nazanin" panose="00000400000000000000" pitchFamily="2" charset="-78"/>
              </a:rPr>
              <a:t>قادر به ارتقا فرآیند سازمانی میباشد و ممکن است برای افراد یا تیمی خصوصی باشد ولی برای همه اعضای تیم عمومی هستند</a:t>
            </a:r>
          </a:p>
          <a:p>
            <a:pPr marL="0" indent="0" algn="just" rtl="1">
              <a:buNone/>
            </a:pPr>
            <a:r>
              <a:rPr lang="fa-IR" b="0" dirty="0">
                <a:solidFill>
                  <a:srgbClr val="002060"/>
                </a:solidFill>
                <a:cs typeface="B Nazanin" panose="00000400000000000000" pitchFamily="2" charset="-78"/>
              </a:rPr>
              <a:t> </a:t>
            </a:r>
            <a:r>
              <a:rPr lang="fa-IR" b="0" dirty="0" smtClean="0">
                <a:solidFill>
                  <a:srgbClr val="FFC000"/>
                </a:solidFill>
                <a:cs typeface="B Nazanin" panose="00000400000000000000" pitchFamily="2" charset="-78"/>
              </a:rPr>
              <a:t>مثل نرخ خطا های موجود در سطح پروژه</a:t>
            </a:r>
            <a:endParaRPr lang="fa-IR" dirty="0" smtClean="0">
              <a:solidFill>
                <a:srgbClr val="FFC000"/>
              </a:solidFill>
              <a:cs typeface="B Nazanin" panose="00000400000000000000" pitchFamily="2" charset="-78"/>
            </a:endParaRPr>
          </a:p>
        </p:txBody>
      </p:sp>
      <p:sp>
        <p:nvSpPr>
          <p:cNvPr id="6" name="Right Brace 5"/>
          <p:cNvSpPr/>
          <p:nvPr/>
        </p:nvSpPr>
        <p:spPr bwMode="auto">
          <a:xfrm>
            <a:off x="6040192" y="6568225"/>
            <a:ext cx="1287887" cy="289775"/>
          </a:xfrm>
          <a:prstGeom prst="rightBrac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itchFamily="18" charset="0"/>
              <a:ea typeface="굴림" pitchFamily="34" charset="-127"/>
            </a:endParaRPr>
          </a:p>
        </p:txBody>
      </p:sp>
      <p:sp>
        <p:nvSpPr>
          <p:cNvPr id="7" name="Flowchart: Multidocument 6"/>
          <p:cNvSpPr/>
          <p:nvPr/>
        </p:nvSpPr>
        <p:spPr bwMode="auto">
          <a:xfrm>
            <a:off x="4327301" y="2537139"/>
            <a:ext cx="3657600" cy="1004552"/>
          </a:xfrm>
          <a:prstGeom prst="flowChartMultidocumen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smtClean="0">
              <a:ln>
                <a:noFill/>
              </a:ln>
              <a:solidFill>
                <a:schemeClr val="bg1"/>
              </a:solidFill>
              <a:effectLst>
                <a:outerShdw blurRad="38100" dist="38100" dir="2700000" algn="tl">
                  <a:srgbClr val="000000">
                    <a:alpha val="43137"/>
                  </a:srgbClr>
                </a:outerShdw>
              </a:effectLst>
              <a:latin typeface="Times New Roman" pitchFamily="18" charset="0"/>
              <a:ea typeface="굴림" pitchFamily="34" charset="-127"/>
            </a:endParaRPr>
          </a:p>
        </p:txBody>
      </p:sp>
    </p:spTree>
    <p:extLst>
      <p:ext uri="{BB962C8B-B14F-4D97-AF65-F5344CB8AC3E}">
        <p14:creationId xmlns:p14="http://schemas.microsoft.com/office/powerpoint/2010/main" val="299798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8" y="439737"/>
            <a:ext cx="8932862" cy="796635"/>
          </a:xfrm>
        </p:spPr>
        <p:txBody>
          <a:bodyPr>
            <a:normAutofit/>
          </a:bodyPr>
          <a:lstStyle/>
          <a:p>
            <a:pPr marL="457200" indent="-457200" algn="r" rtl="1">
              <a:buFont typeface="Wingdings" pitchFamily="2" charset="2"/>
              <a:buChar char="v"/>
            </a:pPr>
            <a:r>
              <a:rPr lang="fa-IR" sz="3600" dirty="0" smtClean="0">
                <a:solidFill>
                  <a:srgbClr val="FF0000"/>
                </a:solidFill>
                <a:effectLst/>
                <a:cs typeface="B Nazanin" panose="00000400000000000000" pitchFamily="2" charset="-78"/>
              </a:rPr>
              <a:t>برچسبهای متریکهای نرم افزاری مناسب برای مدیران</a:t>
            </a:r>
            <a:endParaRPr lang="en-US" sz="3600"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104406" y="1293876"/>
            <a:ext cx="7859290" cy="5469123"/>
          </a:xfrm>
        </p:spPr>
        <p:txBody>
          <a:bodyPr>
            <a:normAutofit/>
          </a:bodyPr>
          <a:lstStyle/>
          <a:p>
            <a:pPr algn="r" rtl="1">
              <a:lnSpc>
                <a:spcPct val="150000"/>
              </a:lnSpc>
              <a:buFont typeface="Wingdings" pitchFamily="2" charset="2"/>
              <a:buChar char="§"/>
            </a:pPr>
            <a:r>
              <a:rPr lang="en-US" sz="2400" dirty="0" smtClean="0">
                <a:cs typeface="B Nazanin" panose="00000400000000000000" pitchFamily="2" charset="-78"/>
              </a:rPr>
              <a:t> </a:t>
            </a:r>
            <a:r>
              <a:rPr lang="fa-IR" sz="2300" b="0" dirty="0" smtClean="0">
                <a:cs typeface="B Nazanin" panose="00000400000000000000" pitchFamily="2" charset="-78"/>
              </a:rPr>
              <a:t>استفاده از عقل سلیم و حساسیت سازمانی به هنگام تفسیر داده های معماری</a:t>
            </a:r>
          </a:p>
          <a:p>
            <a:pPr algn="r" rtl="1">
              <a:lnSpc>
                <a:spcPct val="150000"/>
              </a:lnSpc>
              <a:buFont typeface="Wingdings" pitchFamily="2" charset="2"/>
              <a:buChar char="§"/>
            </a:pPr>
            <a:r>
              <a:rPr lang="fa-IR" sz="2300" b="0" dirty="0" smtClean="0">
                <a:cs typeface="B Nazanin" panose="00000400000000000000" pitchFamily="2" charset="-78"/>
              </a:rPr>
              <a:t>تهیه بازخورد از افراد و تیم ها که برای جمع آوری موازین و معیارها کار کرده اند</a:t>
            </a:r>
          </a:p>
          <a:p>
            <a:pPr algn="r" rtl="1">
              <a:lnSpc>
                <a:spcPct val="150000"/>
              </a:lnSpc>
              <a:buFont typeface="Wingdings" pitchFamily="2" charset="2"/>
              <a:buChar char="§"/>
            </a:pPr>
            <a:r>
              <a:rPr lang="fa-IR" sz="2300" b="0" dirty="0" smtClean="0">
                <a:cs typeface="B Nazanin" panose="00000400000000000000" pitchFamily="2" charset="-78"/>
              </a:rPr>
              <a:t>عدم استفاده از معیارها برای ارزیابی افراد</a:t>
            </a:r>
          </a:p>
          <a:p>
            <a:pPr algn="r" rtl="1">
              <a:lnSpc>
                <a:spcPct val="150000"/>
              </a:lnSpc>
              <a:buFont typeface="Wingdings" pitchFamily="2" charset="2"/>
              <a:buChar char="§"/>
            </a:pPr>
            <a:r>
              <a:rPr lang="fa-IR" sz="2300" b="0" dirty="0" smtClean="0">
                <a:cs typeface="B Nazanin" panose="00000400000000000000" pitchFamily="2" charset="-78"/>
              </a:rPr>
              <a:t>کار با سازندگان و تیمها برای تعیین اهداف </a:t>
            </a:r>
          </a:p>
          <a:p>
            <a:pPr algn="r" rtl="1">
              <a:lnSpc>
                <a:spcPct val="150000"/>
              </a:lnSpc>
              <a:buFont typeface="Wingdings" pitchFamily="2" charset="2"/>
              <a:buChar char="§"/>
            </a:pPr>
            <a:r>
              <a:rPr lang="fa-IR" sz="2300" b="0" dirty="0" smtClean="0">
                <a:cs typeface="B Nazanin" panose="00000400000000000000" pitchFamily="2" charset="-78"/>
              </a:rPr>
              <a:t>عدم استفاده از معیارها برای  تهدید افراد یا تیمها</a:t>
            </a:r>
          </a:p>
          <a:p>
            <a:pPr algn="r" rtl="1">
              <a:lnSpc>
                <a:spcPct val="150000"/>
              </a:lnSpc>
              <a:buFont typeface="Wingdings" pitchFamily="2" charset="2"/>
              <a:buChar char="§"/>
            </a:pPr>
            <a:r>
              <a:rPr lang="fa-IR" sz="2300" b="0" dirty="0" smtClean="0">
                <a:cs typeface="B Nazanin" panose="00000400000000000000" pitchFamily="2" charset="-78"/>
              </a:rPr>
              <a:t>داده های معیاری که نشانگر یک زمینه مشکل دار هستند نباید «منفی» انگاشته شوند</a:t>
            </a:r>
          </a:p>
          <a:p>
            <a:pPr algn="r" rtl="1">
              <a:lnSpc>
                <a:spcPct val="150000"/>
              </a:lnSpc>
              <a:buFont typeface="Wingdings" pitchFamily="2" charset="2"/>
              <a:buChar char="§"/>
            </a:pPr>
            <a:r>
              <a:rPr lang="fa-IR" sz="2300" b="0" dirty="0" smtClean="0">
                <a:cs typeface="B Nazanin" panose="00000400000000000000" pitchFamily="2" charset="-78"/>
              </a:rPr>
              <a:t>تنها به یک معیار تکیه نکنید</a:t>
            </a:r>
            <a:endParaRPr lang="en-US" sz="2300" b="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a:p>
        </p:txBody>
      </p:sp>
    </p:spTree>
    <p:extLst>
      <p:ext uri="{BB962C8B-B14F-4D97-AF65-F5344CB8AC3E}">
        <p14:creationId xmlns:p14="http://schemas.microsoft.com/office/powerpoint/2010/main" val="356372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439738"/>
            <a:ext cx="8649527" cy="680724"/>
          </a:xfrm>
        </p:spPr>
        <p:txBody>
          <a:bodyPr>
            <a:normAutofit fontScale="90000"/>
          </a:bodyPr>
          <a:lstStyle/>
          <a:p>
            <a:pPr algn="r" rtl="1"/>
            <a:r>
              <a:rPr lang="fa-IR" dirty="0" smtClean="0"/>
              <a:t/>
            </a:r>
            <a:br>
              <a:rPr lang="fa-IR" dirty="0" smtClean="0"/>
            </a:br>
            <a:endParaRPr lang="en-US" dirty="0"/>
          </a:p>
        </p:txBody>
      </p:sp>
      <p:sp>
        <p:nvSpPr>
          <p:cNvPr id="3" name="Content Placeholder 2"/>
          <p:cNvSpPr>
            <a:spLocks noGrp="1"/>
          </p:cNvSpPr>
          <p:nvPr>
            <p:ph idx="1"/>
          </p:nvPr>
        </p:nvSpPr>
        <p:spPr>
          <a:xfrm>
            <a:off x="1341912" y="579549"/>
            <a:ext cx="7428600" cy="5691076"/>
          </a:xfrm>
        </p:spPr>
        <p:txBody>
          <a:bodyPr>
            <a:normAutofit fontScale="77500" lnSpcReduction="20000"/>
          </a:bodyPr>
          <a:lstStyle/>
          <a:p>
            <a:pPr algn="r" rtl="1">
              <a:buFont typeface="Wingdings" pitchFamily="2" charset="2"/>
              <a:buChar char="v"/>
            </a:pPr>
            <a:r>
              <a:rPr lang="fa-IR" sz="4600" dirty="0" smtClean="0">
                <a:solidFill>
                  <a:srgbClr val="FF0000"/>
                </a:solidFill>
                <a:cs typeface="B Nazanin" panose="00000400000000000000" pitchFamily="2" charset="-78"/>
              </a:rPr>
              <a:t>بهبود آماری فرآیند نرم افزاری (</a:t>
            </a:r>
            <a:r>
              <a:rPr lang="en-US" sz="4600" dirty="0" smtClean="0">
                <a:solidFill>
                  <a:srgbClr val="FF0000"/>
                </a:solidFill>
                <a:cs typeface="B Nazanin" panose="00000400000000000000" pitchFamily="2" charset="-78"/>
              </a:rPr>
              <a:t>SSPI</a:t>
            </a:r>
            <a:r>
              <a:rPr lang="fa-IR" sz="4600" dirty="0" smtClean="0">
                <a:solidFill>
                  <a:srgbClr val="FF0000"/>
                </a:solidFill>
                <a:cs typeface="B Nazanin" panose="00000400000000000000" pitchFamily="2" charset="-78"/>
              </a:rPr>
              <a:t>)</a:t>
            </a:r>
          </a:p>
          <a:p>
            <a:pPr algn="r" rtl="1"/>
            <a:endParaRPr lang="fa-IR" dirty="0" smtClean="0">
              <a:cs typeface="B Nazanin" panose="00000400000000000000" pitchFamily="2" charset="-78"/>
            </a:endParaRPr>
          </a:p>
          <a:p>
            <a:pPr marL="0" indent="0" algn="r" rtl="1">
              <a:buNone/>
            </a:pPr>
            <a:endParaRPr lang="fa-IR" b="0" dirty="0" smtClean="0">
              <a:cs typeface="B Nazanin" panose="00000400000000000000" pitchFamily="2" charset="-78"/>
            </a:endParaRPr>
          </a:p>
          <a:p>
            <a:pPr marL="0" indent="0" algn="just" rtl="1">
              <a:buNone/>
            </a:pPr>
            <a:r>
              <a:rPr lang="fa-IR" b="0" dirty="0" smtClean="0">
                <a:cs typeface="B Nazanin" panose="00000400000000000000" pitchFamily="2" charset="-78"/>
              </a:rPr>
              <a:t>در اصل</a:t>
            </a:r>
            <a:r>
              <a:rPr lang="en-US" b="0" dirty="0" smtClean="0">
                <a:cs typeface="B Nazanin" panose="00000400000000000000" pitchFamily="2" charset="-78"/>
              </a:rPr>
              <a:t>SSPI</a:t>
            </a:r>
            <a:r>
              <a:rPr lang="fa-IR" b="0" dirty="0" smtClean="0">
                <a:cs typeface="B Nazanin" panose="00000400000000000000" pitchFamily="2" charset="-78"/>
              </a:rPr>
              <a:t>(پیشرفت فرایند نرم افزاری آماری)</a:t>
            </a:r>
            <a:r>
              <a:rPr lang="en-US" b="0" dirty="0" smtClean="0">
                <a:cs typeface="B Nazanin" panose="00000400000000000000" pitchFamily="2" charset="-78"/>
              </a:rPr>
              <a:t> </a:t>
            </a:r>
            <a:r>
              <a:rPr lang="fa-IR" b="0" dirty="0" smtClean="0">
                <a:cs typeface="B Nazanin" panose="00000400000000000000" pitchFamily="2" charset="-78"/>
              </a:rPr>
              <a:t>از تحلیل شکست نرم افزار برای جمع آوری داده های مربوط به همه  خطاها و نقایص مشاهده شده در اثنای توسعه و به کار گیری سیستم یا محصول استفاده میکند.</a:t>
            </a:r>
          </a:p>
          <a:p>
            <a:pPr marL="0" indent="0" algn="r" rtl="1">
              <a:buNone/>
            </a:pPr>
            <a:endParaRPr lang="fa-IR" b="0" dirty="0" smtClean="0">
              <a:cs typeface="B Nazanin" panose="00000400000000000000" pitchFamily="2" charset="-78"/>
            </a:endParaRPr>
          </a:p>
          <a:p>
            <a:pPr algn="r" rtl="1">
              <a:buFont typeface="Wingdings" pitchFamily="2" charset="2"/>
              <a:buChar char="v"/>
            </a:pPr>
            <a:r>
              <a:rPr lang="fa-IR" dirty="0" smtClean="0">
                <a:solidFill>
                  <a:srgbClr val="FF0000"/>
                </a:solidFill>
                <a:cs typeface="B Nazanin" panose="00000400000000000000" pitchFamily="2" charset="-78"/>
              </a:rPr>
              <a:t>نحوه عملکرد تحلیل خرابی (شکست)</a:t>
            </a:r>
          </a:p>
          <a:p>
            <a:pPr marL="457200" indent="-457200" algn="r" rtl="1">
              <a:buFont typeface="+mj-lt"/>
              <a:buAutoNum type="arabicPeriod"/>
            </a:pPr>
            <a:r>
              <a:rPr lang="fa-IR" b="0" dirty="0" smtClean="0">
                <a:cs typeface="B Nazanin" panose="00000400000000000000" pitchFamily="2" charset="-78"/>
              </a:rPr>
              <a:t>همه خطاها و نقایص بر حسب منشا ،دسته بندی میشوند</a:t>
            </a:r>
          </a:p>
          <a:p>
            <a:pPr marL="457200" indent="-457200" algn="r" rtl="1">
              <a:buFont typeface="+mj-lt"/>
              <a:buAutoNum type="arabicPeriod"/>
            </a:pPr>
            <a:r>
              <a:rPr lang="fa-IR" b="0" dirty="0" smtClean="0">
                <a:cs typeface="B Nazanin" panose="00000400000000000000" pitchFamily="2" charset="-78"/>
              </a:rPr>
              <a:t>هزینه تصحیح  هر خطا و نقص ثبت میشود</a:t>
            </a:r>
          </a:p>
          <a:p>
            <a:pPr marL="457200" indent="-457200" algn="r" rtl="1">
              <a:buFont typeface="+mj-lt"/>
              <a:buAutoNum type="arabicPeriod"/>
            </a:pPr>
            <a:r>
              <a:rPr lang="fa-IR" sz="2900" b="0" dirty="0" smtClean="0">
                <a:cs typeface="B Nazanin" panose="00000400000000000000" pitchFamily="2" charset="-78"/>
              </a:rPr>
              <a:t>تعداد خطاها و نقایص در هر دسته شمارش و به ترتیب نزولی مرتب میشوند</a:t>
            </a:r>
          </a:p>
          <a:p>
            <a:pPr marL="457200" indent="-457200" algn="r" rtl="1">
              <a:buFont typeface="+mj-lt"/>
              <a:buAutoNum type="arabicPeriod"/>
            </a:pPr>
            <a:r>
              <a:rPr lang="fa-IR" b="0" dirty="0" smtClean="0">
                <a:cs typeface="B Nazanin" panose="00000400000000000000" pitchFamily="2" charset="-78"/>
              </a:rPr>
              <a:t>هزینه کلی خطا و نقایص در هر گروه محاسبه میشود </a:t>
            </a:r>
          </a:p>
          <a:p>
            <a:pPr marL="457200" indent="-457200" algn="r" rtl="1">
              <a:buFont typeface="+mj-lt"/>
              <a:buAutoNum type="arabicPeriod"/>
            </a:pPr>
            <a:r>
              <a:rPr lang="fa-IR" b="0" dirty="0" smtClean="0">
                <a:cs typeface="B Nazanin" panose="00000400000000000000" pitchFamily="2" charset="-78"/>
              </a:rPr>
              <a:t>داده های حاصل مورد تحلیل قرار میگیرند</a:t>
            </a:r>
          </a:p>
          <a:p>
            <a:pPr marL="457200" indent="-457200" algn="r" rtl="1">
              <a:buFont typeface="+mj-lt"/>
              <a:buAutoNum type="arabicPeriod"/>
            </a:pPr>
            <a:r>
              <a:rPr lang="fa-IR" b="0" dirty="0" smtClean="0">
                <a:cs typeface="B Nazanin" panose="00000400000000000000" pitchFamily="2" charset="-78"/>
              </a:rPr>
              <a:t>تدابیری برای اصلاح فرآیند اندیشیده میشود</a:t>
            </a:r>
          </a:p>
          <a:p>
            <a:pPr marL="457200" indent="-457200" algn="r" rtl="1">
              <a:buFont typeface="+mj-lt"/>
              <a:buAutoNum type="arabicPeriod"/>
            </a:pPr>
            <a:endParaRPr lang="fa-IR" b="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fa-IR" altLang="ko-KR" dirty="0" smtClean="0"/>
          </a:p>
          <a:p>
            <a:endParaRPr lang="fa-IR" altLang="ko-KR" dirty="0"/>
          </a:p>
          <a:p>
            <a:endParaRPr lang="en-US" altLang="ko-KR" dirty="0"/>
          </a:p>
        </p:txBody>
      </p:sp>
    </p:spTree>
    <p:extLst>
      <p:ext uri="{BB962C8B-B14F-4D97-AF65-F5344CB8AC3E}">
        <p14:creationId xmlns:p14="http://schemas.microsoft.com/office/powerpoint/2010/main" val="1416887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Effect transition="in" filter="fade">
                                      <p:cBhvr>
                                        <p:cTn id="41"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نمودار استخوان ماهی</a:t>
            </a:r>
            <a:endParaRPr lang="en-US" dirty="0"/>
          </a:p>
        </p:txBody>
      </p:sp>
      <p:pic>
        <p:nvPicPr>
          <p:cNvPr id="5" name="Content Placeholder 4"/>
          <p:cNvPicPr>
            <a:picLocks noGrp="1" noChangeAspect="1"/>
          </p:cNvPicPr>
          <p:nvPr>
            <p:ph idx="1"/>
          </p:nvPr>
        </p:nvPicPr>
        <p:blipFill>
          <a:blip r:embed="rId2"/>
          <a:stretch>
            <a:fillRect/>
          </a:stretch>
        </p:blipFill>
        <p:spPr>
          <a:xfrm>
            <a:off x="1435100" y="1491073"/>
            <a:ext cx="7499350" cy="4714053"/>
          </a:xfrm>
          <a:prstGeom prst="rect">
            <a:avLst/>
          </a:prstGeom>
        </p:spPr>
      </p:pic>
      <p:sp>
        <p:nvSpPr>
          <p:cNvPr id="4" name="Footer Placeholder 3"/>
          <p:cNvSpPr>
            <a:spLocks noGrp="1"/>
          </p:cNvSpPr>
          <p:nvPr>
            <p:ph type="ftr" sz="quarter" idx="11"/>
          </p:nvPr>
        </p:nvSpPr>
        <p:spPr/>
        <p:txBody>
          <a:bodyPr/>
          <a:lstStyle/>
          <a:p>
            <a:r>
              <a:rPr lang="en-US" altLang="ko-KR" smtClean="0"/>
              <a:t>Company Logo</a:t>
            </a:r>
            <a:endParaRPr lang="en-US" altLang="ko-KR"/>
          </a:p>
        </p:txBody>
      </p:sp>
    </p:spTree>
    <p:extLst>
      <p:ext uri="{BB962C8B-B14F-4D97-AF65-F5344CB8AC3E}">
        <p14:creationId xmlns:p14="http://schemas.microsoft.com/office/powerpoint/2010/main" val="6425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439738"/>
            <a:ext cx="8804073" cy="577693"/>
          </a:xfrm>
        </p:spPr>
        <p:txBody>
          <a:bodyPr>
            <a:normAutofit fontScale="90000"/>
          </a:bodyPr>
          <a:lstStyle/>
          <a:p>
            <a:pPr marL="457200" indent="-457200" algn="r" rtl="1">
              <a:buFont typeface="Wingdings" pitchFamily="2" charset="2"/>
              <a:buChar char="v"/>
            </a:pPr>
            <a:r>
              <a:rPr lang="fa-IR" dirty="0" smtClean="0">
                <a:solidFill>
                  <a:srgbClr val="FF0000"/>
                </a:solidFill>
                <a:effectLst/>
              </a:rPr>
              <a:t>معیار های پروژه</a:t>
            </a:r>
            <a:endParaRPr lang="en-US" dirty="0">
              <a:solidFill>
                <a:srgbClr val="FF0000"/>
              </a:solidFill>
              <a:effectLst/>
            </a:endParaRPr>
          </a:p>
        </p:txBody>
      </p:sp>
      <p:sp>
        <p:nvSpPr>
          <p:cNvPr id="3" name="Content Placeholder 2"/>
          <p:cNvSpPr>
            <a:spLocks noGrp="1"/>
          </p:cNvSpPr>
          <p:nvPr>
            <p:ph idx="1"/>
          </p:nvPr>
        </p:nvSpPr>
        <p:spPr>
          <a:xfrm>
            <a:off x="1068778" y="1146220"/>
            <a:ext cx="7933553" cy="5124405"/>
          </a:xfrm>
        </p:spPr>
        <p:txBody>
          <a:bodyPr>
            <a:normAutofit fontScale="92500" lnSpcReduction="10000"/>
          </a:bodyPr>
          <a:lstStyle/>
          <a:p>
            <a:pPr algn="r" rtl="1"/>
            <a:r>
              <a:rPr lang="fa-IR" b="0" dirty="0">
                <a:cs typeface="B Nazanin" panose="00000400000000000000" pitchFamily="2" charset="-78"/>
              </a:rPr>
              <a:t>دانستیم </a:t>
            </a:r>
            <a:r>
              <a:rPr lang="fa-IR" b="0" dirty="0" smtClean="0">
                <a:cs typeface="B Nazanin" panose="00000400000000000000" pitchFamily="2" charset="-78"/>
              </a:rPr>
              <a:t>متريكھای </a:t>
            </a:r>
            <a:r>
              <a:rPr lang="fa-IR" dirty="0">
                <a:cs typeface="B Nazanin" panose="00000400000000000000" pitchFamily="2" charset="-78"/>
              </a:rPr>
              <a:t>فرآيند </a:t>
            </a:r>
            <a:r>
              <a:rPr lang="fa-IR" b="0" dirty="0">
                <a:cs typeface="B Nazanin" panose="00000400000000000000" pitchFamily="2" charset="-78"/>
              </a:rPr>
              <a:t>براي مقاصد </a:t>
            </a:r>
            <a:r>
              <a:rPr lang="fa-IR" dirty="0">
                <a:cs typeface="B Nazanin" panose="00000400000000000000" pitchFamily="2" charset="-78"/>
              </a:rPr>
              <a:t>راھبردي </a:t>
            </a:r>
            <a:r>
              <a:rPr lang="fa-IR" b="0" dirty="0">
                <a:cs typeface="B Nazanin" panose="00000400000000000000" pitchFamily="2" charset="-78"/>
              </a:rPr>
              <a:t>(و بلند مدت) استفاده مي </a:t>
            </a:r>
            <a:r>
              <a:rPr lang="fa-IR" b="0" dirty="0" smtClean="0">
                <a:cs typeface="B Nazanin" panose="00000400000000000000" pitchFamily="2" charset="-78"/>
              </a:rPr>
              <a:t>شدند. اندازه </a:t>
            </a:r>
            <a:r>
              <a:rPr lang="fa-IR" b="0" dirty="0">
                <a:cs typeface="B Nazanin" panose="00000400000000000000" pitchFamily="2" charset="-78"/>
              </a:rPr>
              <a:t>ھاي پروژه </a:t>
            </a:r>
            <a:r>
              <a:rPr lang="fa-IR" dirty="0">
                <a:cs typeface="B Nazanin" panose="00000400000000000000" pitchFamily="2" charset="-78"/>
              </a:rPr>
              <a:t>تاكتیكي </a:t>
            </a:r>
            <a:r>
              <a:rPr lang="fa-IR" b="0" dirty="0">
                <a:cs typeface="B Nazanin" panose="00000400000000000000" pitchFamily="2" charset="-78"/>
              </a:rPr>
              <a:t>ھستند ،يعني متريكھاي حاصله براي تطبیق جريان كار پروژه و فعالیتھاي </a:t>
            </a:r>
            <a:r>
              <a:rPr lang="fa-IR" b="0" dirty="0" smtClean="0">
                <a:cs typeface="B Nazanin" panose="00000400000000000000" pitchFamily="2" charset="-78"/>
              </a:rPr>
              <a:t>تكنیكي، </a:t>
            </a:r>
            <a:r>
              <a:rPr lang="fa-IR" b="0" dirty="0">
                <a:cs typeface="B Nazanin" panose="00000400000000000000" pitchFamily="2" charset="-78"/>
              </a:rPr>
              <a:t>توسط يك مدير پروژه </a:t>
            </a:r>
            <a:r>
              <a:rPr lang="fa-IR" b="0" dirty="0" smtClean="0">
                <a:cs typeface="B Nazanin" panose="00000400000000000000" pitchFamily="2" charset="-78"/>
              </a:rPr>
              <a:t>وتیم </a:t>
            </a:r>
            <a:r>
              <a:rPr lang="fa-IR" b="0" dirty="0">
                <a:cs typeface="B Nazanin" panose="00000400000000000000" pitchFamily="2" charset="-78"/>
              </a:rPr>
              <a:t>نرم افزار مورد استفاده </a:t>
            </a:r>
            <a:r>
              <a:rPr lang="fa-IR" b="0" dirty="0" smtClean="0">
                <a:cs typeface="B Nazanin" panose="00000400000000000000" pitchFamily="2" charset="-78"/>
              </a:rPr>
              <a:t>قرار </a:t>
            </a:r>
            <a:r>
              <a:rPr lang="fa-IR" b="0" dirty="0">
                <a:cs typeface="B Nazanin" panose="00000400000000000000" pitchFamily="2" charset="-78"/>
              </a:rPr>
              <a:t>مي </a:t>
            </a:r>
            <a:r>
              <a:rPr lang="fa-IR" b="0" dirty="0" smtClean="0">
                <a:cs typeface="B Nazanin" panose="00000400000000000000" pitchFamily="2" charset="-78"/>
              </a:rPr>
              <a:t>گیرند.</a:t>
            </a:r>
          </a:p>
          <a:p>
            <a:pPr marL="0" indent="0" algn="r" rtl="1">
              <a:buNone/>
            </a:pPr>
            <a:endParaRPr lang="fa-IR" dirty="0">
              <a:cs typeface="B Nazanin" panose="00000400000000000000" pitchFamily="2" charset="-78"/>
            </a:endParaRPr>
          </a:p>
          <a:p>
            <a:pPr algn="r" rtl="1">
              <a:buFont typeface="Wingdings" pitchFamily="2" charset="2"/>
              <a:buChar char="v"/>
            </a:pPr>
            <a:r>
              <a:rPr lang="fa-IR" dirty="0" smtClean="0">
                <a:solidFill>
                  <a:srgbClr val="FF0000"/>
                </a:solidFill>
                <a:cs typeface="B Nazanin" panose="00000400000000000000" pitchFamily="2" charset="-78"/>
              </a:rPr>
              <a:t> اهداف معیار های پروژه</a:t>
            </a:r>
          </a:p>
          <a:p>
            <a:pPr marL="457200" indent="-457200" algn="r" rtl="1">
              <a:buFont typeface="+mj-lt"/>
              <a:buAutoNum type="arabicPeriod"/>
            </a:pPr>
            <a:r>
              <a:rPr lang="fa-IR" b="0" dirty="0" smtClean="0">
                <a:cs typeface="B Nazanin" panose="00000400000000000000" pitchFamily="2" charset="-78"/>
              </a:rPr>
              <a:t>معیار ها برای به حداقل رساندن زمانبندی توسعه به کار میروند</a:t>
            </a:r>
          </a:p>
          <a:p>
            <a:pPr marL="457200" indent="-457200" algn="r" rtl="1">
              <a:buFont typeface="+mj-lt"/>
              <a:buAutoNum type="arabicPeriod"/>
            </a:pPr>
            <a:r>
              <a:rPr lang="fa-IR" b="0" dirty="0" smtClean="0">
                <a:cs typeface="B Nazanin" panose="00000400000000000000" pitchFamily="2" charset="-78"/>
              </a:rPr>
              <a:t>معیار های پروژه برای ارزیابی کیفیت محصول بر پایه پیشرفت کارو در صورت نیاز، برای اصلاح روش فنی به کار میروند</a:t>
            </a:r>
            <a:r>
              <a:rPr lang="fa-IR" b="0" dirty="0" smtClean="0">
                <a:solidFill>
                  <a:srgbClr val="00B050"/>
                </a:solidFill>
                <a:cs typeface="B Nazanin" panose="00000400000000000000" pitchFamily="2" charset="-78"/>
              </a:rPr>
              <a:t>(توضیح)</a:t>
            </a:r>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spTree>
    <p:extLst>
      <p:ext uri="{BB962C8B-B14F-4D97-AF65-F5344CB8AC3E}">
        <p14:creationId xmlns:p14="http://schemas.microsoft.com/office/powerpoint/2010/main" val="130606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
            </a:r>
            <a:br>
              <a:rPr lang="fa-IR" dirty="0" smtClean="0"/>
            </a:br>
            <a:endParaRPr lang="en-US" dirty="0"/>
          </a:p>
        </p:txBody>
      </p:sp>
      <p:sp>
        <p:nvSpPr>
          <p:cNvPr id="3" name="Content Placeholder 2"/>
          <p:cNvSpPr>
            <a:spLocks noGrp="1"/>
          </p:cNvSpPr>
          <p:nvPr>
            <p:ph idx="1"/>
          </p:nvPr>
        </p:nvSpPr>
        <p:spPr>
          <a:xfrm>
            <a:off x="1033152" y="631064"/>
            <a:ext cx="7537737" cy="5691076"/>
          </a:xfrm>
        </p:spPr>
        <p:txBody>
          <a:bodyPr>
            <a:normAutofit fontScale="70000" lnSpcReduction="20000"/>
          </a:bodyPr>
          <a:lstStyle/>
          <a:p>
            <a:pPr algn="r" rtl="1">
              <a:buFont typeface="Wingdings" pitchFamily="2" charset="2"/>
              <a:buChar char="v"/>
            </a:pPr>
            <a:r>
              <a:rPr lang="fa-IR" sz="3400" dirty="0" smtClean="0">
                <a:solidFill>
                  <a:srgbClr val="FF0000"/>
                </a:solidFill>
                <a:cs typeface="B Nazanin" panose="00000400000000000000" pitchFamily="2" charset="-78"/>
              </a:rPr>
              <a:t>مواردی که یک پروژه باید اندازه گیری کند:</a:t>
            </a:r>
          </a:p>
          <a:p>
            <a:pPr marL="0" indent="0" algn="r" rtl="1">
              <a:buNone/>
            </a:pPr>
            <a:r>
              <a:rPr lang="fa-IR" dirty="0">
                <a:cs typeface="B Nazanin" panose="00000400000000000000" pitchFamily="2" charset="-78"/>
              </a:rPr>
              <a:t> </a:t>
            </a:r>
            <a:endParaRPr lang="fa-IR" dirty="0" smtClean="0">
              <a:cs typeface="B Nazanin" panose="00000400000000000000" pitchFamily="2" charset="-78"/>
            </a:endParaRPr>
          </a:p>
          <a:p>
            <a:pPr algn="r" rtl="1">
              <a:buFont typeface="Arial" pitchFamily="34" charset="0"/>
              <a:buChar char="•"/>
            </a:pPr>
            <a:r>
              <a:rPr lang="fa-IR" dirty="0" smtClean="0">
                <a:solidFill>
                  <a:srgbClr val="FF0000"/>
                </a:solidFill>
                <a:cs typeface="B Nazanin" panose="00000400000000000000" pitchFamily="2" charset="-78"/>
              </a:rPr>
              <a:t>ورودی ها: </a:t>
            </a:r>
            <a:r>
              <a:rPr lang="fa-IR" b="0" dirty="0" smtClean="0">
                <a:cs typeface="B Nazanin" panose="00000400000000000000" pitchFamily="2" charset="-78"/>
              </a:rPr>
              <a:t>اندازه منابع (یعنی افراد و محیط) که برای کار لازم است</a:t>
            </a:r>
          </a:p>
          <a:p>
            <a:pPr algn="r" rtl="1">
              <a:buFont typeface="Arial" pitchFamily="34" charset="0"/>
              <a:buChar char="•"/>
            </a:pPr>
            <a:r>
              <a:rPr lang="fa-IR" dirty="0" smtClean="0">
                <a:solidFill>
                  <a:srgbClr val="FF0000"/>
                </a:solidFill>
                <a:cs typeface="B Nazanin" panose="00000400000000000000" pitchFamily="2" charset="-78"/>
              </a:rPr>
              <a:t>خروجی ها</a:t>
            </a:r>
            <a:r>
              <a:rPr lang="fa-IR" dirty="0" smtClean="0">
                <a:cs typeface="B Nazanin" panose="00000400000000000000" pitchFamily="2" charset="-78"/>
              </a:rPr>
              <a:t>:</a:t>
            </a:r>
            <a:r>
              <a:rPr lang="fa-IR" b="0" dirty="0" smtClean="0">
                <a:cs typeface="B Nazanin" panose="00000400000000000000" pitchFamily="2" charset="-78"/>
              </a:rPr>
              <a:t>اندازه گیریهای قطعات قابل تحویل یا محصولات ایجاد شده در طی فرایند مهندسی نرم افزار</a:t>
            </a:r>
          </a:p>
          <a:p>
            <a:pPr algn="r" rtl="1">
              <a:buFont typeface="Arial" pitchFamily="34" charset="0"/>
              <a:buChar char="•"/>
            </a:pPr>
            <a:endParaRPr lang="fa-IR" b="0" dirty="0" smtClean="0">
              <a:cs typeface="B Nazanin" panose="00000400000000000000" pitchFamily="2" charset="-78"/>
            </a:endParaRPr>
          </a:p>
          <a:p>
            <a:pPr algn="r" rtl="1">
              <a:buFont typeface="Arial" pitchFamily="34" charset="0"/>
              <a:buChar char="•"/>
            </a:pPr>
            <a:r>
              <a:rPr lang="fa-IR" dirty="0" smtClean="0">
                <a:solidFill>
                  <a:srgbClr val="FF0000"/>
                </a:solidFill>
                <a:cs typeface="B Nazanin" panose="00000400000000000000" pitchFamily="2" charset="-78"/>
              </a:rPr>
              <a:t>نتایج</a:t>
            </a:r>
            <a:r>
              <a:rPr lang="fa-IR" dirty="0" smtClean="0">
                <a:cs typeface="B Nazanin" panose="00000400000000000000" pitchFamily="2" charset="-78"/>
              </a:rPr>
              <a:t>:</a:t>
            </a:r>
            <a:r>
              <a:rPr lang="fa-IR" b="0" dirty="0" smtClean="0">
                <a:cs typeface="B Nazanin" panose="00000400000000000000" pitchFamily="2" charset="-78"/>
              </a:rPr>
              <a:t>اندازه </a:t>
            </a:r>
            <a:r>
              <a:rPr lang="fa-IR" dirty="0" smtClean="0">
                <a:cs typeface="B Nazanin" panose="00000400000000000000" pitchFamily="2" charset="-78"/>
              </a:rPr>
              <a:t>گیری محصولات کاری یا قابل حمل که طی فرایند مهندسی تولید میشوند</a:t>
            </a:r>
            <a:endParaRPr lang="fa-IR" b="0" dirty="0" smtClean="0">
              <a:cs typeface="B Nazanin" panose="00000400000000000000" pitchFamily="2" charset="-78"/>
            </a:endParaRPr>
          </a:p>
          <a:p>
            <a:pPr marL="0" indent="0" algn="r" rtl="1">
              <a:buNone/>
            </a:pPr>
            <a:endParaRPr lang="fa-IR" b="0" dirty="0">
              <a:solidFill>
                <a:srgbClr val="FF0000"/>
              </a:solidFill>
              <a:cs typeface="B Nazanin" panose="00000400000000000000" pitchFamily="2" charset="-78"/>
            </a:endParaRPr>
          </a:p>
          <a:p>
            <a:pPr algn="r" rtl="1">
              <a:buFont typeface="Wingdings" pitchFamily="2" charset="2"/>
              <a:buChar char="v"/>
            </a:pPr>
            <a:r>
              <a:rPr lang="fa-IR" sz="3200" dirty="0" smtClean="0">
                <a:solidFill>
                  <a:srgbClr val="FF0000"/>
                </a:solidFill>
                <a:cs typeface="B Nazanin" panose="00000400000000000000" pitchFamily="2" charset="-78"/>
              </a:rPr>
              <a:t>اندازه گیری نرم افزار</a:t>
            </a:r>
          </a:p>
          <a:p>
            <a:pPr marL="457200" indent="-457200" algn="r" rtl="1">
              <a:buFont typeface="+mj-lt"/>
              <a:buAutoNum type="arabicPeriod"/>
            </a:pPr>
            <a:r>
              <a:rPr lang="fa-IR" dirty="0" smtClean="0">
                <a:cs typeface="B Nazanin" panose="00000400000000000000" pitchFamily="2" charset="-78"/>
              </a:rPr>
              <a:t>اندازه گیری مستقیم: </a:t>
            </a:r>
            <a:r>
              <a:rPr lang="fa-IR" b="0" dirty="0" smtClean="0">
                <a:cs typeface="B Nazanin" panose="00000400000000000000" pitchFamily="2" charset="-78"/>
              </a:rPr>
              <a:t>شامل هزینه و تلاش به کار رفته میباشد(خطوط کد، سرعت اجرا و اندازه حافظه)</a:t>
            </a:r>
          </a:p>
          <a:p>
            <a:pPr marL="457200" indent="-457200" algn="r" rtl="1">
              <a:buFont typeface="+mj-lt"/>
              <a:buAutoNum type="arabicPeriod"/>
            </a:pPr>
            <a:r>
              <a:rPr lang="fa-IR" b="0" dirty="0">
                <a:cs typeface="B Nazanin" panose="00000400000000000000" pitchFamily="2" charset="-78"/>
              </a:rPr>
              <a:t> </a:t>
            </a:r>
            <a:r>
              <a:rPr lang="fa-IR" dirty="0" smtClean="0">
                <a:cs typeface="B Nazanin" panose="00000400000000000000" pitchFamily="2" charset="-78"/>
              </a:rPr>
              <a:t>اندازه گیری غیر مستقیم:</a:t>
            </a:r>
            <a:r>
              <a:rPr lang="fa-IR" b="0" dirty="0" smtClean="0">
                <a:cs typeface="B Nazanin" panose="00000400000000000000" pitchFamily="2" charset="-78"/>
              </a:rPr>
              <a:t> عبارت است از عملکرد-کیفیت-پیچیدگی-قابلیت اطمینان و نگه داری</a:t>
            </a:r>
          </a:p>
          <a:p>
            <a:pPr algn="r" rtl="1">
              <a:buFont typeface="Wingdings" pitchFamily="2" charset="2"/>
              <a:buChar char="v"/>
            </a:pPr>
            <a:r>
              <a:rPr lang="fa-IR" dirty="0" smtClean="0">
                <a:cs typeface="B Nazanin" panose="00000400000000000000" pitchFamily="2" charset="-78"/>
              </a:rPr>
              <a:t>انواع معیار های نرمال شده:</a:t>
            </a:r>
          </a:p>
          <a:p>
            <a:pPr algn="r" rtl="1">
              <a:buFont typeface="Wingdings" pitchFamily="2" charset="2"/>
              <a:buChar char="ü"/>
            </a:pPr>
            <a:r>
              <a:rPr lang="fa-IR" b="0" dirty="0" smtClean="0">
                <a:cs typeface="B Nazanin" panose="00000400000000000000" pitchFamily="2" charset="-78"/>
              </a:rPr>
              <a:t>متریکهای مبتنی بر اندازه </a:t>
            </a:r>
          </a:p>
          <a:p>
            <a:pPr algn="r" rtl="1">
              <a:buFont typeface="Wingdings" pitchFamily="2" charset="2"/>
              <a:buChar char="ü"/>
            </a:pPr>
            <a:r>
              <a:rPr lang="fa-IR" b="0" dirty="0" smtClean="0">
                <a:cs typeface="B Nazanin" panose="00000400000000000000" pitchFamily="2" charset="-78"/>
              </a:rPr>
              <a:t>متریکهای مبتنی بر کارکرد                          </a:t>
            </a:r>
          </a:p>
          <a:p>
            <a:pPr algn="r" rtl="1">
              <a:buFont typeface="Wingdings" pitchFamily="2" charset="2"/>
              <a:buChar char="ü"/>
            </a:pPr>
            <a:endParaRPr lang="en-US" dirty="0">
              <a:cs typeface="B Nazanin" panose="00000400000000000000" pitchFamily="2" charset="-78"/>
            </a:endParaRPr>
          </a:p>
        </p:txBody>
      </p:sp>
    </p:spTree>
    <p:extLst>
      <p:ext uri="{BB962C8B-B14F-4D97-AF65-F5344CB8AC3E}">
        <p14:creationId xmlns:p14="http://schemas.microsoft.com/office/powerpoint/2010/main" val="100409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1000"/>
                                        <p:tgtEl>
                                          <p:spTgt spid="3">
                                            <p:txEl>
                                              <p:pRg st="7" end="7"/>
                                            </p:txEl>
                                          </p:spTgt>
                                        </p:tgtEl>
                                      </p:cBhvr>
                                    </p:animEffect>
                                    <p:anim calcmode="lin" valueType="num">
                                      <p:cBhvr>
                                        <p:cTn id="3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animEffect transition="in" filter="fade">
                                      <p:cBhvr>
                                        <p:cTn id="45" dur="500"/>
                                        <p:tgtEl>
                                          <p:spTgt spid="3">
                                            <p:txEl>
                                              <p:pRg st="11" end="11"/>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fade">
                                      <p:cBhvr>
                                        <p:cTn id="48"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8" y="439738"/>
            <a:ext cx="8662406" cy="564814"/>
          </a:xfrm>
        </p:spPr>
        <p:txBody>
          <a:bodyPr>
            <a:normAutofit fontScale="90000"/>
          </a:bodyPr>
          <a:lstStyle/>
          <a:p>
            <a:pPr marL="457200" indent="-457200" algn="r" rtl="1">
              <a:buFont typeface="Wingdings" pitchFamily="2" charset="2"/>
              <a:buChar char="v"/>
            </a:pPr>
            <a:r>
              <a:rPr lang="fa-IR" dirty="0" smtClean="0">
                <a:solidFill>
                  <a:srgbClr val="FF0000"/>
                </a:solidFill>
                <a:effectLst/>
                <a:cs typeface="B Nazanin" panose="00000400000000000000" pitchFamily="2" charset="-78"/>
              </a:rPr>
              <a:t>معیار های اندازه گرا</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175657" y="1262130"/>
            <a:ext cx="7710765" cy="5008495"/>
          </a:xfrm>
        </p:spPr>
        <p:txBody>
          <a:bodyPr>
            <a:normAutofit/>
          </a:bodyPr>
          <a:lstStyle/>
          <a:p>
            <a:pPr algn="just" rtl="1"/>
            <a:r>
              <a:rPr lang="fa-IR" sz="2400" b="0" dirty="0" smtClean="0">
                <a:cs typeface="B Nazanin" panose="00000400000000000000" pitchFamily="2" charset="-78"/>
              </a:rPr>
              <a:t>متريكھای مبتنی بر اندازه از </a:t>
            </a:r>
            <a:r>
              <a:rPr lang="fa-IR" sz="2400" b="0" dirty="0">
                <a:cs typeface="B Nazanin" panose="00000400000000000000" pitchFamily="2" charset="-78"/>
              </a:rPr>
              <a:t>طريق نرمال كردن متريكھاي كیفیت و با در </a:t>
            </a:r>
            <a:r>
              <a:rPr lang="fa-IR" sz="2400" b="0" dirty="0" smtClean="0">
                <a:cs typeface="B Nazanin" panose="00000400000000000000" pitchFamily="2" charset="-78"/>
              </a:rPr>
              <a:t>نظر گرفتن </a:t>
            </a:r>
            <a:r>
              <a:rPr lang="fa-IR" sz="2400" b="0" dirty="0">
                <a:cs typeface="B Nazanin" panose="00000400000000000000" pitchFamily="2" charset="-78"/>
              </a:rPr>
              <a:t>اندازه و حجم نرم افزار تولید شده بدست مي </a:t>
            </a:r>
            <a:r>
              <a:rPr lang="fa-IR" sz="2400" b="0" dirty="0" smtClean="0">
                <a:cs typeface="B Nazanin" panose="00000400000000000000" pitchFamily="2" charset="-78"/>
              </a:rPr>
              <a:t>آيند براي </a:t>
            </a:r>
            <a:r>
              <a:rPr lang="fa-IR" sz="2400" b="0" dirty="0">
                <a:cs typeface="B Nazanin" panose="00000400000000000000" pitchFamily="2" charset="-78"/>
              </a:rPr>
              <a:t>ھر سازمان نرم افزاري(پروژه) </a:t>
            </a:r>
            <a:r>
              <a:rPr lang="fa-IR" sz="2400" b="0" dirty="0" smtClean="0">
                <a:cs typeface="B Nazanin" panose="00000400000000000000" pitchFamily="2" charset="-78"/>
              </a:rPr>
              <a:t>مي </a:t>
            </a:r>
            <a:r>
              <a:rPr lang="fa-IR" sz="2400" b="0" dirty="0">
                <a:cs typeface="B Nazanin" panose="00000400000000000000" pitchFamily="2" charset="-78"/>
              </a:rPr>
              <a:t>توان جدولي از </a:t>
            </a:r>
            <a:r>
              <a:rPr lang="fa-IR" sz="2400" b="0" dirty="0" smtClean="0">
                <a:cs typeface="B Nazanin" panose="00000400000000000000" pitchFamily="2" charset="-78"/>
              </a:rPr>
              <a:t>اندازه ھاي </a:t>
            </a:r>
            <a:r>
              <a:rPr lang="fa-IR" sz="2400" b="0" dirty="0">
                <a:cs typeface="B Nazanin" panose="00000400000000000000" pitchFamily="2" charset="-78"/>
              </a:rPr>
              <a:t>مبتني بر اندازه گیري ارائه </a:t>
            </a:r>
            <a:r>
              <a:rPr lang="fa-IR" sz="2400" b="0" dirty="0" smtClean="0">
                <a:cs typeface="B Nazanin" panose="00000400000000000000" pitchFamily="2" charset="-78"/>
              </a:rPr>
              <a:t>داد اين </a:t>
            </a:r>
            <a:r>
              <a:rPr lang="fa-IR" sz="2400" b="0" dirty="0">
                <a:cs typeface="B Nazanin" panose="00000400000000000000" pitchFamily="2" charset="-78"/>
              </a:rPr>
              <a:t>اطلاعات شامل تمام فازھاي ساخت پروژه </a:t>
            </a:r>
            <a:r>
              <a:rPr lang="fa-IR" sz="2400" b="0" dirty="0" smtClean="0">
                <a:cs typeface="B Nazanin" panose="00000400000000000000" pitchFamily="2" charset="-78"/>
              </a:rPr>
              <a:t>ھستند عیبھا </a:t>
            </a:r>
            <a:r>
              <a:rPr lang="fa-IR" sz="2400" b="0" dirty="0">
                <a:cs typeface="B Nazanin" panose="00000400000000000000" pitchFamily="2" charset="-78"/>
              </a:rPr>
              <a:t>بعد از تحويل محصول مشخص مي شوند و خطاھا </a:t>
            </a:r>
            <a:r>
              <a:rPr lang="fa-IR" sz="2400" b="0" dirty="0" smtClean="0">
                <a:cs typeface="B Nazanin" panose="00000400000000000000" pitchFamily="2" charset="-78"/>
              </a:rPr>
              <a:t>درزمان ساخت مي </a:t>
            </a:r>
            <a:r>
              <a:rPr lang="fa-IR" sz="2400" b="0" dirty="0">
                <a:cs typeface="B Nazanin" panose="00000400000000000000" pitchFamily="2" charset="-78"/>
              </a:rPr>
              <a:t>توان براي نرمال سازي داده (</a:t>
            </a:r>
            <a:r>
              <a:rPr lang="en-US" sz="2400" b="0" dirty="0">
                <a:cs typeface="B Nazanin" panose="00000400000000000000" pitchFamily="2" charset="-78"/>
              </a:rPr>
              <a:t>LOC) </a:t>
            </a:r>
            <a:r>
              <a:rPr lang="fa-IR" sz="2400" b="0" dirty="0">
                <a:cs typeface="B Nazanin" panose="00000400000000000000" pitchFamily="2" charset="-78"/>
              </a:rPr>
              <a:t>از تعداد خطوط </a:t>
            </a:r>
            <a:r>
              <a:rPr lang="fa-IR" sz="2400" b="0" dirty="0" smtClean="0">
                <a:cs typeface="B Nazanin" panose="00000400000000000000" pitchFamily="2" charset="-78"/>
              </a:rPr>
              <a:t>برنامه ھاي اولیه </a:t>
            </a:r>
            <a:r>
              <a:rPr lang="fa-IR" sz="2400" b="0" dirty="0">
                <a:cs typeface="B Nazanin" panose="00000400000000000000" pitchFamily="2" charset="-78"/>
              </a:rPr>
              <a:t>استفاده </a:t>
            </a:r>
            <a:r>
              <a:rPr lang="fa-IR" sz="2400" b="0" dirty="0" smtClean="0">
                <a:cs typeface="B Nazanin" panose="00000400000000000000" pitchFamily="2" charset="-78"/>
              </a:rPr>
              <a:t>كرد</a:t>
            </a:r>
          </a:p>
          <a:p>
            <a:pPr marL="0" indent="0" algn="r" rtl="1">
              <a:buNone/>
            </a:pPr>
            <a:endParaRPr lang="fa-IR" sz="2800" b="0" dirty="0" smtClean="0">
              <a:cs typeface="B Nazanin" panose="00000400000000000000" pitchFamily="2" charset="-78"/>
            </a:endParaRPr>
          </a:p>
          <a:p>
            <a:pPr marL="0" indent="0" algn="r" rtl="1">
              <a:buNone/>
            </a:pPr>
            <a:endParaRPr lang="en-US" sz="280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214" y="3800104"/>
            <a:ext cx="6563374" cy="261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427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animEffect transition="in" filter="fade">
                                      <p:cBhvr>
                                        <p:cTn id="19"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8" y="439737"/>
            <a:ext cx="8366192" cy="719361"/>
          </a:xfrm>
        </p:spPr>
        <p:txBody>
          <a:bodyPr>
            <a:normAutofit fontScale="90000"/>
          </a:bodyPr>
          <a:lstStyle/>
          <a:p>
            <a:r>
              <a:rPr lang="fa-IR" dirty="0" smtClean="0"/>
              <a:t/>
            </a:r>
            <a:br>
              <a:rPr lang="fa-IR" dirty="0" smtClean="0"/>
            </a:br>
            <a:r>
              <a:rPr lang="fa-IR" dirty="0"/>
              <a:t/>
            </a:r>
            <a:br>
              <a:rPr lang="fa-IR" dirty="0"/>
            </a:br>
            <a:endParaRPr lang="en-US" dirty="0"/>
          </a:p>
        </p:txBody>
      </p:sp>
      <p:sp>
        <p:nvSpPr>
          <p:cNvPr id="3" name="Content Placeholder 2"/>
          <p:cNvSpPr>
            <a:spLocks noGrp="1"/>
          </p:cNvSpPr>
          <p:nvPr>
            <p:ph idx="1"/>
          </p:nvPr>
        </p:nvSpPr>
        <p:spPr>
          <a:xfrm>
            <a:off x="1246909" y="386366"/>
            <a:ext cx="7678150" cy="5872766"/>
          </a:xfrm>
        </p:spPr>
        <p:txBody>
          <a:bodyPr>
            <a:normAutofit fontScale="92500" lnSpcReduction="10000"/>
          </a:bodyPr>
          <a:lstStyle/>
          <a:p>
            <a:pPr algn="r" rtl="1">
              <a:buFont typeface="Wingdings" pitchFamily="2" charset="2"/>
              <a:buChar char="v"/>
            </a:pPr>
            <a:r>
              <a:rPr lang="fa-IR" dirty="0" smtClean="0">
                <a:solidFill>
                  <a:srgbClr val="FF0000"/>
                </a:solidFill>
                <a:cs typeface="B Nazanin" panose="00000400000000000000" pitchFamily="2" charset="-78"/>
              </a:rPr>
              <a:t>مجموعه ای از متریکهای ساده مبتنی بر اندازه:</a:t>
            </a:r>
          </a:p>
          <a:p>
            <a:pPr algn="r" rtl="1">
              <a:buFont typeface="Wingdings" pitchFamily="2" charset="2"/>
              <a:buChar char="ü"/>
            </a:pPr>
            <a:r>
              <a:rPr lang="fa-IR" b="0" dirty="0" smtClean="0">
                <a:cs typeface="B Nazanin" panose="00000400000000000000" pitchFamily="2" charset="-78"/>
              </a:rPr>
              <a:t>خطاها در </a:t>
            </a:r>
            <a:r>
              <a:rPr lang="en-US" b="0" dirty="0" smtClean="0">
                <a:cs typeface="B Nazanin" panose="00000400000000000000" pitchFamily="2" charset="-78"/>
              </a:rPr>
              <a:t>KLOC</a:t>
            </a:r>
            <a:r>
              <a:rPr lang="fa-IR" b="0" dirty="0" smtClean="0">
                <a:cs typeface="B Nazanin" panose="00000400000000000000" pitchFamily="2" charset="-78"/>
              </a:rPr>
              <a:t>(هزار خط برنامه)</a:t>
            </a:r>
            <a:endParaRPr lang="en-US" b="0" dirty="0" smtClean="0">
              <a:cs typeface="B Nazanin" panose="00000400000000000000" pitchFamily="2" charset="-78"/>
            </a:endParaRPr>
          </a:p>
          <a:p>
            <a:pPr algn="r" rtl="1">
              <a:buFont typeface="Wingdings" pitchFamily="2" charset="2"/>
              <a:buChar char="ü"/>
            </a:pPr>
            <a:r>
              <a:rPr lang="fa-IR" b="0" dirty="0" smtClean="0">
                <a:cs typeface="B Nazanin" panose="00000400000000000000" pitchFamily="2" charset="-78"/>
              </a:rPr>
              <a:t>تعداد عیب ها در هر هزار خط</a:t>
            </a:r>
          </a:p>
          <a:p>
            <a:pPr algn="r" rtl="1">
              <a:buFont typeface="Wingdings" pitchFamily="2" charset="2"/>
              <a:buChar char="ü"/>
            </a:pPr>
            <a:r>
              <a:rPr lang="fa-IR" b="0" dirty="0" smtClean="0">
                <a:cs typeface="B Nazanin" panose="00000400000000000000" pitchFamily="2" charset="-78"/>
              </a:rPr>
              <a:t>هزینه هر خط برنامه </a:t>
            </a:r>
            <a:r>
              <a:rPr lang="en-US" b="0" dirty="0" smtClean="0">
                <a:cs typeface="B Nazanin" panose="00000400000000000000" pitchFamily="2" charset="-78"/>
              </a:rPr>
              <a:t>LOC</a:t>
            </a:r>
          </a:p>
          <a:p>
            <a:pPr algn="r" rtl="1">
              <a:buFont typeface="Wingdings" pitchFamily="2" charset="2"/>
              <a:buChar char="ü"/>
            </a:pPr>
            <a:r>
              <a:rPr lang="fa-IR" b="0" dirty="0" smtClean="0">
                <a:cs typeface="B Nazanin" panose="00000400000000000000" pitchFamily="2" charset="-78"/>
              </a:rPr>
              <a:t>تعداد صفحات مستندات به ازای هر </a:t>
            </a:r>
            <a:r>
              <a:rPr lang="en-US" b="0" dirty="0" smtClean="0">
                <a:cs typeface="B Nazanin" panose="00000400000000000000" pitchFamily="2" charset="-78"/>
              </a:rPr>
              <a:t>KLOC</a:t>
            </a:r>
            <a:endParaRPr lang="fa-IR" b="0" dirty="0" smtClean="0">
              <a:cs typeface="B Nazanin" panose="00000400000000000000" pitchFamily="2" charset="-78"/>
            </a:endParaRPr>
          </a:p>
          <a:p>
            <a:pPr marL="0" indent="0" algn="r" rtl="1">
              <a:buNone/>
            </a:pPr>
            <a:endParaRPr lang="en-US" b="0" dirty="0" smtClean="0">
              <a:cs typeface="B Nazanin" panose="00000400000000000000" pitchFamily="2" charset="-78"/>
            </a:endParaRPr>
          </a:p>
          <a:p>
            <a:pPr algn="r" rtl="1">
              <a:buFont typeface="Wingdings" pitchFamily="2" charset="2"/>
              <a:buChar char="v"/>
            </a:pPr>
            <a:r>
              <a:rPr lang="fa-IR" b="0" dirty="0" smtClean="0">
                <a:solidFill>
                  <a:srgbClr val="FF0000"/>
                </a:solidFill>
                <a:cs typeface="B Nazanin" panose="00000400000000000000" pitchFamily="2" charset="-78"/>
              </a:rPr>
              <a:t>متریکهای دیگر</a:t>
            </a:r>
            <a:r>
              <a:rPr lang="fa-IR" dirty="0" smtClean="0">
                <a:solidFill>
                  <a:srgbClr val="FF0000"/>
                </a:solidFill>
                <a:cs typeface="B Nazanin" panose="00000400000000000000" pitchFamily="2" charset="-78"/>
              </a:rPr>
              <a:t>:</a:t>
            </a:r>
          </a:p>
          <a:p>
            <a:pPr algn="r" rtl="1">
              <a:buFont typeface="Wingdings" pitchFamily="2" charset="2"/>
              <a:buChar char="ü"/>
            </a:pPr>
            <a:r>
              <a:rPr lang="fa-IR" b="0" dirty="0" smtClean="0">
                <a:cs typeface="B Nazanin" panose="00000400000000000000" pitchFamily="2" charset="-78"/>
              </a:rPr>
              <a:t>تعداد خطا ها به ازای هر نفر-ماه</a:t>
            </a:r>
          </a:p>
          <a:p>
            <a:pPr algn="r" rtl="1">
              <a:buFont typeface="Wingdings" pitchFamily="2" charset="2"/>
              <a:buChar char="ü"/>
            </a:pPr>
            <a:r>
              <a:rPr lang="en-US" b="0" dirty="0" smtClean="0">
                <a:cs typeface="B Nazanin" panose="00000400000000000000" pitchFamily="2" charset="-78"/>
              </a:rPr>
              <a:t>LOC</a:t>
            </a:r>
            <a:r>
              <a:rPr lang="fa-IR" b="0" dirty="0" smtClean="0">
                <a:cs typeface="B Nazanin" panose="00000400000000000000" pitchFamily="2" charset="-78"/>
              </a:rPr>
              <a:t> به ازای هر نفر</a:t>
            </a:r>
          </a:p>
          <a:p>
            <a:pPr algn="r" rtl="1">
              <a:buFont typeface="Wingdings" pitchFamily="2" charset="2"/>
              <a:buChar char="ü"/>
            </a:pPr>
            <a:r>
              <a:rPr lang="fa-IR" b="0" dirty="0" smtClean="0">
                <a:cs typeface="B Nazanin" panose="00000400000000000000" pitchFamily="2" charset="-78"/>
              </a:rPr>
              <a:t>هزینه مصرفی به ازای هر صفحه از مستندات</a:t>
            </a:r>
          </a:p>
          <a:p>
            <a:pPr algn="r" rtl="1">
              <a:buFont typeface="Wingdings" pitchFamily="2" charset="2"/>
              <a:buChar char="ü"/>
            </a:pPr>
            <a:endParaRPr lang="fa-IR" dirty="0" smtClean="0">
              <a:cs typeface="B Nazanin" panose="00000400000000000000" pitchFamily="2" charset="-78"/>
            </a:endParaRPr>
          </a:p>
          <a:p>
            <a:pPr algn="r" rtl="1">
              <a:buNone/>
            </a:pPr>
            <a:r>
              <a:rPr lang="fa-IR" b="1" dirty="0" smtClean="0">
                <a:solidFill>
                  <a:srgbClr val="FF0000"/>
                </a:solidFill>
                <a:cs typeface="B Nazanin" panose="00000400000000000000" pitchFamily="2" charset="-78"/>
              </a:rPr>
              <a:t>موافقان و مخالفان؟؟؟</a:t>
            </a:r>
          </a:p>
          <a:p>
            <a:pPr marL="0" indent="0" algn="r" rtl="1">
              <a:buNone/>
            </a:pPr>
            <a:endParaRPr lang="en-US" b="0" dirty="0" smtClean="0">
              <a:cs typeface="B Nazanin" panose="00000400000000000000" pitchFamily="2" charset="-78"/>
            </a:endParaRPr>
          </a:p>
          <a:p>
            <a:pPr marL="0" indent="0" algn="r" rtl="1">
              <a:buNone/>
            </a:pPr>
            <a:endParaRPr lang="en-US" b="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spTree>
    <p:extLst>
      <p:ext uri="{BB962C8B-B14F-4D97-AF65-F5344CB8AC3E}">
        <p14:creationId xmlns:p14="http://schemas.microsoft.com/office/powerpoint/2010/main" val="398243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fade">
                                      <p:cBhvr>
                                        <p:cTn id="25" dur="500"/>
                                        <p:tgtEl>
                                          <p:spTgt spid="3">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500"/>
                                        <p:tgtEl>
                                          <p:spTgt spid="3">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1" end="11"/>
                                            </p:txEl>
                                          </p:spTgt>
                                        </p:tgtEl>
                                        <p:attrNameLst>
                                          <p:attrName>style.visibility</p:attrName>
                                        </p:attrNameLst>
                                      </p:cBhvr>
                                      <p:to>
                                        <p:strVal val="visible"/>
                                      </p:to>
                                    </p:set>
                                    <p:animEffect transition="in" filter="fade">
                                      <p:cBhvr>
                                        <p:cTn id="3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439737"/>
            <a:ext cx="8598011" cy="642087"/>
          </a:xfrm>
        </p:spPr>
        <p:txBody>
          <a:bodyPr>
            <a:normAutofit/>
          </a:bodyPr>
          <a:lstStyle/>
          <a:p>
            <a:pPr marL="457200" indent="-457200" algn="r" rtl="1">
              <a:buFont typeface="Wingdings" pitchFamily="2" charset="2"/>
              <a:buChar char="v"/>
            </a:pPr>
            <a:r>
              <a:rPr lang="fa-IR" sz="3200" dirty="0" smtClean="0">
                <a:solidFill>
                  <a:srgbClr val="FF0000"/>
                </a:solidFill>
                <a:effectLst/>
                <a:cs typeface="B Nazanin" panose="00000400000000000000" pitchFamily="2" charset="-78"/>
              </a:rPr>
              <a:t>متریکهای مبتنی بر کارکرد</a:t>
            </a:r>
            <a:endParaRPr lang="en-US" sz="3200"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235034" y="1107583"/>
            <a:ext cx="7715782" cy="5163042"/>
          </a:xfrm>
        </p:spPr>
        <p:txBody>
          <a:bodyPr>
            <a:normAutofit fontScale="62500" lnSpcReduction="20000"/>
          </a:bodyPr>
          <a:lstStyle/>
          <a:p>
            <a:pPr algn="r" rtl="1">
              <a:lnSpc>
                <a:spcPct val="120000"/>
              </a:lnSpc>
            </a:pPr>
            <a:r>
              <a:rPr lang="fa-IR" b="0" dirty="0" smtClean="0">
                <a:cs typeface="B Nazanin" panose="00000400000000000000" pitchFamily="2" charset="-78"/>
              </a:rPr>
              <a:t>معیار های عملکرد گرا از میزان عملکرد ارائه شده توسط برنامه کاربردی،به عنوان مقداری برای نرمال سازی استفاده میکنند. چون عملکرد را نمیتوان مستقیما اندازه گیری کرد،باید آن را به طور غیر مستقیم با استفاده از اندازه های مستقیم دیگر به دست آورد.</a:t>
            </a:r>
            <a:endParaRPr lang="en-US" b="0" dirty="0" smtClean="0">
              <a:cs typeface="B Nazanin" panose="00000400000000000000" pitchFamily="2" charset="-78"/>
            </a:endParaRPr>
          </a:p>
          <a:p>
            <a:pPr algn="r" rtl="1">
              <a:lnSpc>
                <a:spcPct val="120000"/>
              </a:lnSpc>
            </a:pPr>
            <a:endParaRPr lang="en-US" b="0" dirty="0" smtClean="0">
              <a:cs typeface="B Nazanin" panose="00000400000000000000" pitchFamily="2" charset="-78"/>
            </a:endParaRPr>
          </a:p>
          <a:p>
            <a:pPr algn="r" rtl="1">
              <a:lnSpc>
                <a:spcPct val="120000"/>
              </a:lnSpc>
            </a:pPr>
            <a:r>
              <a:rPr lang="fa-IR" b="0" dirty="0" smtClean="0">
                <a:cs typeface="B Nazanin" panose="00000400000000000000" pitchFamily="2" charset="-78"/>
              </a:rPr>
              <a:t>امتیازات عملکردی با استفاده از یک رابطه تجربی مبتنی بر موازین قابل شمارش (مستقیم) از دامنه اطلاعات نرم افزار و ارزیابی پیچیدگی نرم افزار،به دست می آیند</a:t>
            </a:r>
          </a:p>
          <a:p>
            <a:pPr algn="r" rtl="1">
              <a:lnSpc>
                <a:spcPct val="120000"/>
              </a:lnSpc>
            </a:pPr>
            <a:endParaRPr lang="fa-IR" b="0" dirty="0">
              <a:cs typeface="B Nazanin" panose="00000400000000000000" pitchFamily="2" charset="-78"/>
            </a:endParaRPr>
          </a:p>
          <a:p>
            <a:pPr algn="r" rtl="1">
              <a:lnSpc>
                <a:spcPct val="120000"/>
              </a:lnSpc>
            </a:pPr>
            <a:r>
              <a:rPr lang="fa-IR" b="0" dirty="0" smtClean="0">
                <a:cs typeface="B Nazanin" panose="00000400000000000000" pitchFamily="2" charset="-78"/>
              </a:rPr>
              <a:t>امتیازات عملکردی با کامل کردن جدول محاسبه میشود که مقادیر جدول عبارت اند از:(</a:t>
            </a:r>
            <a:r>
              <a:rPr lang="fa-IR" b="0" dirty="0" smtClean="0">
                <a:solidFill>
                  <a:srgbClr val="2B7C02"/>
                </a:solidFill>
                <a:cs typeface="B Nazanin" panose="00000400000000000000" pitchFamily="2" charset="-78"/>
              </a:rPr>
              <a:t>توضیح</a:t>
            </a:r>
            <a:r>
              <a:rPr lang="fa-IR" b="0" dirty="0" smtClean="0">
                <a:cs typeface="B Nazanin" panose="00000400000000000000" pitchFamily="2" charset="-78"/>
              </a:rPr>
              <a:t>)</a:t>
            </a:r>
          </a:p>
          <a:p>
            <a:pPr marL="457200" indent="-457200" algn="r" rtl="1">
              <a:lnSpc>
                <a:spcPct val="120000"/>
              </a:lnSpc>
              <a:buFont typeface="+mj-lt"/>
              <a:buAutoNum type="arabicPeriod"/>
            </a:pPr>
            <a:r>
              <a:rPr lang="fa-IR" b="0" dirty="0" smtClean="0">
                <a:cs typeface="B Nazanin" panose="00000400000000000000" pitchFamily="2" charset="-78"/>
              </a:rPr>
              <a:t>تعداد ورودی های کاربر</a:t>
            </a:r>
          </a:p>
          <a:p>
            <a:pPr marL="457200" indent="-457200" algn="r" rtl="1">
              <a:lnSpc>
                <a:spcPct val="120000"/>
              </a:lnSpc>
              <a:buFont typeface="+mj-lt"/>
              <a:buAutoNum type="arabicPeriod"/>
            </a:pPr>
            <a:r>
              <a:rPr lang="fa-IR" b="0" dirty="0" smtClean="0">
                <a:cs typeface="B Nazanin" panose="00000400000000000000" pitchFamily="2" charset="-78"/>
              </a:rPr>
              <a:t>تعداد خروجی های کاربر </a:t>
            </a:r>
          </a:p>
          <a:p>
            <a:pPr marL="457200" indent="-457200" algn="r" rtl="1">
              <a:lnSpc>
                <a:spcPct val="120000"/>
              </a:lnSpc>
              <a:buFont typeface="+mj-lt"/>
              <a:buAutoNum type="arabicPeriod"/>
            </a:pPr>
            <a:r>
              <a:rPr lang="fa-IR" b="0" dirty="0" smtClean="0">
                <a:cs typeface="B Nazanin" panose="00000400000000000000" pitchFamily="2" charset="-78"/>
              </a:rPr>
              <a:t>تعداد درخواست های کاربر</a:t>
            </a:r>
          </a:p>
          <a:p>
            <a:pPr marL="457200" indent="-457200" algn="r" rtl="1">
              <a:lnSpc>
                <a:spcPct val="120000"/>
              </a:lnSpc>
              <a:buFont typeface="+mj-lt"/>
              <a:buAutoNum type="arabicPeriod"/>
            </a:pPr>
            <a:r>
              <a:rPr lang="fa-IR" b="0" dirty="0" smtClean="0">
                <a:cs typeface="B Nazanin" panose="00000400000000000000" pitchFamily="2" charset="-78"/>
              </a:rPr>
              <a:t>تعداد فایلها</a:t>
            </a:r>
          </a:p>
          <a:p>
            <a:pPr marL="457200" indent="-457200" algn="r" rtl="1">
              <a:lnSpc>
                <a:spcPct val="120000"/>
              </a:lnSpc>
              <a:buFont typeface="+mj-lt"/>
              <a:buAutoNum type="arabicPeriod"/>
            </a:pPr>
            <a:r>
              <a:rPr lang="fa-IR" b="0" dirty="0" smtClean="0">
                <a:cs typeface="B Nazanin" panose="00000400000000000000" pitchFamily="2" charset="-78"/>
              </a:rPr>
              <a:t>تعداد واسط خارجی</a:t>
            </a:r>
            <a:endParaRPr lang="en-US" b="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spTree>
    <p:extLst>
      <p:ext uri="{BB962C8B-B14F-4D97-AF65-F5344CB8AC3E}">
        <p14:creationId xmlns:p14="http://schemas.microsoft.com/office/powerpoint/2010/main" val="184285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
            </a:r>
            <a:br>
              <a:rPr lang="fa-IR" dirty="0" smtClean="0"/>
            </a:br>
            <a:r>
              <a:rPr lang="fa-IR" dirty="0"/>
              <a:t/>
            </a:r>
            <a:br>
              <a:rPr lang="fa-IR" dirty="0"/>
            </a:br>
            <a:endParaRPr lang="en-US" dirty="0"/>
          </a:p>
        </p:txBody>
      </p:sp>
      <p:sp>
        <p:nvSpPr>
          <p:cNvPr id="3" name="Content Placeholder 2"/>
          <p:cNvSpPr>
            <a:spLocks noGrp="1"/>
          </p:cNvSpPr>
          <p:nvPr>
            <p:ph idx="1"/>
          </p:nvPr>
        </p:nvSpPr>
        <p:spPr>
          <a:xfrm>
            <a:off x="1270660" y="257577"/>
            <a:ext cx="7416140" cy="6013048"/>
          </a:xfrm>
        </p:spPr>
        <p:txBody>
          <a:bodyPr>
            <a:normAutofit fontScale="92500" lnSpcReduction="10000"/>
          </a:bodyPr>
          <a:lstStyle/>
          <a:p>
            <a:pPr marL="0" indent="0">
              <a:buNone/>
            </a:pPr>
            <a:endParaRPr lang="fa-IR" dirty="0" smtClean="0"/>
          </a:p>
          <a:p>
            <a:pPr marL="0" indent="0">
              <a:buNone/>
            </a:pPr>
            <a:endParaRPr lang="fa-IR" dirty="0" smtClean="0"/>
          </a:p>
          <a:p>
            <a:pPr marL="0" indent="0">
              <a:buNone/>
            </a:pPr>
            <a:endParaRPr lang="fa-IR" dirty="0"/>
          </a:p>
          <a:p>
            <a:pPr marL="0" indent="0">
              <a:buNone/>
            </a:pPr>
            <a:endParaRPr lang="fa-IR" dirty="0" smtClean="0"/>
          </a:p>
          <a:p>
            <a:pPr marL="0" indent="0">
              <a:buNone/>
            </a:pPr>
            <a:endParaRPr lang="fa-IR" dirty="0"/>
          </a:p>
          <a:p>
            <a:pPr marL="0" indent="0">
              <a:buNone/>
            </a:pPr>
            <a:endParaRPr lang="fa-IR" dirty="0" smtClean="0"/>
          </a:p>
          <a:p>
            <a:pPr marL="0" indent="0">
              <a:buNone/>
            </a:pPr>
            <a:endParaRPr lang="fa-IR" dirty="0"/>
          </a:p>
          <a:p>
            <a:pPr marL="0" indent="0">
              <a:buNone/>
            </a:pPr>
            <a:endParaRPr lang="fa-IR" dirty="0" smtClean="0"/>
          </a:p>
          <a:p>
            <a:pPr marL="0" indent="0">
              <a:buNone/>
            </a:pPr>
            <a:endParaRPr lang="fa-IR" dirty="0"/>
          </a:p>
          <a:p>
            <a:pPr marL="0" indent="0" algn="r" rtl="1">
              <a:buNone/>
            </a:pPr>
            <a:r>
              <a:rPr lang="fa-IR" b="0" dirty="0" smtClean="0">
                <a:cs typeface="B Nazanin" panose="00000400000000000000" pitchFamily="2" charset="-78"/>
              </a:rPr>
              <a:t>هنگامی که داده های فوق جمع آوری شد،برای هر شمارش یک مقدار پیچیدگی مشخص میشود  </a:t>
            </a:r>
          </a:p>
          <a:p>
            <a:pPr marL="0" indent="0" algn="r" rtl="1">
              <a:buNone/>
            </a:pPr>
            <a:r>
              <a:rPr lang="fa-IR" b="0" dirty="0" smtClean="0"/>
              <a:t>          </a:t>
            </a:r>
          </a:p>
          <a:p>
            <a:pPr marL="0" indent="0" algn="r" rtl="1">
              <a:buNone/>
            </a:pPr>
            <a:endParaRPr lang="fa-IR" b="0" dirty="0" smtClean="0"/>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5423" y="712530"/>
            <a:ext cx="6517090" cy="3146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586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
            </a:r>
            <a:br>
              <a:rPr lang="fa-IR" dirty="0" smtClean="0"/>
            </a:br>
            <a:endParaRPr lang="en-US" dirty="0"/>
          </a:p>
        </p:txBody>
      </p:sp>
      <p:sp>
        <p:nvSpPr>
          <p:cNvPr id="3" name="Content Placeholder 2"/>
          <p:cNvSpPr>
            <a:spLocks noGrp="1"/>
          </p:cNvSpPr>
          <p:nvPr>
            <p:ph idx="1"/>
          </p:nvPr>
        </p:nvSpPr>
        <p:spPr>
          <a:xfrm>
            <a:off x="457200" y="457200"/>
            <a:ext cx="8229600" cy="5813425"/>
          </a:xfrm>
        </p:spPr>
        <p:txBody>
          <a:bodyPr/>
          <a:lstStyle/>
          <a:p>
            <a:pPr marL="0" indent="0">
              <a:buNone/>
            </a:pPr>
            <a:endParaRPr lang="fa-IR" dirty="0" smtClean="0"/>
          </a:p>
          <a:p>
            <a:pPr marL="0" indent="0">
              <a:buNone/>
            </a:pPr>
            <a:endParaRPr lang="en-US" dirty="0"/>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sp>
        <p:nvSpPr>
          <p:cNvPr id="5" name="Rectangle 4"/>
          <p:cNvSpPr/>
          <p:nvPr/>
        </p:nvSpPr>
        <p:spPr>
          <a:xfrm>
            <a:off x="901337" y="1005841"/>
            <a:ext cx="7720149" cy="3416320"/>
          </a:xfrm>
          <a:prstGeom prst="rect">
            <a:avLst/>
          </a:prstGeom>
        </p:spPr>
        <p:txBody>
          <a:bodyPr wrap="square">
            <a:spAutoFit/>
          </a:bodyPr>
          <a:lstStyle/>
          <a:p>
            <a:pPr rtl="1"/>
            <a:r>
              <a:rPr lang="fa-IR" sz="2400" dirty="0">
                <a:solidFill>
                  <a:srgbClr val="FF0000"/>
                </a:solidFill>
                <a:effectLst/>
                <a:cs typeface="B Nazanin" panose="00000400000000000000" pitchFamily="2" charset="-78"/>
              </a:rPr>
              <a:t>برای </a:t>
            </a:r>
            <a:r>
              <a:rPr lang="fa-IR" sz="2400" dirty="0" smtClean="0">
                <a:solidFill>
                  <a:srgbClr val="FF0000"/>
                </a:solidFill>
                <a:effectLst/>
                <a:cs typeface="B Nazanin" panose="00000400000000000000" pitchFamily="2" charset="-78"/>
              </a:rPr>
              <a:t>محاسبه امتیازعملکرد </a:t>
            </a:r>
            <a:r>
              <a:rPr lang="en-US" sz="2400" dirty="0" smtClean="0">
                <a:solidFill>
                  <a:srgbClr val="FF0000"/>
                </a:solidFill>
                <a:effectLst/>
                <a:cs typeface="B Nazanin" panose="00000400000000000000" pitchFamily="2" charset="-78"/>
              </a:rPr>
              <a:t>F</a:t>
            </a:r>
            <a:r>
              <a:rPr lang="en-US" sz="2400" dirty="0">
                <a:solidFill>
                  <a:srgbClr val="FF0000"/>
                </a:solidFill>
                <a:effectLst/>
                <a:cs typeface="B Nazanin" panose="00000400000000000000" pitchFamily="2" charset="-78"/>
              </a:rPr>
              <a:t>P</a:t>
            </a:r>
            <a:r>
              <a:rPr lang="fa-IR" sz="2400" dirty="0" smtClean="0">
                <a:solidFill>
                  <a:srgbClr val="FF0000"/>
                </a:solidFill>
                <a:effectLst/>
                <a:cs typeface="B Nazanin" panose="00000400000000000000" pitchFamily="2" charset="-78"/>
              </a:rPr>
              <a:t>از </a:t>
            </a:r>
            <a:r>
              <a:rPr lang="fa-IR" sz="2400" dirty="0">
                <a:solidFill>
                  <a:srgbClr val="FF0000"/>
                </a:solidFill>
                <a:effectLst/>
                <a:cs typeface="B Nazanin" panose="00000400000000000000" pitchFamily="2" charset="-78"/>
              </a:rPr>
              <a:t>رابطه ی زیر محاسبه می شود: </a:t>
            </a:r>
          </a:p>
          <a:p>
            <a:pPr rtl="1"/>
            <a:endParaRPr lang="fa-IR" sz="2400" dirty="0">
              <a:solidFill>
                <a:schemeClr val="tx1"/>
              </a:solidFill>
              <a:cs typeface="B Nazanin" panose="00000400000000000000" pitchFamily="2" charset="-78"/>
            </a:endParaRPr>
          </a:p>
          <a:p>
            <a:pPr algn="just" rtl="1"/>
            <a:r>
              <a:rPr lang="en-US" sz="2400" dirty="0" smtClean="0">
                <a:solidFill>
                  <a:schemeClr val="tx1"/>
                </a:solidFill>
                <a:cs typeface="B Nazanin" panose="00000400000000000000" pitchFamily="2" charset="-78"/>
              </a:rPr>
              <a:t>Count </a:t>
            </a:r>
            <a:r>
              <a:rPr lang="en-US" sz="2400" dirty="0">
                <a:solidFill>
                  <a:schemeClr val="tx1"/>
                </a:solidFill>
                <a:cs typeface="B Nazanin" panose="00000400000000000000" pitchFamily="2" charset="-78"/>
              </a:rPr>
              <a:t>total</a:t>
            </a:r>
            <a:r>
              <a:rPr lang="fa-IR" sz="2400" dirty="0">
                <a:solidFill>
                  <a:schemeClr val="tx1"/>
                </a:solidFill>
                <a:cs typeface="B Nazanin" panose="00000400000000000000" pitchFamily="2" charset="-78"/>
              </a:rPr>
              <a:t>(شمارش کل ) حاصل جمع همه  </a:t>
            </a:r>
            <a:r>
              <a:rPr lang="fa-IR" sz="2400" dirty="0" smtClean="0">
                <a:solidFill>
                  <a:schemeClr val="tx1"/>
                </a:solidFill>
                <a:cs typeface="B Nazanin" panose="00000400000000000000" pitchFamily="2" charset="-78"/>
              </a:rPr>
              <a:t>مدخل </a:t>
            </a:r>
            <a:r>
              <a:rPr lang="fa-IR" sz="2400" dirty="0">
                <a:solidFill>
                  <a:schemeClr val="tx1"/>
                </a:solidFill>
                <a:cs typeface="B Nazanin" panose="00000400000000000000" pitchFamily="2" charset="-78"/>
              </a:rPr>
              <a:t>های </a:t>
            </a:r>
            <a:r>
              <a:rPr lang="en-US" sz="2400" dirty="0" smtClean="0">
                <a:solidFill>
                  <a:schemeClr val="tx1"/>
                </a:solidFill>
                <a:cs typeface="B Nazanin" panose="00000400000000000000" pitchFamily="2" charset="-78"/>
              </a:rPr>
              <a:t>FP</a:t>
            </a:r>
            <a:r>
              <a:rPr lang="fa-IR" sz="2400" dirty="0" smtClean="0">
                <a:solidFill>
                  <a:schemeClr val="tx1"/>
                </a:solidFill>
                <a:cs typeface="B Nazanin" panose="00000400000000000000" pitchFamily="2" charset="-78"/>
              </a:rPr>
              <a:t>است</a:t>
            </a:r>
            <a:r>
              <a:rPr lang="en-US" sz="2400" dirty="0" smtClean="0">
                <a:solidFill>
                  <a:schemeClr val="tx1"/>
                </a:solidFill>
                <a:cs typeface="B Nazanin" panose="00000400000000000000" pitchFamily="2" charset="-78"/>
              </a:rPr>
              <a:t>. </a:t>
            </a:r>
            <a:endParaRPr lang="fa-IR" sz="2400" dirty="0" smtClean="0">
              <a:solidFill>
                <a:schemeClr val="tx1"/>
              </a:solidFill>
              <a:cs typeface="B Nazanin" panose="00000400000000000000" pitchFamily="2" charset="-78"/>
            </a:endParaRPr>
          </a:p>
          <a:p>
            <a:pPr algn="just" rtl="1"/>
            <a:r>
              <a:rPr lang="en-US" sz="2400" dirty="0" err="1" smtClean="0">
                <a:solidFill>
                  <a:schemeClr val="tx1"/>
                </a:solidFill>
                <a:cs typeface="B Nazanin" panose="00000400000000000000" pitchFamily="2" charset="-78"/>
              </a:rPr>
              <a:t>Fi</a:t>
            </a:r>
            <a:r>
              <a:rPr lang="fa-IR" sz="2400" dirty="0" smtClean="0">
                <a:solidFill>
                  <a:schemeClr val="tx1"/>
                </a:solidFill>
                <a:cs typeface="B Nazanin" panose="00000400000000000000" pitchFamily="2" charset="-78"/>
              </a:rPr>
              <a:t> مقدار تنظیم پیچیدگی است که بر اساس پاسخ به سوالات زیر بدست می آید</a:t>
            </a:r>
          </a:p>
          <a:p>
            <a:pPr rtl="1"/>
            <a:endParaRPr lang="fa-IR" sz="2400" dirty="0">
              <a:solidFill>
                <a:schemeClr val="tx1"/>
              </a:solidFill>
              <a:cs typeface="B Nazanin" panose="00000400000000000000" pitchFamily="2" charset="-78"/>
            </a:endParaRPr>
          </a:p>
          <a:p>
            <a:pPr rtl="1"/>
            <a:endParaRPr lang="fa-IR" sz="2400" dirty="0" smtClean="0">
              <a:solidFill>
                <a:schemeClr val="tx1"/>
              </a:solidFill>
              <a:cs typeface="B Nazanin" panose="00000400000000000000" pitchFamily="2" charset="-78"/>
            </a:endParaRPr>
          </a:p>
          <a:p>
            <a:pPr rtl="1"/>
            <a:endParaRPr lang="fa-IR" sz="2400" dirty="0">
              <a:solidFill>
                <a:schemeClr val="tx1"/>
              </a:solidFill>
              <a:cs typeface="B Nazanin" panose="00000400000000000000" pitchFamily="2" charset="-78"/>
            </a:endParaRPr>
          </a:p>
          <a:p>
            <a:pPr rtl="1"/>
            <a:endParaRPr lang="fa-IR" sz="2400" dirty="0" smtClean="0">
              <a:solidFill>
                <a:schemeClr val="tx1"/>
              </a:solidFill>
              <a:cs typeface="B Nazanin" panose="00000400000000000000" pitchFamily="2" charset="-78"/>
            </a:endParaRPr>
          </a:p>
          <a:p>
            <a:pPr rtl="1"/>
            <a:endParaRPr lang="en-US" sz="2400" dirty="0">
              <a:solidFill>
                <a:schemeClr val="tx1"/>
              </a:solidFill>
              <a:cs typeface="B Nazanin" panose="00000400000000000000" pitchFamily="2" charset="-78"/>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2001" y="3918856"/>
            <a:ext cx="6124628" cy="503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609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0655" y="195943"/>
            <a:ext cx="7932715" cy="1058091"/>
          </a:xfrm>
        </p:spPr>
        <p:txBody>
          <a:bodyPr>
            <a:normAutofit/>
          </a:bodyPr>
          <a:lstStyle/>
          <a:p>
            <a:pPr marL="457200" indent="-457200" algn="r" rtl="1">
              <a:buFont typeface="Wingdings" pitchFamily="2" charset="2"/>
              <a:buChar char="v"/>
            </a:pPr>
            <a:r>
              <a:rPr lang="fa-IR" sz="2800" dirty="0">
                <a:solidFill>
                  <a:srgbClr val="FF0000"/>
                </a:solidFill>
                <a:effectLst/>
                <a:cs typeface="B Nazanin" panose="00000400000000000000" pitchFamily="2" charset="-78"/>
              </a:rPr>
              <a:t>«مقادیر تنظیم  پیچیدگی» مبتنی بر پاسخ هایی است که به پرسش های زیر داده می شوند:</a:t>
            </a:r>
            <a:endParaRPr lang="en-US" sz="2800"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902525" y="1174675"/>
            <a:ext cx="8031163" cy="4800600"/>
          </a:xfrm>
        </p:spPr>
        <p:txBody>
          <a:bodyPr>
            <a:noAutofit/>
          </a:bodyPr>
          <a:lstStyle/>
          <a:p>
            <a:pPr marL="0" indent="0" algn="r" rtl="1">
              <a:buNone/>
            </a:pPr>
            <a:r>
              <a:rPr lang="fa-IR" sz="2000" dirty="0">
                <a:cs typeface="B Nazanin" panose="00000400000000000000" pitchFamily="2" charset="-78"/>
              </a:rPr>
              <a:t>1- آیا سیستم به پشتیبانی و بازیابی فایل اطمینان نیاز دارد؟</a:t>
            </a:r>
          </a:p>
          <a:p>
            <a:pPr marL="0" indent="0" algn="r" rtl="1">
              <a:buNone/>
            </a:pPr>
            <a:r>
              <a:rPr lang="fa-IR" sz="2000" dirty="0">
                <a:cs typeface="B Nazanin" panose="00000400000000000000" pitchFamily="2" charset="-78"/>
              </a:rPr>
              <a:t>2- آبا ارتباطات داده ای مورد نیاز است ؟</a:t>
            </a:r>
          </a:p>
          <a:p>
            <a:pPr marL="0" indent="0" algn="r" rtl="1">
              <a:buNone/>
            </a:pPr>
            <a:r>
              <a:rPr lang="fa-IR" sz="2000" dirty="0">
                <a:cs typeface="B Nazanin" panose="00000400000000000000" pitchFamily="2" charset="-78"/>
              </a:rPr>
              <a:t>3-آیا عملیات پردازشی توزیع شده وجود دارند ؟</a:t>
            </a:r>
          </a:p>
          <a:p>
            <a:pPr marL="0" indent="0" algn="r" rtl="1">
              <a:buNone/>
            </a:pPr>
            <a:r>
              <a:rPr lang="fa-IR" sz="2000" dirty="0">
                <a:cs typeface="B Nazanin" panose="00000400000000000000" pitchFamily="2" charset="-78"/>
              </a:rPr>
              <a:t>4-آیا کارایی اهمیت دارد؟</a:t>
            </a:r>
          </a:p>
          <a:p>
            <a:pPr marL="0" indent="0" algn="r" rtl="1">
              <a:buNone/>
            </a:pPr>
            <a:r>
              <a:rPr lang="fa-IR" sz="2000" dirty="0">
                <a:cs typeface="B Nazanin" panose="00000400000000000000" pitchFamily="2" charset="-78"/>
              </a:rPr>
              <a:t>5- آیا سیستم در یک محیط عملیاتی موجود و پر کاربرد اجرا می شود؟</a:t>
            </a:r>
          </a:p>
          <a:p>
            <a:pPr marL="0" indent="0" algn="r" rtl="1">
              <a:buNone/>
            </a:pPr>
            <a:r>
              <a:rPr lang="fa-IR" sz="2000" dirty="0">
                <a:cs typeface="B Nazanin" panose="00000400000000000000" pitchFamily="2" charset="-78"/>
              </a:rPr>
              <a:t>6-آیا سیستم به مدخل داده ھاي آنلاين نیاز دارد؟</a:t>
            </a:r>
          </a:p>
          <a:p>
            <a:pPr marL="0" indent="0" algn="r" rtl="1">
              <a:buNone/>
            </a:pPr>
            <a:r>
              <a:rPr lang="fa-IR" sz="2000" dirty="0">
                <a:cs typeface="B Nazanin" panose="00000400000000000000" pitchFamily="2" charset="-78"/>
              </a:rPr>
              <a:t>7- آیا مدخل داده های آنلاین نیاز به ساخت تراکنش ورودی روی عملیات یا صفحات نمایش چندگانه دارد ؟</a:t>
            </a:r>
          </a:p>
          <a:p>
            <a:pPr marL="0" indent="0" algn="r" rtl="1">
              <a:buNone/>
            </a:pPr>
            <a:r>
              <a:rPr lang="fa-IR" sz="2000" dirty="0">
                <a:cs typeface="B Nazanin" panose="00000400000000000000" pitchFamily="2" charset="-78"/>
              </a:rPr>
              <a:t>8- آیا فایل های اصلی به صورت آنلاین به هنگام می شوند؟</a:t>
            </a:r>
          </a:p>
          <a:p>
            <a:pPr marL="0" indent="0" algn="r" rtl="1">
              <a:buNone/>
            </a:pPr>
            <a:r>
              <a:rPr lang="fa-IR" sz="2000" dirty="0">
                <a:cs typeface="B Nazanin" panose="00000400000000000000" pitchFamily="2" charset="-78"/>
              </a:rPr>
              <a:t>9- آیا ورودی ها وخروجی ها و فایل ها ودرخواست ها پیچیده اند</a:t>
            </a:r>
            <a:r>
              <a:rPr lang="fa-IR" sz="2000" dirty="0" smtClean="0">
                <a:cs typeface="B Nazanin" panose="00000400000000000000" pitchFamily="2" charset="-78"/>
              </a:rPr>
              <a:t>؟</a:t>
            </a:r>
          </a:p>
          <a:p>
            <a:pPr marL="0" indent="0" algn="r" rtl="1">
              <a:buNone/>
            </a:pPr>
            <a:r>
              <a:rPr lang="fa-IR" sz="2000" dirty="0">
                <a:cs typeface="B Nazanin" panose="00000400000000000000" pitchFamily="2" charset="-78"/>
              </a:rPr>
              <a:t>10-آیا پردازش داخلی پیچیده است ؟</a:t>
            </a:r>
            <a:br>
              <a:rPr lang="fa-IR" sz="2000" dirty="0">
                <a:cs typeface="B Nazanin" panose="00000400000000000000" pitchFamily="2" charset="-78"/>
              </a:rPr>
            </a:br>
            <a:r>
              <a:rPr lang="fa-IR" sz="2000" dirty="0" smtClean="0">
                <a:cs typeface="B Nazanin" panose="00000400000000000000" pitchFamily="2" charset="-78"/>
              </a:rPr>
              <a:t>11-امكان </a:t>
            </a:r>
            <a:r>
              <a:rPr lang="fa-IR" sz="2000" dirty="0">
                <a:cs typeface="B Nazanin" panose="00000400000000000000" pitchFamily="2" charset="-78"/>
              </a:rPr>
              <a:t>استفاده مجدد از كد وجود دارد؟</a:t>
            </a:r>
            <a:br>
              <a:rPr lang="fa-IR" sz="2000" dirty="0">
                <a:cs typeface="B Nazanin" panose="00000400000000000000" pitchFamily="2" charset="-78"/>
              </a:rPr>
            </a:br>
            <a:r>
              <a:rPr lang="fa-IR" sz="2000" dirty="0" smtClean="0">
                <a:cs typeface="B Nazanin" panose="00000400000000000000" pitchFamily="2" charset="-78"/>
              </a:rPr>
              <a:t>12-تبدیل </a:t>
            </a:r>
            <a:r>
              <a:rPr lang="fa-IR" sz="2000" dirty="0">
                <a:cs typeface="B Nazanin" panose="00000400000000000000" pitchFamily="2" charset="-78"/>
              </a:rPr>
              <a:t>و </a:t>
            </a:r>
            <a:r>
              <a:rPr lang="fa-IR" sz="2000" dirty="0" smtClean="0">
                <a:cs typeface="B Nazanin" panose="00000400000000000000" pitchFamily="2" charset="-78"/>
              </a:rPr>
              <a:t>نصب </a:t>
            </a:r>
            <a:r>
              <a:rPr lang="fa-IR" sz="2000" dirty="0">
                <a:cs typeface="B Nazanin" panose="00000400000000000000" pitchFamily="2" charset="-78"/>
              </a:rPr>
              <a:t>در طراحی لحاظ شده است ؟</a:t>
            </a:r>
            <a:br>
              <a:rPr lang="fa-IR" sz="2000" dirty="0">
                <a:cs typeface="B Nazanin" panose="00000400000000000000" pitchFamily="2" charset="-78"/>
              </a:rPr>
            </a:br>
            <a:r>
              <a:rPr lang="fa-IR" sz="2000" dirty="0" smtClean="0">
                <a:cs typeface="B Nazanin" panose="00000400000000000000" pitchFamily="2" charset="-78"/>
              </a:rPr>
              <a:t>13- </a:t>
            </a:r>
            <a:r>
              <a:rPr lang="fa-IR" sz="2000" dirty="0">
                <a:cs typeface="B Nazanin" panose="00000400000000000000" pitchFamily="2" charset="-78"/>
              </a:rPr>
              <a:t>-آیا سیستم برای نصب چندگانه در سازمانھای مختلف طراحی شده است ؟</a:t>
            </a:r>
            <a:br>
              <a:rPr lang="fa-IR" sz="2000" dirty="0">
                <a:cs typeface="B Nazanin" panose="00000400000000000000" pitchFamily="2" charset="-78"/>
              </a:rPr>
            </a:br>
            <a:r>
              <a:rPr lang="fa-IR" sz="2000" dirty="0" smtClean="0">
                <a:cs typeface="B Nazanin" panose="00000400000000000000" pitchFamily="2" charset="-78"/>
              </a:rPr>
              <a:t>14- </a:t>
            </a:r>
            <a:r>
              <a:rPr lang="fa-IR" sz="2000" dirty="0">
                <a:cs typeface="B Nazanin" panose="00000400000000000000" pitchFamily="2" charset="-78"/>
              </a:rPr>
              <a:t>آیا برنامه ی کاربردی طوری طراحی شده سات که تغییرات را تسهیل کند وبه آسانی توسط کاربر استفاده شود؟</a:t>
            </a:r>
          </a:p>
          <a:p>
            <a:pPr marL="0" indent="0">
              <a:buNone/>
            </a:pPr>
            <a:endParaRPr lang="en-US" sz="200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fa-IR" altLang="ko-KR" dirty="0">
              <a:cs typeface="B Nazanin" panose="00000400000000000000" pitchFamily="2" charset="-78"/>
            </a:endParaRPr>
          </a:p>
          <a:p>
            <a:endParaRPr lang="en-US" altLang="ko-KR" dirty="0">
              <a:cs typeface="B Nazanin" panose="00000400000000000000" pitchFamily="2" charset="-78"/>
            </a:endParaRPr>
          </a:p>
        </p:txBody>
      </p:sp>
    </p:spTree>
    <p:extLst>
      <p:ext uri="{BB962C8B-B14F-4D97-AF65-F5344CB8AC3E}">
        <p14:creationId xmlns:p14="http://schemas.microsoft.com/office/powerpoint/2010/main" val="1351351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439738"/>
            <a:ext cx="8423411" cy="592228"/>
          </a:xfrm>
        </p:spPr>
        <p:txBody>
          <a:bodyPr>
            <a:normAutofit fontScale="90000"/>
          </a:bodyPr>
          <a:lstStyle/>
          <a:p>
            <a:pPr marL="457200" indent="-457200" algn="r" rtl="1">
              <a:buFont typeface="Wingdings" pitchFamily="2" charset="2"/>
              <a:buChar char="v"/>
            </a:pPr>
            <a:r>
              <a:rPr lang="fa-IR" dirty="0">
                <a:solidFill>
                  <a:srgbClr val="FF0000"/>
                </a:solidFill>
                <a:effectLst/>
                <a:cs typeface="B Nazanin" panose="00000400000000000000" pitchFamily="2" charset="-78"/>
              </a:rPr>
              <a:t>معیارهای مربوط به کیفیت نرم افزار</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009403" y="1447800"/>
            <a:ext cx="7924285" cy="4800600"/>
          </a:xfrm>
        </p:spPr>
        <p:txBody>
          <a:bodyPr>
            <a:normAutofit/>
          </a:bodyPr>
          <a:lstStyle/>
          <a:p>
            <a:pPr algn="r" rtl="1"/>
            <a:r>
              <a:rPr lang="fa-IR" sz="2600" dirty="0">
                <a:cs typeface="B Nazanin" panose="00000400000000000000" pitchFamily="2" charset="-78"/>
              </a:rPr>
              <a:t>کیفیت </a:t>
            </a:r>
            <a:r>
              <a:rPr lang="fa-IR" sz="2600" b="0" dirty="0">
                <a:cs typeface="B Nazanin" panose="00000400000000000000" pitchFamily="2" charset="-78"/>
              </a:rPr>
              <a:t>برنامه کاربردی فقط با موارد زير بدست مي آيد :</a:t>
            </a:r>
          </a:p>
          <a:p>
            <a:pPr marL="0" indent="0" algn="r" rtl="1">
              <a:buNone/>
            </a:pPr>
            <a:r>
              <a:rPr lang="fa-IR" sz="2000" b="0" dirty="0">
                <a:solidFill>
                  <a:schemeClr val="tx2"/>
                </a:solidFill>
                <a:cs typeface="B Nazanin" panose="00000400000000000000" pitchFamily="2" charset="-78"/>
              </a:rPr>
              <a:t>1-مفید بودن نیازمندیھای توصیف کننده مشکل </a:t>
            </a:r>
          </a:p>
          <a:p>
            <a:pPr marL="0" indent="0" algn="r" rtl="1">
              <a:buNone/>
            </a:pPr>
            <a:r>
              <a:rPr lang="fa-IR" sz="2000" b="0" dirty="0">
                <a:solidFill>
                  <a:schemeClr val="tx2"/>
                </a:solidFill>
                <a:cs typeface="B Nazanin" panose="00000400000000000000" pitchFamily="2" charset="-78"/>
              </a:rPr>
              <a:t>2-طراحی مربوط به مدل سازی راه حل</a:t>
            </a:r>
          </a:p>
          <a:p>
            <a:pPr marL="0" indent="0" algn="r" rtl="1">
              <a:buNone/>
            </a:pPr>
            <a:r>
              <a:rPr lang="fa-IR" sz="2000" b="0" dirty="0">
                <a:solidFill>
                  <a:schemeClr val="tx2"/>
                </a:solidFill>
                <a:cs typeface="B Nazanin" panose="00000400000000000000" pitchFamily="2" charset="-78"/>
              </a:rPr>
              <a:t>3-مفید بودن کد برنامه قابل اجرا </a:t>
            </a:r>
          </a:p>
          <a:p>
            <a:pPr marL="0" indent="0" algn="r" rtl="1">
              <a:buNone/>
            </a:pPr>
            <a:r>
              <a:rPr lang="fa-IR" sz="2000" b="0" dirty="0">
                <a:solidFill>
                  <a:schemeClr val="tx2"/>
                </a:solidFill>
                <a:cs typeface="B Nazanin" panose="00000400000000000000" pitchFamily="2" charset="-78"/>
              </a:rPr>
              <a:t>4-آزمونھایی که خطاھا را آشکار می </a:t>
            </a:r>
            <a:r>
              <a:rPr lang="fa-IR" sz="2000" b="0" dirty="0" smtClean="0">
                <a:solidFill>
                  <a:schemeClr val="tx2"/>
                </a:solidFill>
                <a:cs typeface="B Nazanin" panose="00000400000000000000" pitchFamily="2" charset="-78"/>
              </a:rPr>
              <a:t>کنند</a:t>
            </a:r>
          </a:p>
          <a:p>
            <a:pPr marL="0" indent="0" algn="r" rtl="1">
              <a:buNone/>
            </a:pPr>
            <a:endParaRPr lang="fa-IR" sz="2000" b="0" dirty="0">
              <a:solidFill>
                <a:schemeClr val="tx2"/>
              </a:solidFill>
              <a:cs typeface="B Nazanin" panose="00000400000000000000" pitchFamily="2" charset="-78"/>
            </a:endParaRPr>
          </a:p>
          <a:p>
            <a:pPr algn="r" rtl="1"/>
            <a:r>
              <a:rPr lang="fa-IR" sz="2600" dirty="0">
                <a:cs typeface="B Nazanin" panose="00000400000000000000" pitchFamily="2" charset="-78"/>
              </a:rPr>
              <a:t>مھندس نرم افزار خوب </a:t>
            </a:r>
            <a:r>
              <a:rPr lang="fa-IR" sz="2600" b="0" dirty="0">
                <a:cs typeface="B Nazanin" panose="00000400000000000000" pitchFamily="2" charset="-78"/>
              </a:rPr>
              <a:t>از اندازه گیری برای موارد زير استفاده مي كند:</a:t>
            </a:r>
          </a:p>
          <a:p>
            <a:pPr marL="0" indent="0" algn="r" rtl="1">
              <a:buNone/>
            </a:pPr>
            <a:r>
              <a:rPr lang="fa-IR" sz="2000" b="0" dirty="0">
                <a:solidFill>
                  <a:srgbClr val="FF0000"/>
                </a:solidFill>
                <a:cs typeface="B Nazanin" panose="00000400000000000000" pitchFamily="2" charset="-78"/>
              </a:rPr>
              <a:t>1-ارزیابی کیفیت تحلیل             2-مدلھای طراحی</a:t>
            </a:r>
            <a:endParaRPr lang="en-US" sz="2000" b="0" dirty="0">
              <a:solidFill>
                <a:srgbClr val="FF0000"/>
              </a:solidFill>
              <a:cs typeface="B Nazanin" panose="00000400000000000000" pitchFamily="2" charset="-78"/>
            </a:endParaRPr>
          </a:p>
          <a:p>
            <a:pPr marL="0" indent="0" algn="r" rtl="1">
              <a:buNone/>
            </a:pPr>
            <a:r>
              <a:rPr lang="fa-IR" sz="2000" b="0" dirty="0">
                <a:solidFill>
                  <a:srgbClr val="FF0000"/>
                </a:solidFill>
                <a:cs typeface="B Nazanin" panose="00000400000000000000" pitchFamily="2" charset="-78"/>
              </a:rPr>
              <a:t>3-کد منبع                            </a:t>
            </a:r>
            <a:r>
              <a:rPr lang="fa-IR" sz="2000" b="0" dirty="0" smtClean="0">
                <a:solidFill>
                  <a:srgbClr val="FF0000"/>
                </a:solidFill>
                <a:cs typeface="B Nazanin" panose="00000400000000000000" pitchFamily="2" charset="-78"/>
              </a:rPr>
              <a:t>4-آزمونهای ایجاد شده درموقع ساخت نرم افزار</a:t>
            </a:r>
            <a:endParaRPr lang="fa-IR" sz="2000" b="0" dirty="0">
              <a:solidFill>
                <a:srgbClr val="FF0000"/>
              </a:solidFill>
              <a:cs typeface="B Nazanin" panose="00000400000000000000" pitchFamily="2" charset="-78"/>
            </a:endParaRPr>
          </a:p>
          <a:p>
            <a:pPr marL="0" indent="0" algn="r" rtl="1">
              <a:buNone/>
            </a:pPr>
            <a:r>
              <a:rPr lang="fa-IR" b="0" dirty="0">
                <a:solidFill>
                  <a:schemeClr val="bg1"/>
                </a:solidFill>
                <a:cs typeface="B Nazanin" panose="00000400000000000000" pitchFamily="2" charset="-78"/>
              </a:rPr>
              <a:t> </a:t>
            </a:r>
          </a:p>
          <a:p>
            <a:pPr algn="r" rtl="1"/>
            <a:r>
              <a:rPr lang="fa-IR" sz="2200" dirty="0">
                <a:cs typeface="B Nazanin" panose="00000400000000000000" pitchFamily="2" charset="-78"/>
              </a:rPr>
              <a:t>اولین قدم در سطح پروژه اندازه گیري خطاھا و نقایص است .</a:t>
            </a:r>
            <a:endParaRPr lang="en-US" sz="2200" dirty="0">
              <a:cs typeface="B Nazanin" panose="00000400000000000000" pitchFamily="2" charset="-78"/>
            </a:endParaRPr>
          </a:p>
          <a:p>
            <a:endParaRPr lang="en-US" dirty="0">
              <a:cs typeface="B Nazanin" panose="00000400000000000000" pitchFamily="2" charset="-78"/>
            </a:endParaRPr>
          </a:p>
        </p:txBody>
      </p:sp>
    </p:spTree>
    <p:extLst>
      <p:ext uri="{BB962C8B-B14F-4D97-AF65-F5344CB8AC3E}">
        <p14:creationId xmlns:p14="http://schemas.microsoft.com/office/powerpoint/2010/main" val="324391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182881"/>
            <a:ext cx="8763046" cy="927462"/>
          </a:xfrm>
        </p:spPr>
        <p:txBody>
          <a:bodyPr/>
          <a:lstStyle/>
          <a:p>
            <a:pPr marL="457200" indent="-457200" algn="r" rtl="1">
              <a:buFont typeface="Wingdings" pitchFamily="2" charset="2"/>
              <a:buChar char="v"/>
            </a:pPr>
            <a:r>
              <a:rPr lang="fa-IR" dirty="0">
                <a:solidFill>
                  <a:srgbClr val="FF0000"/>
                </a:solidFill>
                <a:effectLst/>
                <a:cs typeface="B Nazanin" panose="00000400000000000000" pitchFamily="2" charset="-78"/>
              </a:rPr>
              <a:t>اندازه گیری کیفیت</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068778" y="1097280"/>
            <a:ext cx="7866215" cy="5173345"/>
          </a:xfrm>
        </p:spPr>
        <p:txBody>
          <a:bodyPr>
            <a:normAutofit fontScale="85000" lnSpcReduction="20000"/>
          </a:bodyPr>
          <a:lstStyle/>
          <a:p>
            <a:pPr marL="0" indent="0" algn="r" rtl="1">
              <a:buNone/>
            </a:pPr>
            <a:r>
              <a:rPr lang="fa-IR" b="0" dirty="0">
                <a:cs typeface="B Nazanin" panose="00000400000000000000" pitchFamily="2" charset="-78"/>
              </a:rPr>
              <a:t>اندازه ھای فراوانی از کیفیت نرم افزار وجود دارد ولی قابلیت های  زير شاخص های مفیدی برای تیم پروژه فراهم می آورد:</a:t>
            </a:r>
          </a:p>
          <a:p>
            <a:pPr marL="0" indent="0" algn="r" rtl="1">
              <a:buNone/>
            </a:pPr>
            <a:endParaRPr lang="fa-IR" b="0" dirty="0">
              <a:cs typeface="B Nazanin" panose="00000400000000000000" pitchFamily="2" charset="-78"/>
            </a:endParaRPr>
          </a:p>
          <a:p>
            <a:pPr algn="r" rtl="1"/>
            <a:r>
              <a:rPr lang="fa-IR" dirty="0">
                <a:cs typeface="B Nazanin" panose="00000400000000000000" pitchFamily="2" charset="-78"/>
              </a:rPr>
              <a:t> </a:t>
            </a:r>
            <a:r>
              <a:rPr lang="fa-IR" dirty="0">
                <a:solidFill>
                  <a:srgbClr val="FF0000"/>
                </a:solidFill>
                <a:cs typeface="B Nazanin" panose="00000400000000000000" pitchFamily="2" charset="-78"/>
              </a:rPr>
              <a:t>درستی</a:t>
            </a:r>
            <a:r>
              <a:rPr lang="fa-IR" dirty="0">
                <a:cs typeface="B Nazanin" panose="00000400000000000000" pitchFamily="2" charset="-78"/>
              </a:rPr>
              <a:t> :</a:t>
            </a:r>
            <a:r>
              <a:rPr lang="fa-IR" b="0" dirty="0">
                <a:cs typeface="B Nazanin" panose="00000400000000000000" pitchFamily="2" charset="-78"/>
              </a:rPr>
              <a:t> متداول ترین میزان برای درستی تعداد </a:t>
            </a:r>
            <a:r>
              <a:rPr lang="fa-IR" b="0" dirty="0" smtClean="0">
                <a:cs typeface="B Nazanin" panose="00000400000000000000" pitchFamily="2" charset="-78"/>
              </a:rPr>
              <a:t>نقایص </a:t>
            </a:r>
            <a:r>
              <a:rPr lang="fa-IR" b="0" dirty="0">
                <a:cs typeface="B Nazanin" panose="00000400000000000000" pitchFamily="2" charset="-78"/>
              </a:rPr>
              <a:t>به ازای هر </a:t>
            </a:r>
            <a:r>
              <a:rPr lang="en-US" b="0" dirty="0">
                <a:cs typeface="B Nazanin" panose="00000400000000000000" pitchFamily="2" charset="-78"/>
              </a:rPr>
              <a:t>KLOC</a:t>
            </a:r>
            <a:r>
              <a:rPr lang="fa-IR" b="0" dirty="0">
                <a:cs typeface="B Nazanin" panose="00000400000000000000" pitchFamily="2" charset="-78"/>
              </a:rPr>
              <a:t>است.</a:t>
            </a:r>
          </a:p>
          <a:p>
            <a:pPr algn="r" rtl="1"/>
            <a:endParaRPr lang="fa-IR" b="0" dirty="0">
              <a:cs typeface="B Nazanin" panose="00000400000000000000" pitchFamily="2" charset="-78"/>
            </a:endParaRPr>
          </a:p>
          <a:p>
            <a:pPr algn="r" rtl="1"/>
            <a:r>
              <a:rPr lang="fa-IR" dirty="0">
                <a:solidFill>
                  <a:srgbClr val="FF0000"/>
                </a:solidFill>
                <a:cs typeface="B Nazanin" panose="00000400000000000000" pitchFamily="2" charset="-78"/>
              </a:rPr>
              <a:t>قابلیت نگھداری </a:t>
            </a:r>
            <a:r>
              <a:rPr lang="fa-IR" b="0" dirty="0">
                <a:cs typeface="B Nazanin" panose="00000400000000000000" pitchFamily="2" charset="-78"/>
              </a:rPr>
              <a:t>: تلاش بیشتری می طلبد که ھمان سھولت تصحیح برنامه در ھنگام مواجه شدن با یک خطا،تطابق با تغییرات محیط یا بهبود بخشیدن به برنامه در صورت تغییر یافتن خواسته های مشتری است</a:t>
            </a:r>
            <a:r>
              <a:rPr lang="fa-IR" b="0" dirty="0" smtClean="0">
                <a:cs typeface="B Nazanin" panose="00000400000000000000" pitchFamily="2" charset="-78"/>
              </a:rPr>
              <a:t>.</a:t>
            </a:r>
          </a:p>
          <a:p>
            <a:pPr algn="r" rtl="1"/>
            <a:endParaRPr lang="fa-IR" dirty="0" smtClean="0">
              <a:cs typeface="B Nazanin" panose="00000400000000000000" pitchFamily="2" charset="-78"/>
            </a:endParaRPr>
          </a:p>
          <a:p>
            <a:pPr algn="r" rtl="1"/>
            <a:r>
              <a:rPr lang="fa-IR" dirty="0" smtClean="0">
                <a:solidFill>
                  <a:srgbClr val="FF0000"/>
                </a:solidFill>
                <a:cs typeface="B Nazanin" panose="00000400000000000000" pitchFamily="2" charset="-78"/>
              </a:rPr>
              <a:t>یکپارچگی</a:t>
            </a:r>
            <a:r>
              <a:rPr lang="fa-IR" dirty="0" smtClean="0">
                <a:cs typeface="B Nazanin" panose="00000400000000000000" pitchFamily="2" charset="-78"/>
              </a:rPr>
              <a:t> : میزان توانایی یک سیستم  برای تحمل حملاتی است که متوجه امنیت آن می شود . حمله میتواند به 3 قسمت داده ، اسناد و برنامه ها باشد.</a:t>
            </a:r>
          </a:p>
          <a:p>
            <a:pPr algn="r" rtl="1"/>
            <a:endParaRPr lang="fa-IR" b="0" dirty="0" smtClean="0">
              <a:cs typeface="B Nazanin" panose="00000400000000000000" pitchFamily="2" charset="-78"/>
            </a:endParaRPr>
          </a:p>
          <a:p>
            <a:pPr algn="r" rtl="1"/>
            <a:endParaRPr lang="fa-IR" b="0" dirty="0">
              <a:cs typeface="B Nazanin" panose="00000400000000000000" pitchFamily="2" charset="-78"/>
            </a:endParaRPr>
          </a:p>
          <a:p>
            <a:endParaRPr lang="en-US"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p:txBody>
      </p:sp>
    </p:spTree>
    <p:extLst>
      <p:ext uri="{BB962C8B-B14F-4D97-AF65-F5344CB8AC3E}">
        <p14:creationId xmlns:p14="http://schemas.microsoft.com/office/powerpoint/2010/main" val="146353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439738"/>
            <a:ext cx="8697731" cy="657542"/>
          </a:xfrm>
        </p:spPr>
        <p:txBody>
          <a:bodyPr>
            <a:normAutofit fontScale="90000"/>
          </a:bodyPr>
          <a:lstStyle/>
          <a:p>
            <a:r>
              <a:rPr lang="fa-IR" dirty="0" smtClean="0"/>
              <a:t/>
            </a:r>
            <a:br>
              <a:rPr lang="fa-IR" dirty="0" smtClean="0"/>
            </a:br>
            <a:endParaRPr lang="en-US" dirty="0"/>
          </a:p>
        </p:txBody>
      </p:sp>
      <p:sp>
        <p:nvSpPr>
          <p:cNvPr id="3" name="Content Placeholder 2"/>
          <p:cNvSpPr>
            <a:spLocks noGrp="1"/>
          </p:cNvSpPr>
          <p:nvPr>
            <p:ph idx="1"/>
          </p:nvPr>
        </p:nvSpPr>
        <p:spPr>
          <a:xfrm>
            <a:off x="1021278" y="352697"/>
            <a:ext cx="7665522" cy="5917928"/>
          </a:xfrm>
        </p:spPr>
        <p:txBody>
          <a:bodyPr>
            <a:normAutofit/>
          </a:bodyPr>
          <a:lstStyle/>
          <a:p>
            <a:pPr algn="r" rtl="1">
              <a:buNone/>
            </a:pPr>
            <a:endParaRPr lang="fa-IR" b="0" dirty="0">
              <a:cs typeface="B Nazanin" panose="00000400000000000000" pitchFamily="2" charset="-78"/>
            </a:endParaRPr>
          </a:p>
          <a:p>
            <a:pPr algn="r" rtl="1">
              <a:buFont typeface="Wingdings" pitchFamily="2" charset="2"/>
              <a:buChar char="v"/>
            </a:pPr>
            <a:r>
              <a:rPr lang="fa-IR" b="0" dirty="0">
                <a:solidFill>
                  <a:srgbClr val="FF0000"/>
                </a:solidFill>
                <a:cs typeface="B Nazanin" panose="00000400000000000000" pitchFamily="2" charset="-78"/>
              </a:rPr>
              <a:t> براي اندازه گیری یکپارچگی دو صفت باید تعیین شود :</a:t>
            </a:r>
          </a:p>
          <a:p>
            <a:pPr algn="r" rtl="1">
              <a:buFont typeface="Wingdings" pitchFamily="2" charset="2"/>
              <a:buChar char="Ø"/>
            </a:pPr>
            <a:endParaRPr lang="fa-IR" b="0" dirty="0">
              <a:cs typeface="B Nazanin" panose="00000400000000000000" pitchFamily="2" charset="-78"/>
            </a:endParaRPr>
          </a:p>
          <a:p>
            <a:pPr marL="0" indent="0" algn="r" rtl="1">
              <a:buNone/>
            </a:pPr>
            <a:r>
              <a:rPr lang="fa-IR" b="0" dirty="0" smtClean="0">
                <a:cs typeface="B Nazanin" panose="00000400000000000000" pitchFamily="2" charset="-78"/>
              </a:rPr>
              <a:t>1-تهدید </a:t>
            </a:r>
            <a:r>
              <a:rPr lang="fa-IR" b="0" dirty="0">
                <a:cs typeface="B Nazanin" panose="00000400000000000000" pitchFamily="2" charset="-78"/>
              </a:rPr>
              <a:t>: احتمال وقوع حمله ای </a:t>
            </a:r>
            <a:r>
              <a:rPr lang="fa-IR" b="0" dirty="0" smtClean="0">
                <a:cs typeface="B Nazanin" panose="00000400000000000000" pitchFamily="2" charset="-78"/>
              </a:rPr>
              <a:t>از یک </a:t>
            </a:r>
            <a:r>
              <a:rPr lang="fa-IR" b="0" dirty="0">
                <a:cs typeface="B Nazanin" panose="00000400000000000000" pitchFamily="2" charset="-78"/>
              </a:rPr>
              <a:t>نوع خاص در زمانی معین </a:t>
            </a:r>
          </a:p>
          <a:p>
            <a:pPr marL="0" indent="0" algn="r" rtl="1">
              <a:buNone/>
            </a:pPr>
            <a:r>
              <a:rPr lang="fa-IR" b="0" dirty="0">
                <a:cs typeface="B Nazanin" panose="00000400000000000000" pitchFamily="2" charset="-78"/>
              </a:rPr>
              <a:t>2-امنیت : احتمال دفع حمله ای از یک نوع خاص.</a:t>
            </a:r>
          </a:p>
          <a:p>
            <a:pPr marL="0" indent="0" algn="r" rtl="1">
              <a:buNone/>
            </a:pPr>
            <a:r>
              <a:rPr lang="fa-IR" b="0" dirty="0">
                <a:cs typeface="B Nazanin" panose="00000400000000000000" pitchFamily="2" charset="-78"/>
              </a:rPr>
              <a:t>یکپارچگی از رابطه ی زیر به دست می آید</a:t>
            </a:r>
            <a:r>
              <a:rPr lang="fa-IR" b="0" dirty="0" smtClean="0">
                <a:cs typeface="B Nazanin" panose="00000400000000000000" pitchFamily="2" charset="-78"/>
              </a:rPr>
              <a:t>:</a:t>
            </a:r>
            <a:endParaRPr lang="en-US" b="0" dirty="0" smtClean="0">
              <a:cs typeface="B Nazanin" panose="00000400000000000000" pitchFamily="2" charset="-78"/>
            </a:endParaRPr>
          </a:p>
          <a:p>
            <a:pPr marL="0" indent="0" algn="ctr">
              <a:buNone/>
            </a:pPr>
            <a:r>
              <a:rPr lang="fa-IR" b="0" dirty="0" smtClean="0">
                <a:solidFill>
                  <a:srgbClr val="C00000"/>
                </a:solidFill>
                <a:cs typeface="B Nazanin" panose="00000400000000000000" pitchFamily="2" charset="-78"/>
              </a:rPr>
              <a:t>یکپارچگی</a:t>
            </a:r>
            <a:r>
              <a:rPr lang="en-US" b="0" dirty="0" smtClean="0">
                <a:solidFill>
                  <a:srgbClr val="C00000"/>
                </a:solidFill>
                <a:cs typeface="B Nazanin" panose="00000400000000000000" pitchFamily="2" charset="-78"/>
              </a:rPr>
              <a:t>=∑[</a:t>
            </a:r>
            <a:r>
              <a:rPr lang="fa-IR" b="0" dirty="0" smtClean="0">
                <a:solidFill>
                  <a:srgbClr val="C00000"/>
                </a:solidFill>
                <a:cs typeface="B Nazanin" panose="00000400000000000000" pitchFamily="2" charset="-78"/>
              </a:rPr>
              <a:t>)</a:t>
            </a:r>
            <a:r>
              <a:rPr lang="en-US" b="0" dirty="0" smtClean="0">
                <a:solidFill>
                  <a:srgbClr val="C00000"/>
                </a:solidFill>
                <a:cs typeface="B Nazanin" panose="00000400000000000000" pitchFamily="2" charset="-78"/>
              </a:rPr>
              <a:t>1- </a:t>
            </a:r>
            <a:r>
              <a:rPr lang="fa-IR" b="0" dirty="0" smtClean="0">
                <a:solidFill>
                  <a:srgbClr val="C00000"/>
                </a:solidFill>
                <a:cs typeface="B Nazanin" panose="00000400000000000000" pitchFamily="2" charset="-78"/>
              </a:rPr>
              <a:t>تهدید</a:t>
            </a:r>
            <a:r>
              <a:rPr lang="en-US" b="0" dirty="0" smtClean="0">
                <a:solidFill>
                  <a:srgbClr val="C00000"/>
                </a:solidFill>
                <a:cs typeface="B Nazanin" panose="00000400000000000000" pitchFamily="2" charset="-78"/>
              </a:rPr>
              <a:t> )*(1-</a:t>
            </a:r>
            <a:r>
              <a:rPr lang="fa-IR" b="0" dirty="0" smtClean="0">
                <a:solidFill>
                  <a:srgbClr val="C00000"/>
                </a:solidFill>
                <a:cs typeface="B Nazanin" panose="00000400000000000000" pitchFamily="2" charset="-78"/>
              </a:rPr>
              <a:t>امنیت </a:t>
            </a:r>
            <a:r>
              <a:rPr lang="en-US" b="0" dirty="0" smtClean="0">
                <a:solidFill>
                  <a:srgbClr val="C00000"/>
                </a:solidFill>
                <a:cs typeface="B Nazanin" panose="00000400000000000000" pitchFamily="2" charset="-78"/>
              </a:rPr>
              <a:t> )]</a:t>
            </a:r>
            <a:endParaRPr lang="fa-IR" b="0" dirty="0">
              <a:solidFill>
                <a:srgbClr val="C00000"/>
              </a:solidFill>
              <a:cs typeface="B Nazanin" panose="00000400000000000000" pitchFamily="2" charset="-78"/>
            </a:endParaRPr>
          </a:p>
          <a:p>
            <a:pPr marL="0" indent="0" algn="r" rtl="1">
              <a:buNone/>
            </a:pPr>
            <a:endParaRPr lang="en-US" dirty="0">
              <a:solidFill>
                <a:schemeClr val="tx2"/>
              </a:solidFill>
              <a:cs typeface="B Nazanin" panose="00000400000000000000" pitchFamily="2" charset="-78"/>
            </a:endParaRPr>
          </a:p>
        </p:txBody>
      </p:sp>
    </p:spTree>
    <p:extLst>
      <p:ext uri="{BB962C8B-B14F-4D97-AF65-F5344CB8AC3E}">
        <p14:creationId xmlns:p14="http://schemas.microsoft.com/office/powerpoint/2010/main" val="32419623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261258"/>
            <a:ext cx="8632417" cy="757646"/>
          </a:xfrm>
        </p:spPr>
        <p:txBody>
          <a:bodyPr>
            <a:normAutofit/>
          </a:bodyPr>
          <a:lstStyle/>
          <a:p>
            <a:pPr marL="457200" indent="-457200" algn="r" rtl="1">
              <a:buFont typeface="Arial" pitchFamily="34" charset="0"/>
              <a:buChar char="•"/>
            </a:pPr>
            <a:r>
              <a:rPr lang="fa-IR" sz="3600" dirty="0" smtClean="0">
                <a:solidFill>
                  <a:schemeClr val="tx1"/>
                </a:solidFill>
                <a:cs typeface="B Nazanin" panose="00000400000000000000" pitchFamily="2" charset="-78"/>
              </a:rPr>
              <a:t>ق</a:t>
            </a:r>
            <a:r>
              <a:rPr lang="fa-IR" sz="3600" dirty="0" smtClean="0">
                <a:solidFill>
                  <a:schemeClr val="tx1"/>
                </a:solidFill>
                <a:effectLst/>
                <a:cs typeface="B Nazanin" panose="00000400000000000000" pitchFamily="2" charset="-78"/>
              </a:rPr>
              <a:t>ابلیت </a:t>
            </a:r>
            <a:r>
              <a:rPr lang="fa-IR" sz="3600" dirty="0">
                <a:solidFill>
                  <a:schemeClr val="tx1"/>
                </a:solidFill>
                <a:effectLst/>
                <a:cs typeface="B Nazanin" panose="00000400000000000000" pitchFamily="2" charset="-78"/>
              </a:rPr>
              <a:t>استفاده </a:t>
            </a:r>
            <a:r>
              <a:rPr lang="fa-IR" sz="3600" dirty="0" smtClean="0">
                <a:solidFill>
                  <a:schemeClr val="tx1"/>
                </a:solidFill>
                <a:effectLst/>
                <a:cs typeface="B Nazanin" panose="00000400000000000000" pitchFamily="2" charset="-78"/>
              </a:rPr>
              <a:t>(سهولت کاربرد)</a:t>
            </a:r>
            <a:endParaRPr lang="en-US" sz="3600" dirty="0">
              <a:solidFill>
                <a:schemeClr val="tx1"/>
              </a:solidFill>
              <a:effectLst/>
              <a:cs typeface="B Nazanin" panose="00000400000000000000" pitchFamily="2" charset="-78"/>
            </a:endParaRPr>
          </a:p>
        </p:txBody>
      </p:sp>
      <p:sp>
        <p:nvSpPr>
          <p:cNvPr id="3" name="Content Placeholder 2"/>
          <p:cNvSpPr>
            <a:spLocks noGrp="1"/>
          </p:cNvSpPr>
          <p:nvPr>
            <p:ph idx="1"/>
          </p:nvPr>
        </p:nvSpPr>
        <p:spPr>
          <a:xfrm>
            <a:off x="902525" y="1018903"/>
            <a:ext cx="8045531" cy="5251722"/>
          </a:xfrm>
        </p:spPr>
        <p:txBody>
          <a:bodyPr>
            <a:normAutofit fontScale="92500"/>
          </a:bodyPr>
          <a:lstStyle/>
          <a:p>
            <a:pPr marL="0" indent="0" algn="r" rtl="1">
              <a:buNone/>
            </a:pPr>
            <a:r>
              <a:rPr lang="fa-IR" b="0" dirty="0">
                <a:cs typeface="B Nazanin" panose="00000400000000000000" pitchFamily="2" charset="-78"/>
              </a:rPr>
              <a:t>اگر برنامه </a:t>
            </a:r>
            <a:r>
              <a:rPr lang="fa-IR" b="0" dirty="0" smtClean="0">
                <a:cs typeface="B Nazanin" panose="00000400000000000000" pitchFamily="2" charset="-78"/>
              </a:rPr>
              <a:t>قابل استفاده </a:t>
            </a:r>
            <a:r>
              <a:rPr lang="fa-IR" b="0" dirty="0">
                <a:cs typeface="B Nazanin" panose="00000400000000000000" pitchFamily="2" charset="-78"/>
              </a:rPr>
              <a:t>و سازگاري با مشتري نباشد ، دچار نقص خواھد شد ، </a:t>
            </a:r>
            <a:r>
              <a:rPr lang="fa-IR" b="0" dirty="0" smtClean="0">
                <a:cs typeface="B Nazanin" panose="00000400000000000000" pitchFamily="2" charset="-78"/>
              </a:rPr>
              <a:t>حتی </a:t>
            </a:r>
            <a:r>
              <a:rPr lang="fa-IR" b="0" dirty="0">
                <a:cs typeface="B Nazanin" panose="00000400000000000000" pitchFamily="2" charset="-78"/>
              </a:rPr>
              <a:t>در صورتیکه عملکردھای آن ارزشمند باشند .</a:t>
            </a:r>
          </a:p>
          <a:p>
            <a:pPr marL="0" indent="0" algn="r" rtl="1">
              <a:buNone/>
            </a:pPr>
            <a:endParaRPr lang="fa-IR" b="0" dirty="0">
              <a:cs typeface="B Nazanin" panose="00000400000000000000" pitchFamily="2" charset="-78"/>
            </a:endParaRPr>
          </a:p>
          <a:p>
            <a:pPr algn="r" rtl="1">
              <a:buFont typeface="Wingdings" pitchFamily="2" charset="2"/>
              <a:buChar char="v"/>
            </a:pPr>
            <a:r>
              <a:rPr lang="fa-IR" b="0" dirty="0" smtClean="0">
                <a:solidFill>
                  <a:srgbClr val="FF0000"/>
                </a:solidFill>
                <a:cs typeface="B Nazanin" panose="00000400000000000000" pitchFamily="2" charset="-78"/>
              </a:rPr>
              <a:t>قابلیت استفاده تلاشی برای تعیین میزان سهولت کاربرد است و برحسب </a:t>
            </a:r>
            <a:r>
              <a:rPr lang="fa-IR" b="0" dirty="0">
                <a:solidFill>
                  <a:srgbClr val="FF0000"/>
                </a:solidFill>
                <a:cs typeface="B Nazanin" panose="00000400000000000000" pitchFamily="2" charset="-78"/>
              </a:rPr>
              <a:t>۴ ويژگي اندازه گیري مي شود:</a:t>
            </a:r>
          </a:p>
          <a:p>
            <a:pPr algn="r" rtl="1">
              <a:buFont typeface="Wingdings" pitchFamily="2" charset="2"/>
              <a:buChar char="Ø"/>
            </a:pPr>
            <a:endParaRPr lang="fa-IR" b="0" dirty="0">
              <a:cs typeface="B Nazanin" panose="00000400000000000000" pitchFamily="2" charset="-78"/>
            </a:endParaRPr>
          </a:p>
          <a:p>
            <a:pPr marL="0" indent="0" algn="r" rtl="1">
              <a:buNone/>
            </a:pPr>
            <a:r>
              <a:rPr lang="fa-IR" dirty="0">
                <a:cs typeface="B Nazanin" panose="00000400000000000000" pitchFamily="2" charset="-78"/>
              </a:rPr>
              <a:t>1</a:t>
            </a:r>
            <a:r>
              <a:rPr lang="fa-IR" b="0" dirty="0">
                <a:cs typeface="B Nazanin" panose="00000400000000000000" pitchFamily="2" charset="-78"/>
              </a:rPr>
              <a:t>. مھارت فیزیکی و ھوش لازم </a:t>
            </a:r>
            <a:r>
              <a:rPr lang="fa-IR" b="0" dirty="0" smtClean="0">
                <a:cs typeface="B Nazanin" panose="00000400000000000000" pitchFamily="2" charset="-78"/>
              </a:rPr>
              <a:t>برای </a:t>
            </a:r>
            <a:r>
              <a:rPr lang="fa-IR" b="0" dirty="0">
                <a:cs typeface="B Nazanin" panose="00000400000000000000" pitchFamily="2" charset="-78"/>
              </a:rPr>
              <a:t>یادگیری سیستم .</a:t>
            </a:r>
            <a:endParaRPr lang="fa-IR" dirty="0">
              <a:cs typeface="B Nazanin" panose="00000400000000000000" pitchFamily="2" charset="-78"/>
            </a:endParaRPr>
          </a:p>
          <a:p>
            <a:pPr marL="0" indent="0" algn="r" rtl="1">
              <a:buNone/>
            </a:pPr>
            <a:r>
              <a:rPr lang="fa-IR" b="0" dirty="0">
                <a:cs typeface="B Nazanin" panose="00000400000000000000" pitchFamily="2" charset="-78"/>
              </a:rPr>
              <a:t>2. زمان مورد نیاز برای بازدهی خوب در استفاده از سیستم .</a:t>
            </a:r>
          </a:p>
          <a:p>
            <a:pPr marL="0" indent="0" algn="r" rtl="1">
              <a:buNone/>
            </a:pPr>
            <a:r>
              <a:rPr lang="fa-IR" b="0" dirty="0">
                <a:cs typeface="B Nazanin" panose="00000400000000000000" pitchFamily="2" charset="-78"/>
              </a:rPr>
              <a:t>3. افزایش خالص بھره </a:t>
            </a:r>
            <a:r>
              <a:rPr lang="fa-IR" b="0" dirty="0" smtClean="0">
                <a:cs typeface="B Nazanin" panose="00000400000000000000" pitchFamily="2" charset="-78"/>
              </a:rPr>
              <a:t>وری (فردی با کارایی متوسط)</a:t>
            </a:r>
            <a:endParaRPr lang="fa-IR" b="0" dirty="0">
              <a:cs typeface="B Nazanin" panose="00000400000000000000" pitchFamily="2" charset="-78"/>
            </a:endParaRPr>
          </a:p>
          <a:p>
            <a:pPr marL="0" indent="0" algn="r" rtl="1">
              <a:buNone/>
            </a:pPr>
            <a:r>
              <a:rPr lang="fa-IR" b="0" dirty="0">
                <a:cs typeface="B Nazanin" panose="00000400000000000000" pitchFamily="2" charset="-78"/>
              </a:rPr>
              <a:t>4. یک ارزیابی </a:t>
            </a:r>
            <a:r>
              <a:rPr lang="fa-IR" b="0" dirty="0" smtClean="0">
                <a:cs typeface="B Nazanin" panose="00000400000000000000" pitchFamily="2" charset="-78"/>
              </a:rPr>
              <a:t>ذهنی و معقول ازاحساس</a:t>
            </a:r>
            <a:r>
              <a:rPr lang="fa-IR" dirty="0" smtClean="0">
                <a:cs typeface="B Nazanin" panose="00000400000000000000" pitchFamily="2" charset="-78"/>
              </a:rPr>
              <a:t> </a:t>
            </a:r>
            <a:r>
              <a:rPr lang="fa-IR" b="0" dirty="0">
                <a:cs typeface="B Nazanin" panose="00000400000000000000" pitchFamily="2" charset="-78"/>
              </a:rPr>
              <a:t>کاربران نسبت به سیستم.</a:t>
            </a:r>
            <a:endParaRPr lang="en-US" b="0" dirty="0">
              <a:cs typeface="B Nazanin" panose="00000400000000000000" pitchFamily="2" charset="-78"/>
            </a:endParaRPr>
          </a:p>
          <a:p>
            <a:endParaRPr lang="en-US"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spTree>
    <p:extLst>
      <p:ext uri="{BB962C8B-B14F-4D97-AF65-F5344CB8AC3E}">
        <p14:creationId xmlns:p14="http://schemas.microsoft.com/office/powerpoint/2010/main" val="39840218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8" y="439737"/>
            <a:ext cx="8475662" cy="618353"/>
          </a:xfrm>
        </p:spPr>
        <p:txBody>
          <a:bodyPr>
            <a:normAutofit fontScale="90000"/>
          </a:bodyPr>
          <a:lstStyle/>
          <a:p>
            <a:pPr marL="457200" indent="-457200" algn="r" rtl="1">
              <a:buFont typeface="Wingdings" pitchFamily="2" charset="2"/>
              <a:buChar char="v"/>
            </a:pPr>
            <a:r>
              <a:rPr lang="fa-IR" dirty="0">
                <a:solidFill>
                  <a:srgbClr val="FF0000"/>
                </a:solidFill>
                <a:effectLst/>
                <a:cs typeface="B Nazanin" panose="00000400000000000000" pitchFamily="2" charset="-78"/>
              </a:rPr>
              <a:t>کارایی رفع </a:t>
            </a:r>
            <a:r>
              <a:rPr lang="fa-IR" dirty="0" smtClean="0">
                <a:solidFill>
                  <a:srgbClr val="FF0000"/>
                </a:solidFill>
                <a:effectLst/>
                <a:cs typeface="B Nazanin" panose="00000400000000000000" pitchFamily="2" charset="-78"/>
              </a:rPr>
              <a:t>نقص:</a:t>
            </a:r>
            <a:r>
              <a:rPr lang="en-US" dirty="0" smtClean="0">
                <a:solidFill>
                  <a:srgbClr val="FF0000"/>
                </a:solidFill>
                <a:effectLst/>
                <a:cs typeface="B Nazanin" panose="00000400000000000000" pitchFamily="2" charset="-78"/>
              </a:rPr>
              <a:t>(DRE=defect removal efficiency)</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p:txBody>
          <a:bodyPr>
            <a:normAutofit fontScale="85000" lnSpcReduction="20000"/>
          </a:bodyPr>
          <a:lstStyle/>
          <a:p>
            <a:pPr algn="r" rtl="1"/>
            <a:r>
              <a:rPr lang="fa-IR" b="0" dirty="0">
                <a:cs typeface="B Nazanin" panose="00000400000000000000" pitchFamily="2" charset="-78"/>
              </a:rPr>
              <a:t>يك معیار كیفیتی كه براي سطح پروژه و فرآيند مفید است.</a:t>
            </a:r>
          </a:p>
          <a:p>
            <a:pPr marL="0" indent="0" algn="r" rtl="1">
              <a:buNone/>
            </a:pPr>
            <a:r>
              <a:rPr lang="en-US" b="0" dirty="0">
                <a:cs typeface="B Nazanin" panose="00000400000000000000" pitchFamily="2" charset="-78"/>
              </a:rPr>
              <a:t>DRE</a:t>
            </a:r>
            <a:r>
              <a:rPr lang="fa-IR" b="0" dirty="0">
                <a:cs typeface="B Nazanin" panose="00000400000000000000" pitchFamily="2" charset="-78"/>
              </a:rPr>
              <a:t> : میزانی از توانایی جدا کردن فعالیتھای کنترل و تضمین کیفیت است که </a:t>
            </a:r>
            <a:r>
              <a:rPr lang="fa-IR" b="0" dirty="0" smtClean="0">
                <a:cs typeface="B Nazanin" panose="00000400000000000000" pitchFamily="2" charset="-78"/>
              </a:rPr>
              <a:t>  </a:t>
            </a:r>
            <a:r>
              <a:rPr lang="fa-IR" b="0" dirty="0">
                <a:cs typeface="B Nazanin" panose="00000400000000000000" pitchFamily="2" charset="-78"/>
              </a:rPr>
              <a:t>در ھمه فعالیتھای چار چوبی اجرا می شود .</a:t>
            </a:r>
          </a:p>
          <a:p>
            <a:pPr marL="0" indent="0" algn="r" rtl="1">
              <a:buNone/>
            </a:pPr>
            <a:endParaRPr lang="fa-IR" b="0" dirty="0">
              <a:cs typeface="B Nazanin" panose="00000400000000000000" pitchFamily="2" charset="-78"/>
            </a:endParaRPr>
          </a:p>
          <a:p>
            <a:pPr marL="0" indent="0" algn="r" rtl="1">
              <a:buNone/>
            </a:pPr>
            <a:r>
              <a:rPr lang="en-US" b="0" dirty="0">
                <a:solidFill>
                  <a:srgbClr val="FF0000"/>
                </a:solidFill>
                <a:cs typeface="B Nazanin" panose="00000400000000000000" pitchFamily="2" charset="-78"/>
              </a:rPr>
              <a:t>DRE = E / ( E + D )</a:t>
            </a:r>
            <a:endParaRPr lang="fa-IR" b="0" dirty="0">
              <a:solidFill>
                <a:srgbClr val="FF0000"/>
              </a:solidFill>
              <a:cs typeface="B Nazanin" panose="00000400000000000000" pitchFamily="2" charset="-78"/>
            </a:endParaRPr>
          </a:p>
          <a:p>
            <a:pPr marL="0" indent="0" algn="r" rtl="1">
              <a:buNone/>
            </a:pPr>
            <a:endParaRPr lang="fa-IR" b="0" dirty="0">
              <a:cs typeface="B Nazanin" panose="00000400000000000000" pitchFamily="2" charset="-78"/>
            </a:endParaRPr>
          </a:p>
          <a:p>
            <a:pPr marL="0" indent="0" algn="r" rtl="1">
              <a:buNone/>
            </a:pPr>
            <a:r>
              <a:rPr lang="en-US" b="0" dirty="0">
                <a:cs typeface="B Nazanin" panose="00000400000000000000" pitchFamily="2" charset="-78"/>
              </a:rPr>
              <a:t>DRE</a:t>
            </a:r>
            <a:r>
              <a:rPr lang="fa-IR" b="0" dirty="0">
                <a:cs typeface="B Nazanin" panose="00000400000000000000" pitchFamily="2" charset="-78"/>
              </a:rPr>
              <a:t>را می توان راھی برای ارزیابی توانایی تیم در پیدا کردن خطاھا قبل از انتقال به مھندسی نرم افزار یا فعالیت بعدی دانست . در این صورت مطابق فرمول زیر محاسبه می شود :</a:t>
            </a:r>
          </a:p>
          <a:p>
            <a:r>
              <a:rPr lang="en-US" sz="2800" dirty="0">
                <a:solidFill>
                  <a:srgbClr val="C00000"/>
                </a:solidFill>
                <a:cs typeface="B Nazanin" panose="00000400000000000000" pitchFamily="2" charset="-78"/>
              </a:rPr>
              <a:t> </a:t>
            </a:r>
            <a:r>
              <a:rPr lang="en-US" sz="2800" dirty="0" smtClean="0">
                <a:solidFill>
                  <a:srgbClr val="C00000"/>
                </a:solidFill>
                <a:cs typeface="B Nazanin" panose="00000400000000000000" pitchFamily="2" charset="-78"/>
              </a:rPr>
              <a:t>DRE= E/ (E+D)</a:t>
            </a:r>
            <a:endParaRPr lang="fa-IR" sz="2800" dirty="0" smtClean="0">
              <a:solidFill>
                <a:srgbClr val="C00000"/>
              </a:solidFill>
              <a:cs typeface="B Nazanin" panose="00000400000000000000" pitchFamily="2" charset="-78"/>
            </a:endParaRPr>
          </a:p>
          <a:p>
            <a:pPr algn="r" rtl="1"/>
            <a:r>
              <a:rPr lang="en-US" sz="2800" dirty="0" smtClean="0">
                <a:solidFill>
                  <a:srgbClr val="C00000"/>
                </a:solidFill>
                <a:cs typeface="B Nazanin" panose="00000400000000000000" pitchFamily="2" charset="-78"/>
              </a:rPr>
              <a:t>E</a:t>
            </a:r>
            <a:r>
              <a:rPr lang="fa-IR" sz="2800" dirty="0" smtClean="0">
                <a:solidFill>
                  <a:srgbClr val="C00000"/>
                </a:solidFill>
                <a:cs typeface="B Nazanin" panose="00000400000000000000" pitchFamily="2" charset="-78"/>
              </a:rPr>
              <a:t> تعداد خطاهایی که قبل از تحویل نرم افزار به کاربر نهایی مشاهده و </a:t>
            </a:r>
            <a:r>
              <a:rPr lang="en-US" sz="2800" dirty="0" smtClean="0">
                <a:solidFill>
                  <a:srgbClr val="C00000"/>
                </a:solidFill>
                <a:cs typeface="B Nazanin" panose="00000400000000000000" pitchFamily="2" charset="-78"/>
              </a:rPr>
              <a:t>D</a:t>
            </a:r>
            <a:r>
              <a:rPr lang="fa-IR" sz="2800" dirty="0" smtClean="0">
                <a:solidFill>
                  <a:srgbClr val="C00000"/>
                </a:solidFill>
                <a:cs typeface="B Nazanin" panose="00000400000000000000" pitchFamily="2" charset="-78"/>
              </a:rPr>
              <a:t> تعداد خطاهایی که بعد از تحویل یافت شده اند.</a:t>
            </a:r>
            <a:endParaRPr lang="en-US" sz="2800" dirty="0">
              <a:solidFill>
                <a:srgbClr val="C00000"/>
              </a:solidFill>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smtClean="0"/>
          </a:p>
          <a:p>
            <a:endParaRPr lang="en-US" altLang="ko-KR" dirty="0"/>
          </a:p>
          <a:p>
            <a:endParaRPr lang="en-US" altLang="ko-KR" dirty="0"/>
          </a:p>
        </p:txBody>
      </p:sp>
    </p:spTree>
    <p:extLst>
      <p:ext uri="{BB962C8B-B14F-4D97-AF65-F5344CB8AC3E}">
        <p14:creationId xmlns:p14="http://schemas.microsoft.com/office/powerpoint/2010/main" val="293978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endParaRPr lang="en-US" dirty="0"/>
          </a:p>
        </p:txBody>
      </p:sp>
      <p:sp>
        <p:nvSpPr>
          <p:cNvPr id="3" name="Content Placeholder 2"/>
          <p:cNvSpPr>
            <a:spLocks noGrp="1"/>
          </p:cNvSpPr>
          <p:nvPr>
            <p:ph idx="1"/>
          </p:nvPr>
        </p:nvSpPr>
        <p:spPr>
          <a:xfrm>
            <a:off x="457199" y="431074"/>
            <a:ext cx="8399417" cy="5839551"/>
          </a:xfrm>
        </p:spPr>
        <p:txBody>
          <a:bodyPr/>
          <a:lstStyle/>
          <a:p>
            <a:pPr algn="r" rtl="1">
              <a:buFont typeface="Wingdings" pitchFamily="2" charset="2"/>
              <a:buChar char="v"/>
            </a:pPr>
            <a:r>
              <a:rPr lang="fa-IR" sz="2800" dirty="0">
                <a:solidFill>
                  <a:srgbClr val="FF0000"/>
                </a:solidFill>
                <a:cs typeface="B Nazanin" panose="00000400000000000000" pitchFamily="2" charset="-78"/>
              </a:rPr>
              <a:t>پرسشهایی برای ارزیابی فرآیند ساخت نمونه اولیه</a:t>
            </a:r>
            <a:r>
              <a:rPr lang="fa-IR" sz="2800" dirty="0" smtClean="0">
                <a:solidFill>
                  <a:srgbClr val="FF0000"/>
                </a:solidFill>
                <a:cs typeface="B Nazanin" panose="00000400000000000000" pitchFamily="2" charset="-78"/>
              </a:rPr>
              <a:t>:</a:t>
            </a:r>
            <a:endParaRPr lang="en-US" sz="2800" dirty="0" smtClean="0">
              <a:solidFill>
                <a:srgbClr val="FF0000"/>
              </a:solidFill>
              <a:cs typeface="B Nazanin" panose="00000400000000000000" pitchFamily="2" charset="-78"/>
            </a:endParaRPr>
          </a:p>
          <a:p>
            <a:pPr marL="0" indent="0" algn="r" rtl="1">
              <a:buNone/>
            </a:pPr>
            <a:endParaRPr lang="en-US" dirty="0">
              <a:cs typeface="B Nazanin" panose="00000400000000000000" pitchFamily="2" charset="-78"/>
            </a:endParaRPr>
          </a:p>
          <a:p>
            <a:pPr marL="0" indent="0" algn="r" rtl="1">
              <a:buNone/>
            </a:pPr>
            <a:endParaRPr lang="fa-IR" dirty="0">
              <a:cs typeface="B Nazanin" panose="00000400000000000000" pitchFamily="2" charset="-78"/>
            </a:endParaRPr>
          </a:p>
          <a:p>
            <a:pPr algn="r" rtl="1">
              <a:buFont typeface="Wingdings" pitchFamily="2" charset="2"/>
              <a:buChar char="§"/>
            </a:pPr>
            <a:r>
              <a:rPr lang="fa-IR" dirty="0">
                <a:cs typeface="B Nazanin" panose="00000400000000000000" pitchFamily="2" charset="-78"/>
              </a:rPr>
              <a:t>از خواسته هایی که طی بخش مرسوم پروژه تغییر کرده اندچه میزانی در دست داریم</a:t>
            </a:r>
            <a:r>
              <a:rPr lang="fa-IR" dirty="0" smtClean="0">
                <a:cs typeface="B Nazanin" panose="00000400000000000000" pitchFamily="2" charset="-78"/>
              </a:rPr>
              <a:t>؟</a:t>
            </a:r>
            <a:endParaRPr lang="en-US" dirty="0" smtClean="0">
              <a:cs typeface="B Nazanin" panose="00000400000000000000" pitchFamily="2" charset="-78"/>
            </a:endParaRPr>
          </a:p>
          <a:p>
            <a:pPr algn="r" rtl="1">
              <a:buFont typeface="Wingdings" pitchFamily="2" charset="2"/>
              <a:buChar char="§"/>
            </a:pPr>
            <a:endParaRPr lang="fa-IR" dirty="0">
              <a:cs typeface="B Nazanin" panose="00000400000000000000" pitchFamily="2" charset="-78"/>
            </a:endParaRPr>
          </a:p>
          <a:p>
            <a:pPr algn="r" rtl="1">
              <a:buFont typeface="Wingdings" pitchFamily="2" charset="2"/>
              <a:buChar char="§"/>
            </a:pPr>
            <a:r>
              <a:rPr lang="fa-IR" dirty="0">
                <a:cs typeface="B Nazanin" panose="00000400000000000000" pitchFamily="2" charset="-78"/>
              </a:rPr>
              <a:t>آیا برای همه خواسته هاارزش یکسان قائل هستیم یا برخی از بقیه پیچیده ترند</a:t>
            </a:r>
            <a:r>
              <a:rPr lang="fa-IR" dirty="0" smtClean="0">
                <a:cs typeface="B Nazanin" panose="00000400000000000000" pitchFamily="2" charset="-78"/>
              </a:rPr>
              <a:t>؟</a:t>
            </a:r>
            <a:endParaRPr lang="en-US" dirty="0" smtClean="0">
              <a:cs typeface="B Nazanin" panose="00000400000000000000" pitchFamily="2" charset="-78"/>
            </a:endParaRPr>
          </a:p>
          <a:p>
            <a:pPr marL="0" indent="0" algn="r" rtl="1">
              <a:buNone/>
            </a:pPr>
            <a:endParaRPr lang="fa-IR" dirty="0">
              <a:cs typeface="B Nazanin" panose="00000400000000000000" pitchFamily="2" charset="-78"/>
            </a:endParaRPr>
          </a:p>
          <a:p>
            <a:pPr algn="r" rtl="1">
              <a:buFont typeface="Wingdings" pitchFamily="2" charset="2"/>
              <a:buChar char="§"/>
            </a:pPr>
            <a:r>
              <a:rPr lang="fa-IR" dirty="0">
                <a:cs typeface="B Nazanin" panose="00000400000000000000" pitchFamily="2" charset="-78"/>
              </a:rPr>
              <a:t>کدام نوع از تغییر خواسته ها را در نظر میگیریم؟</a:t>
            </a:r>
            <a:endParaRPr lang="en-US" dirty="0">
              <a:cs typeface="B Nazanin" panose="00000400000000000000" pitchFamily="2" charset="-78"/>
            </a:endParaRPr>
          </a:p>
          <a:p>
            <a:pPr marL="0" indent="0">
              <a:buNone/>
            </a:pPr>
            <a:endParaRPr lang="en-US"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p:txBody>
      </p:sp>
    </p:spTree>
    <p:extLst>
      <p:ext uri="{BB962C8B-B14F-4D97-AF65-F5344CB8AC3E}">
        <p14:creationId xmlns:p14="http://schemas.microsoft.com/office/powerpoint/2010/main" val="393429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7" y="439738"/>
            <a:ext cx="8606291" cy="605291"/>
          </a:xfrm>
        </p:spPr>
        <p:txBody>
          <a:bodyPr>
            <a:normAutofit fontScale="90000"/>
          </a:bodyPr>
          <a:lstStyle/>
          <a:p>
            <a:pPr marL="457200" indent="-457200" algn="r" rtl="1">
              <a:buFont typeface="Wingdings" pitchFamily="2" charset="2"/>
              <a:buChar char="v"/>
            </a:pPr>
            <a:r>
              <a:rPr lang="fa-IR" dirty="0">
                <a:solidFill>
                  <a:srgbClr val="FF0000"/>
                </a:solidFill>
                <a:effectLst/>
                <a:cs typeface="B Nazanin" panose="00000400000000000000" pitchFamily="2" charset="-78"/>
              </a:rPr>
              <a:t>معيارهاي سازمان هاي كوچك:</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068778" y="1097280"/>
            <a:ext cx="7879277" cy="5173345"/>
          </a:xfrm>
        </p:spPr>
        <p:txBody>
          <a:bodyPr>
            <a:normAutofit fontScale="92500" lnSpcReduction="10000"/>
          </a:bodyPr>
          <a:lstStyle/>
          <a:p>
            <a:pPr marL="0" indent="0">
              <a:buNone/>
            </a:pPr>
            <a:endParaRPr lang="en-US" dirty="0" smtClean="0">
              <a:cs typeface="B Nazanin" panose="00000400000000000000" pitchFamily="2" charset="-78"/>
            </a:endParaRPr>
          </a:p>
          <a:p>
            <a:pPr marL="0" indent="0" algn="r">
              <a:buNone/>
            </a:pPr>
            <a:r>
              <a:rPr lang="fa-IR" dirty="0">
                <a:cs typeface="B Nazanin" panose="00000400000000000000" pitchFamily="2" charset="-78"/>
              </a:rPr>
              <a:t> منطقي است كه پيشنهاد كنيم هر سازمان نرم افزاري در </a:t>
            </a:r>
            <a:r>
              <a:rPr lang="fa-IR" dirty="0">
                <a:solidFill>
                  <a:srgbClr val="FF0000"/>
                </a:solidFill>
                <a:cs typeface="B Nazanin" panose="00000400000000000000" pitchFamily="2" charset="-78"/>
              </a:rPr>
              <a:t>هر وسعت</a:t>
            </a:r>
            <a:r>
              <a:rPr lang="fa-IR" dirty="0">
                <a:cs typeface="B Nazanin" panose="00000400000000000000" pitchFamily="2" charset="-78"/>
              </a:rPr>
              <a:t>، به اندازه گيري </a:t>
            </a:r>
            <a:r>
              <a:rPr lang="fa-IR" dirty="0" smtClean="0">
                <a:cs typeface="B Nazanin" panose="00000400000000000000" pitchFamily="2" charset="-78"/>
              </a:rPr>
              <a:t>بپردازد و </a:t>
            </a:r>
            <a:r>
              <a:rPr lang="fa-IR" dirty="0">
                <a:cs typeface="B Nazanin" panose="00000400000000000000" pitchFamily="2" charset="-78"/>
              </a:rPr>
              <a:t>معيارهاي حاصل را براي </a:t>
            </a:r>
            <a:r>
              <a:rPr lang="fa-IR" dirty="0">
                <a:solidFill>
                  <a:srgbClr val="FF0000"/>
                </a:solidFill>
                <a:cs typeface="B Nazanin" panose="00000400000000000000" pitchFamily="2" charset="-78"/>
              </a:rPr>
              <a:t>بهبود بخشيدن به فرآيند نرم افزار محلي </a:t>
            </a:r>
            <a:r>
              <a:rPr lang="fa-IR" dirty="0">
                <a:cs typeface="B Nazanin" panose="00000400000000000000" pitchFamily="2" charset="-78"/>
              </a:rPr>
              <a:t>و نيز </a:t>
            </a:r>
            <a:r>
              <a:rPr lang="fa-IR" dirty="0">
                <a:solidFill>
                  <a:srgbClr val="FF0000"/>
                </a:solidFill>
                <a:cs typeface="B Nazanin" panose="00000400000000000000" pitchFamily="2" charset="-78"/>
              </a:rPr>
              <a:t>كيفيت و</a:t>
            </a:r>
            <a:r>
              <a:rPr lang="fa-IR" dirty="0">
                <a:cs typeface="B Nazanin" panose="00000400000000000000" pitchFamily="2" charset="-78"/>
              </a:rPr>
              <a:t> </a:t>
            </a:r>
            <a:r>
              <a:rPr lang="fa-IR" dirty="0">
                <a:solidFill>
                  <a:srgbClr val="FF0000"/>
                </a:solidFill>
                <a:cs typeface="B Nazanin" panose="00000400000000000000" pitchFamily="2" charset="-78"/>
              </a:rPr>
              <a:t>زمان تحويل محصولات توليدي </a:t>
            </a:r>
            <a:r>
              <a:rPr lang="fa-IR" dirty="0">
                <a:cs typeface="B Nazanin" panose="00000400000000000000" pitchFamily="2" charset="-78"/>
              </a:rPr>
              <a:t>خود به كار گيرد.</a:t>
            </a:r>
          </a:p>
          <a:p>
            <a:pPr algn="r"/>
            <a:endParaRPr lang="fa-IR" dirty="0">
              <a:cs typeface="B Nazanin" panose="00000400000000000000" pitchFamily="2" charset="-78"/>
            </a:endParaRPr>
          </a:p>
          <a:p>
            <a:pPr marL="0" indent="0" algn="r">
              <a:buNone/>
            </a:pPr>
            <a:r>
              <a:rPr lang="fa-IR" dirty="0" smtClean="0">
                <a:cs typeface="B Nazanin" panose="00000400000000000000" pitchFamily="2" charset="-78"/>
              </a:rPr>
              <a:t>آنچه </a:t>
            </a:r>
            <a:r>
              <a:rPr lang="fa-IR" dirty="0">
                <a:cs typeface="B Nazanin" panose="00000400000000000000" pitchFamily="2" charset="-78"/>
              </a:rPr>
              <a:t>كارتز براي پياده سازي هر نوع فعاليت مرتبط با فرآيند نرم افزاري پيشنهاد مي كند: </a:t>
            </a:r>
          </a:p>
          <a:p>
            <a:pPr algn="r" rtl="1">
              <a:buFont typeface="Wingdings" pitchFamily="2" charset="2"/>
              <a:buChar char="§"/>
            </a:pPr>
            <a:r>
              <a:rPr lang="fa-IR" dirty="0">
                <a:cs typeface="B Nazanin" panose="00000400000000000000" pitchFamily="2" charset="-78"/>
              </a:rPr>
              <a:t>حفظ سادگي </a:t>
            </a:r>
          </a:p>
          <a:p>
            <a:pPr algn="r" rtl="1">
              <a:buFont typeface="Wingdings" pitchFamily="2" charset="2"/>
              <a:buChar char="§"/>
            </a:pPr>
            <a:r>
              <a:rPr lang="fa-IR" dirty="0">
                <a:cs typeface="B Nazanin" panose="00000400000000000000" pitchFamily="2" charset="-78"/>
              </a:rPr>
              <a:t>پيكربندي مطابق نيازهاي محلي</a:t>
            </a:r>
          </a:p>
          <a:p>
            <a:pPr algn="r" rtl="1">
              <a:buFont typeface="Wingdings" pitchFamily="2" charset="2"/>
              <a:buChar char="§"/>
            </a:pPr>
            <a:r>
              <a:rPr lang="fa-IR" dirty="0">
                <a:cs typeface="B Nazanin" panose="00000400000000000000" pitchFamily="2" charset="-78"/>
              </a:rPr>
              <a:t>مطمئن باشيد به ارزش كار مي افزايد       </a:t>
            </a:r>
            <a:endParaRPr lang="en-US"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a:p>
            <a:endParaRPr lang="en-US" altLang="ko-KR" dirty="0"/>
          </a:p>
        </p:txBody>
      </p:sp>
    </p:spTree>
    <p:extLst>
      <p:ext uri="{BB962C8B-B14F-4D97-AF65-F5344CB8AC3E}">
        <p14:creationId xmlns:p14="http://schemas.microsoft.com/office/powerpoint/2010/main" val="323026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138" y="439737"/>
            <a:ext cx="8749982" cy="618353"/>
          </a:xfrm>
        </p:spPr>
        <p:txBody>
          <a:bodyPr>
            <a:normAutofit fontScale="90000"/>
          </a:bodyPr>
          <a:lstStyle/>
          <a:p>
            <a:pPr marL="457200" indent="-457200" algn="r" rtl="1">
              <a:buFont typeface="Wingdings" pitchFamily="2" charset="2"/>
              <a:buChar char="v"/>
            </a:pPr>
            <a:r>
              <a:rPr lang="fa-IR" dirty="0">
                <a:solidFill>
                  <a:srgbClr val="FF0000"/>
                </a:solidFill>
                <a:effectLst/>
                <a:cs typeface="B Nazanin" panose="00000400000000000000" pitchFamily="2" charset="-78"/>
              </a:rPr>
              <a:t>وضع يك برنامه معيار سنجي نرم افزار:</a:t>
            </a:r>
            <a:endParaRPr lang="en-US" dirty="0">
              <a:solidFill>
                <a:srgbClr val="FF0000"/>
              </a:solidFill>
              <a:effectLst/>
              <a:cs typeface="B Nazanin" panose="00000400000000000000" pitchFamily="2" charset="-78"/>
            </a:endParaRPr>
          </a:p>
        </p:txBody>
      </p:sp>
      <p:sp>
        <p:nvSpPr>
          <p:cNvPr id="3" name="Content Placeholder 2"/>
          <p:cNvSpPr>
            <a:spLocks noGrp="1"/>
          </p:cNvSpPr>
          <p:nvPr>
            <p:ph idx="1"/>
          </p:nvPr>
        </p:nvSpPr>
        <p:spPr>
          <a:xfrm>
            <a:off x="1056904" y="1048596"/>
            <a:ext cx="7891152" cy="5055779"/>
          </a:xfrm>
        </p:spPr>
        <p:txBody>
          <a:bodyPr>
            <a:noAutofit/>
          </a:bodyPr>
          <a:lstStyle/>
          <a:p>
            <a:pPr marL="0" indent="0">
              <a:buNone/>
            </a:pPr>
            <a:endParaRPr lang="en-US" sz="2000" dirty="0" smtClean="0">
              <a:cs typeface="B Nazanin" panose="00000400000000000000" pitchFamily="2" charset="-78"/>
            </a:endParaRPr>
          </a:p>
          <a:p>
            <a:pPr marL="0" indent="0" algn="r" rtl="1">
              <a:buNone/>
            </a:pPr>
            <a:r>
              <a:rPr lang="fa-IR" sz="2000" dirty="0">
                <a:solidFill>
                  <a:srgbClr val="FF0000"/>
                </a:solidFill>
                <a:cs typeface="B Nazanin" panose="00000400000000000000" pitchFamily="2" charset="-78"/>
              </a:rPr>
              <a:t> موسسه مهندسي نرم افزار </a:t>
            </a:r>
            <a:r>
              <a:rPr lang="en-US" sz="2000" dirty="0">
                <a:solidFill>
                  <a:srgbClr val="FF0000"/>
                </a:solidFill>
                <a:cs typeface="B Nazanin" panose="00000400000000000000" pitchFamily="2" charset="-78"/>
              </a:rPr>
              <a:t> (SEI)</a:t>
            </a:r>
            <a:r>
              <a:rPr lang="fa-IR" sz="2000" dirty="0">
                <a:solidFill>
                  <a:srgbClr val="FF0000"/>
                </a:solidFill>
                <a:cs typeface="B Nazanin" panose="00000400000000000000" pitchFamily="2" charset="-78"/>
              </a:rPr>
              <a:t>يك كتاب راهنماي مفهومي براي وضع يك برنامه ي معيار سنجي نرم افزاري هدفمند ارائه كرده است.</a:t>
            </a:r>
          </a:p>
          <a:p>
            <a:endParaRPr lang="fa-IR" sz="2000" dirty="0">
              <a:cs typeface="B Nazanin" panose="00000400000000000000" pitchFamily="2" charset="-78"/>
            </a:endParaRPr>
          </a:p>
          <a:p>
            <a:pPr marL="0" indent="0" algn="r" rtl="1">
              <a:buNone/>
            </a:pPr>
            <a:r>
              <a:rPr lang="fa-IR" sz="2000" dirty="0">
                <a:cs typeface="B Nazanin" panose="00000400000000000000" pitchFamily="2" charset="-78"/>
              </a:rPr>
              <a:t>   دراين كتاب راهنما مراحل زير پيشنهاد شده است:</a:t>
            </a:r>
          </a:p>
          <a:p>
            <a:pPr marL="457200" indent="-457200" algn="r" rtl="1">
              <a:buAutoNum type="arabicPeriod"/>
            </a:pPr>
            <a:r>
              <a:rPr lang="fa-IR" sz="2000" dirty="0">
                <a:cs typeface="B Nazanin" panose="00000400000000000000" pitchFamily="2" charset="-78"/>
              </a:rPr>
              <a:t>اهداف كاري را مشخص كنيد</a:t>
            </a:r>
          </a:p>
          <a:p>
            <a:pPr marL="457200" indent="-457200" algn="r" rtl="1">
              <a:buAutoNum type="arabicPeriod"/>
            </a:pPr>
            <a:r>
              <a:rPr lang="fa-IR" sz="2000" dirty="0">
                <a:cs typeface="B Nazanin" panose="00000400000000000000" pitchFamily="2" charset="-78"/>
              </a:rPr>
              <a:t>آنچه را كه مي خواهيد بدانيد يا بياموزيد، مشخص كنيد</a:t>
            </a:r>
          </a:p>
          <a:p>
            <a:pPr marL="457200" indent="-457200" algn="r" rtl="1">
              <a:buAutoNum type="arabicPeriod"/>
            </a:pPr>
            <a:r>
              <a:rPr lang="fa-IR" sz="2000" dirty="0">
                <a:cs typeface="B Nazanin" panose="00000400000000000000" pitchFamily="2" charset="-78"/>
              </a:rPr>
              <a:t>اهداف فرعي را مشخص كنيد</a:t>
            </a:r>
          </a:p>
          <a:p>
            <a:pPr marL="457200" indent="-457200" algn="r" rtl="1">
              <a:buAutoNum type="arabicPeriod"/>
            </a:pPr>
            <a:r>
              <a:rPr lang="fa-IR" sz="2000" dirty="0">
                <a:cs typeface="B Nazanin" panose="00000400000000000000" pitchFamily="2" charset="-78"/>
              </a:rPr>
              <a:t>نهادها و صفات مرتبط با هاهداف فرعي را مشخص كنيد</a:t>
            </a:r>
          </a:p>
          <a:p>
            <a:pPr marL="457200" indent="-457200" algn="r" rtl="1">
              <a:buAutoNum type="arabicPeriod"/>
            </a:pPr>
            <a:r>
              <a:rPr lang="fa-IR" sz="2000" dirty="0">
                <a:cs typeface="B Nazanin" panose="00000400000000000000" pitchFamily="2" charset="-78"/>
              </a:rPr>
              <a:t>اهداف اندازه گيري را مشخص كنيد</a:t>
            </a:r>
          </a:p>
          <a:p>
            <a:pPr marL="457200" indent="-457200" algn="r" rtl="1">
              <a:buAutoNum type="arabicPeriod"/>
            </a:pPr>
            <a:r>
              <a:rPr lang="fa-IR" sz="2000" dirty="0">
                <a:cs typeface="B Nazanin" panose="00000400000000000000" pitchFamily="2" charset="-78"/>
              </a:rPr>
              <a:t>پرسش هاي كميت پذير و شاخص هاي مرتبط براي نيل به اهداف خود</a:t>
            </a:r>
          </a:p>
          <a:p>
            <a:pPr marL="457200" indent="-457200" algn="r" rtl="1">
              <a:buAutoNum type="arabicPeriod"/>
            </a:pPr>
            <a:r>
              <a:rPr lang="fa-IR" sz="2000" dirty="0">
                <a:cs typeface="B Nazanin" panose="00000400000000000000" pitchFamily="2" charset="-78"/>
              </a:rPr>
              <a:t>به جمع آوري يك سري عناصر داده اي نياز داريدكه بايد آنها را مشخص كنيد</a:t>
            </a:r>
          </a:p>
          <a:p>
            <a:pPr marL="457200" indent="-457200" algn="r" rtl="1">
              <a:buAutoNum type="arabicPeriod"/>
            </a:pPr>
            <a:r>
              <a:rPr lang="fa-IR" sz="2000" dirty="0">
                <a:cs typeface="B Nazanin" panose="00000400000000000000" pitchFamily="2" charset="-78"/>
              </a:rPr>
              <a:t>موازين داده اي را تعريف كرده اين تعاريف را عملي كنيد</a:t>
            </a:r>
          </a:p>
          <a:p>
            <a:pPr marL="457200" indent="-457200" algn="r" rtl="1">
              <a:buAutoNum type="arabicPeriod"/>
            </a:pPr>
            <a:r>
              <a:rPr lang="fa-IR" sz="2000" dirty="0">
                <a:cs typeface="B Nazanin" panose="00000400000000000000" pitchFamily="2" charset="-78"/>
              </a:rPr>
              <a:t>عملياتي را كه براي پياده سازي موازين انجام مي دهيد ، مشخص كنيد</a:t>
            </a:r>
          </a:p>
          <a:p>
            <a:pPr marL="457200" indent="-457200" algn="r" rtl="1">
              <a:buAutoNum type="arabicPeriod"/>
            </a:pPr>
            <a:r>
              <a:rPr lang="fa-IR" sz="2000" dirty="0">
                <a:cs typeface="B Nazanin" panose="00000400000000000000" pitchFamily="2" charset="-78"/>
              </a:rPr>
              <a:t>طرحي براي پياده سازي موازين آماده كنيد</a:t>
            </a:r>
            <a:endParaRPr lang="en-US" sz="2000" dirty="0">
              <a:cs typeface="B Nazanin" panose="00000400000000000000" pitchFamily="2" charset="-78"/>
            </a:endParaRPr>
          </a:p>
        </p:txBody>
      </p:sp>
      <p:sp>
        <p:nvSpPr>
          <p:cNvPr id="4" name="Footer Placeholder 3"/>
          <p:cNvSpPr>
            <a:spLocks noGrp="1"/>
          </p:cNvSpPr>
          <p:nvPr>
            <p:ph type="ftr" sz="quarter" idx="11"/>
          </p:nvPr>
        </p:nvSpPr>
        <p:spPr/>
        <p:txBody>
          <a:bodyPr/>
          <a:lstStyle/>
          <a:p>
            <a:endParaRPr lang="en-US" altLang="ko-KR" dirty="0"/>
          </a:p>
          <a:p>
            <a:endParaRPr lang="en-US" altLang="ko-KR" dirty="0" smtClean="0"/>
          </a:p>
          <a:p>
            <a:endParaRPr lang="en-US" altLang="ko-KR" dirty="0"/>
          </a:p>
        </p:txBody>
      </p:sp>
    </p:spTree>
    <p:extLst>
      <p:ext uri="{BB962C8B-B14F-4D97-AF65-F5344CB8AC3E}">
        <p14:creationId xmlns:p14="http://schemas.microsoft.com/office/powerpoint/2010/main" val="339327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fade">
                                      <p:cBhvr>
                                        <p:cTn id="30" dur="500"/>
                                        <p:tgtEl>
                                          <p:spTgt spid="3">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500"/>
                                        <p:tgtEl>
                                          <p:spTgt spid="3">
                                            <p:txEl>
                                              <p:pRg st="10" end="10"/>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fade">
                                      <p:cBhvr>
                                        <p:cTn id="39" dur="500"/>
                                        <p:tgtEl>
                                          <p:spTgt spid="3">
                                            <p:txEl>
                                              <p:pRg st="11" end="11"/>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500"/>
                                        <p:tgtEl>
                                          <p:spTgt spid="3">
                                            <p:txEl>
                                              <p:pRg st="12" end="12"/>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animEffect transition="in" filter="fade">
                                      <p:cBhvr>
                                        <p:cTn id="45"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
            </a:r>
            <a:br>
              <a:rPr lang="fa-IR" dirty="0" smtClean="0"/>
            </a:br>
            <a:endParaRPr lang="en-US" dirty="0"/>
          </a:p>
        </p:txBody>
      </p:sp>
      <p:sp>
        <p:nvSpPr>
          <p:cNvPr id="3" name="Content Placeholder 2"/>
          <p:cNvSpPr>
            <a:spLocks noGrp="1"/>
          </p:cNvSpPr>
          <p:nvPr>
            <p:ph idx="1"/>
          </p:nvPr>
        </p:nvSpPr>
        <p:spPr/>
        <p:txBody>
          <a:bodyPr/>
          <a:lstStyle/>
          <a:p>
            <a:pPr marL="0" indent="0" algn="ctr">
              <a:buNone/>
            </a:pPr>
            <a:endParaRPr lang="fa-IR" sz="6600" dirty="0" smtClean="0"/>
          </a:p>
          <a:p>
            <a:pPr marL="0" indent="0" algn="ctr">
              <a:buNone/>
            </a:pPr>
            <a:r>
              <a:rPr lang="fa-IR" sz="6600" dirty="0" smtClean="0"/>
              <a:t>پایان</a:t>
            </a:r>
            <a:endParaRPr lang="en-US" sz="6600" dirty="0"/>
          </a:p>
        </p:txBody>
      </p:sp>
      <p:sp>
        <p:nvSpPr>
          <p:cNvPr id="4" name="Footer Placeholder 3"/>
          <p:cNvSpPr>
            <a:spLocks noGrp="1"/>
          </p:cNvSpPr>
          <p:nvPr>
            <p:ph type="ftr" sz="quarter" idx="11"/>
          </p:nvPr>
        </p:nvSpPr>
        <p:spPr/>
        <p:txBody>
          <a:bodyPr/>
          <a:lstStyle/>
          <a:p>
            <a:endParaRPr lang="fa-IR" altLang="ko-KR" dirty="0"/>
          </a:p>
          <a:p>
            <a:endParaRPr lang="fa-IR" altLang="ko-KR" dirty="0" smtClean="0"/>
          </a:p>
          <a:p>
            <a:endParaRPr lang="en-US" altLang="ko-KR" dirty="0"/>
          </a:p>
        </p:txBody>
      </p:sp>
    </p:spTree>
    <p:extLst>
      <p:ext uri="{BB962C8B-B14F-4D97-AF65-F5344CB8AC3E}">
        <p14:creationId xmlns:p14="http://schemas.microsoft.com/office/powerpoint/2010/main" val="202574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xEl>
                                              <p:pRg st="1" end="1"/>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4294</TotalTime>
  <Words>2100</Words>
  <Application>Microsoft Office PowerPoint</Application>
  <PresentationFormat>On-screen Show (4:3)</PresentationFormat>
  <Paragraphs>257</Paragraphs>
  <Slides>26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Arial</vt:lpstr>
      <vt:lpstr>B Nazanin</vt:lpstr>
      <vt:lpstr>Gill Sans MT</vt:lpstr>
      <vt:lpstr>굴림</vt:lpstr>
      <vt:lpstr>Majalla UI</vt:lpstr>
      <vt:lpstr>Majalla UI (Body)</vt:lpstr>
      <vt:lpstr>Times New Roman</vt:lpstr>
      <vt:lpstr>Verdana</vt:lpstr>
      <vt:lpstr>Wingdings</vt:lpstr>
      <vt:lpstr>Wingdings 2</vt:lpstr>
      <vt:lpstr>Solstice</vt:lpstr>
      <vt:lpstr>فصل اول  معیارهای پروژه وفرآیند نرم افزار</vt:lpstr>
      <vt:lpstr>نگاهی گذرا:</vt:lpstr>
      <vt:lpstr>اندازه ها، متریکها و معیارها</vt:lpstr>
      <vt:lpstr>معیارها در دامنه فرآیند و پروژه</vt:lpstr>
      <vt:lpstr> </vt:lpstr>
      <vt:lpstr>انواع داده های قابل حصول از فرآیند:</vt:lpstr>
      <vt:lpstr>برچسبهای متریکهای نرم افزاری مناسب برای مدیران</vt:lpstr>
      <vt:lpstr> </vt:lpstr>
      <vt:lpstr>نمودار استخوان ماهی</vt:lpstr>
      <vt:lpstr>معیار های پروژه</vt:lpstr>
      <vt:lpstr> </vt:lpstr>
      <vt:lpstr>معیار های اندازه گرا</vt:lpstr>
      <vt:lpstr>  </vt:lpstr>
      <vt:lpstr>متریکهای مبتنی بر کارکرد</vt:lpstr>
      <vt:lpstr>  </vt:lpstr>
      <vt:lpstr> </vt:lpstr>
      <vt:lpstr>«مقادیر تنظیم  پیچیدگی» مبتنی بر پاسخ هایی است که به پرسش های زیر داده می شوند:</vt:lpstr>
      <vt:lpstr>معیارهای مربوط به کیفیت نرم افزار</vt:lpstr>
      <vt:lpstr>اندازه گیری کیفیت</vt:lpstr>
      <vt:lpstr> </vt:lpstr>
      <vt:lpstr>قابلیت استفاده (سهولت کاربرد)</vt:lpstr>
      <vt:lpstr>کارایی رفع نقص:(DRE=defect removal efficiency)</vt:lpstr>
      <vt:lpstr> </vt:lpstr>
      <vt:lpstr>معيارهاي سازمان هاي كوچك:</vt:lpstr>
      <vt:lpstr>وضع يك برنامه معيار سنجي نرم افزار:</vt:lpstr>
      <vt:lpstr>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dc:title>
  <dc:creator>Lenovo User</dc:creator>
  <cp:lastModifiedBy>Microsoft Surface</cp:lastModifiedBy>
  <cp:revision>239</cp:revision>
  <dcterms:created xsi:type="dcterms:W3CDTF">2012-05-04T16:18:47Z</dcterms:created>
  <dcterms:modified xsi:type="dcterms:W3CDTF">2025-03-04T06:31:03Z</dcterms:modified>
</cp:coreProperties>
</file>