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6" r:id="rId7"/>
    <p:sldId id="280" r:id="rId8"/>
    <p:sldId id="261" r:id="rId9"/>
    <p:sldId id="277" r:id="rId10"/>
    <p:sldId id="262" r:id="rId11"/>
    <p:sldId id="278" r:id="rId12"/>
    <p:sldId id="279" r:id="rId1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B8E2EA6-5E64-4BE3-9966-5E5E46BF2E15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0AEA60D-E8A0-4DCA-8200-F80EE109C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02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521C898-9713-460E-9EEB-2063D8BD9977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124200"/>
            <a:ext cx="9144000" cy="1600200"/>
          </a:xfrm>
        </p:spPr>
        <p:txBody>
          <a:bodyPr>
            <a:normAutofit fontScale="90000"/>
          </a:bodyPr>
          <a:lstStyle/>
          <a:p>
            <a:pPr algn="ctr" rtl="1"/>
            <a:r>
              <a:rPr lang="fa-IR" sz="6000" dirty="0">
                <a:cs typeface="2  Titr" pitchFamily="2" charset="-78"/>
              </a:rPr>
              <a:t>فصل </a:t>
            </a:r>
            <a:r>
              <a:rPr lang="fa-IR" sz="6000" dirty="0" smtClean="0">
                <a:cs typeface="2  Titr" pitchFamily="2" charset="-78"/>
              </a:rPr>
              <a:t>ششم</a:t>
            </a:r>
            <a:r>
              <a:rPr lang="en-US" sz="6000" dirty="0" smtClean="0">
                <a:cs typeface="2  Titr" pitchFamily="2" charset="-78"/>
              </a:rPr>
              <a:t> </a:t>
            </a:r>
            <a:r>
              <a:rPr lang="fa-IR" sz="6000" smtClean="0">
                <a:cs typeface="2  Titr" pitchFamily="2" charset="-78"/>
              </a:rPr>
              <a:t>(بخش 1)</a:t>
            </a:r>
            <a:r>
              <a:rPr lang="fa-IR" sz="6000" dirty="0">
                <a:cs typeface="2  Titr" pitchFamily="2" charset="-78"/>
              </a:rPr>
              <a:t/>
            </a:r>
            <a:br>
              <a:rPr lang="fa-IR" sz="6000" dirty="0">
                <a:cs typeface="2  Titr" pitchFamily="2" charset="-78"/>
              </a:rPr>
            </a:br>
            <a:r>
              <a:rPr lang="fa-IR" dirty="0">
                <a:cs typeface="2  Titr" pitchFamily="2" charset="-78"/>
              </a:rPr>
              <a:t/>
            </a:r>
            <a:br>
              <a:rPr lang="fa-IR" dirty="0">
                <a:cs typeface="2  Titr" pitchFamily="2" charset="-78"/>
              </a:rPr>
            </a:br>
            <a:r>
              <a:rPr lang="fa-IR" dirty="0">
                <a:solidFill>
                  <a:srgbClr val="339966"/>
                </a:solidFill>
                <a:latin typeface="Tahoma" pitchFamily="34" charset="0"/>
                <a:cs typeface="2  Titr" pitchFamily="2" charset="-78"/>
              </a:rPr>
              <a:t>کنترل ترتیب اجرا</a:t>
            </a:r>
            <a:endParaRPr lang="en-US" dirty="0">
              <a:solidFill>
                <a:srgbClr val="339966"/>
              </a:solidFill>
              <a:latin typeface="Tahoma" pitchFamily="34" charset="0"/>
              <a:cs typeface="2 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</p:spPr>
        <p:txBody>
          <a:bodyPr/>
          <a:lstStyle/>
          <a:p>
            <a:fld id="{D1B98248-D496-471B-8D19-64F0D033CA7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992313"/>
            <a:ext cx="77216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dirty="0">
                <a:cs typeface="2  Traffic" pitchFamily="2" charset="-78"/>
              </a:rPr>
              <a:t>دو جنبه کار : </a:t>
            </a:r>
          </a:p>
          <a:p>
            <a:pPr algn="r" rtl="1"/>
            <a:r>
              <a:rPr lang="fa-IR" dirty="0">
                <a:cs typeface="2  Traffic" pitchFamily="2" charset="-78"/>
              </a:rPr>
              <a:t>کنترل ترتیب اجرای عملیات  که آن را </a:t>
            </a:r>
            <a:r>
              <a:rPr lang="fa-IR" u="sng" dirty="0">
                <a:cs typeface="2  Traffic" pitchFamily="2" charset="-78"/>
              </a:rPr>
              <a:t>کنترل ترتیب </a:t>
            </a:r>
            <a:r>
              <a:rPr lang="fa-IR" dirty="0">
                <a:cs typeface="2  Traffic" pitchFamily="2" charset="-78"/>
              </a:rPr>
              <a:t>می نامیم</a:t>
            </a:r>
          </a:p>
          <a:p>
            <a:pPr algn="r" rtl="1"/>
            <a:r>
              <a:rPr lang="fa-IR" dirty="0">
                <a:cs typeface="2  Traffic" pitchFamily="2" charset="-78"/>
              </a:rPr>
              <a:t>کنترل انتقال داده ها بین زیر برنامه ها و برنامه ها است که </a:t>
            </a:r>
            <a:r>
              <a:rPr lang="fa-IR" u="sng" dirty="0">
                <a:cs typeface="2  Traffic" pitchFamily="2" charset="-78"/>
              </a:rPr>
              <a:t>کنترل داده ها </a:t>
            </a:r>
            <a:r>
              <a:rPr lang="fa-IR" dirty="0">
                <a:cs typeface="2  Traffic" pitchFamily="2" charset="-78"/>
              </a:rPr>
              <a:t>نامیده می شود.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solidFill>
                  <a:srgbClr val="FF0000"/>
                </a:solidFill>
                <a:cs typeface="2  Titr" pitchFamily="2" charset="-78"/>
              </a:rPr>
              <a:t>کنترل ترتیب اجرا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solidFill>
                  <a:srgbClr val="FF0000"/>
                </a:solidFill>
                <a:cs typeface="2  Titr" pitchFamily="2" charset="-78"/>
              </a:rPr>
              <a:t>کنترل ترتیب ضمنی و صریح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8001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3581400"/>
            <a:ext cx="7924801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0600" y="1992313"/>
            <a:ext cx="7874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dirty="0">
                <a:cs typeface="2  Traffic" pitchFamily="2" charset="-78"/>
              </a:rPr>
              <a:t>ساختارهای کنترل ترتیب ممکن است ضمنی یا صریح باشد:</a:t>
            </a:r>
          </a:p>
          <a:p>
            <a:pPr algn="r" rtl="1"/>
            <a:endParaRPr lang="en-US" dirty="0" smtClean="0">
              <a:cs typeface="2  Traffic" pitchFamily="2" charset="-78"/>
            </a:endParaRPr>
          </a:p>
          <a:p>
            <a:pPr algn="r" rtl="1"/>
            <a:endParaRPr lang="fa-IR" dirty="0">
              <a:cs typeface="2  Traffic" pitchFamily="2" charset="-78"/>
            </a:endParaRP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solidFill>
                  <a:srgbClr val="FF0000"/>
                </a:solidFill>
                <a:cs typeface="2  Titr" pitchFamily="2" charset="-78"/>
              </a:rPr>
              <a:t>کنترل ترتیب ضمنی و صریح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67000"/>
            <a:ext cx="8124371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3403600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نمایش درختی 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عبارات</a:t>
            </a:r>
          </a:p>
          <a:p>
            <a:pPr algn="r" rtl="1">
              <a:buFontTx/>
              <a:buNone/>
            </a:pPr>
            <a:endParaRPr lang="fa-IR" sz="3400" b="1" dirty="0">
              <a:solidFill>
                <a:schemeClr val="bg2"/>
              </a:solidFill>
              <a:cs typeface="2  Traffic" pitchFamily="2" charset="-78"/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solidFill>
                  <a:srgbClr val="FF0000"/>
                </a:solidFill>
                <a:cs typeface="2  Titr" pitchFamily="2" charset="-78"/>
              </a:rPr>
              <a:t>ترتیب اجرا در عبارات محاسباتی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9370" y="1524000"/>
            <a:ext cx="818463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4267200"/>
            <a:ext cx="8153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>
                <a:solidFill>
                  <a:srgbClr val="FF0000"/>
                </a:solidFill>
              </a:rPr>
              <a:t>مثال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752600"/>
            <a:ext cx="78200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581400" y="40386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b="1" dirty="0" smtClean="0"/>
              <a:t>نمایش درختی؟؟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2000"/>
            <a:ext cx="6705600" cy="589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4522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3925887"/>
            <a:ext cx="8636000" cy="2932113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روشهای نشانه گذاری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  <a:p>
            <a:pPr algn="r" rtl="1"/>
            <a:r>
              <a:rPr lang="fa-IR" dirty="0" smtClean="0">
                <a:cs typeface="2  Traffic" pitchFamily="2" charset="-78"/>
              </a:rPr>
              <a:t>نشانه </a:t>
            </a:r>
            <a:r>
              <a:rPr lang="fa-IR" dirty="0">
                <a:cs typeface="2  Traffic" pitchFamily="2" charset="-78"/>
              </a:rPr>
              <a:t>گذاری </a:t>
            </a:r>
            <a:r>
              <a:rPr lang="en-US" dirty="0" err="1">
                <a:cs typeface="2  Traffic" pitchFamily="2" charset="-78"/>
              </a:rPr>
              <a:t>perfix</a:t>
            </a:r>
            <a:endParaRPr lang="en-US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نشانه گذاری </a:t>
            </a:r>
            <a:r>
              <a:rPr lang="en-US" dirty="0">
                <a:cs typeface="2  Traffic" pitchFamily="2" charset="-78"/>
              </a:rPr>
              <a:t>Postfix</a:t>
            </a:r>
          </a:p>
          <a:p>
            <a:pPr algn="r" rtl="1"/>
            <a:r>
              <a:rPr lang="fa-IR" dirty="0">
                <a:cs typeface="2  Traffic" pitchFamily="2" charset="-78"/>
              </a:rPr>
              <a:t>نشانه گذاری </a:t>
            </a:r>
            <a:r>
              <a:rPr lang="en-US" dirty="0">
                <a:cs typeface="2  Traffic" pitchFamily="2" charset="-78"/>
              </a:rPr>
              <a:t>infix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solidFill>
                  <a:srgbClr val="FF0000"/>
                </a:solidFill>
                <a:cs typeface="2  Titr" pitchFamily="2" charset="-78"/>
              </a:rPr>
              <a:t>ترتیب اجرا در عبارات محاسباتی (ادامه)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38275"/>
            <a:ext cx="794385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fa-IR" sz="3200" dirty="0" smtClean="0">
                <a:solidFill>
                  <a:srgbClr val="FF0000"/>
                </a:solidFill>
              </a:rPr>
              <a:t>مزایای </a:t>
            </a:r>
            <a:r>
              <a:rPr lang="en-US" sz="3200" dirty="0" smtClean="0">
                <a:solidFill>
                  <a:srgbClr val="FF0000"/>
                </a:solidFill>
              </a:rPr>
              <a:t>postfix </a:t>
            </a:r>
            <a:r>
              <a:rPr lang="fa-IR" sz="3200" dirty="0" smtClean="0">
                <a:solidFill>
                  <a:srgbClr val="FF0000"/>
                </a:solidFill>
              </a:rPr>
              <a:t>و </a:t>
            </a:r>
            <a:r>
              <a:rPr lang="en-US" sz="3200" dirty="0" smtClean="0">
                <a:solidFill>
                  <a:srgbClr val="FF0000"/>
                </a:solidFill>
              </a:rPr>
              <a:t>prefix </a:t>
            </a:r>
            <a:r>
              <a:rPr lang="fa-IR" sz="3200" dirty="0" smtClean="0">
                <a:solidFill>
                  <a:srgbClr val="FF0000"/>
                </a:solidFill>
              </a:rPr>
              <a:t>به </a:t>
            </a:r>
            <a:r>
              <a:rPr lang="en-US" sz="3200" dirty="0" smtClean="0">
                <a:solidFill>
                  <a:srgbClr val="FF0000"/>
                </a:solidFill>
              </a:rPr>
              <a:t>infix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81200"/>
            <a:ext cx="8153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36000" cy="2438400"/>
          </a:xfrm>
        </p:spPr>
        <p:txBody>
          <a:bodyPr>
            <a:normAutofit/>
          </a:bodyPr>
          <a:lstStyle/>
          <a:p>
            <a:pPr algn="r" rtl="1">
              <a:lnSpc>
                <a:spcPct val="80000"/>
              </a:lnSpc>
            </a:pPr>
            <a:r>
              <a:rPr lang="fa-IR" dirty="0" smtClean="0">
                <a:cs typeface="2  Traffic" pitchFamily="2" charset="-78"/>
              </a:rPr>
              <a:t>ارزیابی </a:t>
            </a:r>
            <a:r>
              <a:rPr lang="fa-IR" dirty="0">
                <a:cs typeface="2  Traffic" pitchFamily="2" charset="-78"/>
              </a:rPr>
              <a:t>عبارات </a:t>
            </a:r>
            <a:r>
              <a:rPr lang="en-US" dirty="0" err="1" smtClean="0">
                <a:cs typeface="2  Traffic" pitchFamily="2" charset="-78"/>
              </a:rPr>
              <a:t>perfix</a:t>
            </a:r>
            <a:endParaRPr lang="en-US" dirty="0">
              <a:cs typeface="2  Traffic" pitchFamily="2" charset="-78"/>
            </a:endParaRPr>
          </a:p>
          <a:p>
            <a:pPr algn="r" rtl="1">
              <a:lnSpc>
                <a:spcPct val="80000"/>
              </a:lnSpc>
            </a:pPr>
            <a:endParaRPr lang="en-US" dirty="0" smtClean="0">
              <a:cs typeface="2  Traffic" pitchFamily="2" charset="-78"/>
            </a:endParaRPr>
          </a:p>
          <a:p>
            <a:pPr algn="r" rtl="1">
              <a:lnSpc>
                <a:spcPct val="80000"/>
              </a:lnSpc>
            </a:pPr>
            <a:endParaRPr lang="en-US" dirty="0" smtClean="0">
              <a:cs typeface="2  Traffic" pitchFamily="2" charset="-78"/>
            </a:endParaRPr>
          </a:p>
          <a:p>
            <a:pPr algn="r" rtl="1">
              <a:lnSpc>
                <a:spcPct val="80000"/>
              </a:lnSpc>
            </a:pPr>
            <a:endParaRPr lang="en-US" dirty="0" smtClean="0">
              <a:cs typeface="2  Traffic" pitchFamily="2" charset="-78"/>
            </a:endParaRPr>
          </a:p>
          <a:p>
            <a:pPr algn="r" rtl="1">
              <a:lnSpc>
                <a:spcPct val="80000"/>
              </a:lnSpc>
            </a:pPr>
            <a:r>
              <a:rPr lang="fa-IR" dirty="0" smtClean="0">
                <a:cs typeface="2  Traffic" pitchFamily="2" charset="-78"/>
              </a:rPr>
              <a:t>ارزیابی </a:t>
            </a:r>
            <a:r>
              <a:rPr lang="fa-IR" dirty="0">
                <a:cs typeface="2  Traffic" pitchFamily="2" charset="-78"/>
              </a:rPr>
              <a:t>عبارات </a:t>
            </a:r>
            <a:r>
              <a:rPr lang="en-US" dirty="0" smtClean="0">
                <a:cs typeface="2  Traffic" pitchFamily="2" charset="-78"/>
              </a:rPr>
              <a:t>Postfix</a:t>
            </a:r>
            <a:endParaRPr lang="en-US" dirty="0">
              <a:cs typeface="2  Traffic" pitchFamily="2" charset="-78"/>
            </a:endParaRP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solidFill>
                  <a:srgbClr val="FF0000"/>
                </a:solidFill>
                <a:cs typeface="2  Titr" pitchFamily="2" charset="-78"/>
              </a:rPr>
              <a:t>ترتیب اجرا در عبارات محاسباتی (ادامه)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03200" y="4724400"/>
            <a:ext cx="8636000" cy="1600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r" defTabSz="914400" rtl="1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fa-I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2  Traffic" pitchFamily="2" charset="-78"/>
              </a:rPr>
              <a:t>ارزیابی عبارات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2  Traffic" pitchFamily="2" charset="-78"/>
              </a:rPr>
              <a:t>Infix</a:t>
            </a:r>
          </a:p>
          <a:p>
            <a:pPr marL="365760" marR="0" lvl="0" indent="-283464" algn="r" defTabSz="914400" rtl="1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2  Traffic" pitchFamily="2" charset="-78"/>
            </a:endParaRPr>
          </a:p>
          <a:p>
            <a:pPr marL="365760" marR="0" lvl="0" indent="-283464" algn="r" defTabSz="914400" rtl="1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2  Traffic" pitchFamily="2" charset="-78"/>
            </a:endParaRPr>
          </a:p>
          <a:p>
            <a:pPr marL="365760" marR="0" lvl="0" indent="-283464" algn="r" defTabSz="914400" rtl="1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2  Traffic" pitchFamily="2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>
                <a:solidFill>
                  <a:srgbClr val="FF0000"/>
                </a:solidFill>
              </a:rPr>
              <a:t>تقدم عملگرها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876425"/>
            <a:ext cx="81534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-228600"/>
            <a:ext cx="7498080" cy="1143000"/>
          </a:xfrm>
        </p:spPr>
        <p:txBody>
          <a:bodyPr/>
          <a:lstStyle/>
          <a:p>
            <a:r>
              <a:rPr lang="fa-IR" dirty="0" smtClean="0"/>
              <a:t>تقدم عملگرها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774441"/>
            <a:ext cx="6635177" cy="600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2401</TotalTime>
  <Words>130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Solstice</vt:lpstr>
      <vt:lpstr>فصل ششم (بخش 1)  کنترل ترتیب اجرا</vt:lpstr>
      <vt:lpstr>کنترل ترتیب اجرا</vt:lpstr>
      <vt:lpstr>کنترل ترتیب ضمنی و صریح</vt:lpstr>
      <vt:lpstr>کنترل ترتیب ضمنی و صریح</vt:lpstr>
      <vt:lpstr>ترتیب اجرا در عبارات محاسباتی</vt:lpstr>
      <vt:lpstr>مثال</vt:lpstr>
      <vt:lpstr>PowerPoint Presentation</vt:lpstr>
      <vt:lpstr>ترتیب اجرا در عبارات محاسباتی (ادامه)</vt:lpstr>
      <vt:lpstr>مزایای postfix و prefix به infix</vt:lpstr>
      <vt:lpstr>ترتیب اجرا در عبارات محاسباتی (ادامه)</vt:lpstr>
      <vt:lpstr>تقدم عملگرها</vt:lpstr>
      <vt:lpstr>تقدم عملگرها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فصل چهارم  انواع داده اولیه</dc:title>
  <dc:creator>Saman</dc:creator>
  <cp:lastModifiedBy>Shishechi</cp:lastModifiedBy>
  <cp:revision>99</cp:revision>
  <dcterms:created xsi:type="dcterms:W3CDTF">2015-03-06T03:35:22Z</dcterms:created>
  <dcterms:modified xsi:type="dcterms:W3CDTF">2016-11-20T08:54:18Z</dcterms:modified>
</cp:coreProperties>
</file>