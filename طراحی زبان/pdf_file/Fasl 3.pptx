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7" r:id="rId2"/>
    <p:sldId id="258" r:id="rId3"/>
    <p:sldId id="259" r:id="rId4"/>
    <p:sldId id="260" r:id="rId5"/>
    <p:sldId id="261" r:id="rId6"/>
    <p:sldId id="262" r:id="rId7"/>
    <p:sldId id="263" r:id="rId8"/>
    <p:sldId id="264" r:id="rId9"/>
    <p:sldId id="265" r:id="rId10"/>
    <p:sldId id="282" r:id="rId11"/>
    <p:sldId id="266" r:id="rId12"/>
    <p:sldId id="267" r:id="rId13"/>
    <p:sldId id="269" r:id="rId14"/>
    <p:sldId id="270" r:id="rId15"/>
    <p:sldId id="271" r:id="rId16"/>
    <p:sldId id="272" r:id="rId17"/>
    <p:sldId id="273" r:id="rId18"/>
    <p:sldId id="274" r:id="rId19"/>
    <p:sldId id="275" r:id="rId20"/>
    <p:sldId id="277" r:id="rId21"/>
    <p:sldId id="279" r:id="rId22"/>
    <p:sldId id="283" r:id="rId23"/>
    <p:sldId id="280" r:id="rId24"/>
    <p:sldId id="286" r:id="rId25"/>
    <p:sldId id="287" r:id="rId26"/>
    <p:sldId id="288" r:id="rId27"/>
    <p:sldId id="29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795" y="2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5891D1-AF15-46DD-86FC-E02C17B1603A}" type="datetimeFigureOut">
              <a:rPr lang="en-US" smtClean="0"/>
              <a:t>4/11/2025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D034DA-106B-4A2A-995B-61A14BF953D6}" type="slidenum">
              <a:rPr lang="en-US" smtClean="0"/>
              <a:t>‹#›</a:t>
            </a:fld>
            <a:endParaRPr lang="en-US"/>
          </a:p>
        </p:txBody>
      </p:sp>
    </p:spTree>
    <p:extLst>
      <p:ext uri="{BB962C8B-B14F-4D97-AF65-F5344CB8AC3E}">
        <p14:creationId xmlns:p14="http://schemas.microsoft.com/office/powerpoint/2010/main" val="64570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BD034DA-106B-4A2A-995B-61A14BF953D6}" type="slidenum">
              <a:rPr lang="en-US" smtClean="0"/>
              <a:t>5</a:t>
            </a:fld>
            <a:endParaRPr lang="en-US"/>
          </a:p>
        </p:txBody>
      </p:sp>
    </p:spTree>
    <p:extLst>
      <p:ext uri="{BB962C8B-B14F-4D97-AF65-F5344CB8AC3E}">
        <p14:creationId xmlns:p14="http://schemas.microsoft.com/office/powerpoint/2010/main" val="3943374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90ED8FC0-5A57-4583-BF34-B447DC152594}" type="datetimeFigureOut">
              <a:rPr lang="en-US" smtClean="0"/>
              <a:pPr/>
              <a:t>4/11/2025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47F2760-AF2D-4B0F-A82E-02D364DAEB22}"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0ED8FC0-5A57-4583-BF34-B447DC152594}"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0ED8FC0-5A57-4583-BF34-B447DC152594}"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F2760-AF2D-4B0F-A82E-02D364DAEB22}"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0ED8FC0-5A57-4583-BF34-B447DC152594}"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0ED8FC0-5A57-4583-BF34-B447DC152594}" type="datetimeFigureOut">
              <a:rPr lang="en-US" smtClean="0"/>
              <a:pPr/>
              <a:t>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0ED8FC0-5A57-4583-BF34-B447DC152594}" type="datetimeFigureOut">
              <a:rPr lang="en-US" smtClean="0"/>
              <a:pPr/>
              <a:t>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0ED8FC0-5A57-4583-BF34-B447DC152594}" type="datetimeFigureOut">
              <a:rPr lang="en-US" smtClean="0"/>
              <a:pPr/>
              <a:t>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7F2760-AF2D-4B0F-A82E-02D364DAEB22}"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0ED8FC0-5A57-4583-BF34-B447DC152594}"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0ED8FC0-5A57-4583-BF34-B447DC152594}"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F2760-AF2D-4B0F-A82E-02D364DAEB22}"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0ED8FC0-5A57-4583-BF34-B447DC152594}"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0ED8FC0-5A57-4583-BF34-B447DC152594}"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F2760-AF2D-4B0F-A82E-02D364DAEB2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90ED8FC0-5A57-4583-BF34-B447DC152594}" type="datetimeFigureOut">
              <a:rPr lang="en-US" smtClean="0"/>
              <a:pPr/>
              <a:t>4/11/2025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47F2760-AF2D-4B0F-A82E-02D364DAEB22}"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ctrTitle"/>
          </p:nvPr>
        </p:nvSpPr>
        <p:spPr>
          <a:xfrm>
            <a:off x="0" y="3124200"/>
            <a:ext cx="9144000" cy="1600200"/>
          </a:xfrm>
        </p:spPr>
        <p:txBody>
          <a:bodyPr>
            <a:normAutofit fontScale="90000"/>
          </a:bodyPr>
          <a:lstStyle/>
          <a:p>
            <a:pPr algn="ctr" rtl="1"/>
            <a:r>
              <a:rPr lang="fa-IR" sz="6000" dirty="0">
                <a:cs typeface="2  Titr" pitchFamily="2" charset="-78"/>
              </a:rPr>
              <a:t>فصل </a:t>
            </a:r>
            <a:r>
              <a:rPr lang="fa-IR" sz="6000" dirty="0" smtClean="0">
                <a:cs typeface="2  Titr" pitchFamily="2" charset="-78"/>
              </a:rPr>
              <a:t>سوم</a:t>
            </a:r>
            <a:r>
              <a:rPr lang="en-US" sz="6000" dirty="0" smtClean="0">
                <a:cs typeface="2  Titr" pitchFamily="2" charset="-78"/>
              </a:rPr>
              <a:t> </a:t>
            </a:r>
            <a:r>
              <a:rPr lang="fa-IR" sz="6000" dirty="0" smtClean="0">
                <a:cs typeface="2  Titr" pitchFamily="2" charset="-78"/>
              </a:rPr>
              <a:t> طراحی و پیاده سازی زبانها</a:t>
            </a:r>
            <a:r>
              <a:rPr lang="fa-IR" sz="6000" dirty="0">
                <a:cs typeface="2  Titr" pitchFamily="2" charset="-78"/>
              </a:rPr>
              <a:t/>
            </a:r>
            <a:br>
              <a:rPr lang="fa-IR" sz="6000" dirty="0">
                <a:cs typeface="2  Titr" pitchFamily="2" charset="-78"/>
              </a:rPr>
            </a:br>
            <a:r>
              <a:rPr lang="fa-IR" dirty="0">
                <a:cs typeface="2  Titr" pitchFamily="2" charset="-78"/>
              </a:rPr>
              <a:t/>
            </a:r>
            <a:br>
              <a:rPr lang="fa-IR" dirty="0">
                <a:cs typeface="2  Titr" pitchFamily="2" charset="-78"/>
              </a:rPr>
            </a:br>
            <a:r>
              <a:rPr lang="fa-IR" dirty="0">
                <a:solidFill>
                  <a:srgbClr val="339966"/>
                </a:solidFill>
                <a:latin typeface="Tahoma" pitchFamily="34" charset="0"/>
                <a:cs typeface="2  Titr" pitchFamily="2" charset="-78"/>
              </a:rPr>
              <a:t>اصول ترجمه زبان</a:t>
            </a:r>
            <a:endParaRPr lang="en-US" dirty="0">
              <a:solidFill>
                <a:srgbClr val="339966"/>
              </a:solidFill>
              <a:latin typeface="Tahoma" pitchFamily="34" charset="0"/>
              <a:cs typeface="2  Titr" pitchFamily="2" charset="-78"/>
            </a:endParaRPr>
          </a:p>
        </p:txBody>
      </p:sp>
      <p:sp>
        <p:nvSpPr>
          <p:cNvPr id="4" name="Slide Number Placeholder 3"/>
          <p:cNvSpPr>
            <a:spLocks noGrp="1"/>
          </p:cNvSpPr>
          <p:nvPr>
            <p:ph type="sldNum" sz="quarter" idx="12"/>
          </p:nvPr>
        </p:nvSpPr>
        <p:spPr>
          <a:xfrm>
            <a:off x="6553200" y="6348413"/>
            <a:ext cx="1905000" cy="457200"/>
          </a:xfrm>
          <a:prstGeom prst="rect">
            <a:avLst/>
          </a:prstGeom>
        </p:spPr>
        <p:txBody>
          <a:bodyPr/>
          <a:lstStyle/>
          <a:p>
            <a:fld id="{D1B98248-D496-471B-8D19-64F0D033CA70}"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p:cNvSpPr>
            <a:spLocks noGrp="1" noChangeArrowheads="1"/>
          </p:cNvSpPr>
          <p:nvPr>
            <p:ph type="title"/>
          </p:nvPr>
        </p:nvSpPr>
        <p:spPr>
          <a:xfrm>
            <a:off x="406400" y="544513"/>
            <a:ext cx="8280400" cy="762000"/>
          </a:xfrm>
          <a:noFill/>
          <a:ln/>
        </p:spPr>
        <p:txBody>
          <a:bodyPr/>
          <a:lstStyle/>
          <a:p>
            <a:pPr algn="ctr" rtl="1"/>
            <a:r>
              <a:rPr lang="fa-IR" dirty="0" smtClean="0">
                <a:cs typeface="2  Titr" pitchFamily="2" charset="-78"/>
              </a:rPr>
              <a:t>فهرست مطالب</a:t>
            </a:r>
            <a:endParaRPr lang="en-US" dirty="0">
              <a:cs typeface="2  Titr" pitchFamily="2" charset="-78"/>
            </a:endParaRPr>
          </a:p>
        </p:txBody>
      </p:sp>
      <p:sp>
        <p:nvSpPr>
          <p:cNvPr id="173058" name="Rectangle 2"/>
          <p:cNvSpPr>
            <a:spLocks noGrp="1" noChangeArrowheads="1"/>
          </p:cNvSpPr>
          <p:nvPr>
            <p:ph idx="1"/>
          </p:nvPr>
        </p:nvSpPr>
        <p:spPr>
          <a:xfrm>
            <a:off x="228600" y="1731061"/>
            <a:ext cx="8636000" cy="4368800"/>
          </a:xfrm>
        </p:spPr>
        <p:txBody>
          <a:bodyPr>
            <a:normAutofit lnSpcReduction="10000"/>
          </a:bodyPr>
          <a:lstStyle/>
          <a:p>
            <a:pPr algn="r" rtl="1">
              <a:lnSpc>
                <a:spcPct val="150000"/>
              </a:lnSpc>
              <a:buFont typeface="Wingdings" pitchFamily="2" charset="2"/>
              <a:buChar char="q"/>
            </a:pPr>
            <a:r>
              <a:rPr lang="fa-IR" sz="2800" dirty="0" smtClean="0">
                <a:solidFill>
                  <a:srgbClr val="FF0000"/>
                </a:solidFill>
                <a:cs typeface="2  Traffic" pitchFamily="2" charset="-78"/>
              </a:rPr>
              <a:t>نحو زبان برنامه نویسی</a:t>
            </a:r>
          </a:p>
          <a:p>
            <a:pPr lvl="1" algn="r" rtl="1">
              <a:lnSpc>
                <a:spcPct val="150000"/>
              </a:lnSpc>
              <a:buFont typeface="Wingdings" pitchFamily="2" charset="2"/>
              <a:buChar char="§"/>
            </a:pPr>
            <a:r>
              <a:rPr lang="fa-IR" sz="2400" dirty="0" smtClean="0">
                <a:cs typeface="2  Traffic" pitchFamily="2" charset="-78"/>
              </a:rPr>
              <a:t>معیار عمومی نحو</a:t>
            </a:r>
          </a:p>
          <a:p>
            <a:pPr lvl="1" algn="r" rtl="1">
              <a:lnSpc>
                <a:spcPct val="150000"/>
              </a:lnSpc>
              <a:buFont typeface="Wingdings" pitchFamily="2" charset="2"/>
              <a:buChar char="§"/>
            </a:pPr>
            <a:r>
              <a:rPr lang="fa-IR" sz="2400" dirty="0" smtClean="0">
                <a:cs typeface="2  Traffic" pitchFamily="2" charset="-78"/>
              </a:rPr>
              <a:t>عناصر نحوی زبان</a:t>
            </a:r>
          </a:p>
          <a:p>
            <a:pPr lvl="1" algn="r" rtl="1">
              <a:lnSpc>
                <a:spcPct val="150000"/>
              </a:lnSpc>
              <a:buFont typeface="Wingdings" pitchFamily="2" charset="2"/>
              <a:buChar char="§"/>
            </a:pPr>
            <a:r>
              <a:rPr lang="fa-IR" sz="2400" dirty="0" smtClean="0">
                <a:cs typeface="2  Traffic" pitchFamily="2" charset="-78"/>
              </a:rPr>
              <a:t>ساختار برنامه ـ زیربرنامه</a:t>
            </a:r>
          </a:p>
          <a:p>
            <a:pPr algn="r" rtl="1">
              <a:lnSpc>
                <a:spcPct val="150000"/>
              </a:lnSpc>
              <a:buFont typeface="Wingdings" pitchFamily="2" charset="2"/>
              <a:buChar char="q"/>
            </a:pPr>
            <a:r>
              <a:rPr lang="fa-IR" sz="2800" dirty="0" smtClean="0">
                <a:solidFill>
                  <a:srgbClr val="FF0000"/>
                </a:solidFill>
                <a:cs typeface="2  Traffic" pitchFamily="2" charset="-78"/>
              </a:rPr>
              <a:t>مراحل ترجمه ی برنامه</a:t>
            </a:r>
          </a:p>
          <a:p>
            <a:pPr lvl="1" algn="r" rtl="1">
              <a:lnSpc>
                <a:spcPct val="150000"/>
              </a:lnSpc>
              <a:buFont typeface="Wingdings" pitchFamily="2" charset="2"/>
              <a:buChar char="§"/>
            </a:pPr>
            <a:r>
              <a:rPr lang="fa-IR" sz="2400" dirty="0" smtClean="0">
                <a:cs typeface="2  Traffic" pitchFamily="2" charset="-78"/>
              </a:rPr>
              <a:t>تحلیل برنامه منبع</a:t>
            </a:r>
          </a:p>
          <a:p>
            <a:pPr lvl="1" algn="r" rtl="1">
              <a:lnSpc>
                <a:spcPct val="150000"/>
              </a:lnSpc>
              <a:buFont typeface="Wingdings" pitchFamily="2" charset="2"/>
              <a:buChar char="§"/>
            </a:pPr>
            <a:r>
              <a:rPr lang="fa-IR" sz="2400" dirty="0" smtClean="0">
                <a:cs typeface="2  Traffic" pitchFamily="2" charset="-78"/>
              </a:rPr>
              <a:t>ترکیب برنامه مقصد</a:t>
            </a:r>
            <a:endParaRPr lang="fa-IR" sz="2400"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a:t>
            </a:r>
            <a:endParaRPr lang="en-US" dirty="0">
              <a:cs typeface="2  Titr" pitchFamily="2" charset="-78"/>
            </a:endParaRPr>
          </a:p>
        </p:txBody>
      </p:sp>
      <p:sp>
        <p:nvSpPr>
          <p:cNvPr id="173058" name="Rectangle 2"/>
          <p:cNvSpPr>
            <a:spLocks noGrp="1" noChangeArrowheads="1"/>
          </p:cNvSpPr>
          <p:nvPr>
            <p:ph idx="1"/>
          </p:nvPr>
        </p:nvSpPr>
        <p:spPr>
          <a:xfrm>
            <a:off x="228600" y="1992313"/>
            <a:ext cx="8636000" cy="4368800"/>
          </a:xfrm>
        </p:spPr>
        <p:txBody>
          <a:bodyPr>
            <a:normAutofit fontScale="92500" lnSpcReduction="10000"/>
          </a:bodyPr>
          <a:lstStyle/>
          <a:p>
            <a:pPr algn="r" rtl="1">
              <a:lnSpc>
                <a:spcPct val="150000"/>
              </a:lnSpc>
              <a:buNone/>
            </a:pPr>
            <a:r>
              <a:rPr lang="fa-IR" dirty="0" smtClean="0">
                <a:cs typeface="2  Traffic" pitchFamily="2" charset="-78"/>
              </a:rPr>
              <a:t>  </a:t>
            </a:r>
            <a:r>
              <a:rPr lang="fa-IR" dirty="0">
                <a:cs typeface="2  Traffic" pitchFamily="2" charset="-78"/>
              </a:rPr>
              <a:t>نحو </a:t>
            </a:r>
            <a:r>
              <a:rPr lang="fa-IR" dirty="0" smtClean="0">
                <a:cs typeface="2  Traffic" pitchFamily="2" charset="-78"/>
              </a:rPr>
              <a:t>آرایش </a:t>
            </a:r>
            <a:r>
              <a:rPr lang="fa-IR" dirty="0">
                <a:cs typeface="2  Traffic" pitchFamily="2" charset="-78"/>
              </a:rPr>
              <a:t>واژه ها به عنوان عناصری از یک </a:t>
            </a:r>
            <a:r>
              <a:rPr lang="fa-IR" dirty="0" smtClean="0">
                <a:cs typeface="2  Traffic" pitchFamily="2" charset="-78"/>
              </a:rPr>
              <a:t>دنباله است، که آرایش واژه ها </a:t>
            </a:r>
            <a:r>
              <a:rPr lang="fa-IR" dirty="0">
                <a:cs typeface="2  Traffic" pitchFamily="2" charset="-78"/>
              </a:rPr>
              <a:t>رابطه بین آنها را نشان می دهد</a:t>
            </a:r>
            <a:r>
              <a:rPr lang="fa-IR" dirty="0" smtClean="0">
                <a:cs typeface="2  Traffic" pitchFamily="2" charset="-78"/>
              </a:rPr>
              <a:t>.</a:t>
            </a:r>
          </a:p>
          <a:p>
            <a:pPr lvl="1" algn="ctr" rtl="1">
              <a:lnSpc>
                <a:spcPct val="150000"/>
              </a:lnSpc>
              <a:buNone/>
            </a:pPr>
            <a:r>
              <a:rPr lang="fa-IR" sz="2400" dirty="0" smtClean="0">
                <a:cs typeface="2  Traffic" pitchFamily="2" charset="-78"/>
              </a:rPr>
              <a:t>دستور </a:t>
            </a:r>
            <a:r>
              <a:rPr lang="en-US" sz="2400" dirty="0" smtClean="0">
                <a:cs typeface="2  Traffic" pitchFamily="2" charset="-78"/>
              </a:rPr>
              <a:t>x=</a:t>
            </a:r>
            <a:r>
              <a:rPr lang="en-US" sz="2400" dirty="0" err="1" smtClean="0">
                <a:cs typeface="2  Traffic" pitchFamily="2" charset="-78"/>
              </a:rPr>
              <a:t>y+z</a:t>
            </a:r>
            <a:r>
              <a:rPr lang="fa-IR" sz="2400" dirty="0" smtClean="0">
                <a:cs typeface="2  Traffic" pitchFamily="2" charset="-78"/>
              </a:rPr>
              <a:t> در </a:t>
            </a:r>
            <a:r>
              <a:rPr lang="en-US" sz="2400" dirty="0" smtClean="0">
                <a:cs typeface="2  Traffic" pitchFamily="2" charset="-78"/>
              </a:rPr>
              <a:t>c</a:t>
            </a:r>
            <a:r>
              <a:rPr lang="fa-IR" sz="2400" dirty="0" smtClean="0">
                <a:cs typeface="2  Traffic" pitchFamily="2" charset="-78"/>
              </a:rPr>
              <a:t> معتبراست ولی </a:t>
            </a:r>
            <a:r>
              <a:rPr lang="en-US" sz="2400" dirty="0" smtClean="0">
                <a:cs typeface="2  Traffic" pitchFamily="2" charset="-78"/>
              </a:rPr>
              <a:t>x=</a:t>
            </a:r>
            <a:r>
              <a:rPr lang="en-US" sz="2400" dirty="0" err="1" smtClean="0">
                <a:cs typeface="2  Traffic" pitchFamily="2" charset="-78"/>
              </a:rPr>
              <a:t>yz</a:t>
            </a:r>
            <a:r>
              <a:rPr lang="en-US" sz="2400" dirty="0" smtClean="0">
                <a:cs typeface="2  Traffic" pitchFamily="2" charset="-78"/>
              </a:rPr>
              <a:t>+-</a:t>
            </a:r>
            <a:r>
              <a:rPr lang="fa-IR" sz="2400" dirty="0" smtClean="0">
                <a:cs typeface="2  Traffic" pitchFamily="2" charset="-78"/>
              </a:rPr>
              <a:t> معتبر نیست.</a:t>
            </a:r>
          </a:p>
          <a:p>
            <a:pPr lvl="1" algn="r" rtl="1">
              <a:lnSpc>
                <a:spcPct val="150000"/>
              </a:lnSpc>
              <a:buFont typeface="Wingdings" pitchFamily="2" charset="2"/>
              <a:buChar char="q"/>
            </a:pPr>
            <a:endParaRPr lang="fa-IR" sz="2000" dirty="0">
              <a:cs typeface="2  Traffic" pitchFamily="2" charset="-78"/>
            </a:endParaRPr>
          </a:p>
          <a:p>
            <a:pPr algn="r" rtl="1">
              <a:lnSpc>
                <a:spcPct val="150000"/>
              </a:lnSpc>
              <a:buNone/>
            </a:pPr>
            <a:r>
              <a:rPr lang="fa-IR" dirty="0" smtClean="0">
                <a:cs typeface="2  Traffic" pitchFamily="2" charset="-78"/>
              </a:rPr>
              <a:t>برای </a:t>
            </a:r>
            <a:r>
              <a:rPr lang="fa-IR" dirty="0">
                <a:cs typeface="2  Traffic" pitchFamily="2" charset="-78"/>
              </a:rPr>
              <a:t>توصیف یک زبان برنامه سازی به بیش از نحو یک زبان نیاز داریم</a:t>
            </a:r>
            <a:r>
              <a:rPr lang="fa-IR" dirty="0" smtClean="0">
                <a:cs typeface="2  Traffic" pitchFamily="2" charset="-78"/>
              </a:rPr>
              <a:t>.</a:t>
            </a:r>
          </a:p>
          <a:p>
            <a:pPr lvl="1" algn="r" rtl="1">
              <a:lnSpc>
                <a:spcPct val="150000"/>
              </a:lnSpc>
              <a:buNone/>
            </a:pPr>
            <a:r>
              <a:rPr lang="fa-IR" sz="2400" dirty="0" smtClean="0">
                <a:cs typeface="2  Traffic" pitchFamily="2" charset="-78"/>
              </a:rPr>
              <a:t>نحو دستور </a:t>
            </a:r>
            <a:r>
              <a:rPr lang="en-US" sz="2400" dirty="0" smtClean="0">
                <a:cs typeface="2  Traffic" pitchFamily="2" charset="-78"/>
              </a:rPr>
              <a:t>x=4.34 + 5.86</a:t>
            </a:r>
            <a:r>
              <a:rPr lang="fa-IR" sz="2400" dirty="0" smtClean="0">
                <a:cs typeface="2  Traffic" pitchFamily="2" charset="-78"/>
              </a:rPr>
              <a:t> مشخص نمی کند که . . . </a:t>
            </a:r>
            <a:endParaRPr lang="fa-IR" sz="2400"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سازی(ادامه)</a:t>
            </a:r>
            <a:endParaRPr lang="en-US" dirty="0">
              <a:cs typeface="2  Titr" pitchFamily="2" charset="-78"/>
            </a:endParaRPr>
          </a:p>
        </p:txBody>
      </p:sp>
      <p:sp>
        <p:nvSpPr>
          <p:cNvPr id="174082" name="Rectangle 2"/>
          <p:cNvSpPr>
            <a:spLocks noGrp="1" noChangeArrowheads="1"/>
          </p:cNvSpPr>
          <p:nvPr>
            <p:ph idx="1"/>
          </p:nvPr>
        </p:nvSpPr>
        <p:spPr>
          <a:xfrm>
            <a:off x="228600" y="1992313"/>
            <a:ext cx="8636000" cy="4368800"/>
          </a:xfrm>
        </p:spPr>
        <p:txBody>
          <a:bodyPr/>
          <a:lstStyle/>
          <a:p>
            <a:pPr algn="r" rtl="1">
              <a:buFontTx/>
              <a:buNone/>
            </a:pPr>
            <a:r>
              <a:rPr lang="fa-IR" sz="3600" b="1" dirty="0" smtClean="0">
                <a:solidFill>
                  <a:srgbClr val="FF0000"/>
                </a:solidFill>
                <a:cs typeface="2  Traffic" pitchFamily="2" charset="-78"/>
              </a:rPr>
              <a:t>معیارهای </a:t>
            </a:r>
            <a:r>
              <a:rPr lang="fa-IR" sz="3600" b="1" dirty="0">
                <a:solidFill>
                  <a:srgbClr val="FF0000"/>
                </a:solidFill>
                <a:cs typeface="2  Traffic" pitchFamily="2" charset="-78"/>
              </a:rPr>
              <a:t>عمومی </a:t>
            </a:r>
            <a:r>
              <a:rPr lang="fa-IR" sz="3600" b="1" dirty="0" smtClean="0">
                <a:solidFill>
                  <a:srgbClr val="FF0000"/>
                </a:solidFill>
                <a:cs typeface="2  Traffic" pitchFamily="2" charset="-78"/>
              </a:rPr>
              <a:t>نحو زبان</a:t>
            </a:r>
            <a:endParaRPr lang="en-US" sz="3600" b="1" dirty="0" smtClean="0">
              <a:solidFill>
                <a:srgbClr val="FF0000"/>
              </a:solidFill>
              <a:cs typeface="2  Traffic" pitchFamily="2" charset="-78"/>
            </a:endParaRPr>
          </a:p>
          <a:p>
            <a:pPr algn="r" rtl="1">
              <a:buFontTx/>
              <a:buNone/>
            </a:pPr>
            <a:r>
              <a:rPr lang="fa-IR" sz="3600" b="1" dirty="0" smtClean="0">
                <a:solidFill>
                  <a:srgbClr val="FF0000"/>
                </a:solidFill>
                <a:cs typeface="2  Traffic" pitchFamily="2" charset="-78"/>
              </a:rPr>
              <a:t>ویژگیهای نحوی یک زبان خوب</a:t>
            </a:r>
            <a:endParaRPr lang="fa-IR" sz="3600" b="1" dirty="0">
              <a:solidFill>
                <a:srgbClr val="FF0000"/>
              </a:solidFill>
              <a:cs typeface="2  Traffic" pitchFamily="2" charset="-78"/>
            </a:endParaRPr>
          </a:p>
          <a:p>
            <a:pPr algn="r" rtl="1"/>
            <a:r>
              <a:rPr lang="fa-IR" dirty="0">
                <a:cs typeface="2  Traffic" pitchFamily="2" charset="-78"/>
              </a:rPr>
              <a:t>قابلیت </a:t>
            </a:r>
            <a:r>
              <a:rPr lang="fa-IR" dirty="0" smtClean="0">
                <a:cs typeface="2  Traffic" pitchFamily="2" charset="-78"/>
              </a:rPr>
              <a:t>خوانایی  </a:t>
            </a:r>
          </a:p>
          <a:p>
            <a:pPr algn="r" rtl="1"/>
            <a:r>
              <a:rPr lang="fa-IR" dirty="0" smtClean="0">
                <a:cs typeface="2  Traffic" pitchFamily="2" charset="-78"/>
              </a:rPr>
              <a:t>قابلیت </a:t>
            </a:r>
            <a:r>
              <a:rPr lang="fa-IR" dirty="0">
                <a:cs typeface="2  Traffic" pitchFamily="2" charset="-78"/>
              </a:rPr>
              <a:t>نوشتن </a:t>
            </a:r>
            <a:endParaRPr lang="fa-IR" dirty="0" smtClean="0">
              <a:cs typeface="2  Traffic" pitchFamily="2" charset="-78"/>
            </a:endParaRPr>
          </a:p>
          <a:p>
            <a:pPr algn="r" rtl="1"/>
            <a:r>
              <a:rPr lang="fa-IR" dirty="0" smtClean="0">
                <a:cs typeface="2  Traffic" pitchFamily="2" charset="-78"/>
              </a:rPr>
              <a:t>سهولت </a:t>
            </a:r>
            <a:r>
              <a:rPr lang="fa-IR" dirty="0">
                <a:cs typeface="2  Traffic" pitchFamily="2" charset="-78"/>
              </a:rPr>
              <a:t>بازرسی</a:t>
            </a:r>
          </a:p>
          <a:p>
            <a:pPr algn="r" rtl="1"/>
            <a:r>
              <a:rPr lang="fa-IR" dirty="0">
                <a:cs typeface="2  Traffic" pitchFamily="2" charset="-78"/>
              </a:rPr>
              <a:t>سهولت </a:t>
            </a:r>
            <a:r>
              <a:rPr lang="fa-IR" dirty="0" smtClean="0">
                <a:cs typeface="2  Traffic" pitchFamily="2" charset="-78"/>
              </a:rPr>
              <a:t>ترجمه</a:t>
            </a:r>
          </a:p>
          <a:p>
            <a:pPr algn="r" rtl="1"/>
            <a:r>
              <a:rPr lang="fa-IR" dirty="0" smtClean="0">
                <a:cs typeface="2  Traffic" pitchFamily="2" charset="-78"/>
              </a:rPr>
              <a:t>عدم </a:t>
            </a:r>
            <a:r>
              <a:rPr lang="fa-IR" dirty="0">
                <a:cs typeface="2  Traffic" pitchFamily="2" charset="-78"/>
              </a:rPr>
              <a:t>وجود </a:t>
            </a:r>
            <a:r>
              <a:rPr lang="fa-IR" dirty="0" smtClean="0">
                <a:cs typeface="2  Traffic" pitchFamily="2" charset="-78"/>
              </a:rPr>
              <a:t>ابهام</a:t>
            </a:r>
            <a:endParaRPr lang="fa-IR"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سازی(ادامه)</a:t>
            </a:r>
            <a:endParaRPr lang="en-US" dirty="0">
              <a:cs typeface="2  Titr" pitchFamily="2" charset="-78"/>
            </a:endParaRPr>
          </a:p>
        </p:txBody>
      </p:sp>
      <p:sp>
        <p:nvSpPr>
          <p:cNvPr id="174082" name="Rectangle 2"/>
          <p:cNvSpPr>
            <a:spLocks noGrp="1" noChangeArrowheads="1"/>
          </p:cNvSpPr>
          <p:nvPr>
            <p:ph idx="1"/>
          </p:nvPr>
        </p:nvSpPr>
        <p:spPr>
          <a:xfrm>
            <a:off x="228600" y="1992313"/>
            <a:ext cx="8636000" cy="4368800"/>
          </a:xfrm>
        </p:spPr>
        <p:txBody>
          <a:bodyPr/>
          <a:lstStyle/>
          <a:p>
            <a:pPr algn="r" rtl="1">
              <a:buFontTx/>
              <a:buNone/>
            </a:pPr>
            <a:r>
              <a:rPr lang="fa-IR" sz="2800" b="1" dirty="0" smtClean="0">
                <a:solidFill>
                  <a:srgbClr val="FF0000"/>
                </a:solidFill>
                <a:cs typeface="2  Traffic" pitchFamily="2" charset="-78"/>
              </a:rPr>
              <a:t>معیارهای عمومی نحو زبان</a:t>
            </a:r>
          </a:p>
          <a:p>
            <a:pPr algn="r" rtl="1"/>
            <a:r>
              <a:rPr lang="fa-IR" dirty="0" smtClean="0">
                <a:cs typeface="2  Traffic" pitchFamily="2" charset="-78"/>
              </a:rPr>
              <a:t>قابلیت خوانایی </a:t>
            </a:r>
          </a:p>
        </p:txBody>
      </p:sp>
      <p:sp>
        <p:nvSpPr>
          <p:cNvPr id="5" name="Slide Number Placeholder 4"/>
          <p:cNvSpPr>
            <a:spLocks noGrp="1"/>
          </p:cNvSpPr>
          <p:nvPr>
            <p:ph type="sldNum" sz="quarter" idx="12"/>
          </p:nvPr>
        </p:nvSpPr>
        <p:spPr/>
        <p:txBody>
          <a:bodyPr/>
          <a:lstStyle/>
          <a:p>
            <a:fld id="{1335391A-C508-4DBF-AB59-44B0B160C8E7}" type="slidenum">
              <a:rPr lang="en-US" smtClean="0"/>
              <a:pPr/>
              <a:t>5</a:t>
            </a:fld>
            <a:endParaRPr lang="en-US"/>
          </a:p>
        </p:txBody>
      </p:sp>
      <p:sp>
        <p:nvSpPr>
          <p:cNvPr id="6" name="Rectangle 5"/>
          <p:cNvSpPr/>
          <p:nvPr/>
        </p:nvSpPr>
        <p:spPr>
          <a:xfrm>
            <a:off x="1219200" y="3105835"/>
            <a:ext cx="7467600" cy="3539430"/>
          </a:xfrm>
          <a:prstGeom prst="rect">
            <a:avLst/>
          </a:prstGeom>
        </p:spPr>
        <p:txBody>
          <a:bodyPr wrap="square">
            <a:spAutoFit/>
          </a:bodyPr>
          <a:lstStyle/>
          <a:p>
            <a:pPr algn="just" rtl="1"/>
            <a:r>
              <a:rPr lang="fa-IR" sz="3200" dirty="0" smtClean="0">
                <a:solidFill>
                  <a:srgbClr val="0070C0"/>
                </a:solidFill>
                <a:cs typeface="2  Traffic" pitchFamily="2" charset="-78"/>
              </a:rPr>
              <a:t>اگر ساختار مربوط به الگوریتم و داده های استفاده شده در برنامه به خوبی روشن باشد خوانایی بالاست.به این گونه زبانها استنادی میگویند. یعنی  بدون مستندات قابل درک می باشند.</a:t>
            </a:r>
          </a:p>
          <a:p>
            <a:pPr algn="just" rtl="1"/>
            <a:endParaRPr lang="fa-IR" sz="3200" dirty="0" smtClean="0">
              <a:solidFill>
                <a:srgbClr val="0070C0"/>
              </a:solidFill>
              <a:cs typeface="2  Traffic" pitchFamily="2" charset="-78"/>
            </a:endParaRPr>
          </a:p>
          <a:p>
            <a:pPr algn="just" rtl="1"/>
            <a:r>
              <a:rPr lang="fa-IR" sz="3200" dirty="0" smtClean="0">
                <a:solidFill>
                  <a:srgbClr val="0070C0"/>
                </a:solidFill>
                <a:cs typeface="2  Traffic" pitchFamily="2" charset="-78"/>
              </a:rPr>
              <a:t> زبان کوبول قابلیت خوانایی بالایی دارد.</a:t>
            </a:r>
          </a:p>
          <a:p>
            <a:pPr algn="just" rtl="1"/>
            <a:r>
              <a:rPr lang="fa-IR" sz="3200" dirty="0" smtClean="0">
                <a:solidFill>
                  <a:srgbClr val="0070C0"/>
                </a:solidFill>
                <a:cs typeface="2  Traffic" pitchFamily="2" charset="-78"/>
              </a:rPr>
              <a:t>زبانها با ساختار نحوی اندک قابلیت خوانایی کمتری دارند.</a:t>
            </a:r>
          </a:p>
          <a:p>
            <a:pPr algn="just" rtl="1"/>
            <a:endParaRPr lang="fa-IR" sz="3200" dirty="0" smtClean="0">
              <a:solidFill>
                <a:srgbClr val="0070C0"/>
              </a:solidFill>
              <a:cs typeface="2  Traffic" pitchFamily="2" charset="-78"/>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سازی(ادامه)</a:t>
            </a:r>
            <a:endParaRPr lang="en-US" dirty="0">
              <a:cs typeface="2  Titr" pitchFamily="2" charset="-78"/>
            </a:endParaRPr>
          </a:p>
        </p:txBody>
      </p:sp>
      <p:sp>
        <p:nvSpPr>
          <p:cNvPr id="174082" name="Rectangle 2"/>
          <p:cNvSpPr>
            <a:spLocks noGrp="1" noChangeArrowheads="1"/>
          </p:cNvSpPr>
          <p:nvPr>
            <p:ph idx="1"/>
          </p:nvPr>
        </p:nvSpPr>
        <p:spPr>
          <a:xfrm>
            <a:off x="228600" y="1371600"/>
            <a:ext cx="8636000" cy="4368800"/>
          </a:xfrm>
        </p:spPr>
        <p:txBody>
          <a:bodyPr/>
          <a:lstStyle/>
          <a:p>
            <a:pPr algn="r" rtl="1">
              <a:buFontTx/>
              <a:buNone/>
            </a:pPr>
            <a:r>
              <a:rPr lang="fa-IR" sz="2800" b="1" dirty="0" smtClean="0">
                <a:solidFill>
                  <a:srgbClr val="FF0000"/>
                </a:solidFill>
                <a:cs typeface="2  Traffic" pitchFamily="2" charset="-78"/>
              </a:rPr>
              <a:t>معیارهای عمومی نحو زبان</a:t>
            </a:r>
          </a:p>
          <a:p>
            <a:pPr algn="r" rtl="1"/>
            <a:r>
              <a:rPr lang="fa-IR" dirty="0" smtClean="0">
                <a:cs typeface="2  Traffic" pitchFamily="2" charset="-78"/>
              </a:rPr>
              <a:t>قابلیت خوانایی  </a:t>
            </a:r>
          </a:p>
          <a:p>
            <a:pPr algn="r" rtl="1"/>
            <a:r>
              <a:rPr lang="fa-IR" dirty="0" smtClean="0">
                <a:cs typeface="2  Traffic" pitchFamily="2" charset="-78"/>
              </a:rPr>
              <a:t>قابلیت نوشتن</a:t>
            </a:r>
            <a:endParaRPr lang="fa-IR"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6</a:t>
            </a:fld>
            <a:endParaRPr lang="en-US"/>
          </a:p>
        </p:txBody>
      </p:sp>
      <p:sp>
        <p:nvSpPr>
          <p:cNvPr id="6" name="Rectangle 5"/>
          <p:cNvSpPr/>
          <p:nvPr/>
        </p:nvSpPr>
        <p:spPr>
          <a:xfrm>
            <a:off x="1143000" y="2971800"/>
            <a:ext cx="7620000" cy="3539430"/>
          </a:xfrm>
          <a:prstGeom prst="rect">
            <a:avLst/>
          </a:prstGeom>
        </p:spPr>
        <p:txBody>
          <a:bodyPr wrap="square">
            <a:spAutoFit/>
          </a:bodyPr>
          <a:lstStyle/>
          <a:p>
            <a:pPr algn="r"/>
            <a:r>
              <a:rPr lang="fa-IR" sz="2800" dirty="0" smtClean="0">
                <a:solidFill>
                  <a:srgbClr val="0070C0"/>
                </a:solidFill>
                <a:cs typeface="2  Traffic" pitchFamily="2" charset="-78"/>
              </a:rPr>
              <a:t>خصوصیات نحوی یک زبان که نوشتن برنامه را ساده تر میکند اغلب با خصوصیات نحوی که خوانایی را بیشتر میکند در تضاد هستند. </a:t>
            </a:r>
          </a:p>
          <a:p>
            <a:pPr algn="r"/>
            <a:r>
              <a:rPr lang="fa-IR" sz="2800" dirty="0" smtClean="0">
                <a:solidFill>
                  <a:srgbClr val="0070C0"/>
                </a:solidFill>
                <a:cs typeface="2  Traffic" pitchFamily="2" charset="-78"/>
              </a:rPr>
              <a:t>نوشتن با استفاده از ساختار دقیق و منظم جاصل میشود در حالی که ساختارهای طولانی برای خواندن مفید می باشند. </a:t>
            </a:r>
            <a:r>
              <a:rPr lang="en-US" sz="2800" dirty="0" smtClean="0">
                <a:solidFill>
                  <a:srgbClr val="0070C0"/>
                </a:solidFill>
                <a:cs typeface="2  Traffic" pitchFamily="2" charset="-78"/>
              </a:rPr>
              <a:t> </a:t>
            </a:r>
            <a:r>
              <a:rPr lang="fa-IR" sz="2800" dirty="0" smtClean="0">
                <a:solidFill>
                  <a:srgbClr val="0070C0"/>
                </a:solidFill>
                <a:cs typeface="2  Traffic" pitchFamily="2" charset="-78"/>
              </a:rPr>
              <a:t>خصوصیات</a:t>
            </a:r>
          </a:p>
          <a:p>
            <a:pPr algn="r"/>
            <a:r>
              <a:rPr lang="fa-IR" sz="2800" dirty="0" smtClean="0">
                <a:solidFill>
                  <a:srgbClr val="0070C0"/>
                </a:solidFill>
                <a:cs typeface="2  Traffic" pitchFamily="2" charset="-78"/>
              </a:rPr>
              <a:t>مثال : تعریف آرایه با طول متغیر، نوشتن برنامه را ساده تر ولی خواندن برنامه را سختر میکند.</a:t>
            </a:r>
          </a:p>
          <a:p>
            <a:pPr algn="r"/>
            <a:r>
              <a:rPr lang="fa-IR" sz="2800" dirty="0" smtClean="0">
                <a:solidFill>
                  <a:srgbClr val="0070C0"/>
                </a:solidFill>
                <a:cs typeface="2  Traffic" pitchFamily="2" charset="-78"/>
              </a:rPr>
              <a:t>مثال: تعریف متغیر در فرترن: اگر اعلان نشوند از نوع صحیح خواهند بود.</a:t>
            </a:r>
            <a:endParaRPr lang="en-US" sz="2800" dirty="0" smtClean="0">
              <a:solidFill>
                <a:srgbClr val="0070C0"/>
              </a:solidFill>
              <a:cs typeface="2  Traffic" pitchFamily="2" charset="-78"/>
            </a:endParaRPr>
          </a:p>
          <a:p>
            <a:pPr algn="r" rtl="1"/>
            <a:endParaRPr lang="fa-IR" sz="2800" dirty="0" smtClean="0">
              <a:solidFill>
                <a:srgbClr val="0070C0"/>
              </a:solidFill>
              <a:cs typeface="2  Traffic" pitchFamily="2" charset="-78"/>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سازی(ادامه)</a:t>
            </a:r>
            <a:endParaRPr lang="en-US" dirty="0">
              <a:cs typeface="2  Titr" pitchFamily="2" charset="-78"/>
            </a:endParaRPr>
          </a:p>
        </p:txBody>
      </p:sp>
      <p:sp>
        <p:nvSpPr>
          <p:cNvPr id="174082" name="Rectangle 2"/>
          <p:cNvSpPr>
            <a:spLocks noGrp="1" noChangeArrowheads="1"/>
          </p:cNvSpPr>
          <p:nvPr>
            <p:ph idx="1"/>
          </p:nvPr>
        </p:nvSpPr>
        <p:spPr>
          <a:xfrm>
            <a:off x="228600" y="1992313"/>
            <a:ext cx="8636000" cy="4368800"/>
          </a:xfrm>
        </p:spPr>
        <p:txBody>
          <a:bodyPr/>
          <a:lstStyle/>
          <a:p>
            <a:pPr algn="r" rtl="1">
              <a:buFontTx/>
              <a:buNone/>
            </a:pPr>
            <a:r>
              <a:rPr lang="fa-IR" sz="2800" b="1" dirty="0" smtClean="0">
                <a:solidFill>
                  <a:srgbClr val="FF0000"/>
                </a:solidFill>
                <a:cs typeface="2  Traffic" pitchFamily="2" charset="-78"/>
              </a:rPr>
              <a:t>معیارهای عمومی نحو زبان</a:t>
            </a:r>
          </a:p>
          <a:p>
            <a:pPr algn="r" rtl="1"/>
            <a:r>
              <a:rPr lang="fa-IR" dirty="0" smtClean="0">
                <a:cs typeface="2  Traffic" pitchFamily="2" charset="-78"/>
              </a:rPr>
              <a:t>قابلیت خوانایی </a:t>
            </a:r>
          </a:p>
          <a:p>
            <a:pPr algn="r" rtl="1"/>
            <a:r>
              <a:rPr lang="fa-IR" dirty="0" smtClean="0">
                <a:cs typeface="2  Traffic" pitchFamily="2" charset="-78"/>
              </a:rPr>
              <a:t>قابلیت </a:t>
            </a:r>
            <a:r>
              <a:rPr lang="fa-IR" dirty="0">
                <a:cs typeface="2  Traffic" pitchFamily="2" charset="-78"/>
              </a:rPr>
              <a:t>نوشتن </a:t>
            </a:r>
            <a:endParaRPr lang="fa-IR" dirty="0" smtClean="0">
              <a:cs typeface="2  Traffic" pitchFamily="2" charset="-78"/>
            </a:endParaRPr>
          </a:p>
          <a:p>
            <a:pPr algn="r" rtl="1"/>
            <a:r>
              <a:rPr lang="fa-IR" dirty="0" smtClean="0">
                <a:cs typeface="2  Traffic" pitchFamily="2" charset="-78"/>
              </a:rPr>
              <a:t>سهولت </a:t>
            </a:r>
            <a:r>
              <a:rPr lang="fa-IR" dirty="0">
                <a:cs typeface="2  Traffic" pitchFamily="2" charset="-78"/>
              </a:rPr>
              <a:t>بازرسی</a:t>
            </a:r>
          </a:p>
          <a:p>
            <a:pPr algn="r" rtl="1"/>
            <a:endParaRPr lang="fa-IR"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7</a:t>
            </a:fld>
            <a:endParaRPr lang="en-US"/>
          </a:p>
        </p:txBody>
      </p:sp>
      <p:sp>
        <p:nvSpPr>
          <p:cNvPr id="6" name="Rectangle 5"/>
          <p:cNvSpPr/>
          <p:nvPr/>
        </p:nvSpPr>
        <p:spPr>
          <a:xfrm>
            <a:off x="1066800" y="4419600"/>
            <a:ext cx="7848600" cy="523220"/>
          </a:xfrm>
          <a:prstGeom prst="rect">
            <a:avLst/>
          </a:prstGeom>
        </p:spPr>
        <p:txBody>
          <a:bodyPr wrap="square">
            <a:spAutoFit/>
          </a:bodyPr>
          <a:lstStyle/>
          <a:p>
            <a:pPr algn="r"/>
            <a:r>
              <a:rPr lang="fa-IR" sz="2800" dirty="0" smtClean="0">
                <a:solidFill>
                  <a:srgbClr val="0070C0"/>
                </a:solidFill>
                <a:cs typeface="2  Traffic" pitchFamily="2" charset="-78"/>
              </a:rPr>
              <a:t>با قابلیت خوانایی و نوشتن در ارتباط است. زبانی خوب است که تست کردن آن ساده باشد.</a:t>
            </a:r>
            <a:endParaRPr lang="fa-IR" sz="2800" dirty="0">
              <a:solidFill>
                <a:srgbClr val="0070C0"/>
              </a:solidFill>
              <a:cs typeface="2  Traffic" pitchFamily="2" charset="-78"/>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سازی(ادامه)</a:t>
            </a:r>
            <a:endParaRPr lang="en-US" dirty="0">
              <a:cs typeface="2  Titr" pitchFamily="2" charset="-78"/>
            </a:endParaRPr>
          </a:p>
        </p:txBody>
      </p:sp>
      <p:sp>
        <p:nvSpPr>
          <p:cNvPr id="174082"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معیار عمومی نحو</a:t>
            </a:r>
          </a:p>
          <a:p>
            <a:pPr algn="r" rtl="1"/>
            <a:r>
              <a:rPr lang="fa-IR" dirty="0">
                <a:cs typeface="2  Traffic" pitchFamily="2" charset="-78"/>
              </a:rPr>
              <a:t>قابلیت </a:t>
            </a:r>
            <a:r>
              <a:rPr lang="fa-IR" dirty="0" smtClean="0">
                <a:cs typeface="2  Traffic" pitchFamily="2" charset="-78"/>
              </a:rPr>
              <a:t>خوانایی  </a:t>
            </a:r>
          </a:p>
          <a:p>
            <a:pPr algn="r" rtl="1"/>
            <a:r>
              <a:rPr lang="fa-IR" dirty="0" smtClean="0">
                <a:cs typeface="2  Traffic" pitchFamily="2" charset="-78"/>
              </a:rPr>
              <a:t>قابلیت </a:t>
            </a:r>
            <a:r>
              <a:rPr lang="fa-IR" dirty="0">
                <a:cs typeface="2  Traffic" pitchFamily="2" charset="-78"/>
              </a:rPr>
              <a:t>نوشتن </a:t>
            </a:r>
            <a:endParaRPr lang="fa-IR" dirty="0" smtClean="0">
              <a:cs typeface="2  Traffic" pitchFamily="2" charset="-78"/>
            </a:endParaRPr>
          </a:p>
          <a:p>
            <a:pPr algn="r" rtl="1"/>
            <a:r>
              <a:rPr lang="fa-IR" dirty="0" smtClean="0">
                <a:cs typeface="2  Traffic" pitchFamily="2" charset="-78"/>
              </a:rPr>
              <a:t>سهولت بازرسی</a:t>
            </a:r>
          </a:p>
          <a:p>
            <a:pPr algn="r" rtl="1"/>
            <a:r>
              <a:rPr lang="fa-IR" dirty="0" smtClean="0">
                <a:cs typeface="2  Traffic" pitchFamily="2" charset="-78"/>
              </a:rPr>
              <a:t>سهولت ترجمه </a:t>
            </a:r>
          </a:p>
          <a:p>
            <a:pPr algn="r" rtl="1"/>
            <a:endParaRPr lang="fa-IR" dirty="0">
              <a:cs typeface="2  Traffic" pitchFamily="2" charset="-78"/>
            </a:endParaRPr>
          </a:p>
          <a:p>
            <a:pPr algn="r" rtl="1"/>
            <a:endParaRPr lang="fa-IR"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8</a:t>
            </a:fld>
            <a:endParaRPr lang="en-US"/>
          </a:p>
        </p:txBody>
      </p:sp>
      <p:sp>
        <p:nvSpPr>
          <p:cNvPr id="6" name="Rectangle 5"/>
          <p:cNvSpPr/>
          <p:nvPr/>
        </p:nvSpPr>
        <p:spPr>
          <a:xfrm>
            <a:off x="1143000" y="4876800"/>
            <a:ext cx="7697144" cy="1384995"/>
          </a:xfrm>
          <a:prstGeom prst="rect">
            <a:avLst/>
          </a:prstGeom>
        </p:spPr>
        <p:txBody>
          <a:bodyPr wrap="square">
            <a:spAutoFit/>
          </a:bodyPr>
          <a:lstStyle/>
          <a:p>
            <a:pPr algn="r"/>
            <a:r>
              <a:rPr lang="fa-IR" sz="2800" dirty="0" smtClean="0">
                <a:solidFill>
                  <a:srgbClr val="0070C0"/>
                </a:solidFill>
                <a:cs typeface="2  Traffic" pitchFamily="2" charset="-78"/>
              </a:rPr>
              <a:t>خوانایی و نوشتن مربوط به برنامه نویس و سهولت ترجمه مربوط به مترجم است. هر چه ساختارهای نحوی بیشتر باشند ترجمه آن سخت تر میشود در حالی که خواندن و نوشتن را راحتتر میکند. </a:t>
            </a:r>
            <a:endParaRPr lang="fa-IR" sz="2800" dirty="0">
              <a:solidFill>
                <a:srgbClr val="0070C0"/>
              </a:solidFill>
              <a:cs typeface="2  Traffic" pitchFamily="2" charset="-78"/>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title"/>
          </p:nvPr>
        </p:nvSpPr>
        <p:spPr>
          <a:xfrm>
            <a:off x="406400" y="228600"/>
            <a:ext cx="8280400" cy="762000"/>
          </a:xfrm>
          <a:noFill/>
          <a:ln/>
        </p:spPr>
        <p:txBody>
          <a:bodyPr/>
          <a:lstStyle/>
          <a:p>
            <a:pPr algn="ctr" rtl="1"/>
            <a:r>
              <a:rPr lang="fa-IR" dirty="0">
                <a:cs typeface="2  Titr" pitchFamily="2" charset="-78"/>
              </a:rPr>
              <a:t>نحو زبان برنامه سازی(ادامه)</a:t>
            </a:r>
            <a:endParaRPr lang="en-US" dirty="0">
              <a:cs typeface="2  Titr" pitchFamily="2" charset="-78"/>
            </a:endParaRPr>
          </a:p>
        </p:txBody>
      </p:sp>
      <p:sp>
        <p:nvSpPr>
          <p:cNvPr id="174082" name="Rectangle 2"/>
          <p:cNvSpPr>
            <a:spLocks noGrp="1" noChangeArrowheads="1"/>
          </p:cNvSpPr>
          <p:nvPr>
            <p:ph idx="1"/>
          </p:nvPr>
        </p:nvSpPr>
        <p:spPr>
          <a:xfrm>
            <a:off x="228600" y="990600"/>
            <a:ext cx="8636000" cy="4368800"/>
          </a:xfrm>
        </p:spPr>
        <p:txBody>
          <a:bodyPr/>
          <a:lstStyle/>
          <a:p>
            <a:pPr algn="r" rtl="1">
              <a:buFontTx/>
              <a:buNone/>
            </a:pPr>
            <a:r>
              <a:rPr lang="fa-IR" sz="2800" b="1" dirty="0" smtClean="0">
                <a:solidFill>
                  <a:srgbClr val="FF0000"/>
                </a:solidFill>
                <a:cs typeface="2  Traffic" pitchFamily="2" charset="-78"/>
              </a:rPr>
              <a:t>معیارهای عمومی نحو زبان</a:t>
            </a:r>
          </a:p>
          <a:p>
            <a:pPr algn="r" rtl="1"/>
            <a:r>
              <a:rPr lang="fa-IR" dirty="0" smtClean="0">
                <a:cs typeface="2  Traffic" pitchFamily="2" charset="-78"/>
              </a:rPr>
              <a:t>قابلیت خوانایی  </a:t>
            </a:r>
          </a:p>
          <a:p>
            <a:pPr algn="r" rtl="1"/>
            <a:r>
              <a:rPr lang="fa-IR" dirty="0" smtClean="0">
                <a:cs typeface="2  Traffic" pitchFamily="2" charset="-78"/>
              </a:rPr>
              <a:t>قابلیت </a:t>
            </a:r>
            <a:r>
              <a:rPr lang="fa-IR" dirty="0">
                <a:cs typeface="2  Traffic" pitchFamily="2" charset="-78"/>
              </a:rPr>
              <a:t>نوشتن </a:t>
            </a:r>
            <a:endParaRPr lang="fa-IR" dirty="0" smtClean="0">
              <a:cs typeface="2  Traffic" pitchFamily="2" charset="-78"/>
            </a:endParaRPr>
          </a:p>
          <a:p>
            <a:pPr algn="r" rtl="1"/>
            <a:r>
              <a:rPr lang="fa-IR" dirty="0" smtClean="0">
                <a:cs typeface="2  Traffic" pitchFamily="2" charset="-78"/>
              </a:rPr>
              <a:t>سهولت </a:t>
            </a:r>
            <a:r>
              <a:rPr lang="fa-IR" dirty="0">
                <a:cs typeface="2  Traffic" pitchFamily="2" charset="-78"/>
              </a:rPr>
              <a:t>بازرسی</a:t>
            </a:r>
          </a:p>
          <a:p>
            <a:pPr algn="r" rtl="1"/>
            <a:r>
              <a:rPr lang="fa-IR" dirty="0">
                <a:cs typeface="2  Traffic" pitchFamily="2" charset="-78"/>
              </a:rPr>
              <a:t>سهولت </a:t>
            </a:r>
            <a:r>
              <a:rPr lang="fa-IR" dirty="0" smtClean="0">
                <a:cs typeface="2  Traffic" pitchFamily="2" charset="-78"/>
              </a:rPr>
              <a:t>ترجمه  </a:t>
            </a:r>
          </a:p>
          <a:p>
            <a:pPr algn="r" rtl="1"/>
            <a:r>
              <a:rPr lang="fa-IR" dirty="0" smtClean="0">
                <a:cs typeface="2  Traffic" pitchFamily="2" charset="-78"/>
              </a:rPr>
              <a:t>عدم </a:t>
            </a:r>
            <a:r>
              <a:rPr lang="fa-IR" dirty="0">
                <a:cs typeface="2  Traffic" pitchFamily="2" charset="-78"/>
              </a:rPr>
              <a:t>وجود </a:t>
            </a:r>
            <a:r>
              <a:rPr lang="fa-IR" dirty="0" smtClean="0">
                <a:cs typeface="2  Traffic" pitchFamily="2" charset="-78"/>
              </a:rPr>
              <a:t>ابهام </a:t>
            </a:r>
          </a:p>
        </p:txBody>
      </p:sp>
      <p:sp>
        <p:nvSpPr>
          <p:cNvPr id="5" name="Slide Number Placeholder 4"/>
          <p:cNvSpPr>
            <a:spLocks noGrp="1"/>
          </p:cNvSpPr>
          <p:nvPr>
            <p:ph type="sldNum" sz="quarter" idx="12"/>
          </p:nvPr>
        </p:nvSpPr>
        <p:spPr/>
        <p:txBody>
          <a:bodyPr/>
          <a:lstStyle/>
          <a:p>
            <a:fld id="{1335391A-C508-4DBF-AB59-44B0B160C8E7}" type="slidenum">
              <a:rPr lang="en-US" smtClean="0"/>
              <a:pPr/>
              <a:t>9</a:t>
            </a:fld>
            <a:endParaRPr lang="en-US"/>
          </a:p>
        </p:txBody>
      </p:sp>
      <p:sp>
        <p:nvSpPr>
          <p:cNvPr id="6" name="Rectangle 5"/>
          <p:cNvSpPr/>
          <p:nvPr/>
        </p:nvSpPr>
        <p:spPr>
          <a:xfrm>
            <a:off x="1524001" y="4191000"/>
            <a:ext cx="6858000" cy="830997"/>
          </a:xfrm>
          <a:prstGeom prst="rect">
            <a:avLst/>
          </a:prstGeom>
        </p:spPr>
        <p:txBody>
          <a:bodyPr wrap="square">
            <a:spAutoFit/>
          </a:bodyPr>
          <a:lstStyle/>
          <a:p>
            <a:pPr marL="0" lvl="1" algn="l" rtl="1"/>
            <a:r>
              <a:rPr lang="fa-IR" sz="2400" dirty="0" smtClean="0">
                <a:solidFill>
                  <a:srgbClr val="0070C0"/>
                </a:solidFill>
                <a:cs typeface="2  Traffic" pitchFamily="2" charset="-78"/>
              </a:rPr>
              <a:t>یک زبان خوب نباید شامل دستورات مبهم باشد. مانند حلقه های </a:t>
            </a:r>
            <a:r>
              <a:rPr lang="en-US" sz="2400" dirty="0" smtClean="0">
                <a:solidFill>
                  <a:srgbClr val="0070C0"/>
                </a:solidFill>
                <a:cs typeface="2  Traffic" pitchFamily="2" charset="-78"/>
              </a:rPr>
              <a:t>if</a:t>
            </a:r>
            <a:r>
              <a:rPr lang="fa-IR" sz="2400" dirty="0" smtClean="0">
                <a:solidFill>
                  <a:srgbClr val="0070C0"/>
                </a:solidFill>
                <a:cs typeface="2  Traffic" pitchFamily="2" charset="-78"/>
              </a:rPr>
              <a:t> تو در تو</a:t>
            </a:r>
          </a:p>
        </p:txBody>
      </p:sp>
      <p:sp>
        <p:nvSpPr>
          <p:cNvPr id="8" name="Rectangle 7"/>
          <p:cNvSpPr/>
          <p:nvPr/>
        </p:nvSpPr>
        <p:spPr>
          <a:xfrm>
            <a:off x="1143000" y="4648200"/>
            <a:ext cx="7615229" cy="1815882"/>
          </a:xfrm>
          <a:prstGeom prst="rect">
            <a:avLst/>
          </a:prstGeom>
        </p:spPr>
        <p:txBody>
          <a:bodyPr wrap="square">
            <a:spAutoFit/>
          </a:bodyPr>
          <a:lstStyle/>
          <a:p>
            <a:pPr marL="0" lvl="1" algn="just" rtl="1"/>
            <a:r>
              <a:rPr lang="fa-IR" sz="2800" dirty="0" smtClean="0">
                <a:solidFill>
                  <a:srgbClr val="FF0000"/>
                </a:solidFill>
                <a:cs typeface="2  Traffic" pitchFamily="2" charset="-78"/>
              </a:rPr>
              <a:t>ابهام یعنی از روی یک گرامر چندین درخت پارس به وجود آید.</a:t>
            </a:r>
          </a:p>
          <a:p>
            <a:pPr marL="0" lvl="1" algn="just" rtl="1"/>
            <a:r>
              <a:rPr lang="fa-IR" sz="2800" dirty="0" smtClean="0">
                <a:solidFill>
                  <a:srgbClr val="FF0000"/>
                </a:solidFill>
                <a:cs typeface="2  Traffic" pitchFamily="2" charset="-78"/>
              </a:rPr>
              <a:t>برای رفع ابهام در عبارات ریاضی یا محاسباتی از اولویت، برای عملگرهایی با اولویت متفاوت و از شرکت پذیری برای اولویتهای یکسان استفاده میکنیم. </a:t>
            </a:r>
          </a:p>
          <a:p>
            <a:pPr marL="0" lvl="1" algn="just" rtl="1"/>
            <a:r>
              <a:rPr lang="fa-IR" sz="2800" dirty="0" smtClean="0">
                <a:solidFill>
                  <a:srgbClr val="FF0000"/>
                </a:solidFill>
                <a:cs typeface="2  Traffic" pitchFamily="2" charset="-78"/>
              </a:rPr>
              <a:t>برای رفع ابهام در دستورات معمولا از فاکتورگیری چپ استفاده میکنیم</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5920" y="533400"/>
            <a:ext cx="7498080" cy="1143000"/>
          </a:xfrm>
        </p:spPr>
        <p:txBody>
          <a:bodyPr>
            <a:normAutofit fontScale="90000"/>
          </a:bodyPr>
          <a:lstStyle/>
          <a:p>
            <a:pPr algn="ctr"/>
            <a:r>
              <a:rPr lang="fa-IR" dirty="0" smtClean="0"/>
              <a:t>معیارهای ارزیابی زبان برنامه نویسی و فاکتورهایی که بر آن اثر میگذارند.</a:t>
            </a:r>
            <a:endParaRPr lang="en-US" dirty="0"/>
          </a:p>
        </p:txBody>
      </p:sp>
      <p:pic>
        <p:nvPicPr>
          <p:cNvPr id="1027" name="Picture 3"/>
          <p:cNvPicPr>
            <a:picLocks noChangeAspect="1" noChangeArrowheads="1"/>
          </p:cNvPicPr>
          <p:nvPr/>
        </p:nvPicPr>
        <p:blipFill>
          <a:blip r:embed="rId2"/>
          <a:srcRect/>
          <a:stretch>
            <a:fillRect/>
          </a:stretch>
        </p:blipFill>
        <p:spPr bwMode="auto">
          <a:xfrm>
            <a:off x="963981" y="2362200"/>
            <a:ext cx="8180019" cy="42005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p:cNvSpPr>
            <a:spLocks noGrp="1" noChangeArrowheads="1"/>
          </p:cNvSpPr>
          <p:nvPr>
            <p:ph type="title"/>
          </p:nvPr>
        </p:nvSpPr>
        <p:spPr>
          <a:xfrm>
            <a:off x="406400" y="0"/>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5106" name="Rectangle 2"/>
          <p:cNvSpPr>
            <a:spLocks noGrp="1" noChangeArrowheads="1"/>
          </p:cNvSpPr>
          <p:nvPr>
            <p:ph idx="1"/>
          </p:nvPr>
        </p:nvSpPr>
        <p:spPr>
          <a:xfrm>
            <a:off x="228600" y="685800"/>
            <a:ext cx="8636000" cy="6172200"/>
          </a:xfrm>
        </p:spPr>
        <p:txBody>
          <a:bodyPr>
            <a:normAutofit fontScale="77500" lnSpcReduction="20000"/>
          </a:bodyPr>
          <a:lstStyle/>
          <a:p>
            <a:pPr algn="r" rtl="1">
              <a:buFontTx/>
              <a:buNone/>
            </a:pPr>
            <a:r>
              <a:rPr lang="fa-IR" sz="4200" b="1" dirty="0">
                <a:solidFill>
                  <a:srgbClr val="FF0000"/>
                </a:solidFill>
                <a:cs typeface="2  Traffic" pitchFamily="2" charset="-78"/>
              </a:rPr>
              <a:t>عناصر نحوی </a:t>
            </a:r>
            <a:r>
              <a:rPr lang="fa-IR" sz="4200" b="1" dirty="0" smtClean="0">
                <a:solidFill>
                  <a:srgbClr val="FF0000"/>
                </a:solidFill>
                <a:cs typeface="2  Traffic" pitchFamily="2" charset="-78"/>
              </a:rPr>
              <a:t>زبان</a:t>
            </a:r>
          </a:p>
          <a:p>
            <a:pPr algn="r" rtl="1">
              <a:buFontTx/>
              <a:buNone/>
            </a:pPr>
            <a:endParaRPr lang="fa-IR" sz="4200" b="1" dirty="0">
              <a:solidFill>
                <a:srgbClr val="FF0000"/>
              </a:solidFill>
              <a:cs typeface="2  Traffic" pitchFamily="2" charset="-78"/>
            </a:endParaRPr>
          </a:p>
          <a:p>
            <a:pPr algn="r" rtl="1"/>
            <a:r>
              <a:rPr lang="fa-IR" dirty="0" smtClean="0">
                <a:solidFill>
                  <a:srgbClr val="FF0000"/>
                </a:solidFill>
                <a:cs typeface="2  Traffic" pitchFamily="2" charset="-78"/>
              </a:rPr>
              <a:t>کاراکترها: </a:t>
            </a:r>
            <a:r>
              <a:rPr lang="fa-IR" dirty="0" smtClean="0">
                <a:cs typeface="2  Traffic" pitchFamily="2" charset="-78"/>
              </a:rPr>
              <a:t>اولین کار در طراحی نحو مجموعه کارکترهای آن زبان(الفبای زبان) است</a:t>
            </a:r>
            <a:endParaRPr lang="fa-IR" dirty="0">
              <a:cs typeface="2  Traffic" pitchFamily="2" charset="-78"/>
            </a:endParaRPr>
          </a:p>
          <a:p>
            <a:pPr algn="r" rtl="1"/>
            <a:endParaRPr lang="fa-IR" dirty="0" smtClean="0">
              <a:solidFill>
                <a:srgbClr val="FF0000"/>
              </a:solidFill>
              <a:cs typeface="2  Traffic" pitchFamily="2" charset="-78"/>
            </a:endParaRPr>
          </a:p>
          <a:p>
            <a:pPr algn="r" rtl="1"/>
            <a:r>
              <a:rPr lang="fa-IR" dirty="0" smtClean="0">
                <a:solidFill>
                  <a:srgbClr val="FF0000"/>
                </a:solidFill>
                <a:cs typeface="2  Traffic" pitchFamily="2" charset="-78"/>
              </a:rPr>
              <a:t>شناسه ها</a:t>
            </a:r>
            <a:r>
              <a:rPr lang="fa-IR" dirty="0" smtClean="0">
                <a:cs typeface="2  Traffic" pitchFamily="2" charset="-78"/>
              </a:rPr>
              <a:t>:رشته ای از اعداد و حروف که با حروف شروع میشوند.</a:t>
            </a:r>
            <a:endParaRPr lang="fa-IR" dirty="0">
              <a:cs typeface="2  Traffic" pitchFamily="2" charset="-78"/>
            </a:endParaRPr>
          </a:p>
          <a:p>
            <a:pPr algn="r" rtl="1"/>
            <a:endParaRPr lang="fa-IR" dirty="0" smtClean="0">
              <a:solidFill>
                <a:srgbClr val="FF0000"/>
              </a:solidFill>
              <a:cs typeface="2  Traffic" pitchFamily="2" charset="-78"/>
            </a:endParaRPr>
          </a:p>
          <a:p>
            <a:pPr algn="r" rtl="1"/>
            <a:r>
              <a:rPr lang="fa-IR" dirty="0" smtClean="0">
                <a:solidFill>
                  <a:srgbClr val="FF0000"/>
                </a:solidFill>
                <a:cs typeface="2  Traffic" pitchFamily="2" charset="-78"/>
              </a:rPr>
              <a:t>نمادهای عملگر</a:t>
            </a:r>
            <a:r>
              <a:rPr lang="fa-IR" dirty="0" smtClean="0">
                <a:cs typeface="2  Traffic" pitchFamily="2" charset="-78"/>
              </a:rPr>
              <a:t>: بعضی زبانها از +،*،/ و – برای اعمال محاسباتی استفاده میکنند. بعضیها مانند لیسپ از شناسه ها برای اعمال محاسباتی استفاده میکنند مانند </a:t>
            </a:r>
            <a:r>
              <a:rPr lang="en-US" sz="2400" dirty="0" smtClean="0">
                <a:cs typeface="2  Traffic" pitchFamily="2" charset="-78"/>
              </a:rPr>
              <a:t>plus</a:t>
            </a:r>
            <a:r>
              <a:rPr lang="en-US" dirty="0" smtClean="0">
                <a:cs typeface="2  Traffic" pitchFamily="2" charset="-78"/>
              </a:rPr>
              <a:t>, </a:t>
            </a:r>
            <a:r>
              <a:rPr lang="en-US" sz="2400" dirty="0" smtClean="0">
                <a:cs typeface="2  Traffic" pitchFamily="2" charset="-78"/>
              </a:rPr>
              <a:t>times</a:t>
            </a:r>
            <a:r>
              <a:rPr lang="fa-IR" dirty="0" smtClean="0">
                <a:cs typeface="2  Traffic" pitchFamily="2" charset="-78"/>
              </a:rPr>
              <a:t> یا مثلا درفرترن از </a:t>
            </a:r>
            <a:r>
              <a:rPr lang="en-US" dirty="0" smtClean="0">
                <a:cs typeface="2  Traffic" pitchFamily="2" charset="-78"/>
              </a:rPr>
              <a:t>**</a:t>
            </a:r>
            <a:r>
              <a:rPr lang="fa-IR" dirty="0" smtClean="0">
                <a:cs typeface="2  Traffic" pitchFamily="2" charset="-78"/>
              </a:rPr>
              <a:t> برای توان.</a:t>
            </a:r>
            <a:endParaRPr lang="fa-IR" dirty="0">
              <a:cs typeface="2  Traffic" pitchFamily="2" charset="-78"/>
            </a:endParaRPr>
          </a:p>
          <a:p>
            <a:pPr algn="r" rtl="1"/>
            <a:endParaRPr lang="fa-IR" dirty="0" smtClean="0">
              <a:solidFill>
                <a:srgbClr val="FF0000"/>
              </a:solidFill>
              <a:cs typeface="2  Traffic" pitchFamily="2" charset="-78"/>
            </a:endParaRPr>
          </a:p>
          <a:p>
            <a:pPr algn="r" rtl="1"/>
            <a:r>
              <a:rPr lang="fa-IR" dirty="0" smtClean="0">
                <a:solidFill>
                  <a:srgbClr val="FF0000"/>
                </a:solidFill>
                <a:cs typeface="2  Traffic" pitchFamily="2" charset="-78"/>
              </a:rPr>
              <a:t>کلمات </a:t>
            </a:r>
            <a:r>
              <a:rPr lang="fa-IR" dirty="0">
                <a:solidFill>
                  <a:srgbClr val="FF0000"/>
                </a:solidFill>
                <a:cs typeface="2  Traffic" pitchFamily="2" charset="-78"/>
              </a:rPr>
              <a:t>کلیدی و کلمات </a:t>
            </a:r>
            <a:r>
              <a:rPr lang="fa-IR" dirty="0" smtClean="0">
                <a:solidFill>
                  <a:srgbClr val="FF0000"/>
                </a:solidFill>
                <a:cs typeface="2  Traffic" pitchFamily="2" charset="-78"/>
              </a:rPr>
              <a:t>رزروی</a:t>
            </a:r>
            <a:r>
              <a:rPr lang="fa-IR" dirty="0" smtClean="0">
                <a:cs typeface="2  Traffic" pitchFamily="2" charset="-78"/>
              </a:rPr>
              <a:t>:شناسه ای که به عنوان بخش ثابتی از نحو یک دستور استفاده میشود.مانند </a:t>
            </a:r>
            <a:r>
              <a:rPr lang="en-US" dirty="0" smtClean="0">
                <a:cs typeface="2  Traffic" pitchFamily="2" charset="-78"/>
              </a:rPr>
              <a:t>If</a:t>
            </a:r>
            <a:r>
              <a:rPr lang="fa-IR" dirty="0" smtClean="0">
                <a:cs typeface="2  Traffic" pitchFamily="2" charset="-78"/>
              </a:rPr>
              <a:t> را کلمه کلیدی میگویند. اگر این کلمات کلیدی توسط برنامه نویس به عنوان یک شناسه(نام تابع یا متغیر)قابل استفاده نباشد، کلمات رزروی میگویند.</a:t>
            </a:r>
          </a:p>
          <a:p>
            <a:pPr algn="r" rtl="1">
              <a:buNone/>
            </a:pPr>
            <a:r>
              <a:rPr lang="fa-IR" dirty="0" smtClean="0">
                <a:cs typeface="2  Traffic" pitchFamily="2" charset="-78"/>
              </a:rPr>
              <a:t>ایراد کلمات رزروی:تولید کلمات رزوری جدید به زبان باعث میشود تا برنامه هاقدیمی دیگر از لحاظ نحوی درست نباشند.</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a:spLocks noGrp="1" noChangeArrowheads="1"/>
          </p:cNvSpPr>
          <p:nvPr>
            <p:ph type="title"/>
          </p:nvPr>
        </p:nvSpPr>
        <p:spPr>
          <a:xfrm>
            <a:off x="406400" y="-76200"/>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6130" name="Rectangle 2"/>
          <p:cNvSpPr>
            <a:spLocks noGrp="1" noChangeArrowheads="1"/>
          </p:cNvSpPr>
          <p:nvPr>
            <p:ph idx="1"/>
          </p:nvPr>
        </p:nvSpPr>
        <p:spPr>
          <a:xfrm>
            <a:off x="990600" y="533400"/>
            <a:ext cx="7874000" cy="6324600"/>
          </a:xfrm>
        </p:spPr>
        <p:txBody>
          <a:bodyPr>
            <a:normAutofit fontScale="62500" lnSpcReduction="20000"/>
          </a:bodyPr>
          <a:lstStyle/>
          <a:p>
            <a:pPr algn="r" rtl="1">
              <a:buFontTx/>
              <a:buNone/>
            </a:pPr>
            <a:r>
              <a:rPr lang="fa-IR" sz="4100" b="1" dirty="0">
                <a:solidFill>
                  <a:srgbClr val="FF0000"/>
                </a:solidFill>
                <a:cs typeface="2  Traffic" pitchFamily="2" charset="-78"/>
              </a:rPr>
              <a:t>عناصر نحوی زبان (ادامه</a:t>
            </a:r>
            <a:r>
              <a:rPr lang="fa-IR" sz="4100" b="1" dirty="0" smtClean="0">
                <a:solidFill>
                  <a:srgbClr val="FF0000"/>
                </a:solidFill>
                <a:cs typeface="2  Traffic" pitchFamily="2" charset="-78"/>
              </a:rPr>
              <a:t>)</a:t>
            </a:r>
          </a:p>
          <a:p>
            <a:pPr algn="r" rtl="1">
              <a:buFont typeface="Arial" pitchFamily="34" charset="0"/>
              <a:buChar char="•"/>
            </a:pPr>
            <a:r>
              <a:rPr lang="fa-IR" sz="3500" dirty="0" smtClean="0">
                <a:solidFill>
                  <a:srgbClr val="FF0000"/>
                </a:solidFill>
                <a:cs typeface="2  Traffic" pitchFamily="2" charset="-78"/>
              </a:rPr>
              <a:t>کلمات اضافی (اختیاری):</a:t>
            </a:r>
            <a:r>
              <a:rPr lang="fa-IR" sz="3000" dirty="0" smtClean="0">
                <a:cs typeface="2  Traffic" pitchFamily="2" charset="-78"/>
              </a:rPr>
              <a:t>جهت افزایش قابلیت خوانایی در دستور قرار میگیرند. مانند </a:t>
            </a:r>
            <a:r>
              <a:rPr lang="en-US" sz="3000" dirty="0" smtClean="0">
                <a:cs typeface="2  Traffic" pitchFamily="2" charset="-78"/>
              </a:rPr>
              <a:t>go to</a:t>
            </a:r>
            <a:r>
              <a:rPr lang="fa-IR" sz="3000" dirty="0" smtClean="0">
                <a:cs typeface="2  Traffic" pitchFamily="2" charset="-78"/>
              </a:rPr>
              <a:t>درکوبول</a:t>
            </a:r>
          </a:p>
          <a:p>
            <a:pPr algn="r" rtl="1">
              <a:buFont typeface="Arial" pitchFamily="34" charset="0"/>
              <a:buChar char="•"/>
            </a:pPr>
            <a:endParaRPr lang="fa-IR" sz="3000" b="1" dirty="0">
              <a:solidFill>
                <a:srgbClr val="FF0000"/>
              </a:solidFill>
              <a:cs typeface="2  Traffic" pitchFamily="2" charset="-78"/>
            </a:endParaRPr>
          </a:p>
          <a:p>
            <a:pPr algn="r" rtl="1"/>
            <a:r>
              <a:rPr lang="fa-IR" dirty="0" smtClean="0">
                <a:solidFill>
                  <a:srgbClr val="FF0000"/>
                </a:solidFill>
                <a:cs typeface="2  Traffic" pitchFamily="2" charset="-78"/>
              </a:rPr>
              <a:t>توضیحات:</a:t>
            </a:r>
            <a:r>
              <a:rPr lang="fa-IR" dirty="0" smtClean="0">
                <a:cs typeface="2  Traffic" pitchFamily="2" charset="-78"/>
              </a:rPr>
              <a:t> مهمترین بخش ماتند سازی به حساب می آیند.در </a:t>
            </a:r>
            <a:r>
              <a:rPr lang="en-US" dirty="0" smtClean="0">
                <a:cs typeface="2  Traffic" pitchFamily="2" charset="-78"/>
              </a:rPr>
              <a:t>C</a:t>
            </a:r>
            <a:r>
              <a:rPr lang="fa-IR" dirty="0" smtClean="0">
                <a:cs typeface="2  Traffic" pitchFamily="2" charset="-78"/>
              </a:rPr>
              <a:t> با /*...*/ و در </a:t>
            </a:r>
            <a:r>
              <a:rPr lang="en-US" dirty="0" smtClean="0">
                <a:cs typeface="2  Traffic" pitchFamily="2" charset="-78"/>
              </a:rPr>
              <a:t>C++</a:t>
            </a:r>
            <a:r>
              <a:rPr lang="fa-IR" dirty="0" smtClean="0">
                <a:cs typeface="2  Traffic" pitchFamily="2" charset="-78"/>
              </a:rPr>
              <a:t> با //</a:t>
            </a:r>
          </a:p>
          <a:p>
            <a:pPr algn="r" rtl="1"/>
            <a:endParaRPr lang="fa-IR" dirty="0">
              <a:solidFill>
                <a:srgbClr val="FF0000"/>
              </a:solidFill>
              <a:cs typeface="2  Traffic" pitchFamily="2" charset="-78"/>
            </a:endParaRPr>
          </a:p>
          <a:p>
            <a:pPr algn="r" rtl="1"/>
            <a:r>
              <a:rPr lang="fa-IR" dirty="0">
                <a:solidFill>
                  <a:srgbClr val="FF0000"/>
                </a:solidFill>
                <a:cs typeface="2  Traffic" pitchFamily="2" charset="-78"/>
              </a:rPr>
              <a:t>فضای </a:t>
            </a:r>
            <a:r>
              <a:rPr lang="fa-IR" dirty="0" smtClean="0">
                <a:solidFill>
                  <a:srgbClr val="FF0000"/>
                </a:solidFill>
                <a:cs typeface="2  Traffic" pitchFamily="2" charset="-78"/>
              </a:rPr>
              <a:t>خالی:</a:t>
            </a:r>
            <a:r>
              <a:rPr lang="fa-IR" dirty="0" smtClean="0">
                <a:cs typeface="2  Traffic" pitchFamily="2" charset="-78"/>
              </a:rPr>
              <a:t>در اغلب زبانها به عنوان جداکننده مورد استفاده قرار میگیرد.</a:t>
            </a:r>
          </a:p>
          <a:p>
            <a:pPr algn="r" rtl="1"/>
            <a:endParaRPr lang="fa-IR" dirty="0">
              <a:solidFill>
                <a:srgbClr val="FF0000"/>
              </a:solidFill>
              <a:cs typeface="2  Traffic" pitchFamily="2" charset="-78"/>
            </a:endParaRPr>
          </a:p>
          <a:p>
            <a:pPr algn="r" rtl="1"/>
            <a:r>
              <a:rPr lang="fa-IR" dirty="0" smtClean="0">
                <a:solidFill>
                  <a:srgbClr val="FF0000"/>
                </a:solidFill>
                <a:cs typeface="2  Traffic" pitchFamily="2" charset="-78"/>
              </a:rPr>
              <a:t>فاصله </a:t>
            </a:r>
            <a:r>
              <a:rPr lang="fa-IR" dirty="0">
                <a:solidFill>
                  <a:srgbClr val="FF0000"/>
                </a:solidFill>
                <a:cs typeface="2  Traffic" pitchFamily="2" charset="-78"/>
              </a:rPr>
              <a:t>ها و محصور کننده </a:t>
            </a:r>
            <a:r>
              <a:rPr lang="fa-IR" dirty="0" smtClean="0">
                <a:solidFill>
                  <a:srgbClr val="FF0000"/>
                </a:solidFill>
                <a:cs typeface="2  Traffic" pitchFamily="2" charset="-78"/>
              </a:rPr>
              <a:t>ها:</a:t>
            </a:r>
            <a:r>
              <a:rPr lang="fa-IR" dirty="0" smtClean="0">
                <a:cs typeface="2  Traffic" pitchFamily="2" charset="-78"/>
              </a:rPr>
              <a:t>ابتدا و انتهای یک دستور را نشان میدهند مانند پرانتزها،</a:t>
            </a:r>
            <a:r>
              <a:rPr lang="en-US" dirty="0" smtClean="0">
                <a:cs typeface="2  Traffic" pitchFamily="2" charset="-78"/>
              </a:rPr>
              <a:t> begin end</a:t>
            </a:r>
            <a:r>
              <a:rPr lang="fa-IR" dirty="0" smtClean="0">
                <a:cs typeface="2  Traffic" pitchFamily="2" charset="-78"/>
              </a:rPr>
              <a:t>. قابلیت خوانایی را بالا میبرد، بین بردن ابهام و تعیین مرزها</a:t>
            </a:r>
          </a:p>
          <a:p>
            <a:pPr algn="r" rtl="1"/>
            <a:endParaRPr lang="fa-IR" dirty="0">
              <a:solidFill>
                <a:srgbClr val="FF0000"/>
              </a:solidFill>
              <a:cs typeface="2  Traffic" pitchFamily="2" charset="-78"/>
            </a:endParaRPr>
          </a:p>
          <a:p>
            <a:pPr algn="r" rtl="1"/>
            <a:r>
              <a:rPr lang="fa-IR" dirty="0">
                <a:solidFill>
                  <a:srgbClr val="FF0000"/>
                </a:solidFill>
                <a:cs typeface="2  Traffic" pitchFamily="2" charset="-78"/>
              </a:rPr>
              <a:t>فرمتهای آزاد و طول </a:t>
            </a:r>
            <a:r>
              <a:rPr lang="fa-IR" dirty="0" smtClean="0">
                <a:solidFill>
                  <a:srgbClr val="FF0000"/>
                </a:solidFill>
                <a:cs typeface="2  Traffic" pitchFamily="2" charset="-78"/>
              </a:rPr>
              <a:t>ثابت: </a:t>
            </a:r>
            <a:r>
              <a:rPr lang="fa-IR" dirty="0" smtClean="0">
                <a:cs typeface="2  Traffic" pitchFamily="2" charset="-78"/>
              </a:rPr>
              <a:t>یک نحو در صورتی آزاد است که دستورات از هر جایی از خط شروع شوند.  برای نحو فرمت ثابت از موقعیتهای خاصی از خط استفاده می کند.  </a:t>
            </a:r>
            <a:endParaRPr lang="fa-IR" dirty="0" smtClean="0">
              <a:solidFill>
                <a:srgbClr val="FF0000"/>
              </a:solidFill>
              <a:cs typeface="2  Traffic" pitchFamily="2" charset="-78"/>
            </a:endParaRPr>
          </a:p>
          <a:p>
            <a:pPr algn="r" rtl="1"/>
            <a:endParaRPr lang="fa-IR" dirty="0">
              <a:cs typeface="2  Traffic" pitchFamily="2" charset="-78"/>
            </a:endParaRPr>
          </a:p>
          <a:p>
            <a:pPr algn="r" rtl="1"/>
            <a:r>
              <a:rPr lang="fa-IR" dirty="0" smtClean="0">
                <a:solidFill>
                  <a:srgbClr val="FF0000"/>
                </a:solidFill>
                <a:cs typeface="2  Traffic" pitchFamily="2" charset="-78"/>
              </a:rPr>
              <a:t>عبارت: </a:t>
            </a:r>
            <a:r>
              <a:rPr lang="fa-IR" dirty="0" smtClean="0">
                <a:cs typeface="2  Traffic" pitchFamily="2" charset="-78"/>
              </a:rPr>
              <a:t>به اشیای موجود در برنامه دسترسی دارند و مقداری را برمیگردانند. </a:t>
            </a:r>
          </a:p>
          <a:p>
            <a:pPr algn="r" rtl="1"/>
            <a:endParaRPr lang="fa-IR" dirty="0">
              <a:solidFill>
                <a:srgbClr val="FF0000"/>
              </a:solidFill>
              <a:cs typeface="2  Traffic" pitchFamily="2" charset="-78"/>
            </a:endParaRPr>
          </a:p>
          <a:p>
            <a:pPr algn="r" rtl="1"/>
            <a:r>
              <a:rPr lang="fa-IR" dirty="0" smtClean="0">
                <a:solidFill>
                  <a:srgbClr val="FF0000"/>
                </a:solidFill>
                <a:cs typeface="2  Traffic" pitchFamily="2" charset="-78"/>
              </a:rPr>
              <a:t>دستورات:</a:t>
            </a:r>
            <a:r>
              <a:rPr lang="fa-IR" dirty="0" smtClean="0">
                <a:cs typeface="2  Traffic" pitchFamily="2" charset="-78"/>
              </a:rPr>
              <a:t>دستورات میتوانند ساخت یافته یا ساده باشند. دستورات از عبارات ساخته میشوند.</a:t>
            </a:r>
            <a:endParaRPr lang="fa-IR" dirty="0" smtClean="0">
              <a:solidFill>
                <a:srgbClr val="FF0000"/>
              </a:solidFill>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داده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زیربرنامه به صورت تودر تو</a:t>
            </a:r>
          </a:p>
          <a:p>
            <a:pPr algn="r" rtl="1"/>
            <a:r>
              <a:rPr lang="fa-IR" dirty="0">
                <a:cs typeface="2  Traffic" pitchFamily="2" charset="-78"/>
              </a:rPr>
              <a:t>تعریف واسط مجزا</a:t>
            </a:r>
          </a:p>
          <a:p>
            <a:pPr algn="r" rtl="1"/>
            <a:r>
              <a:rPr lang="fa-IR" dirty="0">
                <a:cs typeface="2  Traffic" pitchFamily="2" charset="-78"/>
              </a:rPr>
              <a:t>توصیف داده ها جدا از دستورات اجرایی است</a:t>
            </a:r>
          </a:p>
          <a:p>
            <a:pPr algn="r" rtl="1"/>
            <a:r>
              <a:rPr lang="fa-IR" dirty="0">
                <a:cs typeface="2  Traffic" pitchFamily="2" charset="-78"/>
              </a:rPr>
              <a:t>تعریف زیربرنامه ها به طور غیرمجزا</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14</a:t>
            </a:fld>
            <a:endParaRPr lang="en-US"/>
          </a:p>
        </p:txBody>
      </p:sp>
      <p:sp>
        <p:nvSpPr>
          <p:cNvPr id="6" name="TextBox 5"/>
          <p:cNvSpPr txBox="1"/>
          <p:nvPr/>
        </p:nvSpPr>
        <p:spPr>
          <a:xfrm>
            <a:off x="1741713" y="3120573"/>
            <a:ext cx="6342743" cy="40011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rtlCol="0">
            <a:spAutoFit/>
          </a:bodyPr>
          <a:lstStyle/>
          <a:p>
            <a:pPr marL="0" lvl="1" algn="r"/>
            <a:r>
              <a:rPr lang="fa-IR" sz="2000" dirty="0" smtClean="0">
                <a:cs typeface="2  Traffic" pitchFamily="2" charset="-78"/>
              </a:rPr>
              <a:t>پیوند زیربرنامه ها در  هنگام بارکردن </a:t>
            </a:r>
            <a:endParaRPr lang="fa-IR" sz="2000" dirty="0">
              <a:cs typeface="2  Traffic"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داده ها به صورت </a:t>
            </a:r>
            <a:r>
              <a:rPr lang="fa-IR" dirty="0" smtClean="0">
                <a:cs typeface="2  Traffic" pitchFamily="2" charset="-78"/>
              </a:rPr>
              <a:t>جداگانه</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15</a:t>
            </a:fld>
            <a:endParaRPr lang="en-US"/>
          </a:p>
        </p:txBody>
      </p:sp>
      <p:sp>
        <p:nvSpPr>
          <p:cNvPr id="6" name="TextBox 5"/>
          <p:cNvSpPr txBox="1"/>
          <p:nvPr/>
        </p:nvSpPr>
        <p:spPr>
          <a:xfrm>
            <a:off x="1727202" y="3614058"/>
            <a:ext cx="6662056" cy="40011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rtlCol="0">
            <a:spAutoFit/>
          </a:bodyPr>
          <a:lstStyle/>
          <a:p>
            <a:pPr lvl="1" algn="r" rtl="1"/>
            <a:r>
              <a:rPr lang="fa-IR" sz="2000" dirty="0" smtClean="0">
                <a:cs typeface="2  Traffic" pitchFamily="2" charset="-78"/>
              </a:rPr>
              <a:t>داده های مربوط به یک شی جدا هستند مثل کلاس در </a:t>
            </a:r>
            <a:r>
              <a:rPr lang="en-US" sz="2000" dirty="0" smtClean="0">
                <a:cs typeface="2  Traffic" pitchFamily="2" charset="-78"/>
              </a:rPr>
              <a:t>C++</a:t>
            </a:r>
            <a:endParaRPr lang="fa-IR" sz="2000" dirty="0">
              <a:cs typeface="2  Traffic"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داده ها به صورت </a:t>
            </a:r>
            <a:r>
              <a:rPr lang="fa-IR" dirty="0" smtClean="0">
                <a:cs typeface="2  Traffic" pitchFamily="2" charset="-78"/>
              </a:rPr>
              <a:t>جداگانه</a:t>
            </a:r>
          </a:p>
          <a:p>
            <a:pPr algn="r" rtl="1"/>
            <a:r>
              <a:rPr lang="fa-IR" dirty="0" smtClean="0">
                <a:cs typeface="2  Traffic" pitchFamily="2" charset="-78"/>
              </a:rPr>
              <a:t>تعریف زیربرنامه به صورت تودر تو</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16</a:t>
            </a:fld>
            <a:endParaRPr lang="en-US"/>
          </a:p>
        </p:txBody>
      </p:sp>
      <p:sp>
        <p:nvSpPr>
          <p:cNvPr id="6" name="TextBox 5"/>
          <p:cNvSpPr txBox="1"/>
          <p:nvPr/>
        </p:nvSpPr>
        <p:spPr>
          <a:xfrm>
            <a:off x="1741716" y="4194630"/>
            <a:ext cx="6662056" cy="70788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rtlCol="0">
            <a:spAutoFit/>
          </a:bodyPr>
          <a:lstStyle/>
          <a:p>
            <a:pPr lvl="1" algn="r"/>
            <a:r>
              <a:rPr lang="fa-IR" sz="2000" dirty="0" smtClean="0">
                <a:cs typeface="2  Traffic" pitchFamily="2" charset="-78"/>
              </a:rPr>
              <a:t>در دوران اولیه ی زبانها ،زیربرنامه ها دارای محیط ارجاع غیرمحلی بودند مثل : فرترن ،الگول</a:t>
            </a:r>
            <a:endParaRPr lang="fa-IR" sz="2000" dirty="0">
              <a:cs typeface="2  Traffic"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داده ها به صورت </a:t>
            </a:r>
            <a:r>
              <a:rPr lang="fa-IR" dirty="0" smtClean="0">
                <a:cs typeface="2  Traffic" pitchFamily="2" charset="-78"/>
              </a:rPr>
              <a:t>جداگانه</a:t>
            </a:r>
          </a:p>
          <a:p>
            <a:pPr algn="r" rtl="1"/>
            <a:r>
              <a:rPr lang="fa-IR" dirty="0" smtClean="0">
                <a:cs typeface="2  Traffic" pitchFamily="2" charset="-78"/>
              </a:rPr>
              <a:t>تعریف زیربرنامه به صورت تودر تو</a:t>
            </a:r>
          </a:p>
          <a:p>
            <a:pPr algn="r" rtl="1"/>
            <a:r>
              <a:rPr lang="fa-IR" dirty="0" smtClean="0">
                <a:cs typeface="2  Traffic" pitchFamily="2" charset="-78"/>
              </a:rPr>
              <a:t>تعریف واسط مجزا</a:t>
            </a:r>
          </a:p>
        </p:txBody>
      </p:sp>
      <p:sp>
        <p:nvSpPr>
          <p:cNvPr id="5" name="Slide Number Placeholder 4"/>
          <p:cNvSpPr>
            <a:spLocks noGrp="1"/>
          </p:cNvSpPr>
          <p:nvPr>
            <p:ph type="sldNum" sz="quarter" idx="12"/>
          </p:nvPr>
        </p:nvSpPr>
        <p:spPr/>
        <p:txBody>
          <a:bodyPr/>
          <a:lstStyle/>
          <a:p>
            <a:fld id="{1335391A-C508-4DBF-AB59-44B0B160C8E7}" type="slidenum">
              <a:rPr lang="en-US" smtClean="0"/>
              <a:pPr/>
              <a:t>17</a:t>
            </a:fld>
            <a:endParaRPr lang="en-US"/>
          </a:p>
        </p:txBody>
      </p:sp>
      <p:sp>
        <p:nvSpPr>
          <p:cNvPr id="6" name="TextBox 5"/>
          <p:cNvSpPr txBox="1"/>
          <p:nvPr/>
        </p:nvSpPr>
        <p:spPr>
          <a:xfrm>
            <a:off x="1930402" y="4804230"/>
            <a:ext cx="6662056" cy="40011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rtlCol="0">
            <a:spAutoFit/>
          </a:bodyPr>
          <a:lstStyle/>
          <a:p>
            <a:pPr lvl="1" algn="r" rtl="1"/>
            <a:r>
              <a:rPr lang="fa-IR" sz="2000" dirty="0" smtClean="0">
                <a:cs typeface="2  Traffic" pitchFamily="2" charset="-78"/>
              </a:rPr>
              <a:t>مانند </a:t>
            </a:r>
            <a:r>
              <a:rPr lang="en-US" sz="2000" dirty="0" smtClean="0">
                <a:cs typeface="2  Traffic" pitchFamily="2" charset="-78"/>
              </a:rPr>
              <a:t>header </a:t>
            </a:r>
            <a:r>
              <a:rPr lang="fa-IR" sz="2000" dirty="0" smtClean="0">
                <a:cs typeface="2  Traffic" pitchFamily="2" charset="-78"/>
              </a:rPr>
              <a:t> فایل ها در </a:t>
            </a:r>
            <a:r>
              <a:rPr lang="en-US" sz="2000" dirty="0" smtClean="0">
                <a:cs typeface="2  Traffic" pitchFamily="2" charset="-78"/>
              </a:rPr>
              <a: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داده ها به صورت </a:t>
            </a:r>
            <a:r>
              <a:rPr lang="fa-IR" dirty="0" smtClean="0">
                <a:cs typeface="2  Traffic" pitchFamily="2" charset="-78"/>
              </a:rPr>
              <a:t>جداگانه</a:t>
            </a:r>
          </a:p>
          <a:p>
            <a:pPr algn="r" rtl="1"/>
            <a:r>
              <a:rPr lang="fa-IR" dirty="0" smtClean="0">
                <a:cs typeface="2  Traffic" pitchFamily="2" charset="-78"/>
              </a:rPr>
              <a:t>تعریف زیربرنامه به صورت تودر تو</a:t>
            </a:r>
          </a:p>
          <a:p>
            <a:pPr algn="r" rtl="1"/>
            <a:r>
              <a:rPr lang="fa-IR" dirty="0" smtClean="0">
                <a:cs typeface="2  Traffic" pitchFamily="2" charset="-78"/>
              </a:rPr>
              <a:t>تعریف واسط مجزا</a:t>
            </a:r>
          </a:p>
          <a:p>
            <a:pPr algn="r" rtl="1"/>
            <a:r>
              <a:rPr lang="fa-IR" dirty="0" smtClean="0">
                <a:cs typeface="2  Traffic" pitchFamily="2" charset="-78"/>
              </a:rPr>
              <a:t>توصیف داده ها جدا از دستورات اجرایی است</a:t>
            </a:r>
          </a:p>
          <a:p>
            <a:pPr algn="r" rtl="1"/>
            <a:endParaRPr lang="fa-IR" dirty="0" smtClean="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18</a:t>
            </a:fld>
            <a:endParaRPr lang="en-US"/>
          </a:p>
        </p:txBody>
      </p:sp>
      <p:sp>
        <p:nvSpPr>
          <p:cNvPr id="6" name="TextBox 5"/>
          <p:cNvSpPr txBox="1"/>
          <p:nvPr/>
        </p:nvSpPr>
        <p:spPr>
          <a:xfrm>
            <a:off x="1872345" y="5283201"/>
            <a:ext cx="6662056" cy="70788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rtlCol="0">
            <a:spAutoFit/>
          </a:bodyPr>
          <a:lstStyle/>
          <a:p>
            <a:pPr lvl="1" algn="r"/>
            <a:r>
              <a:rPr lang="fa-IR" sz="2000" dirty="0" smtClean="0">
                <a:cs typeface="2  Traffic" pitchFamily="2" charset="-78"/>
              </a:rPr>
              <a:t>برای مثال در کوبول برنامه سه قسمت دارد بخش داده ها ،بخش رویه ها ، بخش داده های خارجی</a:t>
            </a:r>
            <a:endParaRPr lang="fa-IR" sz="2000" dirty="0">
              <a:cs typeface="2  Traffic"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نحو زبان برنامه سازی (ادامه)</a:t>
            </a:r>
            <a:endParaRPr lang="en-US" dirty="0">
              <a:cs typeface="2  Titr" pitchFamily="2" charset="-78"/>
            </a:endParaRPr>
          </a:p>
        </p:txBody>
      </p:sp>
      <p:sp>
        <p:nvSpPr>
          <p:cNvPr id="177154" name="Rectangle 2"/>
          <p:cNvSpPr>
            <a:spLocks noGrp="1" noChangeArrowheads="1"/>
          </p:cNvSpPr>
          <p:nvPr>
            <p:ph idx="1"/>
          </p:nvPr>
        </p:nvSpPr>
        <p:spPr>
          <a:xfrm>
            <a:off x="228600" y="1992313"/>
            <a:ext cx="8636000" cy="4368800"/>
          </a:xfrm>
        </p:spPr>
        <p:txBody>
          <a:bodyPr/>
          <a:lstStyle/>
          <a:p>
            <a:pPr algn="r" rtl="1">
              <a:buFontTx/>
              <a:buNone/>
            </a:pPr>
            <a:r>
              <a:rPr lang="fa-IR" sz="2800" b="1" dirty="0">
                <a:solidFill>
                  <a:srgbClr val="FF0000"/>
                </a:solidFill>
                <a:cs typeface="2  Traffic" pitchFamily="2" charset="-78"/>
              </a:rPr>
              <a:t>ساختار برنامه - زیربرنامه</a:t>
            </a:r>
          </a:p>
          <a:p>
            <a:pPr algn="r" rtl="1"/>
            <a:r>
              <a:rPr lang="fa-IR" dirty="0">
                <a:cs typeface="2  Traffic" pitchFamily="2" charset="-78"/>
              </a:rPr>
              <a:t>تعریف زیربرنامه ها به صورت </a:t>
            </a:r>
            <a:r>
              <a:rPr lang="fa-IR" dirty="0" smtClean="0">
                <a:cs typeface="2  Traffic" pitchFamily="2" charset="-78"/>
              </a:rPr>
              <a:t>جداگانه</a:t>
            </a:r>
          </a:p>
          <a:p>
            <a:pPr algn="r" rtl="1"/>
            <a:r>
              <a:rPr lang="fa-IR" dirty="0" smtClean="0">
                <a:cs typeface="2  Traffic" pitchFamily="2" charset="-78"/>
              </a:rPr>
              <a:t>تعریف </a:t>
            </a:r>
            <a:r>
              <a:rPr lang="fa-IR" dirty="0">
                <a:cs typeface="2  Traffic" pitchFamily="2" charset="-78"/>
              </a:rPr>
              <a:t>داده ها به صورت </a:t>
            </a:r>
            <a:r>
              <a:rPr lang="fa-IR" dirty="0" smtClean="0">
                <a:cs typeface="2  Traffic" pitchFamily="2" charset="-78"/>
              </a:rPr>
              <a:t>جداگانه</a:t>
            </a:r>
          </a:p>
          <a:p>
            <a:pPr algn="r" rtl="1"/>
            <a:r>
              <a:rPr lang="fa-IR" dirty="0" smtClean="0">
                <a:cs typeface="2  Traffic" pitchFamily="2" charset="-78"/>
              </a:rPr>
              <a:t>تعریف زیربرنامه به صورت تودر تو</a:t>
            </a:r>
          </a:p>
          <a:p>
            <a:pPr algn="r" rtl="1"/>
            <a:r>
              <a:rPr lang="fa-IR" dirty="0" smtClean="0">
                <a:cs typeface="2  Traffic" pitchFamily="2" charset="-78"/>
              </a:rPr>
              <a:t>تعریف واسط مجزا</a:t>
            </a:r>
          </a:p>
          <a:p>
            <a:pPr algn="r" rtl="1"/>
            <a:r>
              <a:rPr lang="fa-IR" dirty="0" smtClean="0">
                <a:cs typeface="2  Traffic" pitchFamily="2" charset="-78"/>
              </a:rPr>
              <a:t>توصیف داده ها جدا از دستورات اجرایی است</a:t>
            </a:r>
          </a:p>
          <a:p>
            <a:pPr algn="r" rtl="1"/>
            <a:r>
              <a:rPr lang="fa-IR" dirty="0" smtClean="0">
                <a:cs typeface="2  Traffic" pitchFamily="2" charset="-78"/>
              </a:rPr>
              <a:t>تعریف زیربرنامه ها به طور غیرمجزا</a:t>
            </a:r>
            <a:endParaRPr lang="fa-IR" dirty="0">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19</a:t>
            </a:fld>
            <a:endParaRPr lang="en-US"/>
          </a:p>
        </p:txBody>
      </p:sp>
      <p:sp>
        <p:nvSpPr>
          <p:cNvPr id="6" name="TextBox 5"/>
          <p:cNvSpPr txBox="1"/>
          <p:nvPr/>
        </p:nvSpPr>
        <p:spPr>
          <a:xfrm>
            <a:off x="1857831" y="5820230"/>
            <a:ext cx="6662056" cy="70788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rtlCol="0">
            <a:spAutoFit/>
          </a:bodyPr>
          <a:lstStyle/>
          <a:p>
            <a:pPr lvl="1" algn="r"/>
            <a:r>
              <a:rPr lang="fa-IR" sz="2000" dirty="0" smtClean="0">
                <a:cs typeface="2  Traffic" pitchFamily="2" charset="-78"/>
              </a:rPr>
              <a:t>تمایز خاصی بین دستورات برنامه اصلی و زیربرنامه ها وجود ندارد مثل اسنوبال 4</a:t>
            </a:r>
            <a:endParaRPr lang="fa-IR" sz="2000" dirty="0">
              <a:cs typeface="2  Traffic"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p:cNvSpPr>
            <a:spLocks noGrp="1" noChangeArrowheads="1"/>
          </p:cNvSpPr>
          <p:nvPr>
            <p:ph type="title"/>
          </p:nvPr>
        </p:nvSpPr>
        <p:spPr>
          <a:xfrm>
            <a:off x="406400" y="544513"/>
            <a:ext cx="8280400" cy="762000"/>
          </a:xfrm>
          <a:noFill/>
          <a:ln/>
        </p:spPr>
        <p:txBody>
          <a:bodyPr/>
          <a:lstStyle/>
          <a:p>
            <a:pPr algn="ctr" rtl="1"/>
            <a:r>
              <a:rPr lang="fa-IR" dirty="0" smtClean="0">
                <a:cs typeface="2  Titr" pitchFamily="2" charset="-78"/>
              </a:rPr>
              <a:t>3-2- مراحل </a:t>
            </a:r>
            <a:r>
              <a:rPr lang="fa-IR" dirty="0">
                <a:cs typeface="2  Titr" pitchFamily="2" charset="-78"/>
              </a:rPr>
              <a:t>ترجمه</a:t>
            </a:r>
            <a:endParaRPr lang="en-US" dirty="0">
              <a:cs typeface="2  Titr" pitchFamily="2" charset="-78"/>
            </a:endParaRPr>
          </a:p>
        </p:txBody>
      </p:sp>
      <p:sp>
        <p:nvSpPr>
          <p:cNvPr id="178178" name="Rectangle 2"/>
          <p:cNvSpPr>
            <a:spLocks noGrp="1" noChangeArrowheads="1"/>
          </p:cNvSpPr>
          <p:nvPr>
            <p:ph idx="1"/>
          </p:nvPr>
        </p:nvSpPr>
        <p:spPr>
          <a:xfrm>
            <a:off x="228600" y="1992313"/>
            <a:ext cx="8636000" cy="4368800"/>
          </a:xfrm>
        </p:spPr>
        <p:txBody>
          <a:bodyPr/>
          <a:lstStyle/>
          <a:p>
            <a:pPr algn="r" rtl="1">
              <a:buFontTx/>
              <a:buNone/>
            </a:pPr>
            <a:r>
              <a:rPr lang="fa-IR" sz="2800" dirty="0" smtClean="0">
                <a:solidFill>
                  <a:srgbClr val="FF0000"/>
                </a:solidFill>
                <a:cs typeface="2  Traffic" pitchFamily="2" charset="-78"/>
              </a:rPr>
              <a:t>در زبانی </a:t>
            </a:r>
            <a:r>
              <a:rPr lang="fa-IR" sz="2800" dirty="0">
                <a:solidFill>
                  <a:srgbClr val="FF0000"/>
                </a:solidFill>
                <a:cs typeface="2  Traffic" pitchFamily="2" charset="-78"/>
              </a:rPr>
              <a:t>که به صورت مفسری پیاده سازی </a:t>
            </a:r>
            <a:r>
              <a:rPr lang="fa-IR" sz="2800" dirty="0" smtClean="0">
                <a:solidFill>
                  <a:srgbClr val="FF0000"/>
                </a:solidFill>
                <a:cs typeface="2  Traffic" pitchFamily="2" charset="-78"/>
              </a:rPr>
              <a:t>شود </a:t>
            </a:r>
            <a:r>
              <a:rPr lang="fa-IR" sz="2800" dirty="0">
                <a:solidFill>
                  <a:srgbClr val="FF0000"/>
                </a:solidFill>
                <a:cs typeface="2  Traffic" pitchFamily="2" charset="-78"/>
              </a:rPr>
              <a:t>سرعت اجرای برنامه پایین </a:t>
            </a:r>
            <a:r>
              <a:rPr lang="fa-IR" sz="2800" dirty="0" smtClean="0">
                <a:solidFill>
                  <a:srgbClr val="FF0000"/>
                </a:solidFill>
                <a:cs typeface="2  Traffic" pitchFamily="2" charset="-78"/>
              </a:rPr>
              <a:t>خواهد </a:t>
            </a:r>
            <a:r>
              <a:rPr lang="fa-IR" sz="2800" dirty="0">
                <a:solidFill>
                  <a:srgbClr val="FF0000"/>
                </a:solidFill>
                <a:cs typeface="2  Traffic" pitchFamily="2" charset="-78"/>
              </a:rPr>
              <a:t>بود.</a:t>
            </a:r>
          </a:p>
          <a:p>
            <a:pPr algn="r" rtl="1"/>
            <a:r>
              <a:rPr lang="fa-IR" dirty="0">
                <a:cs typeface="2  Traffic" pitchFamily="2" charset="-78"/>
              </a:rPr>
              <a:t>فرآیند </a:t>
            </a:r>
            <a:r>
              <a:rPr lang="fa-IR" dirty="0" smtClean="0">
                <a:cs typeface="2  Traffic" pitchFamily="2" charset="-78"/>
              </a:rPr>
              <a:t>ترجمه(تبدیل یک زبان به زبان دیگر) </a:t>
            </a:r>
            <a:r>
              <a:rPr lang="fa-IR" dirty="0">
                <a:cs typeface="2  Traffic" pitchFamily="2" charset="-78"/>
              </a:rPr>
              <a:t>به طور منطقی به دو مرحله :</a:t>
            </a:r>
          </a:p>
          <a:p>
            <a:pPr lvl="1" algn="r" rtl="1"/>
            <a:r>
              <a:rPr lang="fa-IR" dirty="0">
                <a:cs typeface="2  Traffic" pitchFamily="2" charset="-78"/>
              </a:rPr>
              <a:t>تحلیل برنامه منبع ورودی</a:t>
            </a:r>
          </a:p>
          <a:p>
            <a:pPr lvl="1" algn="r" rtl="1"/>
            <a:r>
              <a:rPr lang="fa-IR" dirty="0">
                <a:cs typeface="2  Traffic" pitchFamily="2" charset="-78"/>
              </a:rPr>
              <a:t>ترکیب برنامه مقصد اجرایی</a:t>
            </a:r>
          </a:p>
        </p:txBody>
      </p:sp>
      <p:sp>
        <p:nvSpPr>
          <p:cNvPr id="5" name="Slide Number Placeholder 4"/>
          <p:cNvSpPr>
            <a:spLocks noGrp="1"/>
          </p:cNvSpPr>
          <p:nvPr>
            <p:ph type="sldNum" sz="quarter" idx="12"/>
          </p:nvPr>
        </p:nvSpPr>
        <p:spPr/>
        <p:txBody>
          <a:bodyPr/>
          <a:lstStyle/>
          <a:p>
            <a:fld id="{1335391A-C508-4DBF-AB59-44B0B160C8E7}"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مراحل ترجمه (ادامه)</a:t>
            </a:r>
            <a:endParaRPr lang="en-US" dirty="0">
              <a:cs typeface="2  Titr" pitchFamily="2" charset="-78"/>
            </a:endParaRPr>
          </a:p>
        </p:txBody>
      </p:sp>
      <p:sp>
        <p:nvSpPr>
          <p:cNvPr id="180226" name="Rectangle 2"/>
          <p:cNvSpPr>
            <a:spLocks noGrp="1" noChangeArrowheads="1"/>
          </p:cNvSpPr>
          <p:nvPr>
            <p:ph idx="1"/>
          </p:nvPr>
        </p:nvSpPr>
        <p:spPr>
          <a:xfrm>
            <a:off x="1143000" y="1371600"/>
            <a:ext cx="7797800" cy="5334000"/>
          </a:xfrm>
        </p:spPr>
        <p:txBody>
          <a:bodyPr>
            <a:normAutofit fontScale="92500" lnSpcReduction="20000"/>
          </a:bodyPr>
          <a:lstStyle/>
          <a:p>
            <a:pPr algn="r" rtl="1">
              <a:buFontTx/>
              <a:buNone/>
            </a:pPr>
            <a:r>
              <a:rPr lang="fa-IR" sz="2800" b="1" dirty="0">
                <a:solidFill>
                  <a:srgbClr val="FF0000"/>
                </a:solidFill>
                <a:cs typeface="2  Traffic" pitchFamily="2" charset="-78"/>
              </a:rPr>
              <a:t>تحلیل برنامه منبع</a:t>
            </a:r>
          </a:p>
          <a:p>
            <a:pPr algn="justLow" rtl="1"/>
            <a:r>
              <a:rPr lang="fa-IR" dirty="0">
                <a:cs typeface="2  Traffic" pitchFamily="2" charset="-78"/>
              </a:rPr>
              <a:t>تحلیل لغوی : دسته بندی از کاراکترها به اجزای بنیادی </a:t>
            </a:r>
          </a:p>
          <a:p>
            <a:pPr algn="justLow" rtl="1"/>
            <a:r>
              <a:rPr lang="fa-IR" dirty="0">
                <a:cs typeface="2  Traffic" pitchFamily="2" charset="-78"/>
              </a:rPr>
              <a:t>تحلیل نحوی (تجزیه) : ساختارهای بزرگ با استفاده از عناصر لغوی که توسط تحلیل گر لغوی تولید شدند شناسایی می شوند.</a:t>
            </a:r>
          </a:p>
          <a:p>
            <a:pPr algn="justLow" rtl="1"/>
            <a:r>
              <a:rPr lang="fa-IR" dirty="0">
                <a:cs typeface="2  Traffic" pitchFamily="2" charset="-78"/>
              </a:rPr>
              <a:t>تحلیل معنایی : ساختارهای معنایی که توسط تحلیلگر نحوی تشخیص داده شدند پردازش می شوند و ساختار کد مقصد اجرایی شکل می </a:t>
            </a:r>
            <a:r>
              <a:rPr lang="fa-IR" dirty="0" smtClean="0">
                <a:cs typeface="2  Traffic" pitchFamily="2" charset="-78"/>
              </a:rPr>
              <a:t>گیرد.کنترل نوع </a:t>
            </a:r>
          </a:p>
          <a:p>
            <a:pPr algn="justLow" rtl="1"/>
            <a:r>
              <a:rPr lang="fa-IR" dirty="0" smtClean="0">
                <a:cs typeface="2  Traffic" pitchFamily="2" charset="-78"/>
              </a:rPr>
              <a:t>تولید کد میانی</a:t>
            </a:r>
          </a:p>
          <a:p>
            <a:pPr algn="justLow" rtl="1">
              <a:buNone/>
            </a:pPr>
            <a:r>
              <a:rPr lang="fa-IR" dirty="0" smtClean="0">
                <a:solidFill>
                  <a:srgbClr val="FF0000"/>
                </a:solidFill>
                <a:cs typeface="2  Traffic" pitchFamily="2" charset="-78"/>
              </a:rPr>
              <a:t>ترکیب برنامه مقصد</a:t>
            </a:r>
          </a:p>
          <a:p>
            <a:pPr algn="justLow" rtl="1">
              <a:buFont typeface="Arial" pitchFamily="34" charset="0"/>
              <a:buChar char="•"/>
            </a:pPr>
            <a:r>
              <a:rPr lang="fa-IR" dirty="0" smtClean="0">
                <a:cs typeface="2  Traffic" pitchFamily="2" charset="-78"/>
              </a:rPr>
              <a:t>بهینه سازی کد</a:t>
            </a:r>
          </a:p>
          <a:p>
            <a:pPr algn="justLow" rtl="1">
              <a:buFont typeface="Arial" pitchFamily="34" charset="0"/>
              <a:buChar char="•"/>
            </a:pPr>
            <a:r>
              <a:rPr lang="fa-IR" dirty="0" smtClean="0">
                <a:cs typeface="2  Traffic" pitchFamily="2" charset="-78"/>
              </a:rPr>
              <a:t>تولید کد نهایی</a:t>
            </a:r>
          </a:p>
        </p:txBody>
      </p:sp>
      <p:sp>
        <p:nvSpPr>
          <p:cNvPr id="5" name="Slide Number Placeholder 4"/>
          <p:cNvSpPr>
            <a:spLocks noGrp="1"/>
          </p:cNvSpPr>
          <p:nvPr>
            <p:ph type="sldNum" sz="quarter" idx="12"/>
          </p:nvPr>
        </p:nvSpPr>
        <p:spPr/>
        <p:txBody>
          <a:bodyPr/>
          <a:lstStyle/>
          <a:p>
            <a:fld id="{1335391A-C508-4DBF-AB59-44B0B160C8E7}"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title"/>
          </p:nvPr>
        </p:nvSpPr>
        <p:spPr>
          <a:xfrm>
            <a:off x="406400" y="152400"/>
            <a:ext cx="8280400" cy="762000"/>
          </a:xfrm>
          <a:noFill/>
          <a:ln/>
        </p:spPr>
        <p:txBody>
          <a:bodyPr/>
          <a:lstStyle/>
          <a:p>
            <a:pPr algn="ctr" rtl="1"/>
            <a:r>
              <a:rPr lang="fa-IR" dirty="0">
                <a:cs typeface="2  Titr" pitchFamily="2" charset="-78"/>
              </a:rPr>
              <a:t>مراحل ترجمه (ادامه)</a:t>
            </a:r>
            <a:endParaRPr lang="en-US" dirty="0">
              <a:cs typeface="2  Titr" pitchFamily="2" charset="-78"/>
            </a:endParaRPr>
          </a:p>
        </p:txBody>
      </p:sp>
      <p:sp>
        <p:nvSpPr>
          <p:cNvPr id="5" name="Rectangle 2"/>
          <p:cNvSpPr>
            <a:spLocks noGrp="1" noChangeArrowheads="1"/>
          </p:cNvSpPr>
          <p:nvPr>
            <p:ph idx="1"/>
          </p:nvPr>
        </p:nvSpPr>
        <p:spPr>
          <a:xfrm>
            <a:off x="228600" y="914400"/>
            <a:ext cx="8636000" cy="5141913"/>
          </a:xfrm>
        </p:spPr>
        <p:txBody>
          <a:bodyPr/>
          <a:lstStyle/>
          <a:p>
            <a:pPr algn="r" rtl="1">
              <a:buFontTx/>
              <a:buNone/>
            </a:pPr>
            <a:r>
              <a:rPr lang="fa-IR" sz="2800" b="1" dirty="0" smtClean="0">
                <a:cs typeface="2  Traffic" pitchFamily="2" charset="-78"/>
              </a:rPr>
              <a:t>کامپایلر برنامه ای از زبان مبدا به زبان مقصد ترجمه میکند</a:t>
            </a:r>
          </a:p>
          <a:p>
            <a:pPr algn="r" rtl="1">
              <a:buFontTx/>
              <a:buNone/>
            </a:pPr>
            <a:endParaRPr lang="fa-IR" sz="2800" b="1" dirty="0" smtClean="0">
              <a:solidFill>
                <a:srgbClr val="FF0000"/>
              </a:solidFill>
              <a:cs typeface="2  Traffic" pitchFamily="2" charset="-78"/>
            </a:endParaRPr>
          </a:p>
          <a:p>
            <a:pPr algn="r" rtl="1">
              <a:buFontTx/>
              <a:buNone/>
            </a:pPr>
            <a:r>
              <a:rPr lang="fa-IR" sz="2800" b="1" dirty="0" smtClean="0">
                <a:solidFill>
                  <a:srgbClr val="FF0000"/>
                </a:solidFill>
                <a:cs typeface="2  Traffic" pitchFamily="2" charset="-78"/>
              </a:rPr>
              <a:t>تحلیل لغوی</a:t>
            </a:r>
          </a:p>
          <a:p>
            <a:pPr algn="r" rtl="1">
              <a:buFontTx/>
              <a:buNone/>
            </a:pPr>
            <a:r>
              <a:rPr lang="fa-IR" sz="2800" b="1" dirty="0" smtClean="0">
                <a:solidFill>
                  <a:srgbClr val="FF0000"/>
                </a:solidFill>
                <a:cs typeface="2  Traffic" pitchFamily="2" charset="-78"/>
              </a:rPr>
              <a:t>تحلیل نحوی</a:t>
            </a:r>
          </a:p>
          <a:p>
            <a:pPr algn="r" rtl="1">
              <a:buFontTx/>
              <a:buNone/>
            </a:pPr>
            <a:r>
              <a:rPr lang="fa-IR" sz="2800" b="1" dirty="0" smtClean="0">
                <a:solidFill>
                  <a:srgbClr val="FF0000"/>
                </a:solidFill>
                <a:cs typeface="2  Traffic" pitchFamily="2" charset="-78"/>
              </a:rPr>
              <a:t>تحلیل معنایی</a:t>
            </a:r>
          </a:p>
          <a:p>
            <a:pPr algn="r" rtl="1">
              <a:buFontTx/>
              <a:buNone/>
            </a:pPr>
            <a:r>
              <a:rPr lang="fa-IR" sz="2800" b="1" dirty="0" smtClean="0">
                <a:solidFill>
                  <a:srgbClr val="FF0000"/>
                </a:solidFill>
                <a:cs typeface="2  Traffic" pitchFamily="2" charset="-78"/>
              </a:rPr>
              <a:t>تحلیل کد بینابینی</a:t>
            </a:r>
          </a:p>
          <a:p>
            <a:pPr algn="r" rtl="1">
              <a:buFontTx/>
              <a:buNone/>
            </a:pPr>
            <a:r>
              <a:rPr lang="fa-IR" sz="2800" b="1" dirty="0" smtClean="0">
                <a:solidFill>
                  <a:srgbClr val="FF0000"/>
                </a:solidFill>
                <a:cs typeface="2  Traffic" pitchFamily="2" charset="-78"/>
              </a:rPr>
              <a:t>بهینه سازی کد</a:t>
            </a:r>
          </a:p>
          <a:p>
            <a:pPr algn="r" rtl="1">
              <a:buFontTx/>
              <a:buNone/>
            </a:pPr>
            <a:r>
              <a:rPr lang="fa-IR" sz="2800" b="1" dirty="0" smtClean="0">
                <a:solidFill>
                  <a:srgbClr val="FF0000"/>
                </a:solidFill>
                <a:cs typeface="2  Traffic" pitchFamily="2" charset="-78"/>
              </a:rPr>
              <a:t>تولید کد نهایی</a:t>
            </a:r>
          </a:p>
        </p:txBody>
      </p:sp>
      <p:pic>
        <p:nvPicPr>
          <p:cNvPr id="2050" name="Picture 2"/>
          <p:cNvPicPr>
            <a:picLocks noChangeAspect="1" noChangeArrowheads="1"/>
          </p:cNvPicPr>
          <p:nvPr/>
        </p:nvPicPr>
        <p:blipFill>
          <a:blip r:embed="rId2"/>
          <a:srcRect/>
          <a:stretch>
            <a:fillRect/>
          </a:stretch>
        </p:blipFill>
        <p:spPr bwMode="auto">
          <a:xfrm>
            <a:off x="1143000" y="1447800"/>
            <a:ext cx="5962650" cy="525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مراحل ترجمه (ادامه)</a:t>
            </a:r>
            <a:endParaRPr lang="en-US" dirty="0">
              <a:cs typeface="2  Titr" pitchFamily="2" charset="-78"/>
            </a:endParaRPr>
          </a:p>
        </p:txBody>
      </p:sp>
      <p:sp>
        <p:nvSpPr>
          <p:cNvPr id="181250" name="Rectangle 2"/>
          <p:cNvSpPr>
            <a:spLocks noGrp="1" noChangeArrowheads="1"/>
          </p:cNvSpPr>
          <p:nvPr>
            <p:ph idx="1"/>
          </p:nvPr>
        </p:nvSpPr>
        <p:spPr>
          <a:xfrm>
            <a:off x="228600" y="1219200"/>
            <a:ext cx="8636000" cy="5141913"/>
          </a:xfrm>
        </p:spPr>
        <p:txBody>
          <a:bodyPr/>
          <a:lstStyle/>
          <a:p>
            <a:pPr algn="r" rtl="1">
              <a:buFontTx/>
              <a:buNone/>
            </a:pPr>
            <a:r>
              <a:rPr lang="fa-IR" sz="2800" b="1" dirty="0" smtClean="0">
                <a:cs typeface="2  Traffic" pitchFamily="2" charset="-78"/>
              </a:rPr>
              <a:t>کامپایلر برنامه ای از زبان مبدا به زبان مقصد ترجمه میکند</a:t>
            </a:r>
          </a:p>
          <a:p>
            <a:pPr algn="r" rtl="1">
              <a:buFontTx/>
              <a:buNone/>
            </a:pPr>
            <a:endParaRPr lang="fa-IR" sz="2800" b="1" dirty="0" smtClean="0">
              <a:solidFill>
                <a:srgbClr val="FF0000"/>
              </a:solidFill>
              <a:cs typeface="2  Traffic" pitchFamily="2" charset="-78"/>
            </a:endParaRPr>
          </a:p>
          <a:p>
            <a:pPr algn="r" rtl="1">
              <a:buFontTx/>
              <a:buNone/>
            </a:pPr>
            <a:r>
              <a:rPr lang="fa-IR" sz="2800" b="1" dirty="0" smtClean="0">
                <a:solidFill>
                  <a:srgbClr val="FF0000"/>
                </a:solidFill>
                <a:cs typeface="2  Traffic" pitchFamily="2" charset="-78"/>
              </a:rPr>
              <a:t>تحلیل </a:t>
            </a:r>
            <a:r>
              <a:rPr lang="fa-IR" sz="2800" b="1" dirty="0">
                <a:solidFill>
                  <a:srgbClr val="FF0000"/>
                </a:solidFill>
                <a:cs typeface="2  Traffic" pitchFamily="2" charset="-78"/>
              </a:rPr>
              <a:t>برنامه منبع (ادامه)</a:t>
            </a:r>
          </a:p>
          <a:p>
            <a:pPr algn="justLow" rtl="1"/>
            <a:r>
              <a:rPr lang="fa-IR" dirty="0">
                <a:cs typeface="2  Traffic" pitchFamily="2" charset="-78"/>
              </a:rPr>
              <a:t>متداولترین </a:t>
            </a:r>
            <a:r>
              <a:rPr lang="fa-IR" dirty="0" smtClean="0">
                <a:cs typeface="2  Traffic" pitchFamily="2" charset="-78"/>
              </a:rPr>
              <a:t>اعمال در زمان تحلیل برنامه </a:t>
            </a:r>
            <a:r>
              <a:rPr lang="fa-IR" dirty="0">
                <a:cs typeface="2  Traffic" pitchFamily="2" charset="-78"/>
              </a:rPr>
              <a:t>:</a:t>
            </a:r>
          </a:p>
          <a:p>
            <a:pPr lvl="1" algn="justLow" rtl="1"/>
            <a:r>
              <a:rPr lang="fa-IR" dirty="0">
                <a:cs typeface="2  Traffic" pitchFamily="2" charset="-78"/>
              </a:rPr>
              <a:t>نگهداری جدول نماد</a:t>
            </a:r>
          </a:p>
          <a:p>
            <a:pPr lvl="1" algn="justLow" rtl="1"/>
            <a:r>
              <a:rPr lang="fa-IR" dirty="0">
                <a:cs typeface="2  Traffic" pitchFamily="2" charset="-78"/>
              </a:rPr>
              <a:t>درج اطلاعات ضمنی</a:t>
            </a:r>
          </a:p>
          <a:p>
            <a:pPr lvl="1" algn="justLow" rtl="1"/>
            <a:r>
              <a:rPr lang="fa-IR" dirty="0">
                <a:cs typeface="2  Traffic" pitchFamily="2" charset="-78"/>
              </a:rPr>
              <a:t>کشف خطا</a:t>
            </a:r>
          </a:p>
          <a:p>
            <a:pPr lvl="1" algn="justLow" rtl="1"/>
            <a:r>
              <a:rPr lang="fa-IR" dirty="0">
                <a:cs typeface="2  Traffic" pitchFamily="2" charset="-78"/>
              </a:rPr>
              <a:t>پردازش ماکرو و عملیات زمان ترجمه</a:t>
            </a:r>
          </a:p>
        </p:txBody>
      </p:sp>
      <p:sp>
        <p:nvSpPr>
          <p:cNvPr id="5" name="Slide Number Placeholder 4"/>
          <p:cNvSpPr>
            <a:spLocks noGrp="1"/>
          </p:cNvSpPr>
          <p:nvPr>
            <p:ph type="sldNum" sz="quarter" idx="12"/>
          </p:nvPr>
        </p:nvSpPr>
        <p:spPr/>
        <p:txBody>
          <a:bodyPr/>
          <a:lstStyle/>
          <a:p>
            <a:fld id="{1335391A-C508-4DBF-AB59-44B0B160C8E7}"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type="title"/>
          </p:nvPr>
        </p:nvSpPr>
        <p:spPr>
          <a:xfrm>
            <a:off x="406400" y="76200"/>
            <a:ext cx="8280400" cy="762000"/>
          </a:xfrm>
          <a:noFill/>
          <a:ln/>
        </p:spPr>
        <p:txBody>
          <a:bodyPr/>
          <a:lstStyle/>
          <a:p>
            <a:pPr algn="ctr" rtl="1"/>
            <a:r>
              <a:rPr lang="fa-IR" dirty="0">
                <a:cs typeface="2  Titr" pitchFamily="2" charset="-78"/>
              </a:rPr>
              <a:t>مراحل ترجمه (ادامه)</a:t>
            </a:r>
            <a:endParaRPr lang="en-US" dirty="0">
              <a:cs typeface="2  Titr" pitchFamily="2" charset="-78"/>
            </a:endParaRPr>
          </a:p>
        </p:txBody>
      </p:sp>
      <p:sp>
        <p:nvSpPr>
          <p:cNvPr id="181250" name="Rectangle 2"/>
          <p:cNvSpPr>
            <a:spLocks noGrp="1" noChangeArrowheads="1"/>
          </p:cNvSpPr>
          <p:nvPr>
            <p:ph idx="1"/>
          </p:nvPr>
        </p:nvSpPr>
        <p:spPr>
          <a:xfrm>
            <a:off x="990600" y="609600"/>
            <a:ext cx="7874000" cy="6096000"/>
          </a:xfrm>
        </p:spPr>
        <p:txBody>
          <a:bodyPr>
            <a:normAutofit fontScale="70000" lnSpcReduction="20000"/>
          </a:bodyPr>
          <a:lstStyle/>
          <a:p>
            <a:pPr algn="r" rtl="1">
              <a:buFontTx/>
              <a:buNone/>
            </a:pPr>
            <a:r>
              <a:rPr lang="fa-IR" sz="3500" b="1" dirty="0" smtClean="0">
                <a:solidFill>
                  <a:srgbClr val="FF0000"/>
                </a:solidFill>
                <a:cs typeface="2  Traffic" pitchFamily="2" charset="-78"/>
              </a:rPr>
              <a:t>تحلیل لغوی</a:t>
            </a:r>
          </a:p>
          <a:p>
            <a:pPr algn="r" rtl="1">
              <a:buFontTx/>
              <a:buNone/>
            </a:pPr>
            <a:r>
              <a:rPr lang="fa-IR" sz="2800" b="1" dirty="0" smtClean="0">
                <a:cs typeface="2  Traffic" pitchFamily="2" charset="-78"/>
              </a:rPr>
              <a:t>برنامه کاراکتر به کاراکتر خوانده شده و به دنباله ای از نشانه  ها تبدیل میشود. انواع نشانه ها: کلمات کلیدی، عملگرها، جداکننده ها، ثابتها و شناسه ها</a:t>
            </a:r>
            <a:endParaRPr lang="fa-IR" sz="2800" b="1" dirty="0" smtClean="0">
              <a:solidFill>
                <a:srgbClr val="FF0000"/>
              </a:solidFill>
              <a:cs typeface="2  Traffic" pitchFamily="2" charset="-78"/>
            </a:endParaRPr>
          </a:p>
          <a:p>
            <a:pPr algn="r" rtl="1">
              <a:buFontTx/>
              <a:buNone/>
            </a:pPr>
            <a:r>
              <a:rPr lang="fa-IR" sz="3600" b="1" dirty="0" smtClean="0">
                <a:solidFill>
                  <a:srgbClr val="FF0000"/>
                </a:solidFill>
                <a:cs typeface="2  Traffic" pitchFamily="2" charset="-78"/>
              </a:rPr>
              <a:t>تحلیل نحوی</a:t>
            </a:r>
          </a:p>
          <a:p>
            <a:pPr algn="r" rtl="1">
              <a:buFontTx/>
              <a:buNone/>
            </a:pPr>
            <a:r>
              <a:rPr lang="fa-IR" sz="2800" b="1" dirty="0" smtClean="0">
                <a:cs typeface="2  Traffic" pitchFamily="2" charset="-78"/>
              </a:rPr>
              <a:t>در این مرحله ساختارهای یزرگ مانند دستورات، اعلانها به وسیله عناصر لغوی که توسط تحلبل لغوی بدست آمده ، شناسایی میشوند. با استفاده از شناسه های تولید شده در تحلیل لغوی درخت پارس تولید میشود.  در این مرحله برنامه با استفاده از زبان مبدا، از نظر خطاهای نحوی مورد بررسی قرار میگیرند.</a:t>
            </a:r>
          </a:p>
          <a:p>
            <a:pPr algn="r" rtl="1">
              <a:buFontTx/>
              <a:buNone/>
            </a:pPr>
            <a:endParaRPr lang="fa-IR" sz="2400" b="1" dirty="0" smtClean="0">
              <a:cs typeface="2  Traffic" pitchFamily="2" charset="-78"/>
            </a:endParaRPr>
          </a:p>
          <a:p>
            <a:pPr algn="r" rtl="1">
              <a:buNone/>
            </a:pPr>
            <a:r>
              <a:rPr lang="fa-IR" sz="3600" b="1" dirty="0" smtClean="0">
                <a:solidFill>
                  <a:srgbClr val="FF0000"/>
                </a:solidFill>
                <a:cs typeface="2  Traffic" pitchFamily="2" charset="-78"/>
              </a:rPr>
              <a:t>تحلیل معنایی</a:t>
            </a:r>
          </a:p>
          <a:p>
            <a:pPr algn="r" rtl="1">
              <a:buNone/>
            </a:pPr>
            <a:r>
              <a:rPr lang="fa-IR" sz="2800" b="1" dirty="0" smtClean="0">
                <a:cs typeface="2  Traffic" pitchFamily="2" charset="-78"/>
              </a:rPr>
              <a:t>با اسفاده از درخت تولید شده در مرحله قبلی خطاهای مفهومی احتمالی مورد بررسی قرار میگیردو جدول نمادها به وجود می آید.</a:t>
            </a:r>
          </a:p>
          <a:p>
            <a:pPr algn="r" rtl="1">
              <a:buNone/>
            </a:pPr>
            <a:endParaRPr lang="fa-IR" sz="2400" b="1" dirty="0" smtClean="0">
              <a:cs typeface="2  Traffic" pitchFamily="2" charset="-78"/>
            </a:endParaRPr>
          </a:p>
          <a:p>
            <a:pPr algn="r" rtl="1">
              <a:buNone/>
            </a:pPr>
            <a:r>
              <a:rPr lang="fa-IR" sz="3600" b="1" dirty="0" smtClean="0">
                <a:solidFill>
                  <a:srgbClr val="FF0000"/>
                </a:solidFill>
                <a:cs typeface="2  Traffic" pitchFamily="2" charset="-78"/>
              </a:rPr>
              <a:t>تولید کد میانی</a:t>
            </a:r>
          </a:p>
          <a:p>
            <a:pPr algn="r" rtl="1">
              <a:buNone/>
            </a:pPr>
            <a:r>
              <a:rPr lang="fa-IR" sz="3100" b="1" dirty="0" smtClean="0">
                <a:cs typeface="2  Traffic" pitchFamily="2" charset="-78"/>
              </a:rPr>
              <a:t>در این مرحله یک برنامه مه معادل برنامه اصلی است به زبان میانی(شبه اسمبلی) تولید میشود. این نمایش میانی 2 خصلت دارد:</a:t>
            </a:r>
          </a:p>
          <a:p>
            <a:pPr algn="r" rtl="1">
              <a:buNone/>
            </a:pPr>
            <a:r>
              <a:rPr lang="fa-IR" sz="3100" b="1" dirty="0" smtClean="0">
                <a:cs typeface="2  Traffic" pitchFamily="2" charset="-78"/>
              </a:rPr>
              <a:t>به آسانی بتوان آن کد را تولید و بهینه سازی کرد</a:t>
            </a:r>
          </a:p>
          <a:p>
            <a:pPr algn="r" rtl="1">
              <a:buNone/>
            </a:pPr>
            <a:r>
              <a:rPr lang="fa-IR" sz="3100" b="1" dirty="0" smtClean="0">
                <a:cs typeface="2  Traffic" pitchFamily="2" charset="-78"/>
              </a:rPr>
              <a:t>ترجمه کد میانی به برنامه مقصد به راحتی انجام شود.</a:t>
            </a:r>
          </a:p>
          <a:p>
            <a:pPr algn="r" rtl="1">
              <a:buFontTx/>
              <a:buNone/>
            </a:pPr>
            <a:endParaRPr lang="fa-IR" sz="2400" b="1" dirty="0" smtClean="0">
              <a:solidFill>
                <a:srgbClr val="FF0000"/>
              </a:solidFill>
              <a:cs typeface="2  Traffic" pitchFamily="2" charset="-78"/>
            </a:endParaRPr>
          </a:p>
          <a:p>
            <a:pPr algn="r" rtl="1">
              <a:buFontTx/>
              <a:buNone/>
            </a:pPr>
            <a:endParaRPr lang="fa-IR" sz="2400" b="1" dirty="0" smtClean="0">
              <a:cs typeface="2  Traffic" pitchFamily="2" charset="-78"/>
            </a:endParaRPr>
          </a:p>
          <a:p>
            <a:pPr algn="r" rtl="1">
              <a:buFontTx/>
              <a:buNone/>
            </a:pPr>
            <a:endParaRPr lang="fa-IR" sz="3600" b="1" dirty="0" smtClean="0">
              <a:solidFill>
                <a:srgbClr val="FF0000"/>
              </a:solidFill>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مراحل ترجمه (ادامه)</a:t>
            </a:r>
            <a:endParaRPr lang="en-US" dirty="0">
              <a:cs typeface="2  Titr" pitchFamily="2" charset="-78"/>
            </a:endParaRPr>
          </a:p>
        </p:txBody>
      </p:sp>
      <p:sp>
        <p:nvSpPr>
          <p:cNvPr id="181250" name="Rectangle 2"/>
          <p:cNvSpPr>
            <a:spLocks noGrp="1" noChangeArrowheads="1"/>
          </p:cNvSpPr>
          <p:nvPr>
            <p:ph idx="1"/>
          </p:nvPr>
        </p:nvSpPr>
        <p:spPr>
          <a:xfrm>
            <a:off x="228600" y="1219200"/>
            <a:ext cx="8636000" cy="5141913"/>
          </a:xfrm>
        </p:spPr>
        <p:txBody>
          <a:bodyPr>
            <a:normAutofit/>
          </a:bodyPr>
          <a:lstStyle/>
          <a:p>
            <a:pPr algn="r" rtl="1">
              <a:buFontTx/>
              <a:buNone/>
            </a:pPr>
            <a:r>
              <a:rPr lang="fa-IR" sz="3600" b="1" dirty="0" smtClean="0">
                <a:solidFill>
                  <a:srgbClr val="FF0000"/>
                </a:solidFill>
                <a:cs typeface="2  Traffic" pitchFamily="2" charset="-78"/>
              </a:rPr>
              <a:t>بهینه سازی کد:</a:t>
            </a:r>
          </a:p>
          <a:p>
            <a:pPr algn="r" rtl="1">
              <a:buFontTx/>
              <a:buNone/>
            </a:pPr>
            <a:r>
              <a:rPr lang="fa-IR" sz="2400" b="1" dirty="0" smtClean="0">
                <a:cs typeface="2  Traffic" pitchFamily="2" charset="-78"/>
              </a:rPr>
              <a:t>برای اجرای سریعتر و حافظه کمتر</a:t>
            </a:r>
          </a:p>
          <a:p>
            <a:pPr algn="r" rtl="1">
              <a:buFontTx/>
              <a:buNone/>
            </a:pPr>
            <a:endParaRPr lang="fa-IR" sz="2400" b="1" dirty="0" smtClean="0">
              <a:cs typeface="2  Traffic" pitchFamily="2" charset="-78"/>
            </a:endParaRPr>
          </a:p>
          <a:p>
            <a:pPr algn="r" rtl="1">
              <a:buFontTx/>
              <a:buNone/>
            </a:pPr>
            <a:r>
              <a:rPr lang="fa-IR" sz="3600" b="1" dirty="0" smtClean="0">
                <a:solidFill>
                  <a:srgbClr val="FF0000"/>
                </a:solidFill>
                <a:cs typeface="2  Traffic" pitchFamily="2" charset="-78"/>
              </a:rPr>
              <a:t>تولید کد نهایی</a:t>
            </a:r>
          </a:p>
          <a:p>
            <a:pPr algn="r" rtl="1">
              <a:buFontTx/>
              <a:buNone/>
            </a:pPr>
            <a:r>
              <a:rPr lang="fa-IR" sz="2400" b="1" dirty="0" smtClean="0">
                <a:cs typeface="2  Traffic" pitchFamily="2" charset="-78"/>
              </a:rPr>
              <a:t>تبدیل کد میانی بهینه شده به کد زبان ماشین. در این مرحله به متغیرها حافظه اختصاص داده شده و متغیرها</a:t>
            </a:r>
          </a:p>
          <a:p>
            <a:pPr algn="r" rtl="1">
              <a:buFontTx/>
              <a:buNone/>
            </a:pPr>
            <a:r>
              <a:rPr lang="fa-IR" sz="2400" b="1" dirty="0" smtClean="0">
                <a:cs typeface="2  Traffic" pitchFamily="2" charset="-78"/>
              </a:rPr>
              <a:t> در ثباتها ذخیره میشوند.</a:t>
            </a:r>
          </a:p>
          <a:p>
            <a:pPr algn="r" rtl="1">
              <a:buFontTx/>
              <a:buNone/>
            </a:pPr>
            <a:endParaRPr lang="fa-IR" sz="2400" b="1" dirty="0" smtClean="0">
              <a:cs typeface="2  Traffic" pitchFamily="2" charset="-78"/>
            </a:endParaRPr>
          </a:p>
          <a:p>
            <a:pPr algn="r" rtl="1">
              <a:buFontTx/>
              <a:buNone/>
            </a:pPr>
            <a:endParaRPr lang="fa-IR" sz="3600" b="1" dirty="0" smtClean="0">
              <a:solidFill>
                <a:srgbClr val="FF0000"/>
              </a:solidFill>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type="title"/>
          </p:nvPr>
        </p:nvSpPr>
        <p:spPr>
          <a:xfrm>
            <a:off x="406400" y="544513"/>
            <a:ext cx="8280400" cy="762000"/>
          </a:xfrm>
          <a:noFill/>
          <a:ln/>
        </p:spPr>
        <p:txBody>
          <a:bodyPr/>
          <a:lstStyle/>
          <a:p>
            <a:pPr algn="ctr" rtl="1"/>
            <a:r>
              <a:rPr lang="fa-IR" dirty="0">
                <a:cs typeface="2  Titr" pitchFamily="2" charset="-78"/>
              </a:rPr>
              <a:t>مراحل ترجمه (ادامه)</a:t>
            </a:r>
            <a:endParaRPr lang="en-US" dirty="0">
              <a:cs typeface="2  Titr" pitchFamily="2" charset="-78"/>
            </a:endParaRPr>
          </a:p>
        </p:txBody>
      </p:sp>
      <p:sp>
        <p:nvSpPr>
          <p:cNvPr id="181250" name="Rectangle 2"/>
          <p:cNvSpPr>
            <a:spLocks noGrp="1" noChangeArrowheads="1"/>
          </p:cNvSpPr>
          <p:nvPr>
            <p:ph idx="1"/>
          </p:nvPr>
        </p:nvSpPr>
        <p:spPr>
          <a:xfrm>
            <a:off x="1143000" y="1219200"/>
            <a:ext cx="7721600" cy="5141913"/>
          </a:xfrm>
        </p:spPr>
        <p:txBody>
          <a:bodyPr>
            <a:normAutofit/>
          </a:bodyPr>
          <a:lstStyle/>
          <a:p>
            <a:pPr algn="r" rtl="1">
              <a:buFontTx/>
              <a:buNone/>
            </a:pPr>
            <a:r>
              <a:rPr lang="fa-IR" sz="3600" b="1" dirty="0" smtClean="0">
                <a:solidFill>
                  <a:srgbClr val="FF0000"/>
                </a:solidFill>
                <a:cs typeface="2  Traffic" pitchFamily="2" charset="-78"/>
              </a:rPr>
              <a:t>خطاپرداز</a:t>
            </a:r>
          </a:p>
          <a:p>
            <a:pPr algn="r" rtl="1">
              <a:buFontTx/>
              <a:buNone/>
            </a:pPr>
            <a:r>
              <a:rPr lang="fa-IR" sz="2400" b="1" dirty="0" smtClean="0">
                <a:cs typeface="2  Traffic" pitchFamily="2" charset="-78"/>
              </a:rPr>
              <a:t>هر فاز از کامپایلر باید به گونه ای رفتار کند که ادامه کامپایل و کشف خطاهای بیشتری را میسر سازد.</a:t>
            </a:r>
          </a:p>
          <a:p>
            <a:pPr algn="r" rtl="1">
              <a:buFontTx/>
              <a:buNone/>
            </a:pPr>
            <a:endParaRPr lang="fa-IR" sz="2400" b="1" dirty="0" smtClean="0">
              <a:cs typeface="2  Traffic" pitchFamily="2" charset="-78"/>
            </a:endParaRPr>
          </a:p>
          <a:p>
            <a:pPr algn="r" rtl="1">
              <a:buFontTx/>
              <a:buNone/>
            </a:pPr>
            <a:r>
              <a:rPr lang="fa-IR" sz="3600" b="1" dirty="0" smtClean="0">
                <a:solidFill>
                  <a:srgbClr val="FF0000"/>
                </a:solidFill>
                <a:cs typeface="2  Traffic" pitchFamily="2" charset="-78"/>
              </a:rPr>
              <a:t>جدول نمادها</a:t>
            </a:r>
          </a:p>
          <a:p>
            <a:pPr algn="r" rtl="1">
              <a:buFontTx/>
              <a:buNone/>
            </a:pPr>
            <a:r>
              <a:rPr lang="fa-IR" sz="2400" b="1" dirty="0" smtClean="0">
                <a:cs typeface="2  Traffic" pitchFamily="2" charset="-78"/>
              </a:rPr>
              <a:t>ثبت شناسه های استفاده شده در برنامه ورودی و جمع آوری اطلاعات درباره مشخصات هر شناسه از کارهای مهم یک کامپایلر است.این مشحصات شامل آدرس حافظه اختصاص داده شده به شناسه، نوع آن و حوزه(محلی از برنامه که شناسه در آن تعریف شده است) و همچنین در رابطه با توابع،  اسم آنها و تعداد آرگومانهاو نوع نتیجه ای که باز میگرداند.</a:t>
            </a:r>
          </a:p>
          <a:p>
            <a:pPr algn="r" rtl="1">
              <a:buFontTx/>
              <a:buNone/>
            </a:pPr>
            <a:endParaRPr lang="fa-IR" sz="2400" b="1" dirty="0" smtClean="0">
              <a:cs typeface="2  Traffic" pitchFamily="2" charset="-78"/>
            </a:endParaRPr>
          </a:p>
          <a:p>
            <a:pPr algn="r" rtl="1">
              <a:buFontTx/>
              <a:buNone/>
            </a:pPr>
            <a:endParaRPr lang="fa-IR" sz="3600" b="1" dirty="0" smtClean="0">
              <a:solidFill>
                <a:srgbClr val="FF0000"/>
              </a:solidFill>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type="title"/>
          </p:nvPr>
        </p:nvSpPr>
        <p:spPr>
          <a:xfrm>
            <a:off x="406400" y="544513"/>
            <a:ext cx="8280400" cy="762000"/>
          </a:xfrm>
          <a:noFill/>
          <a:ln/>
        </p:spPr>
        <p:txBody>
          <a:bodyPr/>
          <a:lstStyle/>
          <a:p>
            <a:pPr rtl="1"/>
            <a:r>
              <a:rPr lang="fa-IR" dirty="0" smtClean="0">
                <a:cs typeface="2  Titr" pitchFamily="2" charset="-78"/>
              </a:rPr>
              <a:t>تمرین</a:t>
            </a:r>
            <a:endParaRPr lang="en-US" dirty="0">
              <a:cs typeface="2  Titr" pitchFamily="2" charset="-78"/>
            </a:endParaRPr>
          </a:p>
        </p:txBody>
      </p:sp>
      <p:sp>
        <p:nvSpPr>
          <p:cNvPr id="181250" name="Rectangle 2"/>
          <p:cNvSpPr>
            <a:spLocks noGrp="1" noChangeArrowheads="1"/>
          </p:cNvSpPr>
          <p:nvPr>
            <p:ph idx="1"/>
          </p:nvPr>
        </p:nvSpPr>
        <p:spPr>
          <a:xfrm>
            <a:off x="228600" y="1219200"/>
            <a:ext cx="8636000" cy="5141913"/>
          </a:xfrm>
        </p:spPr>
        <p:txBody>
          <a:bodyPr>
            <a:normAutofit/>
          </a:bodyPr>
          <a:lstStyle/>
          <a:p>
            <a:pPr algn="r" rtl="1">
              <a:buFontTx/>
              <a:buNone/>
            </a:pPr>
            <a:r>
              <a:rPr lang="fa-IR" sz="3600" b="1" dirty="0" smtClean="0">
                <a:cs typeface="2  Traffic" pitchFamily="2" charset="-78"/>
              </a:rPr>
              <a:t>کل فازهای کامپایلر را برای دستور زیر بررسی کنید.</a:t>
            </a:r>
          </a:p>
          <a:p>
            <a:pPr algn="r" rtl="1">
              <a:buFontTx/>
              <a:buNone/>
            </a:pPr>
            <a:endParaRPr lang="fa-IR" sz="2400" b="1" dirty="0" smtClean="0">
              <a:cs typeface="2  Traffic" pitchFamily="2" charset="-78"/>
            </a:endParaRPr>
          </a:p>
          <a:p>
            <a:pPr algn="ctr" rtl="1">
              <a:buFontTx/>
              <a:buNone/>
            </a:pPr>
            <a:r>
              <a:rPr lang="en-US" sz="3600" b="1" dirty="0" smtClean="0">
                <a:solidFill>
                  <a:srgbClr val="FF0000"/>
                </a:solidFill>
                <a:cs typeface="2  Traffic" pitchFamily="2" charset="-78"/>
              </a:rPr>
              <a:t> </a:t>
            </a:r>
            <a:r>
              <a:rPr lang="fa-IR" sz="3600" b="1" dirty="0" smtClean="0">
                <a:solidFill>
                  <a:srgbClr val="FF0000"/>
                </a:solidFill>
                <a:cs typeface="2  Traffic" pitchFamily="2" charset="-78"/>
              </a:rPr>
              <a:t>   </a:t>
            </a:r>
            <a:r>
              <a:rPr lang="fa-IR" sz="3600" b="1" dirty="0" smtClean="0">
                <a:cs typeface="2  Traffic" pitchFamily="2" charset="-78"/>
              </a:rPr>
              <a:t>متغیرها از نوع </a:t>
            </a:r>
            <a:r>
              <a:rPr lang="en-US" sz="3600" b="1" dirty="0" smtClean="0">
                <a:cs typeface="2  Traffic" pitchFamily="2" charset="-78"/>
              </a:rPr>
              <a:t>real </a:t>
            </a:r>
            <a:r>
              <a:rPr lang="fa-IR" sz="3600" b="1" dirty="0" smtClean="0">
                <a:cs typeface="2  Traffic" pitchFamily="2" charset="-78"/>
              </a:rPr>
              <a:t>هستند         </a:t>
            </a:r>
            <a:r>
              <a:rPr lang="en-US" sz="3600" b="1" dirty="0" smtClean="0">
                <a:solidFill>
                  <a:srgbClr val="FF0000"/>
                </a:solidFill>
                <a:cs typeface="2  Traffic" pitchFamily="2" charset="-78"/>
              </a:rPr>
              <a:t>P:i+r*60</a:t>
            </a:r>
            <a:endParaRPr lang="fa-IR" sz="3600" b="1" dirty="0" smtClean="0">
              <a:solidFill>
                <a:srgbClr val="FF0000"/>
              </a:solidFill>
              <a:cs typeface="2  Traffic" pitchFamily="2" charset="-78"/>
            </a:endParaRPr>
          </a:p>
        </p:txBody>
      </p:sp>
      <p:sp>
        <p:nvSpPr>
          <p:cNvPr id="5" name="Slide Number Placeholder 4"/>
          <p:cNvSpPr>
            <a:spLocks noGrp="1"/>
          </p:cNvSpPr>
          <p:nvPr>
            <p:ph type="sldNum" sz="quarter" idx="12"/>
          </p:nvPr>
        </p:nvSpPr>
        <p:spPr/>
        <p:txBody>
          <a:bodyPr/>
          <a:lstStyle/>
          <a:p>
            <a:fld id="{1335391A-C508-4DBF-AB59-44B0B160C8E7}" type="slidenum">
              <a:rPr lang="en-US" smtClean="0"/>
              <a:pPr/>
              <a:t>27</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606</TotalTime>
  <Words>1626</Words>
  <Application>Microsoft Office PowerPoint</Application>
  <PresentationFormat>On-screen Show (4:3)</PresentationFormat>
  <Paragraphs>225</Paragraphs>
  <Slides>27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2  Titr</vt:lpstr>
      <vt:lpstr>2  Traffic</vt:lpstr>
      <vt:lpstr>Arial</vt:lpstr>
      <vt:lpstr>Calibri</vt:lpstr>
      <vt:lpstr>Gill Sans MT</vt:lpstr>
      <vt:lpstr>Majalla UI</vt:lpstr>
      <vt:lpstr>Tahoma</vt:lpstr>
      <vt:lpstr>Verdana</vt:lpstr>
      <vt:lpstr>Wingdings</vt:lpstr>
      <vt:lpstr>Wingdings 2</vt:lpstr>
      <vt:lpstr>Solstice</vt:lpstr>
      <vt:lpstr>فصل سوم  طراحی و پیاده سازی زبانها  اصول ترجمه زبان</vt:lpstr>
      <vt:lpstr>فهرست مطالب</vt:lpstr>
      <vt:lpstr>نحو زبان برنامه سازی</vt:lpstr>
      <vt:lpstr>نحو زبان برنامه سازی(ادامه)</vt:lpstr>
      <vt:lpstr>نحو زبان برنامه سازی(ادامه)</vt:lpstr>
      <vt:lpstr>نحو زبان برنامه سازی(ادامه)</vt:lpstr>
      <vt:lpstr>نحو زبان برنامه سازی(ادامه)</vt:lpstr>
      <vt:lpstr>نحو زبان برنامه سازی(ادامه)</vt:lpstr>
      <vt:lpstr>نحو زبان برنامه سازی(ادامه)</vt:lpstr>
      <vt:lpstr>معیارهای ارزیابی زبان برنامه نویسی و فاکتورهایی که بر آن اثر میگذارند.</vt:lpstr>
      <vt:lpstr>نحو زبان برنامه سازی (ادامه)</vt:lpstr>
      <vt:lpstr>نحو زبان برنامه سازی (ادامه)</vt:lpstr>
      <vt:lpstr>نحو زبان برنامه سازی (ادامه)</vt:lpstr>
      <vt:lpstr>نحو زبان برنامه سازی (ادامه)</vt:lpstr>
      <vt:lpstr>نحو زبان برنامه سازی (ادامه)</vt:lpstr>
      <vt:lpstr>نحو زبان برنامه سازی (ادامه)</vt:lpstr>
      <vt:lpstr>نحو زبان برنامه سازی (ادامه)</vt:lpstr>
      <vt:lpstr>نحو زبان برنامه سازی (ادامه)</vt:lpstr>
      <vt:lpstr>نحو زبان برنامه سازی (ادامه)</vt:lpstr>
      <vt:lpstr>3-2- مراحل ترجمه</vt:lpstr>
      <vt:lpstr>مراحل ترجمه (ادامه)</vt:lpstr>
      <vt:lpstr>مراحل ترجمه (ادامه)</vt:lpstr>
      <vt:lpstr>مراحل ترجمه (ادامه)</vt:lpstr>
      <vt:lpstr>مراحل ترجمه (ادامه)</vt:lpstr>
      <vt:lpstr>مراحل ترجمه (ادامه)</vt:lpstr>
      <vt:lpstr>مراحل ترجمه (ادامه)</vt:lpstr>
      <vt:lpstr>تمرین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Saman</dc:creator>
  <cp:lastModifiedBy>Microsoft Surface</cp:lastModifiedBy>
  <cp:revision>61</cp:revision>
  <dcterms:created xsi:type="dcterms:W3CDTF">2015-02-05T03:08:49Z</dcterms:created>
  <dcterms:modified xsi:type="dcterms:W3CDTF">2025-04-11T16:58:32Z</dcterms:modified>
</cp:coreProperties>
</file>