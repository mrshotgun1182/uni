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7" r:id="rId2"/>
    <p:sldId id="284" r:id="rId3"/>
    <p:sldId id="258" r:id="rId4"/>
    <p:sldId id="259" r:id="rId5"/>
    <p:sldId id="260" r:id="rId6"/>
    <p:sldId id="262" r:id="rId7"/>
    <p:sldId id="287" r:id="rId8"/>
    <p:sldId id="261" r:id="rId9"/>
    <p:sldId id="263" r:id="rId10"/>
    <p:sldId id="264" r:id="rId11"/>
    <p:sldId id="265" r:id="rId12"/>
    <p:sldId id="266" r:id="rId13"/>
    <p:sldId id="267" r:id="rId14"/>
    <p:sldId id="268" r:id="rId15"/>
    <p:sldId id="279" r:id="rId16"/>
    <p:sldId id="288" r:id="rId17"/>
    <p:sldId id="269" r:id="rId18"/>
    <p:sldId id="280" r:id="rId19"/>
    <p:sldId id="285" r:id="rId20"/>
    <p:sldId id="286" r:id="rId21"/>
    <p:sldId id="270" r:id="rId22"/>
    <p:sldId id="271" r:id="rId23"/>
    <p:sldId id="289" r:id="rId24"/>
    <p:sldId id="291" r:id="rId25"/>
    <p:sldId id="275" r:id="rId26"/>
    <p:sldId id="290" r:id="rId27"/>
    <p:sldId id="283" r:id="rId28"/>
    <p:sldId id="276" r:id="rId29"/>
    <p:sldId id="277" r:id="rId30"/>
    <p:sldId id="278" r:id="rId3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510" y="6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D34B952-FE27-478F-8AE0-FE2ADEDE7EA7}" type="datetimeFigureOut">
              <a:rPr lang="en-US" smtClean="0"/>
              <a:pPr/>
              <a:t>4/4/2025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14311FE-76EB-4573-BF1A-D5A50D4E473D}" type="slidenum">
              <a:rPr lang="en-US" smtClean="0"/>
              <a:pPr/>
              <a:t>‹#›</a:t>
            </a:fld>
            <a:endParaRPr lang="en-US"/>
          </a:p>
        </p:txBody>
      </p:sp>
    </p:spTree>
    <p:extLst>
      <p:ext uri="{BB962C8B-B14F-4D97-AF65-F5344CB8AC3E}">
        <p14:creationId xmlns:p14="http://schemas.microsoft.com/office/powerpoint/2010/main" val="4073267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a-IR"/>
          </a:p>
        </p:txBody>
      </p:sp>
      <p:sp>
        <p:nvSpPr>
          <p:cNvPr id="5" name="Slide Number Placeholder 4"/>
          <p:cNvSpPr>
            <a:spLocks noGrp="1"/>
          </p:cNvSpPr>
          <p:nvPr>
            <p:ph type="sldNum" sz="quarter" idx="11"/>
          </p:nvPr>
        </p:nvSpPr>
        <p:spPr/>
        <p:txBody>
          <a:bodyPr/>
          <a:lstStyle/>
          <a:p>
            <a:fld id="{50E8A73D-44C7-4E9E-9765-7C55D0EBF408}" type="slidenum">
              <a:rPr lang="en-US" smtClean="0"/>
              <a:pPr/>
              <a:t>3</a:t>
            </a:fld>
            <a:endParaRPr lang="en-US"/>
          </a:p>
        </p:txBody>
      </p:sp>
    </p:spTree>
    <p:extLst>
      <p:ext uri="{BB962C8B-B14F-4D97-AF65-F5344CB8AC3E}">
        <p14:creationId xmlns:p14="http://schemas.microsoft.com/office/powerpoint/2010/main" val="3747428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a-IR" dirty="0"/>
          </a:p>
        </p:txBody>
      </p:sp>
      <p:sp>
        <p:nvSpPr>
          <p:cNvPr id="5" name="Slide Number Placeholder 4"/>
          <p:cNvSpPr>
            <a:spLocks noGrp="1"/>
          </p:cNvSpPr>
          <p:nvPr>
            <p:ph type="sldNum" sz="quarter" idx="11"/>
          </p:nvPr>
        </p:nvSpPr>
        <p:spPr/>
        <p:txBody>
          <a:bodyPr/>
          <a:lstStyle/>
          <a:p>
            <a:fld id="{50E8A73D-44C7-4E9E-9765-7C55D0EBF408}" type="slidenum">
              <a:rPr lang="en-US" smtClean="0"/>
              <a:pPr/>
              <a:t>4</a:t>
            </a:fld>
            <a:endParaRPr lang="en-US"/>
          </a:p>
        </p:txBody>
      </p:sp>
    </p:spTree>
    <p:extLst>
      <p:ext uri="{BB962C8B-B14F-4D97-AF65-F5344CB8AC3E}">
        <p14:creationId xmlns:p14="http://schemas.microsoft.com/office/powerpoint/2010/main" val="3687243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a-IR"/>
          </a:p>
        </p:txBody>
      </p:sp>
      <p:sp>
        <p:nvSpPr>
          <p:cNvPr id="5" name="Slide Number Placeholder 4"/>
          <p:cNvSpPr>
            <a:spLocks noGrp="1"/>
          </p:cNvSpPr>
          <p:nvPr>
            <p:ph type="sldNum" sz="quarter" idx="11"/>
          </p:nvPr>
        </p:nvSpPr>
        <p:spPr/>
        <p:txBody>
          <a:bodyPr/>
          <a:lstStyle/>
          <a:p>
            <a:fld id="{50E8A73D-44C7-4E9E-9765-7C55D0EBF408}" type="slidenum">
              <a:rPr lang="en-US" smtClean="0"/>
              <a:pPr/>
              <a:t>5</a:t>
            </a:fld>
            <a:endParaRPr lang="en-US"/>
          </a:p>
        </p:txBody>
      </p:sp>
    </p:spTree>
    <p:extLst>
      <p:ext uri="{BB962C8B-B14F-4D97-AF65-F5344CB8AC3E}">
        <p14:creationId xmlns:p14="http://schemas.microsoft.com/office/powerpoint/2010/main" val="441188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a-IR"/>
          </a:p>
        </p:txBody>
      </p:sp>
      <p:sp>
        <p:nvSpPr>
          <p:cNvPr id="4" name="Slide Number Placeholder 3"/>
          <p:cNvSpPr>
            <a:spLocks noGrp="1"/>
          </p:cNvSpPr>
          <p:nvPr>
            <p:ph type="sldNum" sz="quarter" idx="10"/>
          </p:nvPr>
        </p:nvSpPr>
        <p:spPr/>
        <p:txBody>
          <a:bodyPr/>
          <a:lstStyle/>
          <a:p>
            <a:fld id="{50E8A73D-44C7-4E9E-9765-7C55D0EBF408}" type="slidenum">
              <a:rPr lang="en-US" smtClean="0"/>
              <a:pPr/>
              <a:t>6</a:t>
            </a:fld>
            <a:endParaRPr lang="en-US"/>
          </a:p>
        </p:txBody>
      </p:sp>
    </p:spTree>
    <p:extLst>
      <p:ext uri="{BB962C8B-B14F-4D97-AF65-F5344CB8AC3E}">
        <p14:creationId xmlns:p14="http://schemas.microsoft.com/office/powerpoint/2010/main" val="3592375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366ABF12-DD92-48C6-81E8-976972CE5D55}" type="datetimeFigureOut">
              <a:rPr lang="en-US" smtClean="0"/>
              <a:pPr/>
              <a:t>4/4/2025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975BEA9-1C92-4D20-A430-92A9FD60B4C9}"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66ABF12-DD92-48C6-81E8-976972CE5D55}"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5BEA9-1C92-4D20-A430-92A9FD60B4C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66ABF12-DD92-48C6-81E8-976972CE5D55}"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5BEA9-1C92-4D20-A430-92A9FD60B4C9}"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66ABF12-DD92-48C6-81E8-976972CE5D55}"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5BEA9-1C92-4D20-A430-92A9FD60B4C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66ABF12-DD92-48C6-81E8-976972CE5D55}" type="datetimeFigureOut">
              <a:rPr lang="en-US" smtClean="0"/>
              <a:pPr/>
              <a:t>4/4/2025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75BEA9-1C92-4D20-A430-92A9FD60B4C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66ABF12-DD92-48C6-81E8-976972CE5D55}" type="datetimeFigureOut">
              <a:rPr lang="en-US" smtClean="0"/>
              <a:pPr/>
              <a:t>4/4/2025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75BEA9-1C92-4D20-A430-92A9FD60B4C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366ABF12-DD92-48C6-81E8-976972CE5D55}" type="datetimeFigureOut">
              <a:rPr lang="en-US" smtClean="0"/>
              <a:pPr/>
              <a:t>4/4/2025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75BEA9-1C92-4D20-A430-92A9FD60B4C9}"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66ABF12-DD92-48C6-81E8-976972CE5D55}"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5BEA9-1C92-4D20-A430-92A9FD60B4C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366ABF12-DD92-48C6-81E8-976972CE5D55}"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5BEA9-1C92-4D20-A430-92A9FD60B4C9}"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66ABF12-DD92-48C6-81E8-976972CE5D55}"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5BEA9-1C92-4D20-A430-92A9FD60B4C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66ABF12-DD92-48C6-81E8-976972CE5D55}"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5BEA9-1C92-4D20-A430-92A9FD60B4C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366ABF12-DD92-48C6-81E8-976972CE5D55}" type="datetimeFigureOut">
              <a:rPr lang="en-US" smtClean="0"/>
              <a:pPr/>
              <a:t>4/4/2025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975BEA9-1C92-4D20-A430-92A9FD60B4C9}"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ctrTitle"/>
          </p:nvPr>
        </p:nvSpPr>
        <p:spPr>
          <a:xfrm>
            <a:off x="0" y="3124200"/>
            <a:ext cx="9144000" cy="1600200"/>
          </a:xfrm>
        </p:spPr>
        <p:txBody>
          <a:bodyPr>
            <a:normAutofit fontScale="90000"/>
          </a:bodyPr>
          <a:lstStyle/>
          <a:p>
            <a:pPr algn="ctr" rtl="1"/>
            <a:r>
              <a:rPr lang="fa-IR" sz="6000" dirty="0">
                <a:cs typeface="B Zar" panose="00000400000000000000" pitchFamily="2" charset="-78"/>
              </a:rPr>
              <a:t>فصل </a:t>
            </a:r>
            <a:r>
              <a:rPr lang="fa-IR" sz="6000" dirty="0" smtClean="0">
                <a:cs typeface="B Zar" panose="00000400000000000000" pitchFamily="2" charset="-78"/>
              </a:rPr>
              <a:t>دوم</a:t>
            </a:r>
            <a:r>
              <a:rPr lang="en-US" sz="6000" dirty="0" smtClean="0">
                <a:cs typeface="B Zar" panose="00000400000000000000" pitchFamily="2" charset="-78"/>
              </a:rPr>
              <a:t> </a:t>
            </a:r>
            <a:r>
              <a:rPr lang="fa-IR" sz="6000" dirty="0" smtClean="0">
                <a:cs typeface="B Zar" panose="00000400000000000000" pitchFamily="2" charset="-78"/>
              </a:rPr>
              <a:t>طراحی و پیاده سازی زبانها</a:t>
            </a:r>
            <a:r>
              <a:rPr lang="fa-IR" sz="6000" dirty="0">
                <a:cs typeface="B Zar" panose="00000400000000000000" pitchFamily="2" charset="-78"/>
              </a:rPr>
              <a:t/>
            </a:r>
            <a:br>
              <a:rPr lang="fa-IR" sz="6000" dirty="0">
                <a:cs typeface="B Zar" panose="00000400000000000000" pitchFamily="2" charset="-78"/>
              </a:rPr>
            </a:br>
            <a:r>
              <a:rPr lang="fa-IR" dirty="0">
                <a:cs typeface="B Zar" panose="00000400000000000000" pitchFamily="2" charset="-78"/>
              </a:rPr>
              <a:t/>
            </a:r>
            <a:br>
              <a:rPr lang="fa-IR" dirty="0">
                <a:cs typeface="B Zar" panose="00000400000000000000" pitchFamily="2" charset="-78"/>
              </a:rPr>
            </a:br>
            <a:r>
              <a:rPr lang="fa-IR" dirty="0">
                <a:solidFill>
                  <a:srgbClr val="339966"/>
                </a:solidFill>
                <a:latin typeface="Tahoma" pitchFamily="34" charset="0"/>
                <a:cs typeface="B Zar" panose="00000400000000000000" pitchFamily="2" charset="-78"/>
              </a:rPr>
              <a:t>اثرات معماری ماشین</a:t>
            </a:r>
            <a:endParaRPr lang="en-US" dirty="0">
              <a:solidFill>
                <a:srgbClr val="339966"/>
              </a:solidFill>
              <a:latin typeface="Tahoma" pitchFamily="34" charset="0"/>
              <a:cs typeface="B Zar" panose="00000400000000000000" pitchFamily="2" charset="-78"/>
            </a:endParaRPr>
          </a:p>
        </p:txBody>
      </p:sp>
      <p:sp>
        <p:nvSpPr>
          <p:cNvPr id="4" name="Slide Number Placeholder 3"/>
          <p:cNvSpPr>
            <a:spLocks noGrp="1"/>
          </p:cNvSpPr>
          <p:nvPr>
            <p:ph type="sldNum" sz="quarter" idx="12"/>
          </p:nvPr>
        </p:nvSpPr>
        <p:spPr>
          <a:xfrm>
            <a:off x="6553200" y="6348413"/>
            <a:ext cx="1905000" cy="457200"/>
          </a:xfrm>
          <a:prstGeom prst="rect">
            <a:avLst/>
          </a:prstGeom>
        </p:spPr>
        <p:txBody>
          <a:bodyPr/>
          <a:lstStyle/>
          <a:p>
            <a:fld id="{D1B98248-D496-471B-8D19-64F0D033CA70}"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ctrTitle"/>
          </p:nvPr>
        </p:nvSpPr>
        <p:spPr>
          <a:xfrm>
            <a:off x="-1295400" y="5029200"/>
            <a:ext cx="9144000" cy="1600200"/>
          </a:xfrm>
        </p:spPr>
        <p:txBody>
          <a:bodyPr>
            <a:noAutofit/>
          </a:bodyPr>
          <a:lstStyle/>
          <a:p>
            <a:pPr algn="r" rtl="1"/>
            <a:r>
              <a:rPr lang="fa-IR" sz="3600" dirty="0" smtClean="0">
                <a:solidFill>
                  <a:srgbClr val="FF0000"/>
                </a:solidFill>
                <a:effectLst/>
                <a:latin typeface="Tahoma" pitchFamily="34" charset="0"/>
                <a:cs typeface="B Zar" panose="00000400000000000000" pitchFamily="2" charset="-78"/>
              </a:rPr>
              <a:t>فهرست مطالب</a:t>
            </a:r>
            <a:r>
              <a:rPr lang="fa-IR" sz="2800" dirty="0" smtClean="0">
                <a:solidFill>
                  <a:srgbClr val="339966"/>
                </a:solidFill>
                <a:effectLst/>
                <a:latin typeface="Tahoma" pitchFamily="34" charset="0"/>
                <a:cs typeface="B Zar" panose="00000400000000000000" pitchFamily="2" charset="-78"/>
              </a:rPr>
              <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مقدمه</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کامپیوتر و اجزای آن</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کامپیوتر میان افزار</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مفسرها و معماری مجازی</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            ترجمه</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            تفسیری</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انواع زبانها</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          زبانهای کامپایلری</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           زبانهای تفسیری</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کامپیوترهای مجازی</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انقیاد</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زمانهای انقیاد </a:t>
            </a:r>
            <a:br>
              <a:rPr lang="fa-IR" sz="2800" dirty="0" smtClean="0">
                <a:solidFill>
                  <a:srgbClr val="339966"/>
                </a:solidFill>
                <a:effectLst/>
                <a:latin typeface="Tahoma" pitchFamily="34" charset="0"/>
                <a:cs typeface="B Zar" panose="00000400000000000000" pitchFamily="2" charset="-78"/>
              </a:rPr>
            </a:br>
            <a:r>
              <a:rPr lang="fa-IR" sz="2800" dirty="0" smtClean="0">
                <a:solidFill>
                  <a:srgbClr val="339966"/>
                </a:solidFill>
                <a:effectLst/>
                <a:latin typeface="Tahoma" pitchFamily="34" charset="0"/>
                <a:cs typeface="B Zar" panose="00000400000000000000" pitchFamily="2" charset="-78"/>
              </a:rPr>
              <a:t>اهمیت زمانهای انقیاد</a:t>
            </a:r>
            <a:endParaRPr lang="en-US" sz="2800" dirty="0">
              <a:solidFill>
                <a:srgbClr val="339966"/>
              </a:solidFill>
              <a:effectLst/>
              <a:latin typeface="Tahoma" pitchFamily="34" charset="0"/>
              <a:cs typeface="B Zar" panose="00000400000000000000" pitchFamily="2" charset="-78"/>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442913" y="357188"/>
            <a:ext cx="8280400" cy="762000"/>
          </a:xfrm>
        </p:spPr>
        <p:txBody>
          <a:bodyPr/>
          <a:lstStyle/>
          <a:p>
            <a:pPr algn="ctr" rtl="1"/>
            <a:r>
              <a:rPr lang="fa-IR" dirty="0" smtClean="0">
                <a:cs typeface="B Zar" panose="00000400000000000000" pitchFamily="2" charset="-78"/>
              </a:rPr>
              <a:t>مقدمه</a:t>
            </a:r>
            <a:endParaRPr lang="en-US" dirty="0">
              <a:cs typeface="B Zar" panose="00000400000000000000" pitchFamily="2" charset="-78"/>
            </a:endParaRPr>
          </a:p>
        </p:txBody>
      </p:sp>
      <p:sp>
        <p:nvSpPr>
          <p:cNvPr id="155651" name="Rectangle 3"/>
          <p:cNvSpPr>
            <a:spLocks noGrp="1" noChangeArrowheads="1"/>
          </p:cNvSpPr>
          <p:nvPr>
            <p:ph idx="1"/>
          </p:nvPr>
        </p:nvSpPr>
        <p:spPr>
          <a:xfrm>
            <a:off x="533400" y="1119188"/>
            <a:ext cx="8324850" cy="5153025"/>
          </a:xfrm>
        </p:spPr>
        <p:txBody>
          <a:bodyPr>
            <a:normAutofit/>
          </a:bodyPr>
          <a:lstStyle/>
          <a:p>
            <a:pPr algn="r" rtl="1"/>
            <a:r>
              <a:rPr lang="fa-IR" dirty="0" smtClean="0">
                <a:cs typeface="B Zar" panose="00000400000000000000" pitchFamily="2" charset="-78"/>
              </a:rPr>
              <a:t>در قدیم کامپیوترها گران بودند و لی امروزه کامپیوترها ارزان شده اند.</a:t>
            </a:r>
          </a:p>
          <a:p>
            <a:pPr algn="r" rtl="1"/>
            <a:r>
              <a:rPr lang="fa-IR" dirty="0" smtClean="0">
                <a:cs typeface="B Zar" panose="00000400000000000000" pitchFamily="2" charset="-78"/>
              </a:rPr>
              <a:t>هدف این است که برنامه نویس به سادگی برنامه نویسی کند هر چند که کند باشد.</a:t>
            </a:r>
          </a:p>
          <a:p>
            <a:pPr algn="r" rtl="1"/>
            <a:r>
              <a:rPr lang="fa-IR" dirty="0" smtClean="0">
                <a:cs typeface="B Zar" panose="00000400000000000000" pitchFamily="2" charset="-78"/>
              </a:rPr>
              <a:t>در توسعه ی یک زبان برنامه نویسی سه عامل بر روی طراحی زبان موثر است :</a:t>
            </a:r>
            <a:endParaRPr lang="fa-IR" dirty="0" smtClean="0">
              <a:solidFill>
                <a:srgbClr val="FF0000"/>
              </a:solidFill>
              <a:cs typeface="B Zar" panose="00000400000000000000" pitchFamily="2" charset="-78"/>
            </a:endParaRPr>
          </a:p>
          <a:p>
            <a:pPr lvl="1" algn="r" rtl="1"/>
            <a:r>
              <a:rPr lang="fa-IR" dirty="0" smtClean="0">
                <a:solidFill>
                  <a:srgbClr val="FF0000"/>
                </a:solidFill>
                <a:cs typeface="B Zar" panose="00000400000000000000" pitchFamily="2" charset="-78"/>
              </a:rPr>
              <a:t>کامپیوتری که برنامه بر روی آن اجرا می شود</a:t>
            </a:r>
            <a:endParaRPr lang="fa-IR" dirty="0">
              <a:solidFill>
                <a:srgbClr val="FF0000"/>
              </a:solidFill>
              <a:cs typeface="B Zar" panose="00000400000000000000" pitchFamily="2" charset="-78"/>
            </a:endParaRPr>
          </a:p>
          <a:p>
            <a:pPr lvl="1" algn="r" rtl="1"/>
            <a:r>
              <a:rPr lang="fa-IR" dirty="0" smtClean="0">
                <a:solidFill>
                  <a:srgbClr val="FF0000"/>
                </a:solidFill>
                <a:cs typeface="B Zar" panose="00000400000000000000" pitchFamily="2" charset="-78"/>
              </a:rPr>
              <a:t>مدل اجرا یا کامپیوتر مجازی که آن زبان را بر روی سخت افزار اجرا می کند.</a:t>
            </a:r>
          </a:p>
          <a:p>
            <a:pPr lvl="1" algn="r" rtl="1"/>
            <a:r>
              <a:rPr lang="fa-IR" dirty="0" smtClean="0">
                <a:solidFill>
                  <a:srgbClr val="FF0000"/>
                </a:solidFill>
                <a:cs typeface="B Zar" panose="00000400000000000000" pitchFamily="2" charset="-78"/>
              </a:rPr>
              <a:t>مدل محاسباتی که زبان آن را پیاده سازی می کند</a:t>
            </a:r>
            <a:endParaRPr lang="fa-IR" dirty="0">
              <a:solidFill>
                <a:srgbClr val="FF0000"/>
              </a:solidFill>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442913" y="351832"/>
            <a:ext cx="8280400" cy="767356"/>
          </a:xfrm>
        </p:spPr>
        <p:txBody>
          <a:bodyPr/>
          <a:lstStyle/>
          <a:p>
            <a:pPr algn="ctr" rtl="1"/>
            <a:r>
              <a:rPr lang="fa-IR" dirty="0" smtClean="0">
                <a:cs typeface="B Zar" panose="00000400000000000000" pitchFamily="2" charset="-78"/>
              </a:rPr>
              <a:t>مقدمه</a:t>
            </a:r>
            <a:r>
              <a:rPr lang="en-US" dirty="0" smtClean="0">
                <a:cs typeface="B Zar" panose="00000400000000000000" pitchFamily="2" charset="-78"/>
              </a:rPr>
              <a:t> </a:t>
            </a:r>
            <a:r>
              <a:rPr lang="fa-IR" dirty="0" smtClean="0">
                <a:cs typeface="B Zar" panose="00000400000000000000" pitchFamily="2" charset="-78"/>
              </a:rPr>
              <a:t>(کامپیوتر و اجزای آن)</a:t>
            </a:r>
            <a:endParaRPr lang="en-US" dirty="0">
              <a:cs typeface="B Zar" panose="00000400000000000000" pitchFamily="2" charset="-78"/>
            </a:endParaRPr>
          </a:p>
        </p:txBody>
      </p:sp>
      <p:sp>
        <p:nvSpPr>
          <p:cNvPr id="155651" name="Rectangle 3"/>
          <p:cNvSpPr>
            <a:spLocks noGrp="1" noChangeArrowheads="1"/>
          </p:cNvSpPr>
          <p:nvPr>
            <p:ph idx="1"/>
          </p:nvPr>
        </p:nvSpPr>
        <p:spPr>
          <a:xfrm>
            <a:off x="914400" y="1295400"/>
            <a:ext cx="7943850" cy="4976813"/>
          </a:xfrm>
        </p:spPr>
        <p:txBody>
          <a:bodyPr/>
          <a:lstStyle/>
          <a:p>
            <a:pPr algn="r" rtl="1"/>
            <a:r>
              <a:rPr lang="fa-IR" dirty="0" smtClean="0">
                <a:cs typeface="B Zar" panose="00000400000000000000" pitchFamily="2" charset="-78"/>
              </a:rPr>
              <a:t>کامپیوتر ها(مجموعه ای از الگوریتمها و ساختمان داده هاه که توانایی ذخیره و اجرای برنامه را دارد) می توانند در یکی از دوشکل زیر باشند :</a:t>
            </a:r>
          </a:p>
          <a:p>
            <a:pPr lvl="1" algn="r" rtl="1"/>
            <a:r>
              <a:rPr lang="fa-IR" dirty="0" smtClean="0">
                <a:cs typeface="B Zar" panose="00000400000000000000" pitchFamily="2" charset="-78"/>
              </a:rPr>
              <a:t>کامپیوتر واقعی (یا سخت افزاری) </a:t>
            </a:r>
          </a:p>
          <a:p>
            <a:pPr lvl="1" algn="r" rtl="1"/>
            <a:r>
              <a:rPr lang="fa-IR" dirty="0" smtClean="0">
                <a:cs typeface="B Zar" panose="00000400000000000000" pitchFamily="2" charset="-78"/>
              </a:rPr>
              <a:t>کامپیوتر شبیه سازی شده ی نرم افزاری</a:t>
            </a:r>
            <a:r>
              <a:rPr lang="en-US" dirty="0" smtClean="0">
                <a:cs typeface="B Zar" panose="00000400000000000000" pitchFamily="2" charset="-78"/>
              </a:rPr>
              <a:t> </a:t>
            </a:r>
            <a:r>
              <a:rPr lang="fa-IR" dirty="0" smtClean="0">
                <a:cs typeface="B Zar" panose="00000400000000000000" pitchFamily="2" charset="-78"/>
              </a:rPr>
              <a:t>(میان افزار)</a:t>
            </a:r>
          </a:p>
        </p:txBody>
      </p:sp>
      <p:sp>
        <p:nvSpPr>
          <p:cNvPr id="5" name="Slide Number Placeholder 4"/>
          <p:cNvSpPr>
            <a:spLocks noGrp="1"/>
          </p:cNvSpPr>
          <p:nvPr>
            <p:ph type="sldNum" sz="quarter" idx="12"/>
          </p:nvPr>
        </p:nvSpPr>
        <p:spPr/>
        <p:txBody>
          <a:bodyPr/>
          <a:lstStyle/>
          <a:p>
            <a:fld id="{1335391A-C508-4DBF-AB59-44B0B160C8E7}"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442913" y="357188"/>
            <a:ext cx="8280400" cy="762000"/>
          </a:xfrm>
        </p:spPr>
        <p:txBody>
          <a:bodyPr/>
          <a:lstStyle/>
          <a:p>
            <a:pPr algn="ctr" rtl="1"/>
            <a:r>
              <a:rPr lang="fa-IR" dirty="0">
                <a:cs typeface="B Zar" panose="00000400000000000000" pitchFamily="2" charset="-78"/>
              </a:rPr>
              <a:t>عملکرد کامپیوتر</a:t>
            </a:r>
            <a:endParaRPr lang="en-US" dirty="0">
              <a:cs typeface="B Zar" panose="00000400000000000000" pitchFamily="2" charset="-78"/>
            </a:endParaRPr>
          </a:p>
        </p:txBody>
      </p:sp>
      <p:sp>
        <p:nvSpPr>
          <p:cNvPr id="155651" name="Rectangle 3"/>
          <p:cNvSpPr>
            <a:spLocks noGrp="1" noChangeArrowheads="1"/>
          </p:cNvSpPr>
          <p:nvPr>
            <p:ph idx="1"/>
          </p:nvPr>
        </p:nvSpPr>
        <p:spPr>
          <a:xfrm>
            <a:off x="304800" y="1846263"/>
            <a:ext cx="8553450" cy="4425950"/>
          </a:xfrm>
        </p:spPr>
        <p:txBody>
          <a:bodyPr>
            <a:normAutofit fontScale="92500" lnSpcReduction="10000"/>
          </a:bodyPr>
          <a:lstStyle/>
          <a:p>
            <a:pPr algn="r" rtl="1">
              <a:buFontTx/>
              <a:buNone/>
            </a:pPr>
            <a:r>
              <a:rPr lang="fa-IR" dirty="0">
                <a:cs typeface="B Zar" panose="00000400000000000000" pitchFamily="2" charset="-78"/>
              </a:rPr>
              <a:t>   کامپیوتر مجموعه ای از الگوریتمها و ساختمان داده ها است که قابلیت ذخیره و اجرای برنامه ها را دارد.</a:t>
            </a:r>
          </a:p>
          <a:p>
            <a:pPr algn="r" rtl="1"/>
            <a:r>
              <a:rPr lang="fa-IR" dirty="0">
                <a:solidFill>
                  <a:srgbClr val="FF0000"/>
                </a:solidFill>
                <a:cs typeface="B Zar" panose="00000400000000000000" pitchFamily="2" charset="-78"/>
              </a:rPr>
              <a:t>هر کامپیوتر از 6 جزء تشکیل شده است:</a:t>
            </a:r>
          </a:p>
          <a:p>
            <a:pPr lvl="1" algn="r" rtl="1"/>
            <a:r>
              <a:rPr lang="fa-IR" dirty="0">
                <a:cs typeface="B Zar" panose="00000400000000000000" pitchFamily="2" charset="-78"/>
              </a:rPr>
              <a:t>داده ها </a:t>
            </a:r>
            <a:r>
              <a:rPr lang="fa-IR" dirty="0" smtClean="0">
                <a:cs typeface="B Zar" panose="00000400000000000000" pitchFamily="2" charset="-78"/>
              </a:rPr>
              <a:t>: داده ها ی اولیه و ساخت یافته</a:t>
            </a:r>
            <a:endParaRPr lang="fa-IR" dirty="0">
              <a:cs typeface="B Zar" panose="00000400000000000000" pitchFamily="2" charset="-78"/>
            </a:endParaRPr>
          </a:p>
          <a:p>
            <a:pPr lvl="1" algn="r" rtl="1"/>
            <a:r>
              <a:rPr lang="fa-IR" dirty="0">
                <a:cs typeface="B Zar" panose="00000400000000000000" pitchFamily="2" charset="-78"/>
              </a:rPr>
              <a:t>اعمال </a:t>
            </a:r>
            <a:r>
              <a:rPr lang="fa-IR" dirty="0" smtClean="0">
                <a:cs typeface="B Zar" panose="00000400000000000000" pitchFamily="2" charset="-78"/>
              </a:rPr>
              <a:t>اولیه(اعمال پردازش روی داده ها)</a:t>
            </a:r>
            <a:endParaRPr lang="fa-IR" dirty="0">
              <a:cs typeface="B Zar" panose="00000400000000000000" pitchFamily="2" charset="-78"/>
            </a:endParaRPr>
          </a:p>
          <a:p>
            <a:pPr lvl="1" algn="r" rtl="1"/>
            <a:r>
              <a:rPr lang="fa-IR" dirty="0">
                <a:cs typeface="B Zar" panose="00000400000000000000" pitchFamily="2" charset="-78"/>
              </a:rPr>
              <a:t>کنترل </a:t>
            </a:r>
            <a:r>
              <a:rPr lang="fa-IR" dirty="0" smtClean="0">
                <a:cs typeface="B Zar" panose="00000400000000000000" pitchFamily="2" charset="-78"/>
              </a:rPr>
              <a:t>ترتیب</a:t>
            </a:r>
            <a:endParaRPr lang="fa-IR" dirty="0">
              <a:cs typeface="B Zar" panose="00000400000000000000" pitchFamily="2" charset="-78"/>
            </a:endParaRPr>
          </a:p>
          <a:p>
            <a:pPr lvl="1" algn="r" rtl="1"/>
            <a:r>
              <a:rPr lang="fa-IR" dirty="0">
                <a:cs typeface="B Zar" panose="00000400000000000000" pitchFamily="2" charset="-78"/>
              </a:rPr>
              <a:t>دستیابی به داده </a:t>
            </a:r>
            <a:r>
              <a:rPr lang="fa-IR" dirty="0" smtClean="0">
                <a:cs typeface="B Zar" panose="00000400000000000000" pitchFamily="2" charset="-78"/>
              </a:rPr>
              <a:t>ها(کنترل بین برنامه و زیر برنامه)</a:t>
            </a:r>
            <a:endParaRPr lang="fa-IR" dirty="0">
              <a:cs typeface="B Zar" panose="00000400000000000000" pitchFamily="2" charset="-78"/>
            </a:endParaRPr>
          </a:p>
          <a:p>
            <a:pPr lvl="1" algn="r" rtl="1"/>
            <a:r>
              <a:rPr lang="fa-IR" dirty="0">
                <a:cs typeface="B Zar" panose="00000400000000000000" pitchFamily="2" charset="-78"/>
              </a:rPr>
              <a:t>مدیریت </a:t>
            </a:r>
            <a:r>
              <a:rPr lang="fa-IR" dirty="0" smtClean="0">
                <a:cs typeface="B Zar" panose="00000400000000000000" pitchFamily="2" charset="-78"/>
              </a:rPr>
              <a:t>حافظه(تخصیص حافظه و آزاد سازی حافظه)</a:t>
            </a:r>
            <a:endParaRPr lang="fa-IR" dirty="0">
              <a:cs typeface="B Zar" panose="00000400000000000000" pitchFamily="2" charset="-78"/>
            </a:endParaRPr>
          </a:p>
          <a:p>
            <a:pPr lvl="1" algn="r" rtl="1"/>
            <a:r>
              <a:rPr lang="fa-IR" dirty="0">
                <a:cs typeface="B Zar" panose="00000400000000000000" pitchFamily="2" charset="-78"/>
              </a:rPr>
              <a:t>محیط </a:t>
            </a:r>
            <a:r>
              <a:rPr lang="fa-IR" dirty="0" smtClean="0">
                <a:cs typeface="B Zar" panose="00000400000000000000" pitchFamily="2" charset="-78"/>
              </a:rPr>
              <a:t>عملیاتی ( مکانیزمی برای ارتباط با محیط خارجی که حاوی داده و برنامه است)</a:t>
            </a:r>
            <a:endParaRPr lang="fa-IR" dirty="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685800" y="38100"/>
            <a:ext cx="7772400" cy="1143000"/>
          </a:xfrm>
        </p:spPr>
        <p:txBody>
          <a:bodyPr/>
          <a:lstStyle/>
          <a:p>
            <a:pPr algn="ctr"/>
            <a:r>
              <a:rPr lang="fa-IR" dirty="0">
                <a:cs typeface="B Zar" panose="00000400000000000000" pitchFamily="2" charset="-78"/>
              </a:rPr>
              <a:t>سازمان یک کامپیوتر معمولی</a:t>
            </a:r>
            <a:endParaRPr lang="en-US" dirty="0">
              <a:cs typeface="B Zar" panose="00000400000000000000" pitchFamily="2" charset="-78"/>
            </a:endParaRPr>
          </a:p>
        </p:txBody>
      </p:sp>
      <p:sp>
        <p:nvSpPr>
          <p:cNvPr id="18" name="Slide Number Placeholder 17"/>
          <p:cNvSpPr>
            <a:spLocks noGrp="1"/>
          </p:cNvSpPr>
          <p:nvPr>
            <p:ph type="sldNum" sz="quarter" idx="12"/>
          </p:nvPr>
        </p:nvSpPr>
        <p:spPr/>
        <p:txBody>
          <a:bodyPr/>
          <a:lstStyle/>
          <a:p>
            <a:fld id="{1335391A-C508-4DBF-AB59-44B0B160C8E7}" type="slidenum">
              <a:rPr lang="en-US" smtClean="0"/>
              <a:pPr/>
              <a:t>6</a:t>
            </a:fld>
            <a:endParaRPr lang="en-US"/>
          </a:p>
        </p:txBody>
      </p:sp>
      <p:pic>
        <p:nvPicPr>
          <p:cNvPr id="1043" name="Picture 19"/>
          <p:cNvPicPr>
            <a:picLocks noChangeAspect="1" noChangeArrowheads="1"/>
          </p:cNvPicPr>
          <p:nvPr/>
        </p:nvPicPr>
        <p:blipFill>
          <a:blip r:embed="rId3"/>
          <a:srcRect/>
          <a:stretch>
            <a:fillRect/>
          </a:stretch>
        </p:blipFill>
        <p:spPr bwMode="auto">
          <a:xfrm>
            <a:off x="990600" y="1447800"/>
            <a:ext cx="7734300" cy="472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90600" y="3276600"/>
            <a:ext cx="8153400" cy="3124200"/>
          </a:xfrm>
          <a:prstGeom prst="rect">
            <a:avLst/>
          </a:prstGeom>
        </p:spPr>
      </p:pic>
      <p:pic>
        <p:nvPicPr>
          <p:cNvPr id="7" name="Picture 6"/>
          <p:cNvPicPr>
            <a:picLocks noChangeAspect="1"/>
          </p:cNvPicPr>
          <p:nvPr/>
        </p:nvPicPr>
        <p:blipFill>
          <a:blip r:embed="rId3"/>
          <a:stretch>
            <a:fillRect/>
          </a:stretch>
        </p:blipFill>
        <p:spPr>
          <a:xfrm>
            <a:off x="1002966" y="228600"/>
            <a:ext cx="7931484" cy="2590800"/>
          </a:xfrm>
          <a:prstGeom prst="rect">
            <a:avLst/>
          </a:prstGeom>
        </p:spPr>
      </p:pic>
    </p:spTree>
    <p:extLst>
      <p:ext uri="{BB962C8B-B14F-4D97-AF65-F5344CB8AC3E}">
        <p14:creationId xmlns:p14="http://schemas.microsoft.com/office/powerpoint/2010/main" val="2166474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442913" y="357188"/>
            <a:ext cx="8280400" cy="762000"/>
          </a:xfrm>
        </p:spPr>
        <p:txBody>
          <a:bodyPr/>
          <a:lstStyle/>
          <a:p>
            <a:pPr algn="ctr" rtl="1"/>
            <a:r>
              <a:rPr lang="fa-IR" dirty="0">
                <a:cs typeface="B Zar" panose="00000400000000000000" pitchFamily="2" charset="-78"/>
              </a:rPr>
              <a:t>عملکرد کامپیوتر(ادامه)</a:t>
            </a:r>
            <a:endParaRPr lang="en-US" dirty="0">
              <a:cs typeface="B Zar" panose="00000400000000000000" pitchFamily="2" charset="-78"/>
            </a:endParaRPr>
          </a:p>
        </p:txBody>
      </p:sp>
      <p:sp>
        <p:nvSpPr>
          <p:cNvPr id="156675" name="Rectangle 3"/>
          <p:cNvSpPr>
            <a:spLocks noGrp="1" noChangeArrowheads="1"/>
          </p:cNvSpPr>
          <p:nvPr>
            <p:ph idx="1"/>
          </p:nvPr>
        </p:nvSpPr>
        <p:spPr>
          <a:xfrm>
            <a:off x="114300" y="1371600"/>
            <a:ext cx="8915400" cy="4425950"/>
          </a:xfrm>
          <a:noFill/>
          <a:ln/>
        </p:spPr>
        <p:txBody>
          <a:bodyPr>
            <a:normAutofit/>
          </a:bodyPr>
          <a:lstStyle/>
          <a:p>
            <a:pPr algn="r" rtl="1">
              <a:buFontTx/>
              <a:buNone/>
            </a:pPr>
            <a:r>
              <a:rPr lang="fa-IR" sz="2800" b="1" dirty="0" smtClean="0">
                <a:solidFill>
                  <a:srgbClr val="FF0000"/>
                </a:solidFill>
                <a:cs typeface="B Zar" panose="00000400000000000000" pitchFamily="2" charset="-78"/>
              </a:rPr>
              <a:t>توضیح اجزای شش گانه کامپیوتری</a:t>
            </a:r>
            <a:endParaRPr lang="fa-IR" sz="2800" dirty="0">
              <a:solidFill>
                <a:srgbClr val="FF0000"/>
              </a:solidFill>
              <a:cs typeface="B Zar" panose="00000400000000000000" pitchFamily="2" charset="-78"/>
            </a:endParaRPr>
          </a:p>
          <a:p>
            <a:pPr marL="514350" indent="-514350" algn="r" rtl="1">
              <a:buFont typeface="+mj-lt"/>
              <a:buAutoNum type="arabicParenR"/>
            </a:pPr>
            <a:r>
              <a:rPr lang="fa-IR" dirty="0" smtClean="0">
                <a:cs typeface="B Zar" panose="00000400000000000000" pitchFamily="2" charset="-78"/>
              </a:rPr>
              <a:t>داده ها</a:t>
            </a:r>
          </a:p>
          <a:p>
            <a:pPr marL="342900" lvl="1" indent="-342900" algn="r" rtl="1"/>
            <a:r>
              <a:rPr lang="fa-IR" sz="3000" dirty="0" smtClean="0">
                <a:solidFill>
                  <a:srgbClr val="2E8C5D"/>
                </a:solidFill>
                <a:cs typeface="B Zar" panose="00000400000000000000" pitchFamily="2" charset="-78"/>
              </a:rPr>
              <a:t> سه جزء اصلی حافظه داده </a:t>
            </a:r>
            <a:r>
              <a:rPr lang="fa-IR" sz="3000" dirty="0">
                <a:solidFill>
                  <a:srgbClr val="2E8C5D"/>
                </a:solidFill>
                <a:cs typeface="B Zar" panose="00000400000000000000" pitchFamily="2" charset="-78"/>
              </a:rPr>
              <a:t>ها : </a:t>
            </a:r>
            <a:endParaRPr lang="fa-IR" sz="3000" dirty="0" smtClean="0">
              <a:solidFill>
                <a:srgbClr val="2E8C5D"/>
              </a:solidFill>
              <a:cs typeface="B Zar" panose="00000400000000000000" pitchFamily="2" charset="-78"/>
            </a:endParaRPr>
          </a:p>
          <a:p>
            <a:pPr lvl="1" algn="r" rtl="1"/>
            <a:r>
              <a:rPr lang="fa-IR" dirty="0" smtClean="0">
                <a:cs typeface="B Zar" panose="00000400000000000000" pitchFamily="2" charset="-78"/>
              </a:rPr>
              <a:t>حافظه اصلی ، حافظه نهان و فایلهای خارجی(حافظه جانبی)</a:t>
            </a:r>
          </a:p>
          <a:p>
            <a:pPr algn="r" rtl="1"/>
            <a:endParaRPr lang="fa-IR" dirty="0" smtClean="0">
              <a:cs typeface="B Zar" panose="00000400000000000000" pitchFamily="2" charset="-78"/>
            </a:endParaRPr>
          </a:p>
          <a:p>
            <a:pPr algn="r" rtl="1"/>
            <a:r>
              <a:rPr lang="fa-IR" dirty="0" smtClean="0">
                <a:cs typeface="B Zar" panose="00000400000000000000" pitchFamily="2" charset="-78"/>
              </a:rPr>
              <a:t>انواع داده در کامپیوتر :</a:t>
            </a:r>
          </a:p>
          <a:p>
            <a:pPr lvl="1" algn="r" rtl="1"/>
            <a:r>
              <a:rPr lang="fa-IR" dirty="0" smtClean="0">
                <a:cs typeface="B Zar" panose="00000400000000000000" pitchFamily="2" charset="-78"/>
              </a:rPr>
              <a:t>نوع داده توکار : مانند انواع داده اولیه</a:t>
            </a:r>
          </a:p>
          <a:p>
            <a:pPr lvl="1" algn="r" rtl="1"/>
            <a:r>
              <a:rPr lang="fa-IR" dirty="0" smtClean="0">
                <a:cs typeface="B Zar" panose="00000400000000000000" pitchFamily="2" charset="-78"/>
              </a:rPr>
              <a:t>نمایش زبان ماشین کامپیوتر : نمایش توکار برای برنامه</a:t>
            </a:r>
            <a:endParaRPr lang="fa-IR" dirty="0">
              <a:cs typeface="B Zar" panose="00000400000000000000" pitchFamily="2" charset="-78"/>
            </a:endParaRPr>
          </a:p>
        </p:txBody>
      </p:sp>
      <p:sp>
        <p:nvSpPr>
          <p:cNvPr id="4" name="Slide Number Placeholder 3"/>
          <p:cNvSpPr>
            <a:spLocks noGrp="1"/>
          </p:cNvSpPr>
          <p:nvPr>
            <p:ph type="sldNum" sz="quarter" idx="12"/>
          </p:nvPr>
        </p:nvSpPr>
        <p:spPr/>
        <p:txBody>
          <a:bodyPr/>
          <a:lstStyle/>
          <a:p>
            <a:fld id="{1335391A-C508-4DBF-AB59-44B0B160C8E7}"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442913" y="357188"/>
            <a:ext cx="8280400" cy="762000"/>
          </a:xfrm>
        </p:spPr>
        <p:txBody>
          <a:bodyPr/>
          <a:lstStyle/>
          <a:p>
            <a:pPr rtl="1"/>
            <a:r>
              <a:rPr lang="fa-IR">
                <a:cs typeface="B Zar" panose="00000400000000000000" pitchFamily="2" charset="-78"/>
              </a:rPr>
              <a:t>عملکرد کامپیوتر(ادامه)</a:t>
            </a:r>
            <a:endParaRPr lang="en-US">
              <a:cs typeface="B Zar" panose="00000400000000000000" pitchFamily="2" charset="-78"/>
            </a:endParaRPr>
          </a:p>
        </p:txBody>
      </p:sp>
      <p:sp>
        <p:nvSpPr>
          <p:cNvPr id="158723" name="Rectangle 3"/>
          <p:cNvSpPr>
            <a:spLocks noGrp="1" noChangeArrowheads="1"/>
          </p:cNvSpPr>
          <p:nvPr>
            <p:ph idx="1"/>
          </p:nvPr>
        </p:nvSpPr>
        <p:spPr>
          <a:xfrm>
            <a:off x="114300" y="1219200"/>
            <a:ext cx="8877300" cy="5053013"/>
          </a:xfrm>
        </p:spPr>
        <p:txBody>
          <a:bodyPr>
            <a:normAutofit fontScale="92500" lnSpcReduction="20000"/>
          </a:bodyPr>
          <a:lstStyle/>
          <a:p>
            <a:pPr algn="r" rtl="1">
              <a:lnSpc>
                <a:spcPct val="80000"/>
              </a:lnSpc>
              <a:buFontTx/>
              <a:buNone/>
            </a:pPr>
            <a:r>
              <a:rPr lang="fa-IR" sz="2400" b="1" dirty="0">
                <a:solidFill>
                  <a:srgbClr val="FF0000"/>
                </a:solidFill>
                <a:cs typeface="B Zar" panose="00000400000000000000" pitchFamily="2" charset="-78"/>
              </a:rPr>
              <a:t>سخت افزار کامپیوتر (ادامه)</a:t>
            </a:r>
          </a:p>
          <a:p>
            <a:pPr marL="514350" indent="-514350" algn="r" rtl="1">
              <a:buFont typeface="+mj-lt"/>
              <a:buAutoNum type="arabicParenR" startAt="2"/>
            </a:pPr>
            <a:r>
              <a:rPr lang="fa-IR" dirty="0" smtClean="0">
                <a:cs typeface="B Zar" panose="00000400000000000000" pitchFamily="2" charset="-78"/>
              </a:rPr>
              <a:t> اعمال اولیه </a:t>
            </a:r>
            <a:r>
              <a:rPr lang="fa-IR" dirty="0">
                <a:cs typeface="B Zar" panose="00000400000000000000" pitchFamily="2" charset="-78"/>
              </a:rPr>
              <a:t>: کامپیوتر باید مجموعه ای از اعمال اولیه توکار داشته باشد </a:t>
            </a:r>
            <a:r>
              <a:rPr lang="fa-IR" dirty="0" smtClean="0">
                <a:cs typeface="B Zar" panose="00000400000000000000" pitchFamily="2" charset="-78"/>
              </a:rPr>
              <a:t>که</a:t>
            </a:r>
          </a:p>
          <a:p>
            <a:pPr marL="514350" indent="-514350" algn="r" rtl="1">
              <a:buNone/>
            </a:pPr>
            <a:r>
              <a:rPr lang="fa-IR" dirty="0" smtClean="0">
                <a:cs typeface="B Zar" panose="00000400000000000000" pitchFamily="2" charset="-78"/>
              </a:rPr>
              <a:t> </a:t>
            </a:r>
            <a:r>
              <a:rPr lang="fa-IR" dirty="0">
                <a:cs typeface="B Zar" panose="00000400000000000000" pitchFamily="2" charset="-78"/>
              </a:rPr>
              <a:t>متناظر با کدهای عملیاتی </a:t>
            </a:r>
            <a:r>
              <a:rPr lang="fa-IR" dirty="0" smtClean="0">
                <a:cs typeface="B Zar" panose="00000400000000000000" pitchFamily="2" charset="-78"/>
              </a:rPr>
              <a:t>هستند که </a:t>
            </a:r>
            <a:r>
              <a:rPr lang="fa-IR" dirty="0">
                <a:cs typeface="B Zar" panose="00000400000000000000" pitchFamily="2" charset="-78"/>
              </a:rPr>
              <a:t>به صورت دستورات زبان ماشین می باشند</a:t>
            </a:r>
            <a:r>
              <a:rPr lang="fa-IR" dirty="0" smtClean="0">
                <a:cs typeface="B Zar" panose="00000400000000000000" pitchFamily="2" charset="-78"/>
              </a:rPr>
              <a:t>.</a:t>
            </a:r>
          </a:p>
          <a:p>
            <a:pPr lvl="1" algn="r" rtl="1">
              <a:buNone/>
            </a:pPr>
            <a:r>
              <a:rPr lang="fa-IR" sz="2400" dirty="0" smtClean="0">
                <a:solidFill>
                  <a:srgbClr val="7030A0"/>
                </a:solidFill>
                <a:cs typeface="B Zar" panose="00000400000000000000" pitchFamily="2" charset="-78"/>
              </a:rPr>
              <a:t>اعمال اولیه برای انجام محاسبات </a:t>
            </a:r>
          </a:p>
          <a:p>
            <a:pPr lvl="1" algn="r" rtl="1">
              <a:buNone/>
            </a:pPr>
            <a:r>
              <a:rPr lang="fa-IR" sz="2400" dirty="0" smtClean="0">
                <a:solidFill>
                  <a:srgbClr val="7030A0"/>
                </a:solidFill>
                <a:cs typeface="B Zar" panose="00000400000000000000" pitchFamily="2" charset="-78"/>
              </a:rPr>
              <a:t> اعمال اولیه برای تست خواصی از داده های اولیه</a:t>
            </a:r>
          </a:p>
          <a:p>
            <a:pPr lvl="1" algn="r" rtl="1">
              <a:buNone/>
            </a:pPr>
            <a:r>
              <a:rPr lang="fa-IR" sz="2400" dirty="0" smtClean="0">
                <a:solidFill>
                  <a:srgbClr val="7030A0"/>
                </a:solidFill>
                <a:cs typeface="B Zar" panose="00000400000000000000" pitchFamily="2" charset="-78"/>
              </a:rPr>
              <a:t> اعمال اولیه برای دستکاری قسمتی از عناصر داده ها(مقایسه با صفر، منفی یا مثبت بودن اعداد)</a:t>
            </a:r>
          </a:p>
          <a:p>
            <a:pPr lvl="1" algn="r" rtl="1">
              <a:buNone/>
            </a:pPr>
            <a:r>
              <a:rPr lang="fa-IR" sz="2400" dirty="0" smtClean="0">
                <a:solidFill>
                  <a:srgbClr val="7030A0"/>
                </a:solidFill>
                <a:cs typeface="B Zar" panose="00000400000000000000" pitchFamily="2" charset="-78"/>
              </a:rPr>
              <a:t>اعمال اولیه برای کنترل دستگاه های جانبی</a:t>
            </a:r>
          </a:p>
          <a:p>
            <a:pPr lvl="1" algn="r" rtl="1">
              <a:buNone/>
            </a:pPr>
            <a:r>
              <a:rPr lang="fa-IR" sz="2400" dirty="0" smtClean="0">
                <a:solidFill>
                  <a:srgbClr val="7030A0"/>
                </a:solidFill>
                <a:cs typeface="B Zar" panose="00000400000000000000" pitchFamily="2" charset="-78"/>
              </a:rPr>
              <a:t>اعمال اولیه برای کنترل ترتیب اجرا</a:t>
            </a:r>
            <a:endParaRPr lang="fa-IR" sz="2400" dirty="0">
              <a:solidFill>
                <a:srgbClr val="7030A0"/>
              </a:solidFill>
              <a:cs typeface="B Zar" panose="00000400000000000000" pitchFamily="2" charset="-78"/>
            </a:endParaRPr>
          </a:p>
          <a:p>
            <a:pPr marL="514350" indent="-514350" algn="r" rtl="1">
              <a:buFont typeface="+mj-lt"/>
              <a:buAutoNum type="arabicParenR" startAt="2"/>
            </a:pPr>
            <a:r>
              <a:rPr lang="fa-IR" dirty="0" smtClean="0">
                <a:cs typeface="B Zar" panose="00000400000000000000" pitchFamily="2" charset="-78"/>
              </a:rPr>
              <a:t>کنترل </a:t>
            </a:r>
            <a:r>
              <a:rPr lang="fa-IR" dirty="0">
                <a:cs typeface="B Zar" panose="00000400000000000000" pitchFamily="2" charset="-78"/>
              </a:rPr>
              <a:t>ترتیب: در حین اجرای برنامه دستور بعدی که باید اجرا شود توسط </a:t>
            </a:r>
            <a:endParaRPr lang="fa-IR" dirty="0" smtClean="0">
              <a:cs typeface="B Zar" panose="00000400000000000000" pitchFamily="2" charset="-78"/>
            </a:endParaRPr>
          </a:p>
          <a:p>
            <a:pPr marL="514350" indent="-514350" algn="r" rtl="1">
              <a:buNone/>
            </a:pPr>
            <a:r>
              <a:rPr lang="fa-IR" dirty="0" smtClean="0">
                <a:cs typeface="B Zar" panose="00000400000000000000" pitchFamily="2" charset="-78"/>
              </a:rPr>
              <a:t>محتویات </a:t>
            </a:r>
            <a:r>
              <a:rPr lang="fa-IR" dirty="0">
                <a:cs typeface="B Zar" panose="00000400000000000000" pitchFamily="2" charset="-78"/>
              </a:rPr>
              <a:t>ثبات آدرس برنامه مشخص می گردد. این ثبات حاوی آدرس دستور بعدی است.</a:t>
            </a:r>
          </a:p>
        </p:txBody>
      </p:sp>
      <p:sp>
        <p:nvSpPr>
          <p:cNvPr id="5" name="Slide Number Placeholder 4"/>
          <p:cNvSpPr>
            <a:spLocks noGrp="1"/>
          </p:cNvSpPr>
          <p:nvPr>
            <p:ph type="sldNum" sz="quarter" idx="12"/>
          </p:nvPr>
        </p:nvSpPr>
        <p:spPr/>
        <p:txBody>
          <a:bodyPr/>
          <a:lstStyle/>
          <a:p>
            <a:fld id="{1335391A-C508-4DBF-AB59-44B0B160C8E7}"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442913" y="357188"/>
            <a:ext cx="8280400" cy="762000"/>
          </a:xfrm>
        </p:spPr>
        <p:txBody>
          <a:bodyPr/>
          <a:lstStyle/>
          <a:p>
            <a:pPr rtl="1"/>
            <a:r>
              <a:rPr lang="fa-IR">
                <a:cs typeface="B Zar" panose="00000400000000000000" pitchFamily="2" charset="-78"/>
              </a:rPr>
              <a:t>عملکرد کامپیوتر(ادامه)</a:t>
            </a:r>
            <a:endParaRPr lang="en-US">
              <a:cs typeface="B Zar" panose="00000400000000000000" pitchFamily="2" charset="-78"/>
            </a:endParaRPr>
          </a:p>
        </p:txBody>
      </p:sp>
      <p:sp>
        <p:nvSpPr>
          <p:cNvPr id="159747" name="Rectangle 3"/>
          <p:cNvSpPr>
            <a:spLocks noGrp="1" noChangeArrowheads="1"/>
          </p:cNvSpPr>
          <p:nvPr>
            <p:ph idx="1"/>
          </p:nvPr>
        </p:nvSpPr>
        <p:spPr>
          <a:xfrm>
            <a:off x="1066800" y="1066800"/>
            <a:ext cx="7734300" cy="5486400"/>
          </a:xfrm>
        </p:spPr>
        <p:txBody>
          <a:bodyPr>
            <a:normAutofit fontScale="92500" lnSpcReduction="10000"/>
          </a:bodyPr>
          <a:lstStyle/>
          <a:p>
            <a:pPr algn="just" rtl="1">
              <a:lnSpc>
                <a:spcPct val="80000"/>
              </a:lnSpc>
              <a:buFontTx/>
              <a:buNone/>
            </a:pPr>
            <a:r>
              <a:rPr lang="fa-IR" sz="2800" b="1" dirty="0">
                <a:solidFill>
                  <a:srgbClr val="C00000"/>
                </a:solidFill>
                <a:cs typeface="B Zar" panose="00000400000000000000" pitchFamily="2" charset="-78"/>
              </a:rPr>
              <a:t>سخت افزار کامپیوتر (ادامه)</a:t>
            </a:r>
          </a:p>
          <a:p>
            <a:pPr marL="457200" indent="-457200" algn="just" rtl="1">
              <a:buFont typeface="+mj-lt"/>
              <a:buAutoNum type="arabicParenR" startAt="4"/>
            </a:pPr>
            <a:r>
              <a:rPr lang="fa-IR" sz="2800" dirty="0" smtClean="0">
                <a:solidFill>
                  <a:srgbClr val="C00000"/>
                </a:solidFill>
                <a:cs typeface="B Zar" panose="00000400000000000000" pitchFamily="2" charset="-78"/>
              </a:rPr>
              <a:t>دستیابی </a:t>
            </a:r>
            <a:r>
              <a:rPr lang="fa-IR" sz="2800" dirty="0">
                <a:solidFill>
                  <a:srgbClr val="C00000"/>
                </a:solidFill>
                <a:cs typeface="B Zar" panose="00000400000000000000" pitchFamily="2" charset="-78"/>
              </a:rPr>
              <a:t>به داده ها </a:t>
            </a:r>
            <a:r>
              <a:rPr lang="fa-IR" sz="2800" dirty="0">
                <a:cs typeface="B Zar" panose="00000400000000000000" pitchFamily="2" charset="-78"/>
              </a:rPr>
              <a:t>: علاوه بر کد عملیاتی هر دستور ماشین باید عملوندهایی را مشخص کند که آن عمل از آن استفاده می کند. عملوند ممکن است در حافظه اصلی یا در </a:t>
            </a:r>
            <a:r>
              <a:rPr lang="fa-IR" sz="2800" dirty="0" smtClean="0">
                <a:cs typeface="B Zar" panose="00000400000000000000" pitchFamily="2" charset="-78"/>
              </a:rPr>
              <a:t>ثبات </a:t>
            </a:r>
            <a:r>
              <a:rPr lang="fa-IR" sz="2800" dirty="0">
                <a:cs typeface="B Zar" panose="00000400000000000000" pitchFamily="2" charset="-78"/>
              </a:rPr>
              <a:t>باشد</a:t>
            </a:r>
            <a:r>
              <a:rPr lang="fa-IR" sz="2800" dirty="0" smtClean="0">
                <a:cs typeface="B Zar" panose="00000400000000000000" pitchFamily="2" charset="-78"/>
              </a:rPr>
              <a:t>.</a:t>
            </a:r>
          </a:p>
          <a:p>
            <a:pPr marL="1371600" lvl="2" indent="-457200" algn="just" rtl="1">
              <a:buNone/>
            </a:pPr>
            <a:r>
              <a:rPr lang="fa-IR" sz="2800" dirty="0" smtClean="0">
                <a:cs typeface="B Zar" panose="00000400000000000000" pitchFamily="2" charset="-78"/>
              </a:rPr>
              <a:t>مکانیزمی که برای تعیین عملوند وبازیابی آن  و ذخیره نتایج انجام می گیرد کنترل دستیابی به داده ها گویند راه حل استفاده از آدرس در حافظه و ثبات است.</a:t>
            </a:r>
            <a:endParaRPr lang="fa-IR" sz="2800" dirty="0">
              <a:cs typeface="B Zar" panose="00000400000000000000" pitchFamily="2" charset="-78"/>
            </a:endParaRPr>
          </a:p>
          <a:p>
            <a:pPr marL="457200" indent="-457200" algn="just" rtl="1">
              <a:buFont typeface="+mj-lt"/>
              <a:buAutoNum type="arabicParenR" startAt="4"/>
            </a:pPr>
            <a:r>
              <a:rPr lang="fa-IR" sz="2800" dirty="0">
                <a:solidFill>
                  <a:srgbClr val="C00000"/>
                </a:solidFill>
                <a:cs typeface="B Zar" panose="00000400000000000000" pitchFamily="2" charset="-78"/>
              </a:rPr>
              <a:t>مدیریت حافظه: </a:t>
            </a:r>
            <a:r>
              <a:rPr lang="fa-IR" sz="2800" dirty="0">
                <a:cs typeface="B Zar" panose="00000400000000000000" pitchFamily="2" charset="-78"/>
              </a:rPr>
              <a:t>تمام منابع کامپیوتر ( مثل حافظه ، پردازنده مرکزی ، دستگاههای حافظه خارجی) تا آنجایی که ممکن است فعال باشند</a:t>
            </a:r>
            <a:r>
              <a:rPr lang="fa-IR" sz="2800" dirty="0" smtClean="0">
                <a:cs typeface="B Zar" panose="00000400000000000000" pitchFamily="2" charset="-78"/>
              </a:rPr>
              <a:t>. عدم توازن سرعت بین پردازنده و حافظه اصلی و داده خارجی </a:t>
            </a:r>
          </a:p>
          <a:p>
            <a:pPr lvl="2" algn="just" rtl="1"/>
            <a:r>
              <a:rPr lang="fa-IR" sz="2800" dirty="0" smtClean="0">
                <a:cs typeface="B Zar" panose="00000400000000000000" pitchFamily="2" charset="-78"/>
              </a:rPr>
              <a:t>برای برقرای توازن بین پردازنده و داده خارجی از چند برنامگی و برای چند برنامگی از صفحه بندی استفاده می شود.</a:t>
            </a:r>
          </a:p>
          <a:p>
            <a:pPr lvl="2" algn="just" rtl="1"/>
            <a:r>
              <a:rPr lang="fa-IR" sz="2800" dirty="0" smtClean="0">
                <a:cs typeface="B Zar" panose="00000400000000000000" pitchFamily="2" charset="-78"/>
              </a:rPr>
              <a:t>برای برقرای توازن بین پردازنده و حافظه اصلی از حافظه نهان استفاده می شود.</a:t>
            </a:r>
            <a:endParaRPr lang="fa-IR" sz="2800" dirty="0">
              <a:cs typeface="B Zar" panose="00000400000000000000" pitchFamily="2" charset="-78"/>
            </a:endParaRPr>
          </a:p>
        </p:txBody>
      </p:sp>
      <p:sp>
        <p:nvSpPr>
          <p:cNvPr id="4" name="Slide Number Placeholder 3"/>
          <p:cNvSpPr>
            <a:spLocks noGrp="1"/>
          </p:cNvSpPr>
          <p:nvPr>
            <p:ph type="sldNum" sz="quarter" idx="12"/>
          </p:nvPr>
        </p:nvSpPr>
        <p:spPr/>
        <p:txBody>
          <a:bodyPr/>
          <a:lstStyle/>
          <a:p>
            <a:fld id="{1335391A-C508-4DBF-AB59-44B0B160C8E7}"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1066800" y="357188"/>
            <a:ext cx="8280400" cy="762000"/>
          </a:xfrm>
        </p:spPr>
        <p:txBody>
          <a:bodyPr/>
          <a:lstStyle/>
          <a:p>
            <a:pPr rtl="1"/>
            <a:r>
              <a:rPr lang="fa-IR" dirty="0">
                <a:cs typeface="B Zar" panose="00000400000000000000" pitchFamily="2" charset="-78"/>
              </a:rPr>
              <a:t>عملکرد کامپیوتر(ادامه)</a:t>
            </a:r>
            <a:endParaRPr lang="en-US" dirty="0">
              <a:cs typeface="B Zar" panose="00000400000000000000" pitchFamily="2" charset="-78"/>
            </a:endParaRPr>
          </a:p>
        </p:txBody>
      </p:sp>
      <p:sp>
        <p:nvSpPr>
          <p:cNvPr id="159747" name="Rectangle 3"/>
          <p:cNvSpPr>
            <a:spLocks noGrp="1" noChangeArrowheads="1"/>
          </p:cNvSpPr>
          <p:nvPr>
            <p:ph idx="1"/>
          </p:nvPr>
        </p:nvSpPr>
        <p:spPr>
          <a:xfrm>
            <a:off x="1219200" y="2107520"/>
            <a:ext cx="7554684" cy="4425950"/>
          </a:xfrm>
        </p:spPr>
        <p:txBody>
          <a:bodyPr/>
          <a:lstStyle/>
          <a:p>
            <a:pPr algn="r" rtl="1">
              <a:lnSpc>
                <a:spcPct val="80000"/>
              </a:lnSpc>
              <a:buFontTx/>
              <a:buNone/>
            </a:pPr>
            <a:r>
              <a:rPr lang="fa-IR" sz="2800" b="1" dirty="0">
                <a:solidFill>
                  <a:srgbClr val="C00000"/>
                </a:solidFill>
                <a:cs typeface="B Zar" panose="00000400000000000000" pitchFamily="2" charset="-78"/>
              </a:rPr>
              <a:t>سخت افزار کامپیوتر (ادامه)</a:t>
            </a:r>
          </a:p>
          <a:p>
            <a:pPr marL="457200" indent="-457200" algn="just" rtl="1">
              <a:buFont typeface="+mj-lt"/>
              <a:buAutoNum type="arabicParenR" startAt="6"/>
            </a:pPr>
            <a:r>
              <a:rPr lang="fa-IR" dirty="0" smtClean="0">
                <a:solidFill>
                  <a:srgbClr val="C00000"/>
                </a:solidFill>
                <a:cs typeface="B Zar" panose="00000400000000000000" pitchFamily="2" charset="-78"/>
              </a:rPr>
              <a:t>محیط عملیاتی </a:t>
            </a:r>
            <a:r>
              <a:rPr lang="fa-IR" dirty="0" smtClean="0">
                <a:cs typeface="B Zar" panose="00000400000000000000" pitchFamily="2" charset="-78"/>
              </a:rPr>
              <a:t>: متشکل از مجموعه ای از حافظه جانبی و دستگاههای ورودی و خروجی است. این دستگاه ها محیط خارج از کامپیوتر را نشان می دهند و هر ارتباطی با کامپیوتر از طریق محیط عملیاتی صورت می گیرد. مثل حافظه های سریع ، حافظه هایی با سرعت متوسط ، حافظه های کند و دستگاههای ورودی و خروجی</a:t>
            </a:r>
            <a:endParaRPr lang="fa-IR" dirty="0">
              <a:cs typeface="B Zar" panose="00000400000000000000" pitchFamily="2" charset="-78"/>
            </a:endParaRPr>
          </a:p>
        </p:txBody>
      </p:sp>
      <p:sp>
        <p:nvSpPr>
          <p:cNvPr id="4" name="Slide Number Placeholder 3"/>
          <p:cNvSpPr>
            <a:spLocks noGrp="1"/>
          </p:cNvSpPr>
          <p:nvPr>
            <p:ph type="sldNum" sz="quarter" idx="12"/>
          </p:nvPr>
        </p:nvSpPr>
        <p:spPr/>
        <p:txBody>
          <a:bodyPr/>
          <a:lstStyle/>
          <a:p>
            <a:fld id="{1335391A-C508-4DBF-AB59-44B0B160C8E7}"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442913" y="357188"/>
            <a:ext cx="8280400" cy="762000"/>
          </a:xfrm>
        </p:spPr>
        <p:txBody>
          <a:bodyPr/>
          <a:lstStyle/>
          <a:p>
            <a:pPr rtl="1"/>
            <a:r>
              <a:rPr lang="fa-IR">
                <a:cs typeface="B Zar" panose="00000400000000000000" pitchFamily="2" charset="-78"/>
              </a:rPr>
              <a:t>عملکرد کامپیوتر (ادامه)</a:t>
            </a:r>
            <a:endParaRPr lang="en-US">
              <a:cs typeface="B Zar" panose="00000400000000000000" pitchFamily="2" charset="-78"/>
            </a:endParaRPr>
          </a:p>
        </p:txBody>
      </p:sp>
      <p:sp>
        <p:nvSpPr>
          <p:cNvPr id="160771" name="Rectangle 3"/>
          <p:cNvSpPr>
            <a:spLocks noGrp="1" noChangeArrowheads="1"/>
          </p:cNvSpPr>
          <p:nvPr>
            <p:ph idx="1"/>
          </p:nvPr>
        </p:nvSpPr>
        <p:spPr>
          <a:xfrm>
            <a:off x="1143000" y="1371600"/>
            <a:ext cx="7829550" cy="5029200"/>
          </a:xfrm>
        </p:spPr>
        <p:txBody>
          <a:bodyPr>
            <a:normAutofit lnSpcReduction="10000"/>
          </a:bodyPr>
          <a:lstStyle/>
          <a:p>
            <a:pPr algn="r" rtl="1">
              <a:buFontTx/>
              <a:buNone/>
            </a:pPr>
            <a:r>
              <a:rPr lang="fa-IR" sz="2900" b="1" dirty="0">
                <a:solidFill>
                  <a:srgbClr val="C00000"/>
                </a:solidFill>
                <a:cs typeface="B Zar" panose="00000400000000000000" pitchFamily="2" charset="-78"/>
              </a:rPr>
              <a:t>کامپیوترهای میان افزار</a:t>
            </a:r>
            <a:r>
              <a:rPr lang="fa-IR" dirty="0">
                <a:solidFill>
                  <a:srgbClr val="C00000"/>
                </a:solidFill>
                <a:cs typeface="B Zar" panose="00000400000000000000" pitchFamily="2" charset="-78"/>
              </a:rPr>
              <a:t> </a:t>
            </a:r>
          </a:p>
          <a:p>
            <a:pPr algn="justLow" rtl="1"/>
            <a:r>
              <a:rPr lang="fa-IR" dirty="0">
                <a:cs typeface="B Zar" panose="00000400000000000000" pitchFamily="2" charset="-78"/>
              </a:rPr>
              <a:t>کامپیوتر میان </a:t>
            </a:r>
            <a:r>
              <a:rPr lang="fa-IR" dirty="0" smtClean="0">
                <a:cs typeface="B Zar" panose="00000400000000000000" pitchFamily="2" charset="-78"/>
              </a:rPr>
              <a:t>افزار، </a:t>
            </a:r>
            <a:r>
              <a:rPr lang="fa-IR" dirty="0">
                <a:cs typeface="B Zar" panose="00000400000000000000" pitchFamily="2" charset="-78"/>
              </a:rPr>
              <a:t>توسط ریز برنامه ای شبیه سازی می شود که بر روی کامپیوتر سخت افزار قابل ریزبرنامه نویسی اجرا می گردد. زبان ماشین </a:t>
            </a:r>
            <a:r>
              <a:rPr lang="fa-IR" dirty="0" smtClean="0">
                <a:cs typeface="B Zar" panose="00000400000000000000" pitchFamily="2" charset="-78"/>
              </a:rPr>
              <a:t>آن، مجموعه </a:t>
            </a:r>
            <a:r>
              <a:rPr lang="fa-IR" dirty="0">
                <a:cs typeface="B Zar" panose="00000400000000000000" pitchFamily="2" charset="-78"/>
              </a:rPr>
              <a:t>بسیار سطح پایین از ریز دستورات است که انتقال داده ها را بین حافظه اصلی و </a:t>
            </a:r>
            <a:r>
              <a:rPr lang="fa-IR" dirty="0" smtClean="0">
                <a:cs typeface="B Zar" panose="00000400000000000000" pitchFamily="2" charset="-78"/>
              </a:rPr>
              <a:t>ثباتها، </a:t>
            </a:r>
            <a:r>
              <a:rPr lang="fa-IR" dirty="0">
                <a:cs typeface="B Zar" panose="00000400000000000000" pitchFamily="2" charset="-78"/>
              </a:rPr>
              <a:t>بین خود ثباتها و از ثباتها از طریق پردازنده ها انجام می دهد. </a:t>
            </a:r>
            <a:endParaRPr lang="fa-IR" dirty="0" smtClean="0">
              <a:cs typeface="B Zar" panose="00000400000000000000" pitchFamily="2" charset="-78"/>
            </a:endParaRPr>
          </a:p>
          <a:p>
            <a:pPr algn="justLow" rtl="1"/>
            <a:r>
              <a:rPr lang="fa-IR" dirty="0" smtClean="0">
                <a:cs typeface="B Zar" panose="00000400000000000000" pitchFamily="2" charset="-78"/>
              </a:rPr>
              <a:t>کامپیوتری را که از طریق شبیه سازی ریزبرنامه ای بوجود می آید کامپیوتر مجازی گویند چون از طریق ریزبرنامه ی شبیه سازی شده بوجود آمده است و بدون این ریزبرنامه ، ماشین وجود نخواهدداشت.</a:t>
            </a:r>
            <a:endParaRPr lang="fa-IR" dirty="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442913" y="357188"/>
            <a:ext cx="8280400" cy="762000"/>
          </a:xfrm>
        </p:spPr>
        <p:txBody>
          <a:bodyPr/>
          <a:lstStyle/>
          <a:p>
            <a:pPr rtl="1"/>
            <a:r>
              <a:rPr lang="fa-IR" dirty="0">
                <a:cs typeface="B Zar" panose="00000400000000000000" pitchFamily="2" charset="-78"/>
              </a:rPr>
              <a:t>عملکرد کامپیوتر (ادامه)</a:t>
            </a:r>
            <a:endParaRPr lang="en-US" dirty="0">
              <a:cs typeface="B Zar" panose="00000400000000000000" pitchFamily="2" charset="-78"/>
            </a:endParaRPr>
          </a:p>
        </p:txBody>
      </p:sp>
      <p:sp>
        <p:nvSpPr>
          <p:cNvPr id="161795" name="Rectangle 3"/>
          <p:cNvSpPr>
            <a:spLocks noGrp="1" noChangeArrowheads="1"/>
          </p:cNvSpPr>
          <p:nvPr>
            <p:ph idx="1"/>
          </p:nvPr>
        </p:nvSpPr>
        <p:spPr>
          <a:xfrm>
            <a:off x="171450" y="1846263"/>
            <a:ext cx="8686800" cy="2435451"/>
          </a:xfrm>
        </p:spPr>
        <p:txBody>
          <a:bodyPr/>
          <a:lstStyle/>
          <a:p>
            <a:pPr algn="r" rtl="1">
              <a:buFontTx/>
              <a:buNone/>
            </a:pPr>
            <a:r>
              <a:rPr lang="fa-IR" sz="4000" b="1" dirty="0" smtClean="0">
                <a:solidFill>
                  <a:srgbClr val="C00000"/>
                </a:solidFill>
                <a:cs typeface="B Zar" panose="00000400000000000000" pitchFamily="2" charset="-78"/>
              </a:rPr>
              <a:t>معماریهای مجازی </a:t>
            </a:r>
          </a:p>
          <a:p>
            <a:pPr algn="r" rtl="1">
              <a:buFontTx/>
              <a:buNone/>
            </a:pPr>
            <a:r>
              <a:rPr lang="fa-IR" sz="2900" b="1" dirty="0" smtClean="0">
                <a:solidFill>
                  <a:srgbClr val="C00000"/>
                </a:solidFill>
                <a:cs typeface="B Zar" panose="00000400000000000000" pitchFamily="2" charset="-78"/>
              </a:rPr>
              <a:t>دو روش برای اجرای برنامه سطح بالا  در کامپیوتر مجازی :</a:t>
            </a:r>
            <a:endParaRPr lang="en-US" sz="2900" b="1" dirty="0" smtClean="0">
              <a:solidFill>
                <a:srgbClr val="C00000"/>
              </a:solidFill>
              <a:cs typeface="B Zar" panose="00000400000000000000" pitchFamily="2" charset="-78"/>
            </a:endParaRPr>
          </a:p>
          <a:p>
            <a:pPr marL="514350" indent="-514350" algn="r" rtl="1">
              <a:buFont typeface="+mj-lt"/>
              <a:buAutoNum type="arabicParenR"/>
            </a:pPr>
            <a:r>
              <a:rPr lang="fa-IR" sz="2800" dirty="0" smtClean="0">
                <a:cs typeface="B Zar" panose="00000400000000000000" pitchFamily="2" charset="-78"/>
              </a:rPr>
              <a:t>ترجمه (کامپایل کردن)</a:t>
            </a:r>
            <a:r>
              <a:rPr lang="en-US" sz="2800" dirty="0" smtClean="0">
                <a:cs typeface="B Zar" panose="00000400000000000000" pitchFamily="2" charset="-78"/>
              </a:rPr>
              <a:t>translation </a:t>
            </a:r>
            <a:endParaRPr lang="en-US" sz="2800" b="1" dirty="0" smtClean="0">
              <a:solidFill>
                <a:schemeClr val="bg2"/>
              </a:solidFill>
              <a:cs typeface="B Zar" panose="00000400000000000000" pitchFamily="2" charset="-78"/>
            </a:endParaRPr>
          </a:p>
          <a:p>
            <a:pPr marL="514350" indent="-514350" algn="r" rtl="1">
              <a:buFont typeface="+mj-lt"/>
              <a:buAutoNum type="arabicParenR"/>
            </a:pPr>
            <a:r>
              <a:rPr lang="fa-IR" sz="2800" dirty="0" smtClean="0">
                <a:cs typeface="B Zar" panose="00000400000000000000" pitchFamily="2" charset="-78"/>
              </a:rPr>
              <a:t>شبیه سازی نرم افزاری (تفسیر نرم افزاری)</a:t>
            </a:r>
            <a:r>
              <a:rPr lang="en-US" sz="2800" dirty="0" smtClean="0">
                <a:cs typeface="B Zar" panose="00000400000000000000" pitchFamily="2" charset="-78"/>
              </a:rPr>
              <a:t>Interpreter </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442913" y="357188"/>
            <a:ext cx="8280400" cy="762000"/>
          </a:xfrm>
        </p:spPr>
        <p:txBody>
          <a:bodyPr/>
          <a:lstStyle/>
          <a:p>
            <a:pPr rtl="1"/>
            <a:r>
              <a:rPr lang="fa-IR" dirty="0">
                <a:cs typeface="B Zar" panose="00000400000000000000" pitchFamily="2" charset="-78"/>
              </a:rPr>
              <a:t>عملکرد کامپیوتر (ادامه)</a:t>
            </a:r>
            <a:endParaRPr lang="en-US" dirty="0">
              <a:cs typeface="B Zar" panose="00000400000000000000" pitchFamily="2" charset="-78"/>
            </a:endParaRPr>
          </a:p>
        </p:txBody>
      </p:sp>
      <p:sp>
        <p:nvSpPr>
          <p:cNvPr id="161795" name="Rectangle 3"/>
          <p:cNvSpPr>
            <a:spLocks noGrp="1" noChangeArrowheads="1"/>
          </p:cNvSpPr>
          <p:nvPr>
            <p:ph idx="1"/>
          </p:nvPr>
        </p:nvSpPr>
        <p:spPr>
          <a:xfrm>
            <a:off x="1371600" y="838200"/>
            <a:ext cx="7562850" cy="3988480"/>
          </a:xfrm>
        </p:spPr>
        <p:txBody>
          <a:bodyPr/>
          <a:lstStyle/>
          <a:p>
            <a:pPr marL="514350" indent="-514350" algn="r" rtl="1">
              <a:buFont typeface="+mj-lt"/>
              <a:buAutoNum type="arabicParenR"/>
            </a:pPr>
            <a:endParaRPr lang="fa-IR" sz="2900" b="1" dirty="0" smtClean="0">
              <a:solidFill>
                <a:schemeClr val="bg2"/>
              </a:solidFill>
              <a:cs typeface="B Zar" panose="00000400000000000000" pitchFamily="2" charset="-78"/>
            </a:endParaRPr>
          </a:p>
          <a:p>
            <a:pPr marL="514350" indent="-514350" algn="r" rtl="1">
              <a:buFont typeface="+mj-lt"/>
              <a:buAutoNum type="arabicParenR"/>
            </a:pPr>
            <a:r>
              <a:rPr lang="fa-IR" dirty="0" smtClean="0">
                <a:cs typeface="B Zar" panose="00000400000000000000" pitchFamily="2" charset="-78"/>
              </a:rPr>
              <a:t>ترجمه (کامپایل کردن)</a:t>
            </a:r>
            <a:r>
              <a:rPr lang="fa-IR" sz="2600" dirty="0" smtClean="0">
                <a:cs typeface="B Zar" panose="00000400000000000000" pitchFamily="2" charset="-78"/>
              </a:rPr>
              <a:t> : مفسر می تواند طوری طراحی شود که برنامه ای به یک زبان سطح بالا را به برنامه ای در زبان ماشین ترجمه کند.</a:t>
            </a:r>
          </a:p>
          <a:p>
            <a:pPr lvl="1" algn="r" rtl="1"/>
            <a:r>
              <a:rPr lang="fa-IR" sz="2400" dirty="0" smtClean="0">
                <a:cs typeface="B Zar" panose="00000400000000000000" pitchFamily="2" charset="-78"/>
              </a:rPr>
              <a:t>مفسر هر پردازنده زبانی است که برنامه ای را به یک زبان منبع ( که ممکن است سطح بالا یا پایین باشد ) به عنوان ورودی گرفته به برنامه ای در زبان مقصد تبدیل می کند که از نظر کارایی با هم یکسان هستند</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14</a:t>
            </a:fld>
            <a:endParaRPr lang="en-US"/>
          </a:p>
        </p:txBody>
      </p:sp>
      <p:pic>
        <p:nvPicPr>
          <p:cNvPr id="23554" name="Picture 2"/>
          <p:cNvPicPr>
            <a:picLocks noChangeAspect="1" noChangeArrowheads="1"/>
          </p:cNvPicPr>
          <p:nvPr/>
        </p:nvPicPr>
        <p:blipFill>
          <a:blip r:embed="rId2"/>
          <a:srcRect/>
          <a:stretch>
            <a:fillRect/>
          </a:stretch>
        </p:blipFill>
        <p:spPr bwMode="auto">
          <a:xfrm>
            <a:off x="1143000" y="4038600"/>
            <a:ext cx="6057900" cy="281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67000"/>
            <a:ext cx="8336280" cy="1371600"/>
          </a:xfrm>
        </p:spPr>
        <p:txBody>
          <a:bodyPr/>
          <a:lstStyle/>
          <a:p>
            <a:pPr algn="r"/>
            <a:r>
              <a:rPr lang="fa-IR" dirty="0" smtClean="0">
                <a:cs typeface="B Zar" panose="00000400000000000000" pitchFamily="2" charset="-78"/>
              </a:rPr>
              <a:t>اگر زبان مبدا با زبان مقصد تطابق نداشته بشد پیغام خطا صادر میشود</a:t>
            </a:r>
            <a:endParaRPr lang="en-US" dirty="0">
              <a:cs typeface="B Zar" panose="00000400000000000000" pitchFamily="2" charset="-78"/>
            </a:endParaRPr>
          </a:p>
        </p:txBody>
      </p:sp>
      <p:pic>
        <p:nvPicPr>
          <p:cNvPr id="24578" name="Picture 2"/>
          <p:cNvPicPr>
            <a:picLocks noChangeAspect="1" noChangeArrowheads="1"/>
          </p:cNvPicPr>
          <p:nvPr/>
        </p:nvPicPr>
        <p:blipFill>
          <a:blip r:embed="rId2"/>
          <a:srcRect/>
          <a:stretch>
            <a:fillRect/>
          </a:stretch>
        </p:blipFill>
        <p:spPr bwMode="auto">
          <a:xfrm>
            <a:off x="1295400" y="5029200"/>
            <a:ext cx="7000875" cy="1438275"/>
          </a:xfrm>
          <a:prstGeom prst="rect">
            <a:avLst/>
          </a:prstGeom>
          <a:noFill/>
          <a:ln w="9525">
            <a:noFill/>
            <a:miter lim="800000"/>
            <a:headEnd/>
            <a:tailEnd/>
          </a:ln>
          <a:effectLst/>
        </p:spPr>
      </p:pic>
      <p:sp>
        <p:nvSpPr>
          <p:cNvPr id="5" name="Rectangle 4"/>
          <p:cNvSpPr/>
          <p:nvPr/>
        </p:nvSpPr>
        <p:spPr>
          <a:xfrm>
            <a:off x="1295400" y="533400"/>
            <a:ext cx="6553200" cy="830997"/>
          </a:xfrm>
          <a:prstGeom prst="rect">
            <a:avLst/>
          </a:prstGeom>
        </p:spPr>
        <p:txBody>
          <a:bodyPr wrap="square">
            <a:spAutoFit/>
          </a:bodyPr>
          <a:lstStyle/>
          <a:p>
            <a:pPr algn="r"/>
            <a:r>
              <a:rPr lang="fa-IR" sz="4800" dirty="0" smtClean="0">
                <a:solidFill>
                  <a:srgbClr val="C00000"/>
                </a:solidFill>
                <a:cs typeface="B Zar" panose="00000400000000000000" pitchFamily="2" charset="-78"/>
              </a:rPr>
              <a:t>عملکرد کامپیوتر (ادامه)</a:t>
            </a:r>
            <a:endParaRPr lang="en-US" sz="4800" dirty="0">
              <a:solidFill>
                <a:srgbClr val="C00000"/>
              </a:solidFill>
              <a:cs typeface="B Zar" panose="00000400000000000000" pitchFamily="2" charset="-7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81075" y="914400"/>
            <a:ext cx="8162925" cy="1724025"/>
          </a:xfrm>
          <a:prstGeom prst="rect">
            <a:avLst/>
          </a:prstGeom>
        </p:spPr>
      </p:pic>
      <p:pic>
        <p:nvPicPr>
          <p:cNvPr id="5" name="Picture 4"/>
          <p:cNvPicPr>
            <a:picLocks noChangeAspect="1"/>
          </p:cNvPicPr>
          <p:nvPr/>
        </p:nvPicPr>
        <p:blipFill>
          <a:blip r:embed="rId3"/>
          <a:stretch>
            <a:fillRect/>
          </a:stretch>
        </p:blipFill>
        <p:spPr>
          <a:xfrm>
            <a:off x="981075" y="3657600"/>
            <a:ext cx="8086725" cy="1771650"/>
          </a:xfrm>
          <a:prstGeom prst="rect">
            <a:avLst/>
          </a:prstGeom>
        </p:spPr>
      </p:pic>
    </p:spTree>
    <p:extLst>
      <p:ext uri="{BB962C8B-B14F-4D97-AF65-F5344CB8AC3E}">
        <p14:creationId xmlns:p14="http://schemas.microsoft.com/office/powerpoint/2010/main" val="3377977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442913" y="357188"/>
            <a:ext cx="8280400" cy="762000"/>
          </a:xfrm>
        </p:spPr>
        <p:txBody>
          <a:bodyPr/>
          <a:lstStyle/>
          <a:p>
            <a:pPr rtl="1"/>
            <a:r>
              <a:rPr lang="fa-IR" dirty="0">
                <a:cs typeface="B Zar" panose="00000400000000000000" pitchFamily="2" charset="-78"/>
              </a:rPr>
              <a:t>عملکرد کامپیوتر (ادامه)</a:t>
            </a:r>
            <a:endParaRPr lang="en-US" dirty="0">
              <a:cs typeface="B Zar" panose="00000400000000000000" pitchFamily="2" charset="-78"/>
            </a:endParaRPr>
          </a:p>
        </p:txBody>
      </p:sp>
      <p:sp>
        <p:nvSpPr>
          <p:cNvPr id="161795" name="Rectangle 3"/>
          <p:cNvSpPr>
            <a:spLocks noGrp="1" noChangeArrowheads="1"/>
          </p:cNvSpPr>
          <p:nvPr>
            <p:ph idx="1"/>
          </p:nvPr>
        </p:nvSpPr>
        <p:spPr>
          <a:xfrm>
            <a:off x="1066800" y="1143000"/>
            <a:ext cx="7924800" cy="5181600"/>
          </a:xfrm>
        </p:spPr>
        <p:txBody>
          <a:bodyPr>
            <a:noAutofit/>
          </a:bodyPr>
          <a:lstStyle/>
          <a:p>
            <a:pPr algn="r" rtl="1">
              <a:buFontTx/>
              <a:buNone/>
            </a:pPr>
            <a:r>
              <a:rPr lang="fa-IR" sz="2400" b="1" dirty="0" smtClean="0">
                <a:solidFill>
                  <a:srgbClr val="C00000"/>
                </a:solidFill>
                <a:cs typeface="B Zar" panose="00000400000000000000" pitchFamily="2" charset="-78"/>
              </a:rPr>
              <a:t>معماریهای مجازی </a:t>
            </a:r>
          </a:p>
          <a:p>
            <a:pPr lvl="1" algn="r" rtl="1"/>
            <a:r>
              <a:rPr lang="fa-IR" sz="2400" dirty="0" smtClean="0">
                <a:cs typeface="B Zar" panose="00000400000000000000" pitchFamily="2" charset="-78"/>
              </a:rPr>
              <a:t>انواع مفسرها(مترجم ها) :</a:t>
            </a:r>
          </a:p>
          <a:p>
            <a:pPr lvl="2" algn="r" rtl="1"/>
            <a:r>
              <a:rPr lang="fa-IR" dirty="0" smtClean="0">
                <a:solidFill>
                  <a:srgbClr val="C00000"/>
                </a:solidFill>
                <a:cs typeface="B Zar" panose="00000400000000000000" pitchFamily="2" charset="-78"/>
              </a:rPr>
              <a:t>اسمبلر</a:t>
            </a:r>
            <a:r>
              <a:rPr lang="fa-IR" dirty="0" smtClean="0">
                <a:cs typeface="B Zar" panose="00000400000000000000" pitchFamily="2" charset="-78"/>
              </a:rPr>
              <a:t> : مفسری است که زبان منبع آن اسمبلی و زبان مقصد آن زبان ماشین است</a:t>
            </a:r>
          </a:p>
          <a:p>
            <a:pPr lvl="2" algn="r" rtl="1"/>
            <a:r>
              <a:rPr lang="fa-IR" dirty="0" smtClean="0">
                <a:solidFill>
                  <a:srgbClr val="C00000"/>
                </a:solidFill>
                <a:cs typeface="B Zar" panose="00000400000000000000" pitchFamily="2" charset="-78"/>
              </a:rPr>
              <a:t>کامپایلر</a:t>
            </a:r>
            <a:r>
              <a:rPr lang="fa-IR" dirty="0" smtClean="0">
                <a:cs typeface="B Zar" panose="00000400000000000000" pitchFamily="2" charset="-78"/>
              </a:rPr>
              <a:t> : مفسری است که زبان منبع آن سطح بالا و زبان مقصد آن نزدیک به زبان ماشین (اسمبلی) است.</a:t>
            </a:r>
          </a:p>
          <a:p>
            <a:pPr lvl="2" algn="r" rtl="1"/>
            <a:r>
              <a:rPr lang="fa-IR" dirty="0" smtClean="0">
                <a:solidFill>
                  <a:srgbClr val="C00000"/>
                </a:solidFill>
                <a:cs typeface="B Zar" panose="00000400000000000000" pitchFamily="2" charset="-78"/>
              </a:rPr>
              <a:t>بارکننده : </a:t>
            </a:r>
            <a:r>
              <a:rPr lang="fa-IR" dirty="0" smtClean="0">
                <a:cs typeface="B Zar" panose="00000400000000000000" pitchFamily="2" charset="-78"/>
              </a:rPr>
              <a:t>مفسری است که زبان منبع آن کد ماشین و زبان مقصد آن مشابه ورودی  است</a:t>
            </a:r>
          </a:p>
          <a:p>
            <a:pPr lvl="2" algn="r" rtl="1"/>
            <a:r>
              <a:rPr lang="fa-IR" dirty="0" smtClean="0">
                <a:solidFill>
                  <a:srgbClr val="C00000"/>
                </a:solidFill>
                <a:cs typeface="B Zar" panose="00000400000000000000" pitchFamily="2" charset="-78"/>
              </a:rPr>
              <a:t>پیوند دهنده: </a:t>
            </a:r>
            <a:r>
              <a:rPr lang="fa-IR" dirty="0" smtClean="0">
                <a:cs typeface="B Zar" panose="00000400000000000000" pitchFamily="2" charset="-78"/>
              </a:rPr>
              <a:t>مفسری  است که بخشهای مختلف برنامه را دریافت نموده آنها را سر هم میکندو برنامه خروجی را مشابه برنامه وروردی تولید میکند.</a:t>
            </a:r>
            <a:endParaRPr lang="fa-IR" dirty="0" smtClean="0">
              <a:solidFill>
                <a:srgbClr val="C00000"/>
              </a:solidFill>
              <a:cs typeface="B Zar" panose="00000400000000000000" pitchFamily="2" charset="-78"/>
            </a:endParaRPr>
          </a:p>
          <a:p>
            <a:pPr lvl="2" algn="r" rtl="1"/>
            <a:r>
              <a:rPr lang="fa-IR" dirty="0" smtClean="0">
                <a:solidFill>
                  <a:srgbClr val="C00000"/>
                </a:solidFill>
                <a:cs typeface="B Zar" panose="00000400000000000000" pitchFamily="2" charset="-78"/>
              </a:rPr>
              <a:t>پیش پردازنده یا پردازنده ماکرو  </a:t>
            </a:r>
            <a:r>
              <a:rPr lang="fa-IR" dirty="0" smtClean="0">
                <a:cs typeface="B Zar" panose="00000400000000000000" pitchFamily="2" charset="-78"/>
              </a:rPr>
              <a:t>: مفسری است که زبان منبع آن شکل توسعه یافته ای از سطح بالا  </a:t>
            </a:r>
            <a:r>
              <a:rPr lang="en-US" dirty="0" smtClean="0">
                <a:cs typeface="B Zar" panose="00000400000000000000" pitchFamily="2" charset="-78"/>
              </a:rPr>
              <a:t>(C++)</a:t>
            </a:r>
            <a:r>
              <a:rPr lang="fa-IR" dirty="0" smtClean="0">
                <a:cs typeface="B Zar" panose="00000400000000000000" pitchFamily="2" charset="-78"/>
              </a:rPr>
              <a:t>و زبان مقصد آن شکل استاندارد آن زبان سطح بالا </a:t>
            </a:r>
            <a:r>
              <a:rPr lang="en-US" dirty="0" smtClean="0">
                <a:cs typeface="B Zar" panose="00000400000000000000" pitchFamily="2" charset="-78"/>
              </a:rPr>
              <a:t>(C)</a:t>
            </a:r>
            <a:r>
              <a:rPr lang="fa-IR" dirty="0" smtClean="0">
                <a:cs typeface="B Zar" panose="00000400000000000000" pitchFamily="2" charset="-78"/>
              </a:rPr>
              <a:t>می باشد.</a:t>
            </a:r>
            <a:endParaRPr lang="fa-IR" dirty="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dirty="0" smtClean="0">
                <a:cs typeface="B Zar" panose="00000400000000000000" pitchFamily="2" charset="-78"/>
              </a:rPr>
              <a:t>ترتیب اجرای مفسرها</a:t>
            </a:r>
            <a:endParaRPr lang="en-US" dirty="0">
              <a:cs typeface="B Zar" panose="00000400000000000000" pitchFamily="2" charset="-78"/>
            </a:endParaRPr>
          </a:p>
        </p:txBody>
      </p:sp>
      <p:pic>
        <p:nvPicPr>
          <p:cNvPr id="25602" name="Picture 2"/>
          <p:cNvPicPr>
            <a:picLocks noChangeAspect="1" noChangeArrowheads="1"/>
          </p:cNvPicPr>
          <p:nvPr/>
        </p:nvPicPr>
        <p:blipFill>
          <a:blip r:embed="rId2"/>
          <a:srcRect/>
          <a:stretch>
            <a:fillRect/>
          </a:stretch>
        </p:blipFill>
        <p:spPr bwMode="auto">
          <a:xfrm>
            <a:off x="2590800" y="1371601"/>
            <a:ext cx="4191000" cy="4267200"/>
          </a:xfrm>
          <a:prstGeom prst="rect">
            <a:avLst/>
          </a:prstGeom>
          <a:noFill/>
          <a:ln w="9525">
            <a:noFill/>
            <a:miter lim="800000"/>
            <a:headEnd/>
            <a:tailEnd/>
          </a:ln>
          <a:effectLst/>
        </p:spPr>
      </p:pic>
      <p:sp>
        <p:nvSpPr>
          <p:cNvPr id="3" name="Content Placeholder 2"/>
          <p:cNvSpPr>
            <a:spLocks noGrp="1"/>
          </p:cNvSpPr>
          <p:nvPr>
            <p:ph idx="1"/>
          </p:nvPr>
        </p:nvSpPr>
        <p:spPr/>
        <p:txBody>
          <a:bodyPr/>
          <a:lstStyle/>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685800"/>
            <a:ext cx="7529512" cy="5719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2101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762000"/>
            <a:ext cx="7924800"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176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442913" y="357188"/>
            <a:ext cx="8280400" cy="762000"/>
          </a:xfrm>
        </p:spPr>
        <p:txBody>
          <a:bodyPr/>
          <a:lstStyle/>
          <a:p>
            <a:pPr algn="r" rtl="1"/>
            <a:r>
              <a:rPr lang="fa-IR" dirty="0">
                <a:cs typeface="B Zar" panose="00000400000000000000" pitchFamily="2" charset="-78"/>
              </a:rPr>
              <a:t>عملکرد کامپیوتر (ادامه)</a:t>
            </a:r>
            <a:endParaRPr lang="en-US" dirty="0">
              <a:cs typeface="B Zar" panose="00000400000000000000" pitchFamily="2" charset="-78"/>
            </a:endParaRPr>
          </a:p>
        </p:txBody>
      </p:sp>
      <p:sp>
        <p:nvSpPr>
          <p:cNvPr id="162819" name="Rectangle 3"/>
          <p:cNvSpPr>
            <a:spLocks noGrp="1" noChangeArrowheads="1"/>
          </p:cNvSpPr>
          <p:nvPr>
            <p:ph idx="1"/>
          </p:nvPr>
        </p:nvSpPr>
        <p:spPr>
          <a:xfrm>
            <a:off x="1143000" y="1617663"/>
            <a:ext cx="7543800" cy="3640137"/>
          </a:xfrm>
        </p:spPr>
        <p:txBody>
          <a:bodyPr>
            <a:normAutofit fontScale="92500" lnSpcReduction="10000"/>
          </a:bodyPr>
          <a:lstStyle/>
          <a:p>
            <a:pPr algn="r" rtl="1">
              <a:buFontTx/>
              <a:buNone/>
            </a:pPr>
            <a:r>
              <a:rPr lang="fa-IR" sz="3300" b="1" dirty="0">
                <a:solidFill>
                  <a:srgbClr val="C00000"/>
                </a:solidFill>
                <a:cs typeface="B Zar" panose="00000400000000000000" pitchFamily="2" charset="-78"/>
              </a:rPr>
              <a:t>مفسرها و معماریهای مجازی (ادامه)</a:t>
            </a:r>
          </a:p>
          <a:p>
            <a:pPr marL="514350" indent="-514350" algn="r" rtl="1">
              <a:buFont typeface="+mj-lt"/>
              <a:buAutoNum type="arabicParenR" startAt="2"/>
            </a:pPr>
            <a:r>
              <a:rPr lang="fa-IR" dirty="0">
                <a:cs typeface="B Zar" panose="00000400000000000000" pitchFamily="2" charset="-78"/>
              </a:rPr>
              <a:t>شبیه سازی نرم افزاری (تفسیر نرم افزاری): به جای ترجمه برنامه های سطح بالا به برنامه های زبان ماشین </a:t>
            </a:r>
            <a:r>
              <a:rPr lang="fa-IR" dirty="0" smtClean="0">
                <a:cs typeface="B Zar" panose="00000400000000000000" pitchFamily="2" charset="-78"/>
              </a:rPr>
              <a:t>معادل، </a:t>
            </a:r>
            <a:r>
              <a:rPr lang="fa-IR" dirty="0">
                <a:cs typeface="B Zar" panose="00000400000000000000" pitchFamily="2" charset="-78"/>
              </a:rPr>
              <a:t>می توانیم از شبیه سازی استفاده کنیم که از طریق آن برنامه بر روی کامپیوتر میزبان اجرا می </a:t>
            </a:r>
            <a:r>
              <a:rPr lang="fa-IR" dirty="0" smtClean="0">
                <a:cs typeface="B Zar" panose="00000400000000000000" pitchFamily="2" charset="-78"/>
              </a:rPr>
              <a:t>شود.</a:t>
            </a:r>
            <a:endParaRPr lang="en-US" dirty="0" smtClean="0">
              <a:cs typeface="B Zar" panose="00000400000000000000" pitchFamily="2" charset="-78"/>
            </a:endParaRPr>
          </a:p>
          <a:p>
            <a:pPr lvl="1" algn="r" rtl="1"/>
            <a:r>
              <a:rPr lang="fa-IR" dirty="0" smtClean="0">
                <a:cs typeface="B Zar" panose="00000400000000000000" pitchFamily="2" charset="-78"/>
              </a:rPr>
              <a:t>با اضافه کردن زیربرنامه هایی به زبان ماشین در کامپیوتر میزبان کاری می کنیم تا الگوریتم های مورد نیاز برای اجرای زبان سطح بالا بوجود آیند </a:t>
            </a:r>
          </a:p>
          <a:p>
            <a:pPr lvl="1" algn="r" rtl="1">
              <a:buNone/>
            </a:pPr>
            <a:endParaRPr lang="en-US" dirty="0" smtClean="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21</a:t>
            </a:fld>
            <a:endParaRPr lang="en-US"/>
          </a:p>
        </p:txBody>
      </p:sp>
      <p:pic>
        <p:nvPicPr>
          <p:cNvPr id="7" name="Picture 2"/>
          <p:cNvPicPr>
            <a:picLocks noChangeAspect="1" noChangeArrowheads="1"/>
          </p:cNvPicPr>
          <p:nvPr/>
        </p:nvPicPr>
        <p:blipFill>
          <a:blip r:embed="rId2"/>
          <a:srcRect/>
          <a:stretch>
            <a:fillRect/>
          </a:stretch>
        </p:blipFill>
        <p:spPr bwMode="auto">
          <a:xfrm>
            <a:off x="1981200" y="5238750"/>
            <a:ext cx="5772150" cy="1390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442913" y="357188"/>
            <a:ext cx="8280400" cy="762000"/>
          </a:xfrm>
        </p:spPr>
        <p:txBody>
          <a:bodyPr/>
          <a:lstStyle/>
          <a:p>
            <a:pPr algn="r" rtl="1"/>
            <a:r>
              <a:rPr lang="fa-IR" dirty="0">
                <a:cs typeface="B Zar" panose="00000400000000000000" pitchFamily="2" charset="-78"/>
              </a:rPr>
              <a:t>عملکرد</a:t>
            </a:r>
            <a:r>
              <a:rPr lang="fa-IR" dirty="0">
                <a:cs typeface="2  Titr" pitchFamily="2" charset="-78"/>
              </a:rPr>
              <a:t> کامپیوتر (ادامه)</a:t>
            </a:r>
            <a:endParaRPr lang="en-US" dirty="0">
              <a:cs typeface="2  Titr" pitchFamily="2" charset="-78"/>
            </a:endParaRPr>
          </a:p>
        </p:txBody>
      </p:sp>
      <p:sp>
        <p:nvSpPr>
          <p:cNvPr id="163843" name="Rectangle 3"/>
          <p:cNvSpPr>
            <a:spLocks noGrp="1" noChangeArrowheads="1"/>
          </p:cNvSpPr>
          <p:nvPr>
            <p:ph idx="1"/>
          </p:nvPr>
        </p:nvSpPr>
        <p:spPr>
          <a:xfrm>
            <a:off x="990600" y="1143000"/>
            <a:ext cx="8153400" cy="5410200"/>
          </a:xfrm>
        </p:spPr>
        <p:txBody>
          <a:bodyPr>
            <a:normAutofit fontScale="85000" lnSpcReduction="20000"/>
          </a:bodyPr>
          <a:lstStyle/>
          <a:p>
            <a:pPr algn="r" rtl="1">
              <a:buFontTx/>
              <a:buNone/>
            </a:pPr>
            <a:r>
              <a:rPr lang="fa-IR" b="1" dirty="0">
                <a:solidFill>
                  <a:srgbClr val="C00000"/>
                </a:solidFill>
                <a:cs typeface="B Zar" panose="00000400000000000000" pitchFamily="2" charset="-78"/>
              </a:rPr>
              <a:t>مفسرها و معماریهای مجازی (ادامه)</a:t>
            </a:r>
          </a:p>
          <a:p>
            <a:pPr algn="r" rtl="1"/>
            <a:r>
              <a:rPr lang="fa-IR" sz="2600" dirty="0">
                <a:cs typeface="B Zar" panose="00000400000000000000" pitchFamily="2" charset="-78"/>
              </a:rPr>
              <a:t>زبانها </a:t>
            </a:r>
            <a:r>
              <a:rPr lang="fa-IR" sz="2600" dirty="0" smtClean="0">
                <a:cs typeface="B Zar" panose="00000400000000000000" pitchFamily="2" charset="-78"/>
              </a:rPr>
              <a:t>دو </a:t>
            </a:r>
            <a:r>
              <a:rPr lang="fa-IR" sz="2600" dirty="0">
                <a:cs typeface="B Zar" panose="00000400000000000000" pitchFamily="2" charset="-78"/>
              </a:rPr>
              <a:t>دسته هستند:</a:t>
            </a:r>
          </a:p>
          <a:p>
            <a:pPr lvl="1" algn="r" rtl="1"/>
            <a:r>
              <a:rPr lang="fa-IR" dirty="0">
                <a:cs typeface="B Zar" panose="00000400000000000000" pitchFamily="2" charset="-78"/>
              </a:rPr>
              <a:t>زبان های </a:t>
            </a:r>
            <a:r>
              <a:rPr lang="fa-IR" dirty="0">
                <a:solidFill>
                  <a:srgbClr val="FF0000"/>
                </a:solidFill>
                <a:cs typeface="B Zar" panose="00000400000000000000" pitchFamily="2" charset="-78"/>
              </a:rPr>
              <a:t>کامپایلری</a:t>
            </a:r>
            <a:r>
              <a:rPr lang="fa-IR" dirty="0">
                <a:cs typeface="B Zar" panose="00000400000000000000" pitchFamily="2" charset="-78"/>
              </a:rPr>
              <a:t> : </a:t>
            </a:r>
            <a:r>
              <a:rPr lang="en-US" dirty="0">
                <a:cs typeface="B Zar" panose="00000400000000000000" pitchFamily="2" charset="-78"/>
              </a:rPr>
              <a:t>C,C++</a:t>
            </a:r>
            <a:r>
              <a:rPr lang="fa-IR" dirty="0">
                <a:cs typeface="B Zar" panose="00000400000000000000" pitchFamily="2" charset="-78"/>
              </a:rPr>
              <a:t> ، فرترن ، </a:t>
            </a:r>
            <a:r>
              <a:rPr lang="fa-IR" dirty="0" smtClean="0">
                <a:cs typeface="B Zar" panose="00000400000000000000" pitchFamily="2" charset="-78"/>
              </a:rPr>
              <a:t>پاسکال </a:t>
            </a:r>
            <a:r>
              <a:rPr lang="fa-IR" dirty="0">
                <a:cs typeface="B Zar" panose="00000400000000000000" pitchFamily="2" charset="-78"/>
              </a:rPr>
              <a:t>و ادا . برنامه </a:t>
            </a:r>
            <a:r>
              <a:rPr lang="fa-IR" dirty="0" smtClean="0">
                <a:cs typeface="B Zar" panose="00000400000000000000" pitchFamily="2" charset="-78"/>
              </a:rPr>
              <a:t>ها قبل </a:t>
            </a:r>
            <a:r>
              <a:rPr lang="fa-IR" dirty="0">
                <a:cs typeface="B Zar" panose="00000400000000000000" pitchFamily="2" charset="-78"/>
              </a:rPr>
              <a:t>از شروع </a:t>
            </a:r>
            <a:r>
              <a:rPr lang="fa-IR" dirty="0" smtClean="0">
                <a:cs typeface="B Zar" panose="00000400000000000000" pitchFamily="2" charset="-78"/>
              </a:rPr>
              <a:t>اجرا به </a:t>
            </a:r>
            <a:r>
              <a:rPr lang="fa-IR" dirty="0">
                <a:cs typeface="B Zar" panose="00000400000000000000" pitchFamily="2" charset="-78"/>
              </a:rPr>
              <a:t>زبان ماشین کامپیوتر واقعی ترجمه می شوند به طوریکه شبیه سازی به مجموعه ای از روالهای پشتیبانی زمان اجرا محدود می شود که اعمال اولیه موجود در زبان منبع را شبیه سازی می کند که شباهت زیادی به زبان ماشین ندارد</a:t>
            </a:r>
            <a:r>
              <a:rPr lang="fa-IR" dirty="0" smtClean="0">
                <a:cs typeface="B Zar" panose="00000400000000000000" pitchFamily="2" charset="-78"/>
              </a:rPr>
              <a:t>. </a:t>
            </a:r>
          </a:p>
          <a:p>
            <a:pPr lvl="2" algn="r" rtl="1"/>
            <a:r>
              <a:rPr lang="fa-IR" sz="2800" dirty="0" smtClean="0">
                <a:cs typeface="B Zar" panose="00000400000000000000" pitchFamily="2" charset="-78"/>
              </a:rPr>
              <a:t>اجرای سریعتر</a:t>
            </a:r>
          </a:p>
          <a:p>
            <a:pPr lvl="2" algn="r" rtl="1"/>
            <a:r>
              <a:rPr lang="fa-IR" sz="2800" dirty="0" smtClean="0">
                <a:cs typeface="B Zar" panose="00000400000000000000" pitchFamily="2" charset="-78"/>
              </a:rPr>
              <a:t>مترجم اینگونه زبانها بزرگ و پیچیده است.</a:t>
            </a:r>
          </a:p>
          <a:p>
            <a:pPr lvl="2" algn="r" rtl="1"/>
            <a:endParaRPr lang="fa-IR" sz="2800" dirty="0">
              <a:cs typeface="B Zar" panose="00000400000000000000" pitchFamily="2" charset="-78"/>
            </a:endParaRPr>
          </a:p>
          <a:p>
            <a:pPr lvl="1" algn="r" rtl="1"/>
            <a:r>
              <a:rPr lang="fa-IR" dirty="0">
                <a:cs typeface="B Zar" panose="00000400000000000000" pitchFamily="2" charset="-78"/>
              </a:rPr>
              <a:t>زبان های </a:t>
            </a:r>
            <a:r>
              <a:rPr lang="fa-IR" dirty="0">
                <a:solidFill>
                  <a:srgbClr val="FF0000"/>
                </a:solidFill>
                <a:cs typeface="B Zar" panose="00000400000000000000" pitchFamily="2" charset="-78"/>
              </a:rPr>
              <a:t>مفسری</a:t>
            </a:r>
            <a:r>
              <a:rPr lang="fa-IR" dirty="0">
                <a:cs typeface="B Zar" panose="00000400000000000000" pitchFamily="2" charset="-78"/>
              </a:rPr>
              <a:t>: </a:t>
            </a:r>
            <a:r>
              <a:rPr lang="fa-IR" dirty="0" smtClean="0">
                <a:cs typeface="B Zar" panose="00000400000000000000" pitchFamily="2" charset="-78"/>
              </a:rPr>
              <a:t>پایتون، جاوا اسکریپت، </a:t>
            </a:r>
            <a:r>
              <a:rPr lang="en-US" dirty="0" smtClean="0">
                <a:cs typeface="B Zar" panose="00000400000000000000" pitchFamily="2" charset="-78"/>
              </a:rPr>
              <a:t>PHP</a:t>
            </a:r>
            <a:r>
              <a:rPr lang="fa-IR" dirty="0" smtClean="0">
                <a:cs typeface="B Zar" panose="00000400000000000000" pitchFamily="2" charset="-78"/>
              </a:rPr>
              <a:t>، لیسپ </a:t>
            </a:r>
            <a:r>
              <a:rPr lang="fa-IR" dirty="0">
                <a:cs typeface="B Zar" panose="00000400000000000000" pitchFamily="2" charset="-78"/>
              </a:rPr>
              <a:t>، ام ال، پرل ، پست اسکریپت، پرولوپ و اسمالتاک معمولاً با مفسر نرم افزاری پیاده سازی می </a:t>
            </a:r>
            <a:r>
              <a:rPr lang="fa-IR" dirty="0" smtClean="0">
                <a:cs typeface="B Zar" panose="00000400000000000000" pitchFamily="2" charset="-78"/>
              </a:rPr>
              <a:t>شود.مترجم کد ماشین را برای کامپیوتر تولید نمی کند مفسر شکل میانی از برنامه را تولید می کند.</a:t>
            </a:r>
          </a:p>
          <a:p>
            <a:pPr lvl="3" algn="r" rtl="1"/>
            <a:r>
              <a:rPr lang="fa-IR" sz="2800" dirty="0" smtClean="0">
                <a:cs typeface="B Zar" panose="00000400000000000000" pitchFamily="2" charset="-78"/>
              </a:rPr>
              <a:t>اجرای کندتر</a:t>
            </a:r>
          </a:p>
          <a:p>
            <a:pPr lvl="3" algn="r" rtl="1">
              <a:buFont typeface="Arial" pitchFamily="34" charset="0"/>
              <a:buChar char="•"/>
            </a:pPr>
            <a:r>
              <a:rPr lang="fa-IR" sz="2800" dirty="0" smtClean="0">
                <a:cs typeface="B Zar" panose="00000400000000000000" pitchFamily="2" charset="-78"/>
              </a:rPr>
              <a:t>این زبانها مترجم های ساده تری دارند</a:t>
            </a:r>
            <a:endParaRPr lang="fa-IR" sz="2800" dirty="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14400" y="304800"/>
            <a:ext cx="8077200" cy="4572000"/>
          </a:xfrm>
          <a:prstGeom prst="rect">
            <a:avLst/>
          </a:prstGeom>
        </p:spPr>
      </p:pic>
      <p:pic>
        <p:nvPicPr>
          <p:cNvPr id="5" name="Picture 4"/>
          <p:cNvPicPr>
            <a:picLocks noChangeAspect="1"/>
          </p:cNvPicPr>
          <p:nvPr/>
        </p:nvPicPr>
        <p:blipFill>
          <a:blip r:embed="rId3"/>
          <a:stretch>
            <a:fillRect/>
          </a:stretch>
        </p:blipFill>
        <p:spPr>
          <a:xfrm>
            <a:off x="955964" y="5257800"/>
            <a:ext cx="8166265" cy="1123950"/>
          </a:xfrm>
          <a:prstGeom prst="rect">
            <a:avLst/>
          </a:prstGeom>
        </p:spPr>
      </p:pic>
    </p:spTree>
    <p:extLst>
      <p:ext uri="{BB962C8B-B14F-4D97-AF65-F5344CB8AC3E}">
        <p14:creationId xmlns:p14="http://schemas.microsoft.com/office/powerpoint/2010/main" val="2394357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Use Interpreted Languages</a:t>
            </a:r>
            <a:r>
              <a:rPr lang="en-US" dirty="0"/>
              <a:t> when you need flexibility, rapid development, ease of debugging, or when working in a web </a:t>
            </a:r>
            <a:r>
              <a:rPr lang="en-US"/>
              <a:t>environment</a:t>
            </a:r>
            <a:r>
              <a:rPr lang="en-US" smtClean="0"/>
              <a:t>.</a:t>
            </a:r>
          </a:p>
          <a:p>
            <a:endParaRPr lang="en-US" dirty="0"/>
          </a:p>
          <a:p>
            <a:r>
              <a:rPr lang="en-US" b="1" dirty="0"/>
              <a:t>Use Compiled Languages</a:t>
            </a:r>
            <a:r>
              <a:rPr lang="en-US" dirty="0"/>
              <a:t> when performance is critical, or when you require more control over system resources and type safety.</a:t>
            </a:r>
          </a:p>
          <a:p>
            <a:endParaRPr lang="en-US" dirty="0"/>
          </a:p>
        </p:txBody>
      </p:sp>
    </p:spTree>
    <p:extLst>
      <p:ext uri="{BB962C8B-B14F-4D97-AF65-F5344CB8AC3E}">
        <p14:creationId xmlns:p14="http://schemas.microsoft.com/office/powerpoint/2010/main" val="1460041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3"/>
          <p:cNvSpPr>
            <a:spLocks noGrp="1" noChangeArrowheads="1"/>
          </p:cNvSpPr>
          <p:nvPr>
            <p:ph type="title"/>
          </p:nvPr>
        </p:nvSpPr>
        <p:spPr>
          <a:xfrm>
            <a:off x="2362200" y="152400"/>
            <a:ext cx="8280400" cy="762000"/>
          </a:xfrm>
          <a:noFill/>
          <a:ln/>
        </p:spPr>
        <p:txBody>
          <a:bodyPr/>
          <a:lstStyle/>
          <a:p>
            <a:pPr rtl="1"/>
            <a:r>
              <a:rPr lang="fa-IR" dirty="0">
                <a:cs typeface="B Zar" panose="00000400000000000000" pitchFamily="2" charset="-78"/>
              </a:rPr>
              <a:t>کامپیوترهای مجازی و زمانهای انقیاد</a:t>
            </a:r>
            <a:endParaRPr lang="en-US" dirty="0">
              <a:cs typeface="B Zar" panose="00000400000000000000" pitchFamily="2" charset="-78"/>
            </a:endParaRPr>
          </a:p>
        </p:txBody>
      </p:sp>
      <p:sp>
        <p:nvSpPr>
          <p:cNvPr id="168962" name="Rectangle 2"/>
          <p:cNvSpPr>
            <a:spLocks noGrp="1" noChangeArrowheads="1"/>
          </p:cNvSpPr>
          <p:nvPr>
            <p:ph idx="1"/>
          </p:nvPr>
        </p:nvSpPr>
        <p:spPr>
          <a:xfrm>
            <a:off x="838200" y="762000"/>
            <a:ext cx="8026400" cy="5943599"/>
          </a:xfrm>
        </p:spPr>
        <p:txBody>
          <a:bodyPr>
            <a:normAutofit/>
          </a:bodyPr>
          <a:lstStyle/>
          <a:p>
            <a:pPr algn="r" rtl="1">
              <a:lnSpc>
                <a:spcPct val="90000"/>
              </a:lnSpc>
              <a:buFontTx/>
              <a:buNone/>
            </a:pPr>
            <a:r>
              <a:rPr lang="fa-IR" sz="2800" dirty="0" smtClean="0">
                <a:solidFill>
                  <a:srgbClr val="FF0000"/>
                </a:solidFill>
                <a:cs typeface="B Zar" panose="00000400000000000000" pitchFamily="2" charset="-78"/>
              </a:rPr>
              <a:t>انقیاد : محدود کردن یک عنصر برنامه به ویژگی یا صفت خاص را گویند.</a:t>
            </a:r>
          </a:p>
          <a:p>
            <a:pPr algn="r" rtl="1">
              <a:lnSpc>
                <a:spcPct val="90000"/>
              </a:lnSpc>
              <a:buFontTx/>
              <a:buNone/>
            </a:pPr>
            <a:r>
              <a:rPr lang="fa-IR" sz="2800" b="1" dirty="0" smtClean="0">
                <a:solidFill>
                  <a:srgbClr val="FF0000"/>
                </a:solidFill>
                <a:cs typeface="B Zar" panose="00000400000000000000" pitchFamily="2" charset="-78"/>
              </a:rPr>
              <a:t>زمان  های انقیاد:</a:t>
            </a:r>
            <a:endParaRPr lang="fa-IR" sz="2800" b="1" dirty="0">
              <a:solidFill>
                <a:srgbClr val="FF0000"/>
              </a:solidFill>
              <a:cs typeface="B Zar" panose="00000400000000000000" pitchFamily="2" charset="-78"/>
            </a:endParaRPr>
          </a:p>
          <a:p>
            <a:pPr algn="r" rtl="1">
              <a:lnSpc>
                <a:spcPct val="90000"/>
              </a:lnSpc>
            </a:pPr>
            <a:r>
              <a:rPr lang="fa-IR" sz="2600" dirty="0">
                <a:cs typeface="B Zar" panose="00000400000000000000" pitchFamily="2" charset="-78"/>
              </a:rPr>
              <a:t>زمان </a:t>
            </a:r>
            <a:r>
              <a:rPr lang="fa-IR" sz="2600" dirty="0" smtClean="0">
                <a:cs typeface="B Zar" panose="00000400000000000000" pitchFamily="2" charset="-78"/>
              </a:rPr>
              <a:t>اجرا (انقیاد متغیرها به مقادیرشان و محل های خاصی از حافظه)</a:t>
            </a:r>
            <a:endParaRPr lang="fa-IR" sz="2600" dirty="0">
              <a:cs typeface="B Zar" panose="00000400000000000000" pitchFamily="2" charset="-78"/>
            </a:endParaRPr>
          </a:p>
          <a:p>
            <a:pPr lvl="2" algn="r" rtl="1">
              <a:lnSpc>
                <a:spcPct val="90000"/>
              </a:lnSpc>
            </a:pPr>
            <a:r>
              <a:rPr lang="fa-IR" dirty="0">
                <a:cs typeface="B Zar" panose="00000400000000000000" pitchFamily="2" charset="-78"/>
              </a:rPr>
              <a:t>در ورود به زیر برنامه یا </a:t>
            </a:r>
            <a:r>
              <a:rPr lang="fa-IR" dirty="0" smtClean="0">
                <a:cs typeface="B Zar" panose="00000400000000000000" pitchFamily="2" charset="-78"/>
              </a:rPr>
              <a:t>بلوک:انقیاد پارامترهای مجازی به واقعی در </a:t>
            </a:r>
            <a:r>
              <a:rPr lang="en-US" dirty="0" smtClean="0">
                <a:cs typeface="B Zar" panose="00000400000000000000" pitchFamily="2" charset="-78"/>
              </a:rPr>
              <a:t>c</a:t>
            </a:r>
            <a:endParaRPr lang="fa-IR" dirty="0">
              <a:cs typeface="B Zar" panose="00000400000000000000" pitchFamily="2" charset="-78"/>
            </a:endParaRPr>
          </a:p>
          <a:p>
            <a:pPr lvl="2" algn="r" rtl="1">
              <a:lnSpc>
                <a:spcPct val="90000"/>
              </a:lnSpc>
            </a:pPr>
            <a:r>
              <a:rPr lang="fa-IR" dirty="0">
                <a:cs typeface="B Zar" panose="00000400000000000000" pitchFamily="2" charset="-78"/>
              </a:rPr>
              <a:t>در نقطه خاصی از اجرای </a:t>
            </a:r>
            <a:r>
              <a:rPr lang="fa-IR" dirty="0" smtClean="0">
                <a:cs typeface="B Zar" panose="00000400000000000000" pitchFamily="2" charset="-78"/>
              </a:rPr>
              <a:t>برنامه:انقیاد متغییر به مقدار</a:t>
            </a:r>
            <a:endParaRPr lang="fa-IR" dirty="0">
              <a:cs typeface="B Zar" panose="00000400000000000000" pitchFamily="2" charset="-78"/>
            </a:endParaRPr>
          </a:p>
          <a:p>
            <a:pPr algn="r" rtl="1">
              <a:lnSpc>
                <a:spcPct val="90000"/>
              </a:lnSpc>
            </a:pPr>
            <a:r>
              <a:rPr lang="fa-IR" sz="2600" dirty="0">
                <a:cs typeface="B Zar" panose="00000400000000000000" pitchFamily="2" charset="-78"/>
              </a:rPr>
              <a:t>زمان ترجمه (زمان کامپایل)</a:t>
            </a:r>
          </a:p>
          <a:p>
            <a:pPr lvl="2" algn="r" rtl="1">
              <a:lnSpc>
                <a:spcPct val="90000"/>
              </a:lnSpc>
            </a:pPr>
            <a:r>
              <a:rPr lang="fa-IR" dirty="0">
                <a:cs typeface="B Zar" panose="00000400000000000000" pitchFamily="2" charset="-78"/>
              </a:rPr>
              <a:t>انقیاد توسط برنامه نویس انتخاب می </a:t>
            </a:r>
            <a:r>
              <a:rPr lang="fa-IR" dirty="0" smtClean="0">
                <a:cs typeface="B Zar" panose="00000400000000000000" pitchFamily="2" charset="-78"/>
              </a:rPr>
              <a:t>شود: اسامی متغییرها و نوع متغییر ها</a:t>
            </a:r>
            <a:endParaRPr lang="fa-IR" dirty="0">
              <a:cs typeface="B Zar" panose="00000400000000000000" pitchFamily="2" charset="-78"/>
            </a:endParaRPr>
          </a:p>
          <a:p>
            <a:pPr lvl="2" algn="r" rtl="1">
              <a:lnSpc>
                <a:spcPct val="90000"/>
              </a:lnSpc>
            </a:pPr>
            <a:r>
              <a:rPr lang="fa-IR" dirty="0">
                <a:cs typeface="B Zar" panose="00000400000000000000" pitchFamily="2" charset="-78"/>
              </a:rPr>
              <a:t>انقیاد توسط مترجم انجام می </a:t>
            </a:r>
            <a:r>
              <a:rPr lang="fa-IR" dirty="0" smtClean="0">
                <a:cs typeface="B Zar" panose="00000400000000000000" pitchFamily="2" charset="-78"/>
              </a:rPr>
              <a:t>شود:محل نسبی شی داده یا چگونگی دخیره ارایه</a:t>
            </a:r>
            <a:endParaRPr lang="fa-IR" dirty="0">
              <a:cs typeface="B Zar" panose="00000400000000000000" pitchFamily="2" charset="-78"/>
            </a:endParaRPr>
          </a:p>
          <a:p>
            <a:pPr lvl="2" algn="r" rtl="1">
              <a:lnSpc>
                <a:spcPct val="90000"/>
              </a:lnSpc>
            </a:pPr>
            <a:r>
              <a:rPr lang="fa-IR" dirty="0">
                <a:cs typeface="B Zar" panose="00000400000000000000" pitchFamily="2" charset="-78"/>
              </a:rPr>
              <a:t>انقیادهایی که توسط بارکننده صورت می </a:t>
            </a:r>
            <a:r>
              <a:rPr lang="fa-IR" dirty="0" smtClean="0">
                <a:cs typeface="B Zar" panose="00000400000000000000" pitchFamily="2" charset="-78"/>
              </a:rPr>
              <a:t>گیرد.مترجم در حافظه ای که به زیربرنامه اختصاص می یابد متغییرها را به آدرس آنها مقید میکند.</a:t>
            </a:r>
            <a:endParaRPr lang="fa-IR" dirty="0">
              <a:cs typeface="B Zar" panose="00000400000000000000" pitchFamily="2" charset="-78"/>
            </a:endParaRPr>
          </a:p>
          <a:p>
            <a:pPr algn="r" rtl="1">
              <a:lnSpc>
                <a:spcPct val="90000"/>
              </a:lnSpc>
            </a:pPr>
            <a:r>
              <a:rPr lang="fa-IR" sz="2600" dirty="0">
                <a:cs typeface="B Zar" panose="00000400000000000000" pitchFamily="2" charset="-78"/>
              </a:rPr>
              <a:t>زمان پیاده سازی </a:t>
            </a:r>
            <a:r>
              <a:rPr lang="fa-IR" sz="2600" dirty="0" smtClean="0">
                <a:cs typeface="B Zar" panose="00000400000000000000" pitchFamily="2" charset="-78"/>
              </a:rPr>
              <a:t>زبان: </a:t>
            </a:r>
            <a:r>
              <a:rPr lang="fa-IR" sz="2400" dirty="0" smtClean="0">
                <a:cs typeface="B Zar" panose="00000400000000000000" pitchFamily="2" charset="-78"/>
              </a:rPr>
              <a:t>جزئیات مربوط به نمایش داده ها و اعمال محاسباتی</a:t>
            </a:r>
            <a:endParaRPr lang="fa-IR" sz="2400" dirty="0">
              <a:cs typeface="B Zar" panose="00000400000000000000" pitchFamily="2" charset="-78"/>
            </a:endParaRPr>
          </a:p>
          <a:p>
            <a:pPr algn="r" rtl="1">
              <a:lnSpc>
                <a:spcPct val="90000"/>
              </a:lnSpc>
            </a:pPr>
            <a:r>
              <a:rPr lang="fa-IR" sz="2600" dirty="0">
                <a:cs typeface="B Zar" panose="00000400000000000000" pitchFamily="2" charset="-78"/>
              </a:rPr>
              <a:t>زمان تعریف </a:t>
            </a:r>
            <a:r>
              <a:rPr lang="fa-IR" sz="2600" dirty="0" smtClean="0">
                <a:cs typeface="B Zar" panose="00000400000000000000" pitchFamily="2" charset="-78"/>
              </a:rPr>
              <a:t>زبان:</a:t>
            </a:r>
            <a:r>
              <a:rPr lang="fa-IR" sz="2400" dirty="0" smtClean="0">
                <a:cs typeface="B Zar" panose="00000400000000000000" pitchFamily="2" charset="-78"/>
              </a:rPr>
              <a:t>اغلب ساختارهای زبان برنامه نویسی در زمان تعریف زبان انجام می گیرد مثل شکلهای مختلف دستورات ، انواع ساختمان داده،ساختارهای برنامه</a:t>
            </a:r>
            <a:endParaRPr lang="fa-IR" sz="2400" dirty="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interpreted languages, execution occurs in real-time, with the interpreter processing the source code directly</a:t>
            </a:r>
            <a:r>
              <a:rPr lang="en-US" dirty="0" smtClean="0"/>
              <a:t>.</a:t>
            </a:r>
          </a:p>
          <a:p>
            <a:endParaRPr lang="en-US" dirty="0"/>
          </a:p>
          <a:p>
            <a:r>
              <a:rPr lang="en-US" dirty="0"/>
              <a:t>In compiled languages, execution happens after the entire code has been compiled into an executable file.</a:t>
            </a:r>
          </a:p>
          <a:p>
            <a:endParaRPr lang="en-US" dirty="0"/>
          </a:p>
        </p:txBody>
      </p:sp>
    </p:spTree>
    <p:extLst>
      <p:ext uri="{BB962C8B-B14F-4D97-AF65-F5344CB8AC3E}">
        <p14:creationId xmlns:p14="http://schemas.microsoft.com/office/powerpoint/2010/main" val="342762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srcRect/>
          <a:stretch>
            <a:fillRect/>
          </a:stretch>
        </p:blipFill>
        <p:spPr bwMode="auto">
          <a:xfrm>
            <a:off x="1066800" y="2362200"/>
            <a:ext cx="8077200" cy="2057400"/>
          </a:xfrm>
          <a:prstGeom prst="rect">
            <a:avLst/>
          </a:prstGeom>
          <a:noFill/>
          <a:ln w="9525">
            <a:noFill/>
            <a:miter lim="800000"/>
            <a:headEnd/>
            <a:tailEnd/>
          </a:ln>
          <a:effectLst/>
        </p:spPr>
      </p:pic>
      <p:sp>
        <p:nvSpPr>
          <p:cNvPr id="5" name="Rectangle 3"/>
          <p:cNvSpPr>
            <a:spLocks noGrp="1" noChangeArrowheads="1"/>
          </p:cNvSpPr>
          <p:nvPr>
            <p:ph type="title"/>
          </p:nvPr>
        </p:nvSpPr>
        <p:spPr>
          <a:xfrm>
            <a:off x="939800" y="544513"/>
            <a:ext cx="8280400" cy="762000"/>
          </a:xfrm>
          <a:noFill/>
          <a:ln/>
        </p:spPr>
        <p:txBody>
          <a:bodyPr/>
          <a:lstStyle/>
          <a:p>
            <a:pPr algn="r" rtl="1"/>
            <a:r>
              <a:rPr lang="fa-IR" dirty="0">
                <a:cs typeface="B Zar" panose="00000400000000000000" pitchFamily="2" charset="-78"/>
              </a:rPr>
              <a:t>کامپیوترهای مجازی و زمانهای انقیاد</a:t>
            </a:r>
            <a:endParaRPr lang="en-US" dirty="0">
              <a:cs typeface="B Zar" panose="00000400000000000000" pitchFamily="2" charset="-78"/>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p:cNvSpPr>
            <a:spLocks noGrp="1" noChangeArrowheads="1"/>
          </p:cNvSpPr>
          <p:nvPr>
            <p:ph type="title"/>
          </p:nvPr>
        </p:nvSpPr>
        <p:spPr>
          <a:xfrm>
            <a:off x="990600" y="544513"/>
            <a:ext cx="7696200" cy="762000"/>
          </a:xfrm>
          <a:noFill/>
          <a:ln/>
        </p:spPr>
        <p:txBody>
          <a:bodyPr>
            <a:normAutofit fontScale="90000"/>
          </a:bodyPr>
          <a:lstStyle/>
          <a:p>
            <a:pPr algn="ctr" rtl="1"/>
            <a:r>
              <a:rPr lang="fa-IR" dirty="0">
                <a:cs typeface="2  Titr" pitchFamily="2" charset="-78"/>
              </a:rPr>
              <a:t>کامپیوترهای مجازی و زمانهای انقیاد (</a:t>
            </a:r>
            <a:r>
              <a:rPr lang="fa-IR" dirty="0">
                <a:cs typeface="B Zar" panose="00000400000000000000" pitchFamily="2" charset="-78"/>
              </a:rPr>
              <a:t>ادامه</a:t>
            </a:r>
            <a:r>
              <a:rPr lang="fa-IR" dirty="0">
                <a:cs typeface="2  Titr" pitchFamily="2" charset="-78"/>
              </a:rPr>
              <a:t>)</a:t>
            </a:r>
            <a:endParaRPr lang="en-US" dirty="0">
              <a:cs typeface="2  Titr" pitchFamily="2" charset="-78"/>
            </a:endParaRPr>
          </a:p>
        </p:txBody>
      </p:sp>
      <p:sp>
        <p:nvSpPr>
          <p:cNvPr id="169986" name="Rectangle 2"/>
          <p:cNvSpPr>
            <a:spLocks noGrp="1" noChangeArrowheads="1"/>
          </p:cNvSpPr>
          <p:nvPr>
            <p:ph idx="1"/>
          </p:nvPr>
        </p:nvSpPr>
        <p:spPr>
          <a:xfrm>
            <a:off x="990600" y="1447800"/>
            <a:ext cx="7874000" cy="5181600"/>
          </a:xfrm>
        </p:spPr>
        <p:txBody>
          <a:bodyPr>
            <a:normAutofit/>
          </a:bodyPr>
          <a:lstStyle/>
          <a:p>
            <a:pPr algn="r" rtl="1">
              <a:lnSpc>
                <a:spcPct val="90000"/>
              </a:lnSpc>
              <a:buFontTx/>
              <a:buNone/>
            </a:pPr>
            <a:r>
              <a:rPr lang="fa-IR" sz="2800" b="1" dirty="0" smtClean="0">
                <a:solidFill>
                  <a:srgbClr val="FF0000"/>
                </a:solidFill>
                <a:cs typeface="B Zar" panose="00000400000000000000" pitchFamily="2" charset="-78"/>
              </a:rPr>
              <a:t>انقیاد و زمان انقیاد (ادامه)</a:t>
            </a:r>
          </a:p>
          <a:p>
            <a:pPr algn="r" rtl="1">
              <a:lnSpc>
                <a:spcPct val="90000"/>
              </a:lnSpc>
              <a:buFontTx/>
              <a:buNone/>
            </a:pPr>
            <a:r>
              <a:rPr lang="en-US" sz="2800" b="1" dirty="0" smtClean="0">
                <a:solidFill>
                  <a:srgbClr val="FF0000"/>
                </a:solidFill>
                <a:cs typeface="B Zar" panose="00000400000000000000" pitchFamily="2" charset="-78"/>
              </a:rPr>
              <a:t>x:=x + 10</a:t>
            </a:r>
            <a:endParaRPr lang="fa-IR" sz="2800" b="1" dirty="0" smtClean="0">
              <a:solidFill>
                <a:srgbClr val="FF0000"/>
              </a:solidFill>
              <a:cs typeface="B Zar" panose="00000400000000000000" pitchFamily="2" charset="-78"/>
            </a:endParaRPr>
          </a:p>
          <a:p>
            <a:pPr algn="r" rtl="1">
              <a:lnSpc>
                <a:spcPct val="90000"/>
              </a:lnSpc>
            </a:pPr>
            <a:r>
              <a:rPr lang="fa-IR" sz="2800" dirty="0" smtClean="0">
                <a:cs typeface="B Zar" panose="00000400000000000000" pitchFamily="2" charset="-78"/>
              </a:rPr>
              <a:t>در </a:t>
            </a:r>
            <a:r>
              <a:rPr lang="fa-IR" sz="2800" dirty="0">
                <a:cs typeface="B Zar" panose="00000400000000000000" pitchFamily="2" charset="-78"/>
              </a:rPr>
              <a:t>برنامه ای که به زبان </a:t>
            </a:r>
            <a:r>
              <a:rPr lang="en-US" sz="2800" dirty="0">
                <a:cs typeface="B Zar" panose="00000400000000000000" pitchFamily="2" charset="-78"/>
              </a:rPr>
              <a:t>L</a:t>
            </a:r>
            <a:r>
              <a:rPr lang="fa-IR" sz="2800" dirty="0">
                <a:cs typeface="B Zar" panose="00000400000000000000" pitchFamily="2" charset="-78"/>
              </a:rPr>
              <a:t> نوشته می شود انقیادها و زمانهای انقیاد عناصر زیر بحث می شود:</a:t>
            </a:r>
          </a:p>
          <a:p>
            <a:pPr lvl="1" algn="r" rtl="1">
              <a:lnSpc>
                <a:spcPct val="90000"/>
              </a:lnSpc>
            </a:pPr>
            <a:r>
              <a:rPr lang="fa-IR" dirty="0">
                <a:cs typeface="B Zar" panose="00000400000000000000" pitchFamily="2" charset="-78"/>
              </a:rPr>
              <a:t>مجموعه ای از انواع ممکن برای متغیر </a:t>
            </a:r>
            <a:r>
              <a:rPr lang="en-US" dirty="0" smtClean="0">
                <a:cs typeface="B Zar" panose="00000400000000000000" pitchFamily="2" charset="-78"/>
              </a:rPr>
              <a:t>X</a:t>
            </a:r>
            <a:r>
              <a:rPr lang="fa-IR" dirty="0" smtClean="0">
                <a:cs typeface="B Zar" panose="00000400000000000000" pitchFamily="2" charset="-78"/>
              </a:rPr>
              <a:t> </a:t>
            </a:r>
            <a:endParaRPr lang="fa-IR" dirty="0">
              <a:cs typeface="B Zar" panose="00000400000000000000" pitchFamily="2" charset="-78"/>
            </a:endParaRPr>
          </a:p>
          <a:p>
            <a:pPr lvl="1" algn="r" rtl="1">
              <a:lnSpc>
                <a:spcPct val="90000"/>
              </a:lnSpc>
            </a:pPr>
            <a:r>
              <a:rPr lang="fa-IR" dirty="0">
                <a:cs typeface="B Zar" panose="00000400000000000000" pitchFamily="2" charset="-78"/>
              </a:rPr>
              <a:t>نوع متغیر</a:t>
            </a:r>
          </a:p>
          <a:p>
            <a:pPr lvl="1" algn="r" rtl="1">
              <a:lnSpc>
                <a:spcPct val="90000"/>
              </a:lnSpc>
            </a:pPr>
            <a:r>
              <a:rPr lang="fa-IR" dirty="0">
                <a:cs typeface="B Zar" panose="00000400000000000000" pitchFamily="2" charset="-78"/>
              </a:rPr>
              <a:t>مجموعه ای از مقادیر ممکن برای </a:t>
            </a:r>
            <a:r>
              <a:rPr lang="en-US" dirty="0">
                <a:cs typeface="B Zar" panose="00000400000000000000" pitchFamily="2" charset="-78"/>
              </a:rPr>
              <a:t>X</a:t>
            </a:r>
            <a:endParaRPr lang="fa-IR" dirty="0">
              <a:cs typeface="B Zar" panose="00000400000000000000" pitchFamily="2" charset="-78"/>
            </a:endParaRPr>
          </a:p>
          <a:p>
            <a:pPr lvl="1" algn="r" rtl="1">
              <a:lnSpc>
                <a:spcPct val="90000"/>
              </a:lnSpc>
            </a:pPr>
            <a:r>
              <a:rPr lang="fa-IR" dirty="0">
                <a:cs typeface="B Zar" panose="00000400000000000000" pitchFamily="2" charset="-78"/>
              </a:rPr>
              <a:t>مقدار متغیر </a:t>
            </a:r>
            <a:r>
              <a:rPr lang="en-US" dirty="0">
                <a:cs typeface="B Zar" panose="00000400000000000000" pitchFamily="2" charset="-78"/>
              </a:rPr>
              <a:t>X</a:t>
            </a:r>
          </a:p>
          <a:p>
            <a:pPr lvl="1" algn="r" rtl="1">
              <a:lnSpc>
                <a:spcPct val="90000"/>
              </a:lnSpc>
            </a:pPr>
            <a:r>
              <a:rPr lang="fa-IR" dirty="0">
                <a:cs typeface="B Zar" panose="00000400000000000000" pitchFamily="2" charset="-78"/>
              </a:rPr>
              <a:t>نمایش مقدار ثابت 10</a:t>
            </a:r>
          </a:p>
          <a:p>
            <a:pPr lvl="1" algn="r" rtl="1">
              <a:lnSpc>
                <a:spcPct val="90000"/>
              </a:lnSpc>
            </a:pPr>
            <a:r>
              <a:rPr lang="fa-IR" dirty="0">
                <a:cs typeface="B Zar" panose="00000400000000000000" pitchFamily="2" charset="-78"/>
              </a:rPr>
              <a:t>خواص عملگر +</a:t>
            </a:r>
          </a:p>
        </p:txBody>
      </p:sp>
      <p:sp>
        <p:nvSpPr>
          <p:cNvPr id="5" name="Slide Number Placeholder 4"/>
          <p:cNvSpPr>
            <a:spLocks noGrp="1"/>
          </p:cNvSpPr>
          <p:nvPr>
            <p:ph type="sldNum" sz="quarter" idx="12"/>
          </p:nvPr>
        </p:nvSpPr>
        <p:spPr/>
        <p:txBody>
          <a:bodyPr/>
          <a:lstStyle/>
          <a:p>
            <a:fld id="{1335391A-C508-4DBF-AB59-44B0B160C8E7}"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p:cNvSpPr>
            <a:spLocks noGrp="1" noChangeArrowheads="1"/>
          </p:cNvSpPr>
          <p:nvPr>
            <p:ph type="title"/>
          </p:nvPr>
        </p:nvSpPr>
        <p:spPr>
          <a:xfrm>
            <a:off x="1524000" y="0"/>
            <a:ext cx="8280400" cy="762000"/>
          </a:xfrm>
          <a:noFill/>
          <a:ln/>
        </p:spPr>
        <p:txBody>
          <a:bodyPr>
            <a:normAutofit/>
          </a:bodyPr>
          <a:lstStyle/>
          <a:p>
            <a:pPr rtl="1"/>
            <a:r>
              <a:rPr lang="fa-IR" dirty="0">
                <a:cs typeface="B Zar" panose="00000400000000000000" pitchFamily="2" charset="-78"/>
              </a:rPr>
              <a:t>کامپیوترهای مجازی و زمانهای انقیاد (ادامه)</a:t>
            </a:r>
            <a:endParaRPr lang="en-US" dirty="0">
              <a:cs typeface="B Zar" panose="00000400000000000000" pitchFamily="2" charset="-78"/>
            </a:endParaRPr>
          </a:p>
        </p:txBody>
      </p:sp>
      <p:sp>
        <p:nvSpPr>
          <p:cNvPr id="169986" name="Rectangle 2"/>
          <p:cNvSpPr>
            <a:spLocks noGrp="1" noChangeArrowheads="1"/>
          </p:cNvSpPr>
          <p:nvPr>
            <p:ph idx="1"/>
          </p:nvPr>
        </p:nvSpPr>
        <p:spPr>
          <a:xfrm>
            <a:off x="228600" y="609600"/>
            <a:ext cx="8636000" cy="6172200"/>
          </a:xfrm>
        </p:spPr>
        <p:txBody>
          <a:bodyPr>
            <a:normAutofit fontScale="77500" lnSpcReduction="20000"/>
          </a:bodyPr>
          <a:lstStyle/>
          <a:p>
            <a:pPr algn="r" rtl="1">
              <a:lnSpc>
                <a:spcPct val="170000"/>
              </a:lnSpc>
              <a:buFontTx/>
              <a:buNone/>
            </a:pPr>
            <a:r>
              <a:rPr lang="fa-IR" sz="2800" b="1" dirty="0" smtClean="0">
                <a:solidFill>
                  <a:srgbClr val="FF0000"/>
                </a:solidFill>
                <a:cs typeface="B Zar" panose="00000400000000000000" pitchFamily="2" charset="-78"/>
              </a:rPr>
              <a:t>انقیاد و زمان انقیاد (ادامه)</a:t>
            </a:r>
          </a:p>
          <a:p>
            <a:pPr algn="r" rtl="1">
              <a:lnSpc>
                <a:spcPct val="170000"/>
              </a:lnSpc>
              <a:buFontTx/>
              <a:buNone/>
            </a:pPr>
            <a:r>
              <a:rPr lang="en-US" sz="2800" b="1" dirty="0" smtClean="0">
                <a:solidFill>
                  <a:srgbClr val="FF0000"/>
                </a:solidFill>
                <a:cs typeface="B Zar" panose="00000400000000000000" pitchFamily="2" charset="-78"/>
              </a:rPr>
              <a:t>x:=x + 10</a:t>
            </a:r>
            <a:endParaRPr lang="fa-IR" sz="2800" b="1" dirty="0" smtClean="0">
              <a:solidFill>
                <a:srgbClr val="FF0000"/>
              </a:solidFill>
              <a:cs typeface="B Zar" panose="00000400000000000000" pitchFamily="2" charset="-78"/>
            </a:endParaRPr>
          </a:p>
          <a:p>
            <a:pPr algn="r" rtl="1">
              <a:lnSpc>
                <a:spcPct val="170000"/>
              </a:lnSpc>
            </a:pPr>
            <a:r>
              <a:rPr lang="fa-IR" sz="2800" dirty="0" smtClean="0">
                <a:cs typeface="B Zar" panose="00000400000000000000" pitchFamily="2" charset="-78"/>
              </a:rPr>
              <a:t>در </a:t>
            </a:r>
            <a:r>
              <a:rPr lang="fa-IR" sz="2800" dirty="0">
                <a:cs typeface="B Zar" panose="00000400000000000000" pitchFamily="2" charset="-78"/>
              </a:rPr>
              <a:t>برنامه ای که به زبان </a:t>
            </a:r>
            <a:r>
              <a:rPr lang="en-US" sz="2800" dirty="0">
                <a:cs typeface="B Zar" panose="00000400000000000000" pitchFamily="2" charset="-78"/>
              </a:rPr>
              <a:t>L</a:t>
            </a:r>
            <a:r>
              <a:rPr lang="fa-IR" sz="2800" dirty="0">
                <a:cs typeface="B Zar" panose="00000400000000000000" pitchFamily="2" charset="-78"/>
              </a:rPr>
              <a:t> نوشته می شود انقیادها و زمانهای انقیاد عناصر زیر بحث می شود:</a:t>
            </a:r>
          </a:p>
          <a:p>
            <a:pPr lvl="1" algn="r" rtl="1">
              <a:lnSpc>
                <a:spcPct val="170000"/>
              </a:lnSpc>
            </a:pPr>
            <a:r>
              <a:rPr lang="fa-IR" dirty="0">
                <a:cs typeface="B Zar" panose="00000400000000000000" pitchFamily="2" charset="-78"/>
              </a:rPr>
              <a:t>مجموعه ای از انواع ممکن برای متغیر </a:t>
            </a:r>
            <a:r>
              <a:rPr lang="en-US" dirty="0" smtClean="0">
                <a:cs typeface="B Zar" panose="00000400000000000000" pitchFamily="2" charset="-78"/>
              </a:rPr>
              <a:t>X</a:t>
            </a:r>
            <a:r>
              <a:rPr lang="fa-IR" dirty="0" smtClean="0">
                <a:cs typeface="B Zar" panose="00000400000000000000" pitchFamily="2" charset="-78"/>
              </a:rPr>
              <a:t> : در زمان تعریف زبان </a:t>
            </a:r>
            <a:endParaRPr lang="en-US" dirty="0" smtClean="0">
              <a:cs typeface="B Zar" panose="00000400000000000000" pitchFamily="2" charset="-78"/>
            </a:endParaRPr>
          </a:p>
          <a:p>
            <a:pPr lvl="1" algn="r" rtl="1">
              <a:lnSpc>
                <a:spcPct val="170000"/>
              </a:lnSpc>
            </a:pPr>
            <a:r>
              <a:rPr lang="fa-IR" dirty="0" smtClean="0">
                <a:cs typeface="B Zar" panose="00000400000000000000" pitchFamily="2" charset="-78"/>
              </a:rPr>
              <a:t>نوع متغیر (اعلان) : در زمان ترجمه زبان</a:t>
            </a:r>
            <a:endParaRPr lang="fa-IR" dirty="0">
              <a:cs typeface="B Zar" panose="00000400000000000000" pitchFamily="2" charset="-78"/>
            </a:endParaRPr>
          </a:p>
          <a:p>
            <a:pPr lvl="1" algn="r" rtl="1">
              <a:lnSpc>
                <a:spcPct val="170000"/>
              </a:lnSpc>
            </a:pPr>
            <a:r>
              <a:rPr lang="fa-IR" dirty="0">
                <a:cs typeface="B Zar" panose="00000400000000000000" pitchFamily="2" charset="-78"/>
              </a:rPr>
              <a:t>مجموعه ای از مقادیر ممکن برای </a:t>
            </a:r>
            <a:r>
              <a:rPr lang="en-US" dirty="0" smtClean="0">
                <a:cs typeface="B Zar" panose="00000400000000000000" pitchFamily="2" charset="-78"/>
              </a:rPr>
              <a:t>X</a:t>
            </a:r>
            <a:r>
              <a:rPr lang="fa-IR" dirty="0" smtClean="0">
                <a:cs typeface="B Zar" panose="00000400000000000000" pitchFamily="2" charset="-78"/>
              </a:rPr>
              <a:t> : در زمان پیاده سازی زبان (تعداد بیتهای هر نوع داده در پیاده سازی زبان تعیین میشود.)</a:t>
            </a:r>
            <a:endParaRPr lang="fa-IR" dirty="0">
              <a:cs typeface="B Zar" panose="00000400000000000000" pitchFamily="2" charset="-78"/>
            </a:endParaRPr>
          </a:p>
          <a:p>
            <a:pPr lvl="1" algn="r" rtl="1">
              <a:lnSpc>
                <a:spcPct val="170000"/>
              </a:lnSpc>
            </a:pPr>
            <a:r>
              <a:rPr lang="fa-IR" dirty="0">
                <a:cs typeface="B Zar" panose="00000400000000000000" pitchFamily="2" charset="-78"/>
              </a:rPr>
              <a:t>مقدار متغیر </a:t>
            </a:r>
            <a:r>
              <a:rPr lang="en-US" dirty="0" smtClean="0">
                <a:cs typeface="B Zar" panose="00000400000000000000" pitchFamily="2" charset="-78"/>
              </a:rPr>
              <a:t>X</a:t>
            </a:r>
            <a:r>
              <a:rPr lang="fa-IR" dirty="0" smtClean="0">
                <a:cs typeface="B Zar" panose="00000400000000000000" pitchFamily="2" charset="-78"/>
              </a:rPr>
              <a:t> : در زمان اجرای برنامه</a:t>
            </a:r>
            <a:endParaRPr lang="en-US" dirty="0">
              <a:cs typeface="B Zar" panose="00000400000000000000" pitchFamily="2" charset="-78"/>
            </a:endParaRPr>
          </a:p>
          <a:p>
            <a:pPr lvl="1" algn="r" rtl="1">
              <a:lnSpc>
                <a:spcPct val="170000"/>
              </a:lnSpc>
            </a:pPr>
            <a:r>
              <a:rPr lang="fa-IR" dirty="0">
                <a:cs typeface="B Zar" panose="00000400000000000000" pitchFamily="2" charset="-78"/>
              </a:rPr>
              <a:t>نمایش مقدار ثابت </a:t>
            </a:r>
            <a:r>
              <a:rPr lang="fa-IR" dirty="0" smtClean="0">
                <a:cs typeface="B Zar" panose="00000400000000000000" pitchFamily="2" charset="-78"/>
              </a:rPr>
              <a:t>10: در زمان تعریف زبان به صورت دهدهی در غیر اینصورت در پیاده سازی</a:t>
            </a:r>
            <a:endParaRPr lang="fa-IR" dirty="0">
              <a:cs typeface="B Zar" panose="00000400000000000000" pitchFamily="2" charset="-78"/>
            </a:endParaRPr>
          </a:p>
          <a:p>
            <a:pPr lvl="1" algn="r" rtl="1">
              <a:lnSpc>
                <a:spcPct val="170000"/>
              </a:lnSpc>
            </a:pPr>
            <a:r>
              <a:rPr lang="fa-IR" dirty="0">
                <a:cs typeface="B Zar" panose="00000400000000000000" pitchFamily="2" charset="-78"/>
              </a:rPr>
              <a:t>خواص عملگر </a:t>
            </a:r>
            <a:r>
              <a:rPr lang="fa-IR" dirty="0" smtClean="0">
                <a:cs typeface="B Zar" panose="00000400000000000000" pitchFamily="2" charset="-78"/>
              </a:rPr>
              <a:t>+: در زمان تعریف زبان</a:t>
            </a:r>
            <a:endParaRPr lang="fa-IR" dirty="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3"/>
          <p:cNvSpPr>
            <a:spLocks noGrp="1" noChangeArrowheads="1"/>
          </p:cNvSpPr>
          <p:nvPr>
            <p:ph type="title"/>
          </p:nvPr>
        </p:nvSpPr>
        <p:spPr>
          <a:xfrm>
            <a:off x="406400" y="544513"/>
            <a:ext cx="8280400" cy="762000"/>
          </a:xfrm>
          <a:noFill/>
          <a:ln/>
        </p:spPr>
        <p:txBody>
          <a:bodyPr>
            <a:normAutofit/>
          </a:bodyPr>
          <a:lstStyle/>
          <a:p>
            <a:pPr algn="ctr" rtl="1"/>
            <a:r>
              <a:rPr lang="fa-IR" dirty="0">
                <a:cs typeface="B Zar" panose="00000400000000000000" pitchFamily="2" charset="-78"/>
              </a:rPr>
              <a:t>کامپیوترهای مجازی و زمانهای انقیاد (ادامه)</a:t>
            </a:r>
            <a:endParaRPr lang="en-US" dirty="0">
              <a:cs typeface="B Zar" panose="00000400000000000000" pitchFamily="2" charset="-78"/>
            </a:endParaRPr>
          </a:p>
        </p:txBody>
      </p:sp>
      <p:sp>
        <p:nvSpPr>
          <p:cNvPr id="171010" name="Rectangle 2"/>
          <p:cNvSpPr>
            <a:spLocks noGrp="1" noChangeArrowheads="1"/>
          </p:cNvSpPr>
          <p:nvPr>
            <p:ph idx="1"/>
          </p:nvPr>
        </p:nvSpPr>
        <p:spPr>
          <a:xfrm>
            <a:off x="1066800" y="1447800"/>
            <a:ext cx="8077200" cy="5105399"/>
          </a:xfrm>
        </p:spPr>
        <p:txBody>
          <a:bodyPr>
            <a:normAutofit/>
          </a:bodyPr>
          <a:lstStyle/>
          <a:p>
            <a:pPr algn="r" rtl="1">
              <a:buFontTx/>
              <a:buNone/>
            </a:pPr>
            <a:r>
              <a:rPr lang="fa-IR" sz="2400" b="1" dirty="0" smtClean="0">
                <a:solidFill>
                  <a:srgbClr val="C00000"/>
                </a:solidFill>
                <a:cs typeface="B Zar" panose="00000400000000000000" pitchFamily="2" charset="-78"/>
              </a:rPr>
              <a:t>اهمیت زمانهای انقیاد</a:t>
            </a:r>
            <a:endParaRPr lang="fa-IR" sz="2400" b="1" dirty="0">
              <a:solidFill>
                <a:srgbClr val="C00000"/>
              </a:solidFill>
              <a:cs typeface="B Zar" panose="00000400000000000000" pitchFamily="2" charset="-78"/>
            </a:endParaRPr>
          </a:p>
          <a:p>
            <a:pPr algn="r" rtl="1"/>
            <a:r>
              <a:rPr lang="fa-IR" sz="2400" dirty="0" smtClean="0">
                <a:solidFill>
                  <a:srgbClr val="C00000"/>
                </a:solidFill>
                <a:cs typeface="B Zar" panose="00000400000000000000" pitchFamily="2" charset="-78"/>
              </a:rPr>
              <a:t>انقیاد زودرس: </a:t>
            </a:r>
            <a:r>
              <a:rPr lang="fa-IR" sz="2400" dirty="0" smtClean="0">
                <a:cs typeface="B Zar" panose="00000400000000000000" pitchFamily="2" charset="-78"/>
              </a:rPr>
              <a:t>زبانهایی که در آنها انقیاد در زمان ترجمه انجام می شود (کارایی و سرعت اجرا بالا، انعطاف پذیری کم)</a:t>
            </a:r>
          </a:p>
          <a:p>
            <a:pPr lvl="2" algn="r" rtl="1"/>
            <a:r>
              <a:rPr lang="fa-IR" dirty="0" smtClean="0">
                <a:cs typeface="B Zar" panose="00000400000000000000" pitchFamily="2" charset="-78"/>
              </a:rPr>
              <a:t>مثال :فرترن و پاسکال و </a:t>
            </a:r>
            <a:r>
              <a:rPr lang="en-US" dirty="0" smtClean="0">
                <a:cs typeface="B Zar" panose="00000400000000000000" pitchFamily="2" charset="-78"/>
              </a:rPr>
              <a:t>c</a:t>
            </a:r>
            <a:endParaRPr lang="fa-IR" dirty="0" smtClean="0">
              <a:cs typeface="B Zar" panose="00000400000000000000" pitchFamily="2" charset="-78"/>
            </a:endParaRPr>
          </a:p>
          <a:p>
            <a:pPr lvl="2" algn="r" rtl="1"/>
            <a:r>
              <a:rPr lang="fa-IR" dirty="0" smtClean="0">
                <a:cs typeface="B Zar" panose="00000400000000000000" pitchFamily="2" charset="-78"/>
              </a:rPr>
              <a:t>مزایا : کارایی بالاتر (برای مثال کار با آرایه های بزرگ و محاسبات راحتر)</a:t>
            </a:r>
            <a:endParaRPr lang="en-US" dirty="0" smtClean="0">
              <a:cs typeface="B Zar" panose="00000400000000000000" pitchFamily="2" charset="-78"/>
            </a:endParaRPr>
          </a:p>
          <a:p>
            <a:pPr lvl="2" algn="r" rtl="1"/>
            <a:endParaRPr lang="fa-IR" dirty="0" smtClean="0">
              <a:cs typeface="B Zar" panose="00000400000000000000" pitchFamily="2" charset="-78"/>
            </a:endParaRPr>
          </a:p>
          <a:p>
            <a:pPr algn="r" rtl="1"/>
            <a:r>
              <a:rPr lang="fa-IR" sz="2400" dirty="0" smtClean="0">
                <a:cs typeface="B Zar" panose="00000400000000000000" pitchFamily="2" charset="-78"/>
              </a:rPr>
              <a:t>ا</a:t>
            </a:r>
            <a:r>
              <a:rPr lang="fa-IR" sz="2400" dirty="0" smtClean="0">
                <a:solidFill>
                  <a:srgbClr val="C00000"/>
                </a:solidFill>
                <a:cs typeface="B Zar" panose="00000400000000000000" pitchFamily="2" charset="-78"/>
              </a:rPr>
              <a:t>نقیاد دیررس: </a:t>
            </a:r>
            <a:r>
              <a:rPr lang="fa-IR" sz="2400" dirty="0" smtClean="0">
                <a:cs typeface="B Zar" panose="00000400000000000000" pitchFamily="2" charset="-78"/>
              </a:rPr>
              <a:t>زبانهایی که در آنها انقیاد در زمان اجرا انجام می شود (کارایی و سرعت اجرا پایین، انعطاف پذیری بالا)</a:t>
            </a:r>
          </a:p>
          <a:p>
            <a:pPr lvl="2" algn="r" rtl="1"/>
            <a:r>
              <a:rPr lang="fa-IR" dirty="0" smtClean="0">
                <a:cs typeface="B Zar" panose="00000400000000000000" pitchFamily="2" charset="-78"/>
              </a:rPr>
              <a:t>مثال : ام ال و لیسپ</a:t>
            </a:r>
          </a:p>
          <a:p>
            <a:pPr lvl="2" algn="r" rtl="1"/>
            <a:r>
              <a:rPr lang="fa-IR" dirty="0" smtClean="0">
                <a:cs typeface="B Zar" panose="00000400000000000000" pitchFamily="2" charset="-78"/>
              </a:rPr>
              <a:t>مزایا : انعطاف بیشتر (برای مثال دستکاری رشته راحتر)</a:t>
            </a:r>
          </a:p>
          <a:p>
            <a:pPr algn="r" rtl="1"/>
            <a:r>
              <a:rPr lang="fa-IR" sz="2400" dirty="0" smtClean="0">
                <a:cs typeface="B Zar" panose="00000400000000000000" pitchFamily="2" charset="-78"/>
              </a:rPr>
              <a:t>زبانی مثل ادا که هم کارایی و هم انعطاف مهم است می توان زمان انقیاد را انتخاب کرد.</a:t>
            </a:r>
            <a:endParaRPr lang="fa-IR" sz="2400" dirty="0">
              <a:cs typeface="B Zar" panose="00000400000000000000"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30</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1144</TotalTime>
  <Words>1838</Words>
  <Application>Microsoft Office PowerPoint</Application>
  <PresentationFormat>On-screen Show (4:3)</PresentationFormat>
  <Paragraphs>163</Paragraphs>
  <Slides>30</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2  Titr</vt:lpstr>
      <vt:lpstr>Arial</vt:lpstr>
      <vt:lpstr>B Zar</vt:lpstr>
      <vt:lpstr>Calibri</vt:lpstr>
      <vt:lpstr>Gill Sans MT</vt:lpstr>
      <vt:lpstr>Tahoma</vt:lpstr>
      <vt:lpstr>Verdana</vt:lpstr>
      <vt:lpstr>Wingdings 2</vt:lpstr>
      <vt:lpstr>Solstice</vt:lpstr>
      <vt:lpstr>فصل دوم طراحی و پیاده سازی زبانها  اثرات معماری ماشین</vt:lpstr>
      <vt:lpstr>فهرست مطالب مقدمه کامپیوتر و اجزای آن کامپیوتر میان افزار مفسرها و معماری مجازی             ترجمه             تفسیری انواع زبانها           زبانهای کامپایلری            زبانهای تفسیری کامپیوترهای مجازی انقیاد زمانهای انقیاد  اهمیت زمانهای انقیاد</vt:lpstr>
      <vt:lpstr>مقدمه</vt:lpstr>
      <vt:lpstr>مقدمه (کامپیوتر و اجزای آن)</vt:lpstr>
      <vt:lpstr>عملکرد کامپیوتر</vt:lpstr>
      <vt:lpstr>سازمان یک کامپیوتر معمولی</vt:lpstr>
      <vt:lpstr>PowerPoint Presentation</vt:lpstr>
      <vt:lpstr>عملکرد کامپیوتر(ادامه)</vt:lpstr>
      <vt:lpstr>عملکرد کامپیوتر(ادامه)</vt:lpstr>
      <vt:lpstr>عملکرد کامپیوتر(ادامه)</vt:lpstr>
      <vt:lpstr>عملکرد کامپیوتر(ادامه)</vt:lpstr>
      <vt:lpstr>عملکرد کامپیوتر (ادامه)</vt:lpstr>
      <vt:lpstr>عملکرد کامپیوتر (ادامه)</vt:lpstr>
      <vt:lpstr>عملکرد کامپیوتر (ادامه)</vt:lpstr>
      <vt:lpstr>PowerPoint Presentation</vt:lpstr>
      <vt:lpstr>PowerPoint Presentation</vt:lpstr>
      <vt:lpstr>عملکرد کامپیوتر (ادامه)</vt:lpstr>
      <vt:lpstr>ترتیب اجرای مفسرها</vt:lpstr>
      <vt:lpstr>PowerPoint Presentation</vt:lpstr>
      <vt:lpstr>PowerPoint Presentation</vt:lpstr>
      <vt:lpstr>عملکرد کامپیوتر (ادامه)</vt:lpstr>
      <vt:lpstr>عملکرد کامپیوتر (ادامه)</vt:lpstr>
      <vt:lpstr>PowerPoint Presentation</vt:lpstr>
      <vt:lpstr>PowerPoint Presentation</vt:lpstr>
      <vt:lpstr>کامپیوترهای مجازی و زمانهای انقیاد</vt:lpstr>
      <vt:lpstr>PowerPoint Presentation</vt:lpstr>
      <vt:lpstr>کامپیوترهای مجازی و زمانهای انقیاد</vt:lpstr>
      <vt:lpstr>کامپیوترهای مجازی و زمانهای انقیاد (ادامه)</vt:lpstr>
      <vt:lpstr>کامپیوترهای مجازی و زمانهای انقیاد (ادامه)</vt:lpstr>
      <vt:lpstr>کامپیوترهای مجازی و زمانهای انقیاد (ادامه)</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Saman</dc:creator>
  <cp:lastModifiedBy>Microsoft Surface</cp:lastModifiedBy>
  <cp:revision>68</cp:revision>
  <dcterms:created xsi:type="dcterms:W3CDTF">2015-02-04T17:04:56Z</dcterms:created>
  <dcterms:modified xsi:type="dcterms:W3CDTF">2025-04-04T17:48:18Z</dcterms:modified>
</cp:coreProperties>
</file>