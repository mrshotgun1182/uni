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0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76" r:id="rId9"/>
    <p:sldId id="336" r:id="rId10"/>
    <p:sldId id="265" r:id="rId11"/>
    <p:sldId id="267" r:id="rId12"/>
    <p:sldId id="268" r:id="rId13"/>
    <p:sldId id="277" r:id="rId14"/>
    <p:sldId id="269" r:id="rId15"/>
    <p:sldId id="271" r:id="rId16"/>
    <p:sldId id="337" r:id="rId17"/>
    <p:sldId id="338" r:id="rId18"/>
    <p:sldId id="340" r:id="rId19"/>
    <p:sldId id="339" r:id="rId20"/>
    <p:sldId id="272" r:id="rId21"/>
    <p:sldId id="273" r:id="rId22"/>
    <p:sldId id="274" r:id="rId23"/>
    <p:sldId id="278" r:id="rId24"/>
    <p:sldId id="275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326" r:id="rId36"/>
    <p:sldId id="327" r:id="rId37"/>
    <p:sldId id="292" r:id="rId38"/>
    <p:sldId id="294" r:id="rId39"/>
    <p:sldId id="295" r:id="rId40"/>
    <p:sldId id="328" r:id="rId41"/>
    <p:sldId id="296" r:id="rId42"/>
    <p:sldId id="298" r:id="rId43"/>
    <p:sldId id="329" r:id="rId44"/>
    <p:sldId id="300" r:id="rId45"/>
    <p:sldId id="302" r:id="rId46"/>
    <p:sldId id="304" r:id="rId47"/>
    <p:sldId id="306" r:id="rId48"/>
    <p:sldId id="308" r:id="rId49"/>
    <p:sldId id="310" r:id="rId50"/>
    <p:sldId id="311" r:id="rId51"/>
    <p:sldId id="312" r:id="rId52"/>
    <p:sldId id="331" r:id="rId53"/>
    <p:sldId id="335" r:id="rId54"/>
    <p:sldId id="330" r:id="rId55"/>
    <p:sldId id="314" r:id="rId56"/>
    <p:sldId id="315" r:id="rId57"/>
    <p:sldId id="332" r:id="rId58"/>
    <p:sldId id="333" r:id="rId59"/>
    <p:sldId id="334" r:id="rId60"/>
    <p:sldId id="316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515" y="5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E2EA6-5E64-4BE3-9966-5E5E46BF2E15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EA60D-E8A0-4DCA-8200-F80EE109CB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3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E8A73D-44C7-4E9E-9765-7C55D0EBF408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E8A73D-44C7-4E9E-9765-7C55D0EBF408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C898-9713-460E-9EEB-2063D8BD9977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C898-9713-460E-9EEB-2063D8BD9977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C898-9713-460E-9EEB-2063D8BD9977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C898-9713-460E-9EEB-2063D8BD9977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C898-9713-460E-9EEB-2063D8BD9977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C898-9713-460E-9EEB-2063D8BD9977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C898-9713-460E-9EEB-2063D8BD9977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C898-9713-460E-9EEB-2063D8BD9977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C898-9713-460E-9EEB-2063D8BD9977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C898-9713-460E-9EEB-2063D8BD9977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C898-9713-460E-9EEB-2063D8BD9977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3521C898-9713-460E-9EEB-2063D8BD9977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124200"/>
            <a:ext cx="9144000" cy="1600200"/>
          </a:xfrm>
        </p:spPr>
        <p:txBody>
          <a:bodyPr>
            <a:noAutofit/>
          </a:bodyPr>
          <a:lstStyle/>
          <a:p>
            <a:pPr algn="ctr" rtl="1"/>
            <a:r>
              <a:rPr lang="fa-IR" sz="7200" dirty="0">
                <a:cs typeface="2  Titr" pitchFamily="2" charset="-78"/>
              </a:rPr>
              <a:t>فصل </a:t>
            </a:r>
            <a:r>
              <a:rPr lang="fa-IR" sz="7200" dirty="0" smtClean="0">
                <a:cs typeface="2  Titr" pitchFamily="2" charset="-78"/>
              </a:rPr>
              <a:t>چهارم</a:t>
            </a:r>
            <a:r>
              <a:rPr lang="fa-IR" sz="7200" dirty="0">
                <a:cs typeface="2  Titr" pitchFamily="2" charset="-78"/>
              </a:rPr>
              <a:t/>
            </a:r>
            <a:br>
              <a:rPr lang="fa-IR" sz="7200" dirty="0">
                <a:cs typeface="2  Titr" pitchFamily="2" charset="-78"/>
              </a:rPr>
            </a:br>
            <a:r>
              <a:rPr lang="fa-IR" sz="7200" dirty="0">
                <a:cs typeface="2  Titr" pitchFamily="2" charset="-78"/>
              </a:rPr>
              <a:t/>
            </a:r>
            <a:br>
              <a:rPr lang="fa-IR" sz="7200" dirty="0">
                <a:cs typeface="2  Titr" pitchFamily="2" charset="-78"/>
              </a:rPr>
            </a:br>
            <a:r>
              <a:rPr lang="fa-IR" sz="7200" dirty="0">
                <a:solidFill>
                  <a:srgbClr val="339966"/>
                </a:solidFill>
                <a:latin typeface="Tahoma" pitchFamily="34" charset="0"/>
                <a:cs typeface="2  Titr" pitchFamily="2" charset="-78"/>
              </a:rPr>
              <a:t>انواع داده اولیه</a:t>
            </a:r>
            <a:endParaRPr lang="en-US" sz="7200" dirty="0">
              <a:solidFill>
                <a:srgbClr val="339966"/>
              </a:solidFill>
              <a:latin typeface="Tahoma" pitchFamily="34" charset="0"/>
              <a:cs typeface="2  Titr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</p:spPr>
        <p:txBody>
          <a:bodyPr/>
          <a:lstStyle/>
          <a:p>
            <a:fld id="{D1B98248-D496-471B-8D19-64F0D033CA7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5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algn="ctr" rtl="1"/>
            <a:r>
              <a:rPr lang="fa-IR" dirty="0" smtClean="0">
                <a:cs typeface="2  Titr" pitchFamily="2" charset="-78"/>
              </a:rPr>
              <a:t>فهرست مطالب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223234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1992313"/>
            <a:ext cx="8636000" cy="4368800"/>
          </a:xfrm>
        </p:spPr>
        <p:txBody>
          <a:bodyPr/>
          <a:lstStyle/>
          <a:p>
            <a:pPr algn="r" rtl="1"/>
            <a:r>
              <a:rPr lang="fa-IR" dirty="0" smtClean="0">
                <a:cs typeface="2  Traffic" pitchFamily="2" charset="-78"/>
              </a:rPr>
              <a:t>خواص انواع داده :</a:t>
            </a:r>
          </a:p>
          <a:p>
            <a:pPr algn="r" rtl="1"/>
            <a:endParaRPr lang="fa-IR" dirty="0" smtClean="0">
              <a:cs typeface="2  Traffic" pitchFamily="2" charset="-78"/>
            </a:endParaRPr>
          </a:p>
          <a:p>
            <a:pPr algn="r" rtl="1"/>
            <a:endParaRPr lang="fa-IR" dirty="0" smtClean="0">
              <a:cs typeface="2  Traffic" pitchFamily="2" charset="-78"/>
            </a:endParaRPr>
          </a:p>
          <a:p>
            <a:pPr algn="r" rtl="1"/>
            <a:r>
              <a:rPr lang="fa-IR" dirty="0" smtClean="0">
                <a:cs typeface="2  Traffic" pitchFamily="2" charset="-78"/>
              </a:rPr>
              <a:t>انواع داده اسکالر :</a:t>
            </a:r>
          </a:p>
          <a:p>
            <a:pPr algn="r" rtl="1"/>
            <a:endParaRPr lang="fa-IR" dirty="0" smtClean="0">
              <a:cs typeface="2  Traffic" pitchFamily="2" charset="-78"/>
            </a:endParaRPr>
          </a:p>
          <a:p>
            <a:pPr algn="r" rtl="1"/>
            <a:endParaRPr lang="fa-IR" dirty="0" smtClean="0">
              <a:cs typeface="2  Traffic" pitchFamily="2" charset="-78"/>
            </a:endParaRPr>
          </a:p>
          <a:p>
            <a:pPr algn="r" rtl="1"/>
            <a:r>
              <a:rPr lang="fa-IR" dirty="0" smtClean="0">
                <a:cs typeface="2  Traffic" pitchFamily="2" charset="-78"/>
              </a:rPr>
              <a:t>انواع داده مرکب :</a:t>
            </a:r>
            <a:endParaRPr lang="fa-IR" dirty="0">
              <a:cs typeface="2  Traffic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465943" y="1676400"/>
            <a:ext cx="4470401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 algn="r"/>
            <a:r>
              <a:rPr lang="fa-IR" sz="2000" b="1" dirty="0" smtClean="0">
                <a:cs typeface="2  Traffic" pitchFamily="2" charset="-78"/>
              </a:rPr>
              <a:t>اشیاء داده</a:t>
            </a:r>
          </a:p>
          <a:p>
            <a:pPr lvl="1" algn="r"/>
            <a:r>
              <a:rPr lang="fa-IR" sz="2000" b="1" dirty="0" smtClean="0">
                <a:cs typeface="2  Traffic" pitchFamily="2" charset="-78"/>
              </a:rPr>
              <a:t>مقادیر ثابت و متغییرها</a:t>
            </a:r>
          </a:p>
          <a:p>
            <a:pPr lvl="1" algn="r"/>
            <a:r>
              <a:rPr lang="fa-IR" sz="2000" b="1" dirty="0" smtClean="0">
                <a:cs typeface="2  Traffic" pitchFamily="2" charset="-78"/>
              </a:rPr>
              <a:t>انواع داده و اعلان</a:t>
            </a:r>
          </a:p>
          <a:p>
            <a:pPr lvl="1" algn="r"/>
            <a:r>
              <a:rPr lang="fa-IR" sz="2000" b="1" dirty="0" smtClean="0">
                <a:cs typeface="2  Traffic" pitchFamily="2" charset="-78"/>
              </a:rPr>
              <a:t>کنترل نوع و تبدیل نوع</a:t>
            </a:r>
          </a:p>
          <a:p>
            <a:pPr lvl="1" algn="r"/>
            <a:r>
              <a:rPr lang="fa-IR" sz="2000" b="1" dirty="0" smtClean="0">
                <a:cs typeface="2  Traffic" pitchFamily="2" charset="-78"/>
              </a:rPr>
              <a:t>انتساب و مقداردهی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6914" y="3497941"/>
            <a:ext cx="4492171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 algn="r"/>
            <a:r>
              <a:rPr lang="fa-IR" sz="2000" b="1" dirty="0" smtClean="0">
                <a:cs typeface="2  Traffic" pitchFamily="2" charset="-78"/>
              </a:rPr>
              <a:t>انواع داده عددی</a:t>
            </a:r>
          </a:p>
          <a:p>
            <a:pPr lvl="1" algn="r"/>
            <a:r>
              <a:rPr lang="fa-IR" sz="2000" b="1" dirty="0" smtClean="0">
                <a:cs typeface="2  Traffic" pitchFamily="2" charset="-78"/>
              </a:rPr>
              <a:t>انواع داده شمارشی</a:t>
            </a:r>
          </a:p>
          <a:p>
            <a:pPr lvl="1" algn="r"/>
            <a:r>
              <a:rPr lang="fa-IR" sz="2000" b="1" dirty="0" smtClean="0">
                <a:cs typeface="2  Traffic" pitchFamily="2" charset="-78"/>
              </a:rPr>
              <a:t>انواع داده بولی</a:t>
            </a:r>
          </a:p>
          <a:p>
            <a:pPr lvl="1" algn="r"/>
            <a:r>
              <a:rPr lang="fa-IR" sz="2000" b="1" dirty="0" smtClean="0">
                <a:cs typeface="2  Traffic" pitchFamily="2" charset="-78"/>
              </a:rPr>
              <a:t>انواع داده کارکتری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1429" y="5058210"/>
            <a:ext cx="4441373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 algn="r"/>
            <a:r>
              <a:rPr lang="fa-IR" sz="2000" b="1" dirty="0" smtClean="0">
                <a:cs typeface="2  Traffic" pitchFamily="2" charset="-78"/>
              </a:rPr>
              <a:t>رشته های کارکتری</a:t>
            </a:r>
          </a:p>
          <a:p>
            <a:pPr lvl="1" algn="r"/>
            <a:r>
              <a:rPr lang="fa-IR" sz="2000" b="1" dirty="0" smtClean="0">
                <a:cs typeface="2  Traffic" pitchFamily="2" charset="-78"/>
              </a:rPr>
              <a:t>اشاره گرها و اشیاء داده برنامه نویس</a:t>
            </a:r>
          </a:p>
          <a:p>
            <a:pPr lvl="1" algn="r"/>
            <a:r>
              <a:rPr lang="fa-IR" sz="2000" b="1" dirty="0" smtClean="0">
                <a:cs typeface="2  Traffic" pitchFamily="2" charset="-78"/>
              </a:rPr>
              <a:t>فایلهای ورودی و خروجی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5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algn="ctr" rtl="1"/>
            <a:r>
              <a:rPr lang="fa-IR" dirty="0" smtClean="0">
                <a:cs typeface="2  Titr" pitchFamily="2" charset="-78"/>
              </a:rPr>
              <a:t>مقدمه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223234" name="Rectangle 2"/>
          <p:cNvSpPr>
            <a:spLocks noGrp="1" noChangeArrowheads="1"/>
          </p:cNvSpPr>
          <p:nvPr>
            <p:ph idx="1"/>
          </p:nvPr>
        </p:nvSpPr>
        <p:spPr>
          <a:xfrm>
            <a:off x="914400" y="1992313"/>
            <a:ext cx="7950200" cy="4368800"/>
          </a:xfrm>
        </p:spPr>
        <p:txBody>
          <a:bodyPr>
            <a:normAutofit/>
          </a:bodyPr>
          <a:lstStyle/>
          <a:p>
            <a:pPr algn="r" rtl="1"/>
            <a:r>
              <a:rPr lang="fa-IR" sz="3600" dirty="0">
                <a:cs typeface="2  Traffic" pitchFamily="2" charset="-78"/>
              </a:rPr>
              <a:t>هر برنامه صرفنظر از نوع زبان مجموعه ای از عملیات است که باید به ترتیب خاصی بر روی داده ها اجرا شوند</a:t>
            </a:r>
            <a:r>
              <a:rPr lang="fa-IR" sz="3600" dirty="0" smtClean="0">
                <a:cs typeface="2  Traffic" pitchFamily="2" charset="-78"/>
              </a:rPr>
              <a:t>.</a:t>
            </a:r>
          </a:p>
          <a:p>
            <a:pPr algn="r" rtl="1"/>
            <a:r>
              <a:rPr lang="fa-IR" sz="3600" dirty="0" smtClean="0">
                <a:cs typeface="2  Traffic" pitchFamily="2" charset="-78"/>
              </a:rPr>
              <a:t>تفاوتهای </a:t>
            </a:r>
            <a:r>
              <a:rPr lang="fa-IR" sz="3600" dirty="0">
                <a:cs typeface="2  Traffic" pitchFamily="2" charset="-78"/>
              </a:rPr>
              <a:t>بین زبانها ناشی از انواع </a:t>
            </a:r>
            <a:r>
              <a:rPr lang="fa-IR" sz="3600" dirty="0" smtClean="0">
                <a:cs typeface="2  Traffic" pitchFamily="2" charset="-78"/>
              </a:rPr>
              <a:t>داده</a:t>
            </a:r>
            <a:r>
              <a:rPr lang="en-US" sz="3600" dirty="0" smtClean="0">
                <a:cs typeface="2  Traffic" pitchFamily="2" charset="-78"/>
              </a:rPr>
              <a:t> </a:t>
            </a:r>
            <a:r>
              <a:rPr lang="fa-IR" sz="3600" dirty="0" smtClean="0">
                <a:cs typeface="2  Traffic" pitchFamily="2" charset="-78"/>
              </a:rPr>
              <a:t>ها</a:t>
            </a:r>
            <a:r>
              <a:rPr lang="fa-IR" sz="3600" dirty="0">
                <a:cs typeface="2  Traffic" pitchFamily="2" charset="-78"/>
              </a:rPr>
              <a:t>، عملیات موجود و مکانیزم کنترل ترتیب اجرای عملیات بر روی داده ها است</a:t>
            </a:r>
            <a:r>
              <a:rPr lang="fa-IR" sz="3600" dirty="0" smtClean="0">
                <a:cs typeface="2  Traffic" pitchFamily="2" charset="-78"/>
              </a:rPr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9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304800"/>
            <a:ext cx="8280400" cy="762000"/>
          </a:xfrm>
          <a:noFill/>
          <a:ln/>
        </p:spPr>
        <p:txBody>
          <a:bodyPr/>
          <a:lstStyle/>
          <a:p>
            <a:pPr algn="ctr" rtl="1"/>
            <a:r>
              <a:rPr lang="fa-IR" dirty="0">
                <a:cs typeface="2  Titr" pitchFamily="2" charset="-78"/>
              </a:rPr>
              <a:t>خواص انواع و اشیاء 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224258" name="Rectangle 2"/>
          <p:cNvSpPr>
            <a:spLocks noGrp="1" noChangeArrowheads="1"/>
          </p:cNvSpPr>
          <p:nvPr>
            <p:ph idx="1"/>
          </p:nvPr>
        </p:nvSpPr>
        <p:spPr>
          <a:xfrm>
            <a:off x="1143000" y="1371600"/>
            <a:ext cx="7721600" cy="4989513"/>
          </a:xfrm>
        </p:spPr>
        <p:txBody>
          <a:bodyPr>
            <a:normAutofit fontScale="92500" lnSpcReduction="10000"/>
          </a:bodyPr>
          <a:lstStyle/>
          <a:p>
            <a:pPr algn="r" rtl="1">
              <a:buFont typeface="Wingdings" pitchFamily="2" charset="2"/>
              <a:buChar char="v"/>
            </a:pP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 اشیای داده</a:t>
            </a:r>
            <a:endParaRPr lang="fa-IR" sz="3400" b="1" dirty="0">
              <a:solidFill>
                <a:srgbClr val="FF0000"/>
              </a:solidFill>
              <a:cs typeface="2  Traffic" pitchFamily="2" charset="-78"/>
            </a:endParaRPr>
          </a:p>
          <a:p>
            <a:pPr algn="r" rtl="1"/>
            <a:r>
              <a:rPr lang="fa-IR" dirty="0">
                <a:cs typeface="2  Traffic" pitchFamily="2" charset="-78"/>
              </a:rPr>
              <a:t>از اصطلاح شی داده برای گروهبندی زمان اجرای یک یا چند قطعه از داده ها در کامپیوتر مجازی استفاده می کنیم.</a:t>
            </a:r>
          </a:p>
          <a:p>
            <a:pPr algn="r" rtl="1"/>
            <a:r>
              <a:rPr lang="fa-IR" dirty="0">
                <a:cs typeface="2  Traffic" pitchFamily="2" charset="-78"/>
              </a:rPr>
              <a:t>بعضی اشیا در حین اجرای برنامه توسط برنامه نویس تعریف شده اند</a:t>
            </a:r>
            <a:r>
              <a:rPr lang="fa-IR" dirty="0" smtClean="0">
                <a:cs typeface="2  Traffic" pitchFamily="2" charset="-78"/>
              </a:rPr>
              <a:t>. مثل متغیر</a:t>
            </a:r>
          </a:p>
          <a:p>
            <a:pPr lvl="1" algn="r" rtl="1"/>
            <a:r>
              <a:rPr lang="fa-IR" dirty="0" smtClean="0">
                <a:cs typeface="2  Traffic" pitchFamily="2" charset="-78"/>
              </a:rPr>
              <a:t>این اشیا توسط برنامه نویس تغییر می یابند.</a:t>
            </a:r>
            <a:endParaRPr lang="fa-IR" dirty="0">
              <a:cs typeface="2  Traffic" pitchFamily="2" charset="-78"/>
            </a:endParaRPr>
          </a:p>
          <a:p>
            <a:pPr algn="r" rtl="1"/>
            <a:r>
              <a:rPr lang="fa-IR" dirty="0">
                <a:cs typeface="2  Traffic" pitchFamily="2" charset="-78"/>
              </a:rPr>
              <a:t>بعضی از اشیای داده توسط سیستم تعریف می شوند</a:t>
            </a:r>
            <a:r>
              <a:rPr lang="fa-IR" dirty="0" smtClean="0">
                <a:cs typeface="2  Traffic" pitchFamily="2" charset="-78"/>
              </a:rPr>
              <a:t>. مثل پشته ی زمان اجرا</a:t>
            </a:r>
            <a:endParaRPr lang="fa-IR" dirty="0">
              <a:cs typeface="2  Traffic" pitchFamily="2" charset="-78"/>
            </a:endParaRPr>
          </a:p>
          <a:p>
            <a:pPr lvl="1" algn="r" rtl="1"/>
            <a:r>
              <a:rPr lang="fa-IR" dirty="0">
                <a:cs typeface="2  Traffic" pitchFamily="2" charset="-78"/>
              </a:rPr>
              <a:t>اجزای تعریف شده توسط سیستم در حین اجرای برنامه در صورت نیاز به طور خودکار ایجاد می شوند.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3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225282" name="Rectangle 2"/>
          <p:cNvSpPr>
            <a:spLocks noGrp="1" noChangeArrowheads="1"/>
          </p:cNvSpPr>
          <p:nvPr>
            <p:ph idx="1"/>
          </p:nvPr>
        </p:nvSpPr>
        <p:spPr>
          <a:xfrm>
            <a:off x="990600" y="1992313"/>
            <a:ext cx="7874000" cy="4368800"/>
          </a:xfrm>
        </p:spPr>
        <p:txBody>
          <a:bodyPr>
            <a:normAutofit fontScale="85000" lnSpcReduction="10000"/>
          </a:bodyPr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اشیای </a:t>
            </a: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داده</a:t>
            </a:r>
            <a:endParaRPr lang="fa-IR" sz="3400" b="1" dirty="0">
              <a:solidFill>
                <a:srgbClr val="FF0000"/>
              </a:solidFill>
              <a:cs typeface="2  Traffic" pitchFamily="2" charset="-78"/>
            </a:endParaRPr>
          </a:p>
          <a:p>
            <a:pPr algn="r" rtl="1"/>
            <a:r>
              <a:rPr lang="fa-IR" dirty="0">
                <a:cs typeface="2  Traffic" pitchFamily="2" charset="-78"/>
              </a:rPr>
              <a:t>شی داده ظرفی برای مقادیر داده </a:t>
            </a:r>
            <a:r>
              <a:rPr lang="fa-IR" dirty="0" smtClean="0">
                <a:cs typeface="2  Traffic" pitchFamily="2" charset="-78"/>
              </a:rPr>
              <a:t>است یعنی محلی که مقادیر در آن ذخیره می شود.</a:t>
            </a:r>
            <a:r>
              <a:rPr lang="en-US" dirty="0" smtClean="0">
                <a:cs typeface="2  Traffic" pitchFamily="2" charset="-78"/>
              </a:rPr>
              <a:t> </a:t>
            </a:r>
            <a:r>
              <a:rPr lang="fa-IR" dirty="0" smtClean="0">
                <a:cs typeface="2  Traffic" pitchFamily="2" charset="-78"/>
              </a:rPr>
              <a:t>شی داده توسط مجموعه ای از صفات بیان می شود که مهمترین آن نوع داده می باشد.</a:t>
            </a:r>
            <a:endParaRPr lang="fa-IR" dirty="0">
              <a:cs typeface="2  Traffic" pitchFamily="2" charset="-78"/>
            </a:endParaRPr>
          </a:p>
          <a:p>
            <a:pPr algn="r" rtl="1"/>
            <a:r>
              <a:rPr lang="fa-IR" dirty="0">
                <a:cs typeface="2  Traffic" pitchFamily="2" charset="-78"/>
              </a:rPr>
              <a:t>مقدار داده ممکن است یک عدد ، کاراکتر یا اشاره گری به شی داده دیگر باشد.</a:t>
            </a:r>
          </a:p>
          <a:p>
            <a:pPr algn="r" rtl="1"/>
            <a:r>
              <a:rPr lang="fa-IR" dirty="0">
                <a:cs typeface="2  Traffic" pitchFamily="2" charset="-78"/>
              </a:rPr>
              <a:t>اگر شی داده حاوی مقداری باشد که همیشه به عنوان یک واحد دستکاری شود آن را </a:t>
            </a:r>
            <a:r>
              <a:rPr lang="fa-IR" dirty="0" smtClean="0">
                <a:cs typeface="2  Traffic" pitchFamily="2" charset="-78"/>
              </a:rPr>
              <a:t>شی </a:t>
            </a:r>
            <a:r>
              <a:rPr lang="fa-IR" dirty="0">
                <a:cs typeface="2  Traffic" pitchFamily="2" charset="-78"/>
              </a:rPr>
              <a:t>داده اولیه گویند.</a:t>
            </a:r>
          </a:p>
          <a:p>
            <a:pPr algn="r" rtl="1"/>
            <a:r>
              <a:rPr lang="fa-IR" dirty="0">
                <a:cs typeface="2  Traffic" pitchFamily="2" charset="-78"/>
              </a:rPr>
              <a:t>اگر شی داده مجموعه ای از سایر اشیای داده باشد ساختمان نامیده می شود.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7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226306" name="Rectangle 2"/>
          <p:cNvSpPr>
            <a:spLocks noGrp="1" noChangeArrowheads="1"/>
          </p:cNvSpPr>
          <p:nvPr>
            <p:ph idx="1"/>
          </p:nvPr>
        </p:nvSpPr>
        <p:spPr>
          <a:xfrm>
            <a:off x="1219200" y="1992313"/>
            <a:ext cx="76454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اشیای </a:t>
            </a: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داده</a:t>
            </a:r>
            <a:endParaRPr lang="fa-IR" sz="3400" b="1" dirty="0">
              <a:solidFill>
                <a:srgbClr val="FF0000"/>
              </a:solidFill>
              <a:cs typeface="2  Traffic" pitchFamily="2" charset="-78"/>
            </a:endParaRPr>
          </a:p>
          <a:p>
            <a:pPr algn="r" rtl="1"/>
            <a:r>
              <a:rPr lang="fa-IR" dirty="0">
                <a:cs typeface="2  Traffic" pitchFamily="2" charset="-78"/>
              </a:rPr>
              <a:t>شی </a:t>
            </a:r>
            <a:r>
              <a:rPr lang="fa-IR" dirty="0" smtClean="0">
                <a:cs typeface="2  Traffic" pitchFamily="2" charset="-78"/>
              </a:rPr>
              <a:t>داده در طول عمر خود انقیادهای گوناگونی می پذیرد که مهمترین آنها عبارتند از:</a:t>
            </a:r>
            <a:endParaRPr lang="fa-IR" dirty="0">
              <a:cs typeface="2  Traffic" pitchFamily="2" charset="-78"/>
            </a:endParaRPr>
          </a:p>
          <a:p>
            <a:pPr lvl="1" algn="r" rtl="1"/>
            <a:r>
              <a:rPr lang="fa-IR" dirty="0">
                <a:cs typeface="2  Traffic" pitchFamily="2" charset="-78"/>
              </a:rPr>
              <a:t>نوع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محل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مقدار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نام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اجزاء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1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0" y="20502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خواص انواع و اشیاء 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967023"/>
            <a:ext cx="7643813" cy="52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7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خواص انواع و اشیاء 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1462245"/>
            <a:ext cx="7572375" cy="4824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Define vs Constant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2000" dirty="0">
                <a:cs typeface="2  Badr" panose="00000400000000000000" pitchFamily="2" charset="-78"/>
              </a:rPr>
              <a:t>ثوابت مقادیر  در برنامه هستند که در طول اجرای برنامه ثابت هستند و تغییر مقدار آن ها امکان پذیر نیست . برای تعریف ثابت ها در زبان  ++</a:t>
            </a:r>
            <a:r>
              <a:rPr lang="en-US" sz="2000" dirty="0">
                <a:cs typeface="2  Badr" panose="00000400000000000000" pitchFamily="2" charset="-78"/>
              </a:rPr>
              <a:t>C </a:t>
            </a:r>
            <a:r>
              <a:rPr lang="fa-IR" sz="2000" dirty="0">
                <a:cs typeface="2  Badr" panose="00000400000000000000" pitchFamily="2" charset="-78"/>
              </a:rPr>
              <a:t>میتوان از کلمات کلیدی </a:t>
            </a:r>
            <a:r>
              <a:rPr lang="en-US" sz="2000" dirty="0" err="1">
                <a:cs typeface="2  Badr" panose="00000400000000000000" pitchFamily="2" charset="-78"/>
              </a:rPr>
              <a:t>Const</a:t>
            </a:r>
            <a:r>
              <a:rPr lang="en-US" sz="2000" dirty="0">
                <a:cs typeface="2  Badr" panose="00000400000000000000" pitchFamily="2" charset="-78"/>
              </a:rPr>
              <a:t> </a:t>
            </a:r>
            <a:r>
              <a:rPr lang="fa-IR" sz="2000" dirty="0">
                <a:cs typeface="2  Badr" panose="00000400000000000000" pitchFamily="2" charset="-78"/>
              </a:rPr>
              <a:t>و یا دستور </a:t>
            </a:r>
            <a:r>
              <a:rPr lang="en-US" sz="2000" dirty="0">
                <a:cs typeface="2  Badr" panose="00000400000000000000" pitchFamily="2" charset="-78"/>
              </a:rPr>
              <a:t>define# </a:t>
            </a:r>
            <a:r>
              <a:rPr lang="fa-IR" sz="2000" dirty="0">
                <a:cs typeface="2  Badr" panose="00000400000000000000" pitchFamily="2" charset="-78"/>
              </a:rPr>
              <a:t>استفاده کرد</a:t>
            </a:r>
            <a:r>
              <a:rPr lang="fa-IR" sz="2000" dirty="0" smtClean="0">
                <a:cs typeface="2  Badr" panose="00000400000000000000" pitchFamily="2" charset="-78"/>
              </a:rPr>
              <a:t>.</a:t>
            </a:r>
            <a:endParaRPr lang="en-US" sz="2000" dirty="0">
              <a:cs typeface="2  Badr" panose="00000400000000000000" pitchFamily="2" charset="-78"/>
            </a:endParaRPr>
          </a:p>
          <a:p>
            <a:pPr algn="r" rtl="1"/>
            <a:r>
              <a:rPr lang="fa-IR" sz="2000" b="1" dirty="0">
                <a:cs typeface="2  Badr" panose="00000400000000000000" pitchFamily="2" charset="-78"/>
              </a:rPr>
              <a:t>برای تعریف ثوابت دستور </a:t>
            </a:r>
            <a:r>
              <a:rPr lang="en-US" sz="2000" b="1" dirty="0" smtClean="0">
                <a:cs typeface="2  Badr" panose="00000400000000000000" pitchFamily="2" charset="-78"/>
              </a:rPr>
              <a:t> define</a:t>
            </a:r>
            <a:r>
              <a:rPr lang="en-US" sz="2000" b="1" dirty="0">
                <a:cs typeface="2  Badr" panose="00000400000000000000" pitchFamily="2" charset="-78"/>
              </a:rPr>
              <a:t># </a:t>
            </a:r>
            <a:r>
              <a:rPr lang="fa-IR" sz="2000" b="1" dirty="0">
                <a:cs typeface="2  Badr" panose="00000400000000000000" pitchFamily="2" charset="-78"/>
              </a:rPr>
              <a:t>به صورت زیر عمل می شود : </a:t>
            </a:r>
            <a:endParaRPr lang="fa-IR" sz="2000" dirty="0">
              <a:cs typeface="2  Badr" panose="00000400000000000000" pitchFamily="2" charset="-78"/>
            </a:endParaRPr>
          </a:p>
          <a:p>
            <a:pPr algn="l"/>
            <a:r>
              <a:rPr lang="en-US" dirty="0"/>
              <a:t>#</a:t>
            </a:r>
            <a:r>
              <a:rPr lang="en-US" dirty="0" smtClean="0"/>
              <a:t>define  </a:t>
            </a:r>
            <a:r>
              <a:rPr lang="fa-IR" sz="2000" dirty="0"/>
              <a:t>مقدار نام </a:t>
            </a:r>
            <a:r>
              <a:rPr lang="fa-IR" sz="2000" dirty="0" smtClean="0"/>
              <a:t>ثابت</a:t>
            </a:r>
            <a:endParaRPr lang="en-US" sz="2000" dirty="0" smtClean="0"/>
          </a:p>
          <a:p>
            <a:pPr algn="l"/>
            <a:endParaRPr lang="en-US" sz="1400" dirty="0" smtClean="0">
              <a:cs typeface="2  Badr" panose="00000400000000000000" pitchFamily="2" charset="-78"/>
            </a:endParaRPr>
          </a:p>
          <a:p>
            <a:pPr algn="r" rtl="1"/>
            <a:endParaRPr lang="en-US" sz="1600" b="1" dirty="0" smtClean="0"/>
          </a:p>
          <a:p>
            <a:pPr algn="r" rtl="1"/>
            <a:endParaRPr lang="en-US" sz="1600" b="1" dirty="0"/>
          </a:p>
          <a:p>
            <a:r>
              <a:rPr lang="en-US" sz="1600" b="1" dirty="0" smtClean="0"/>
              <a:t>                                       </a:t>
            </a:r>
            <a:r>
              <a:rPr lang="fa-IR" sz="1600" b="1" dirty="0" smtClean="0"/>
              <a:t>برای </a:t>
            </a:r>
            <a:r>
              <a:rPr lang="fa-IR" sz="1600" b="1" dirty="0"/>
              <a:t>تعریف ثوابت با دستور </a:t>
            </a:r>
            <a:r>
              <a:rPr lang="en-US" sz="1600" b="1" dirty="0" err="1"/>
              <a:t>Const</a:t>
            </a:r>
            <a:r>
              <a:rPr lang="en-US" sz="1600" b="1" dirty="0"/>
              <a:t> </a:t>
            </a:r>
            <a:r>
              <a:rPr lang="fa-IR" sz="1600" b="1" dirty="0"/>
              <a:t>به صورت زیر عمل می </a:t>
            </a:r>
            <a:r>
              <a:rPr lang="fa-IR" sz="1600" b="1" dirty="0" smtClean="0"/>
              <a:t>شود</a:t>
            </a:r>
            <a:r>
              <a:rPr lang="en-US" sz="1600" b="1" dirty="0" smtClean="0"/>
              <a:t>                                          </a:t>
            </a:r>
            <a:r>
              <a:rPr lang="en-US" sz="1400" dirty="0" smtClean="0">
                <a:cs typeface="2  Badr" panose="00000400000000000000" pitchFamily="2" charset="-78"/>
              </a:rPr>
              <a:t/>
            </a:r>
            <a:br>
              <a:rPr lang="en-US" sz="1400" dirty="0" smtClean="0">
                <a:cs typeface="2  Badr" panose="00000400000000000000" pitchFamily="2" charset="-78"/>
              </a:rPr>
            </a:br>
            <a:r>
              <a:rPr lang="en-US" dirty="0" smtClean="0"/>
              <a:t> </a:t>
            </a:r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fa-IR" sz="1800" dirty="0"/>
              <a:t>مقدار = نام ثابت  نوع داده</a:t>
            </a:r>
            <a:endParaRPr lang="en-US" sz="1800" dirty="0">
              <a:cs typeface="2  Badr" panose="00000400000000000000" pitchFamily="2" charset="-78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10929"/>
              </p:ext>
            </p:extLst>
          </p:nvPr>
        </p:nvGraphicFramePr>
        <p:xfrm>
          <a:off x="1371600" y="5257800"/>
          <a:ext cx="3352800" cy="91440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37130517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/>
                      </a:r>
                      <a:br>
                        <a:rPr lang="en-US" dirty="0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</a:br>
                      <a:r>
                        <a:rPr lang="en-US" dirty="0" err="1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const</a:t>
                      </a:r>
                      <a:r>
                        <a:rPr lang="en-US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  </a:t>
                      </a:r>
                      <a:r>
                        <a:rPr lang="en-US" dirty="0" err="1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int</a:t>
                      </a:r>
                      <a:r>
                        <a:rPr lang="en-US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en-US" dirty="0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a</a:t>
                      </a:r>
                      <a:r>
                        <a:rPr lang="en-US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= </a:t>
                      </a:r>
                      <a:r>
                        <a:rPr lang="en-US" dirty="0">
                          <a:solidFill>
                            <a:srgbClr val="CE0000"/>
                          </a:solidFill>
                          <a:effectLst/>
                          <a:latin typeface="inherit"/>
                        </a:rPr>
                        <a:t>20</a:t>
                      </a:r>
                      <a:r>
                        <a:rPr lang="en-US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,</a:t>
                      </a:r>
                      <a:r>
                        <a:rPr lang="en-US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en-US" dirty="0" err="1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int</a:t>
                      </a:r>
                      <a:r>
                        <a:rPr lang="en-US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en-US" dirty="0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b</a:t>
                      </a:r>
                      <a:r>
                        <a:rPr lang="en-US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= </a:t>
                      </a:r>
                      <a:r>
                        <a:rPr lang="en-US" dirty="0">
                          <a:solidFill>
                            <a:srgbClr val="CE0000"/>
                          </a:solidFill>
                          <a:effectLst/>
                          <a:latin typeface="inherit"/>
                        </a:rPr>
                        <a:t>30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;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t"/>
                      <a:r>
                        <a:rPr lang="en-US" dirty="0" err="1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const</a:t>
                      </a:r>
                      <a:r>
                        <a:rPr lang="en-US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  </a:t>
                      </a:r>
                      <a:r>
                        <a:rPr lang="en-US" dirty="0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char</a:t>
                      </a:r>
                      <a:r>
                        <a:rPr lang="en-US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en-US" dirty="0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s</a:t>
                      </a:r>
                      <a:r>
                        <a:rPr lang="en-US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= 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‘a’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;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75275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077080"/>
              </p:ext>
            </p:extLst>
          </p:nvPr>
        </p:nvGraphicFramePr>
        <p:xfrm>
          <a:off x="1523340" y="3429000"/>
          <a:ext cx="3049320" cy="640080"/>
        </p:xfrm>
        <a:graphic>
          <a:graphicData uri="http://schemas.openxmlformats.org/drawingml/2006/table">
            <a:tbl>
              <a:tblPr/>
              <a:tblGrid>
                <a:gridCol w="584279">
                  <a:extLst>
                    <a:ext uri="{9D8B030D-6E8A-4147-A177-3AD203B41FA5}">
                      <a16:colId xmlns:a16="http://schemas.microsoft.com/office/drawing/2014/main" val="1130033933"/>
                    </a:ext>
                  </a:extLst>
                </a:gridCol>
                <a:gridCol w="2465041">
                  <a:extLst>
                    <a:ext uri="{9D8B030D-6E8A-4147-A177-3AD203B41FA5}">
                      <a16:colId xmlns:a16="http://schemas.microsoft.com/office/drawing/2014/main" val="7269612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1</a:t>
                      </a:r>
                    </a:p>
                    <a:p>
                      <a:pPr algn="ctr" fontAlgn="t"/>
                      <a:r>
                        <a:rPr lang="en-US">
                          <a:solidFill>
                            <a:srgbClr val="317CC5"/>
                          </a:solidFill>
                          <a:effectLst/>
                          <a:latin typeface="inherit"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B85C00"/>
                          </a:solidFill>
                          <a:effectLst/>
                          <a:latin typeface="inherit"/>
                        </a:rPr>
                        <a:t>#define sum 200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t"/>
                      <a:r>
                        <a:rPr lang="en-US" dirty="0">
                          <a:solidFill>
                            <a:srgbClr val="B85C00"/>
                          </a:solidFill>
                          <a:effectLst/>
                          <a:latin typeface="inherit"/>
                        </a:rPr>
                        <a:t>#define p 3.14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146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928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5" name="Rectangle 3"/>
          <p:cNvSpPr>
            <a:spLocks noGrp="1" noChangeArrowheads="1"/>
          </p:cNvSpPr>
          <p:nvPr>
            <p:ph type="title"/>
          </p:nvPr>
        </p:nvSpPr>
        <p:spPr>
          <a:xfrm>
            <a:off x="939800" y="228600"/>
            <a:ext cx="8280400" cy="762000"/>
          </a:xfrm>
          <a:noFill/>
          <a:ln/>
        </p:spPr>
        <p:txBody>
          <a:bodyPr>
            <a:normAutofit fontScale="90000"/>
          </a:bodyPr>
          <a:lstStyle/>
          <a:p>
            <a:pPr rtl="1"/>
            <a:r>
              <a:rPr lang="fa-IR" b="1" dirty="0" smtClean="0">
                <a:solidFill>
                  <a:srgbClr val="FF0000"/>
                </a:solidFill>
                <a:cs typeface="2  Traffic" pitchFamily="2" charset="-78"/>
              </a:rPr>
              <a:t/>
            </a:r>
            <a:br>
              <a:rPr lang="fa-IR" b="1" dirty="0" smtClean="0">
                <a:solidFill>
                  <a:srgbClr val="FF0000"/>
                </a:solidFill>
                <a:cs typeface="2  Traffic" pitchFamily="2" charset="-78"/>
              </a:rPr>
            </a:br>
            <a:r>
              <a:rPr lang="fa-IR" dirty="0" smtClean="0">
                <a:cs typeface="2  Titr" pitchFamily="2" charset="-78"/>
              </a:rPr>
              <a:t>خواص انواع و اشیاء 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228354" name="Rectangle 2"/>
          <p:cNvSpPr>
            <a:spLocks noGrp="1" noChangeArrowheads="1"/>
          </p:cNvSpPr>
          <p:nvPr>
            <p:ph idx="1"/>
          </p:nvPr>
        </p:nvSpPr>
        <p:spPr>
          <a:xfrm>
            <a:off x="1219200" y="3240087"/>
            <a:ext cx="7645400" cy="3465513"/>
          </a:xfrm>
        </p:spPr>
        <p:txBody>
          <a:bodyPr>
            <a:normAutofit fontScale="92500" lnSpcReduction="20000"/>
          </a:bodyPr>
          <a:lstStyle/>
          <a:p>
            <a:pPr algn="r" rtl="1"/>
            <a:r>
              <a:rPr lang="fa-IR" sz="2600" b="1" dirty="0" smtClean="0">
                <a:solidFill>
                  <a:srgbClr val="0000FF"/>
                </a:solidFill>
                <a:cs typeface="2  Traffic" pitchFamily="2" charset="-78"/>
              </a:rPr>
              <a:t>ماندگاری : </a:t>
            </a:r>
            <a:r>
              <a:rPr lang="fa-IR" sz="2600" dirty="0" smtClean="0">
                <a:cs typeface="2  Traffic" pitchFamily="2" charset="-78"/>
              </a:rPr>
              <a:t>داده ها ماندگارند ولی متغییرها عمر محدود دارند.</a:t>
            </a:r>
            <a:endParaRPr lang="fa-IR" sz="2600" b="1" dirty="0">
              <a:solidFill>
                <a:srgbClr val="0000FF"/>
              </a:solidFill>
              <a:cs typeface="2  Traffic" pitchFamily="2" charset="-78"/>
            </a:endParaRPr>
          </a:p>
          <a:p>
            <a:pPr algn="r" rtl="1"/>
            <a:r>
              <a:rPr lang="fa-IR" sz="2600" dirty="0">
                <a:cs typeface="2  Traffic" pitchFamily="2" charset="-78"/>
              </a:rPr>
              <a:t>اغلب برنامه های امروزی هنوز براساس مدل پردازش دسته ای نوشته می شوند.</a:t>
            </a:r>
          </a:p>
          <a:p>
            <a:pPr algn="r" rtl="1">
              <a:buFontTx/>
              <a:buNone/>
            </a:pPr>
            <a:r>
              <a:rPr lang="fa-IR" sz="2600" dirty="0">
                <a:cs typeface="2  Traffic" pitchFamily="2" charset="-78"/>
              </a:rPr>
              <a:t>یعنی برنامه نویس دنباله از رویدادهای زیر را فرض می کند:</a:t>
            </a:r>
          </a:p>
          <a:p>
            <a:pPr algn="r" rtl="1"/>
            <a:r>
              <a:rPr lang="fa-IR" sz="2600" dirty="0">
                <a:cs typeface="2  Traffic" pitchFamily="2" charset="-78"/>
              </a:rPr>
              <a:t>برنامه به حافظه بار می شود.</a:t>
            </a:r>
          </a:p>
          <a:p>
            <a:pPr algn="r" rtl="1"/>
            <a:r>
              <a:rPr lang="fa-IR" sz="2600" dirty="0">
                <a:solidFill>
                  <a:srgbClr val="FF0000"/>
                </a:solidFill>
                <a:cs typeface="2  Traffic" pitchFamily="2" charset="-78"/>
              </a:rPr>
              <a:t>داده</a:t>
            </a:r>
            <a:r>
              <a:rPr lang="fa-IR" sz="2600" dirty="0">
                <a:cs typeface="2  Traffic" pitchFamily="2" charset="-78"/>
              </a:rPr>
              <a:t> خارجی </a:t>
            </a:r>
            <a:r>
              <a:rPr lang="fa-IR" sz="2600" dirty="0" smtClean="0">
                <a:cs typeface="2  Traffic" pitchFamily="2" charset="-78"/>
              </a:rPr>
              <a:t>مناسب(دیسک و نوار) </a:t>
            </a:r>
            <a:r>
              <a:rPr lang="fa-IR" sz="2600" dirty="0">
                <a:cs typeface="2  Traffic" pitchFamily="2" charset="-78"/>
              </a:rPr>
              <a:t>برای برنامه مهیایند.</a:t>
            </a:r>
          </a:p>
          <a:p>
            <a:pPr algn="r" rtl="1"/>
            <a:r>
              <a:rPr lang="fa-IR" sz="2600" dirty="0">
                <a:solidFill>
                  <a:srgbClr val="FF0000"/>
                </a:solidFill>
                <a:cs typeface="2  Traffic" pitchFamily="2" charset="-78"/>
              </a:rPr>
              <a:t>داده</a:t>
            </a:r>
            <a:r>
              <a:rPr lang="fa-IR" sz="2600" dirty="0">
                <a:cs typeface="2  Traffic" pitchFamily="2" charset="-78"/>
              </a:rPr>
              <a:t> ورودی موردنظر خوانده شده در </a:t>
            </a:r>
            <a:r>
              <a:rPr lang="fa-IR" sz="2600" dirty="0">
                <a:solidFill>
                  <a:srgbClr val="FF0000"/>
                </a:solidFill>
                <a:cs typeface="2  Traffic" pitchFamily="2" charset="-78"/>
              </a:rPr>
              <a:t>متغیرهایی</a:t>
            </a:r>
            <a:r>
              <a:rPr lang="fa-IR" sz="2600" dirty="0">
                <a:cs typeface="2  Traffic" pitchFamily="2" charset="-78"/>
              </a:rPr>
              <a:t> در حافظه قرار می </a:t>
            </a:r>
            <a:r>
              <a:rPr lang="fa-IR" sz="2600" dirty="0" smtClean="0">
                <a:cs typeface="2  Traffic" pitchFamily="2" charset="-78"/>
              </a:rPr>
              <a:t>گیرند. </a:t>
            </a:r>
            <a:r>
              <a:rPr lang="fa-IR" sz="2600" dirty="0" smtClean="0">
                <a:solidFill>
                  <a:srgbClr val="FF0000"/>
                </a:solidFill>
                <a:cs typeface="2  Traffic" pitchFamily="2" charset="-78"/>
              </a:rPr>
              <a:t>متغییرها</a:t>
            </a:r>
            <a:r>
              <a:rPr lang="fa-IR" sz="2600" dirty="0" smtClean="0">
                <a:cs typeface="2  Traffic" pitchFamily="2" charset="-78"/>
              </a:rPr>
              <a:t> دستکاری و نتیجه بر می گردد.</a:t>
            </a:r>
          </a:p>
          <a:p>
            <a:pPr algn="r" rtl="1"/>
            <a:r>
              <a:rPr lang="fa-IR" sz="2600" dirty="0" smtClean="0">
                <a:cs typeface="2  Traffic" pitchFamily="2" charset="-78"/>
              </a:rPr>
              <a:t>برنامه خاتمه می یابد.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895475"/>
            <a:ext cx="7848600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915397" y="1219200"/>
            <a:ext cx="67526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 algn="r" rtl="1">
              <a:buFont typeface="Wingdings" pitchFamily="2" charset="2"/>
              <a:buChar char="v"/>
            </a:pPr>
            <a:r>
              <a:rPr lang="fa-IR" sz="3200" b="1" dirty="0" smtClean="0">
                <a:solidFill>
                  <a:srgbClr val="FF0000"/>
                </a:solidFill>
              </a:rPr>
              <a:t>متغیرها و ثابتها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9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229378" name="Rectangle 2"/>
          <p:cNvSpPr>
            <a:spLocks noGrp="1" noChangeArrowheads="1"/>
          </p:cNvSpPr>
          <p:nvPr>
            <p:ph idx="1"/>
          </p:nvPr>
        </p:nvSpPr>
        <p:spPr>
          <a:xfrm>
            <a:off x="1143000" y="1992313"/>
            <a:ext cx="7721600" cy="4368800"/>
          </a:xfrm>
        </p:spPr>
        <p:txBody>
          <a:bodyPr>
            <a:normAutofit fontScale="92500" lnSpcReduction="20000"/>
          </a:bodyPr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انواع داده</a:t>
            </a:r>
          </a:p>
          <a:p>
            <a:pPr algn="r" rtl="1"/>
            <a:r>
              <a:rPr lang="fa-IR" dirty="0">
                <a:cs typeface="2  Traffic" pitchFamily="2" charset="-78"/>
              </a:rPr>
              <a:t>نوع داده طبقه ای از </a:t>
            </a:r>
            <a:r>
              <a:rPr lang="fa-IR" dirty="0" smtClean="0">
                <a:cs typeface="2  Traffic" pitchFamily="2" charset="-78"/>
              </a:rPr>
              <a:t>اشیای </a:t>
            </a:r>
            <a:r>
              <a:rPr lang="fa-IR" dirty="0">
                <a:cs typeface="2  Traffic" pitchFamily="2" charset="-78"/>
              </a:rPr>
              <a:t>داده به همراه مجموعه ای از عملیات برای ایجاد و دستکاری آنها است.</a:t>
            </a:r>
          </a:p>
          <a:p>
            <a:pPr algn="r" rtl="1"/>
            <a:r>
              <a:rPr lang="fa-IR" dirty="0">
                <a:cs typeface="2  Traffic" pitchFamily="2" charset="-78"/>
              </a:rPr>
              <a:t>زبان برنامه سازی الزاماً با انواع داده هایی مثل دسته از آرایه ها ، مقادیر صحیح ، یا فایلها و عملیات مربوط به دستکاری آرایه ها ، مقادیر صحیح یا فایلها سروکار دارد</a:t>
            </a:r>
            <a:r>
              <a:rPr lang="fa-IR" dirty="0" smtClean="0">
                <a:cs typeface="2  Traffic" pitchFamily="2" charset="-78"/>
              </a:rPr>
              <a:t>.</a:t>
            </a:r>
          </a:p>
          <a:p>
            <a:pPr algn="r" rtl="1">
              <a:buNone/>
            </a:pPr>
            <a:r>
              <a:rPr lang="fa-IR" b="1" dirty="0" smtClean="0">
                <a:solidFill>
                  <a:srgbClr val="FF0000"/>
                </a:solidFill>
                <a:cs typeface="2  Traffic" pitchFamily="2" charset="-78"/>
              </a:rPr>
              <a:t>بررسی نوع داده</a:t>
            </a:r>
          </a:p>
          <a:p>
            <a:pPr algn="r" rtl="1"/>
            <a:r>
              <a:rPr lang="fa-IR" dirty="0" smtClean="0">
                <a:cs typeface="2  Traffic" pitchFamily="2" charset="-78"/>
              </a:rPr>
              <a:t>مشخصات</a:t>
            </a:r>
          </a:p>
          <a:p>
            <a:pPr algn="r" rtl="1"/>
            <a:r>
              <a:rPr lang="fa-IR" dirty="0" smtClean="0">
                <a:cs typeface="2  Traffic" pitchFamily="2" charset="-78"/>
              </a:rPr>
              <a:t>پیاده سازی کردن</a:t>
            </a:r>
          </a:p>
          <a:p>
            <a:pPr algn="r" rtl="1">
              <a:buNone/>
            </a:pPr>
            <a:endParaRPr lang="fa-IR" b="1" dirty="0" smtClean="0">
              <a:solidFill>
                <a:schemeClr val="bg2"/>
              </a:solidFill>
              <a:cs typeface="2  Traffic" pitchFamily="2" charset="-78"/>
            </a:endParaRPr>
          </a:p>
          <a:p>
            <a:pPr algn="r" rtl="1">
              <a:buNone/>
            </a:pPr>
            <a:endParaRPr lang="fa-IR" dirty="0">
              <a:cs typeface="2  Traffic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3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230402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1992313"/>
            <a:ext cx="86360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انواع داده (ادامه)</a:t>
            </a:r>
          </a:p>
          <a:p>
            <a:pPr algn="r" rtl="1"/>
            <a:r>
              <a:rPr lang="fa-IR" dirty="0">
                <a:cs typeface="2  Traffic" pitchFamily="2" charset="-78"/>
              </a:rPr>
              <a:t>عناصر اصلی </a:t>
            </a:r>
            <a:r>
              <a:rPr lang="fa-IR" b="1" dirty="0">
                <a:cs typeface="2  Traffic" pitchFamily="2" charset="-78"/>
              </a:rPr>
              <a:t>مشخصات</a:t>
            </a:r>
            <a:r>
              <a:rPr lang="fa-IR" dirty="0">
                <a:cs typeface="2  Traffic" pitchFamily="2" charset="-78"/>
              </a:rPr>
              <a:t> یک نوع داده: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صفاتی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مقادیری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عملیاتی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3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286000"/>
            <a:ext cx="8153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3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230402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636000" cy="1131887"/>
          </a:xfrm>
        </p:spPr>
        <p:txBody>
          <a:bodyPr>
            <a:normAutofit lnSpcReduction="10000"/>
          </a:bodyPr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انواع داده (ادامه)</a:t>
            </a:r>
          </a:p>
          <a:p>
            <a:pPr algn="r" rtl="1"/>
            <a:r>
              <a:rPr lang="fa-IR" dirty="0">
                <a:cs typeface="2  Traffic" pitchFamily="2" charset="-78"/>
              </a:rPr>
              <a:t>عناصر اصلی </a:t>
            </a:r>
            <a:r>
              <a:rPr lang="fa-IR" dirty="0" smtClean="0">
                <a:cs typeface="2  Traffic" pitchFamily="2" charset="-78"/>
              </a:rPr>
              <a:t>پیاده سازی یک </a:t>
            </a:r>
            <a:r>
              <a:rPr lang="fa-IR" dirty="0">
                <a:cs typeface="2  Traffic" pitchFamily="2" charset="-78"/>
              </a:rPr>
              <a:t>نوع داده</a:t>
            </a:r>
            <a:r>
              <a:rPr lang="fa-IR" dirty="0" smtClean="0">
                <a:cs typeface="2  Traffic" pitchFamily="2" charset="-78"/>
              </a:rPr>
              <a:t>:</a:t>
            </a:r>
            <a:endParaRPr lang="fa-IR" dirty="0">
              <a:cs typeface="2  Traffic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667000"/>
            <a:ext cx="80772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1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خواص انواع و اشیاء 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232450" name="Rectangle 2"/>
          <p:cNvSpPr>
            <a:spLocks noGrp="1" noChangeArrowheads="1"/>
          </p:cNvSpPr>
          <p:nvPr>
            <p:ph idx="1"/>
          </p:nvPr>
        </p:nvSpPr>
        <p:spPr>
          <a:xfrm>
            <a:off x="914400" y="1306513"/>
            <a:ext cx="7950200" cy="5054600"/>
          </a:xfrm>
        </p:spPr>
        <p:txBody>
          <a:bodyPr>
            <a:noAutofit/>
          </a:bodyPr>
          <a:lstStyle/>
          <a:p>
            <a:pPr algn="r" rtl="1">
              <a:buFontTx/>
              <a:buNone/>
            </a:pPr>
            <a:r>
              <a:rPr lang="fa-IR" sz="2400" b="1" dirty="0">
                <a:solidFill>
                  <a:srgbClr val="FF0000"/>
                </a:solidFill>
                <a:cs typeface="2  Traffic" pitchFamily="2" charset="-78"/>
              </a:rPr>
              <a:t>انواع داده (ادامه)</a:t>
            </a:r>
          </a:p>
          <a:p>
            <a:pPr algn="r" rtl="1">
              <a:buFontTx/>
              <a:buNone/>
            </a:pPr>
            <a:r>
              <a:rPr lang="fa-IR" sz="2400" b="1" dirty="0">
                <a:cs typeface="2  Traffic" pitchFamily="2" charset="-78"/>
              </a:rPr>
              <a:t>   چهارعامل موجب می شوند تا تعریف عملیات زبان برنامه سازی دشوار شود:</a:t>
            </a:r>
          </a:p>
          <a:p>
            <a:pPr algn="r" rtl="1"/>
            <a:r>
              <a:rPr lang="fa-IR" sz="2400" dirty="0">
                <a:cs typeface="2  Traffic" pitchFamily="2" charset="-78"/>
              </a:rPr>
              <a:t>عملیاتی که برای ورودیهای خاصی تعریف نشده اند.</a:t>
            </a:r>
          </a:p>
          <a:p>
            <a:pPr algn="r" rtl="1"/>
            <a:r>
              <a:rPr lang="fa-IR" sz="2400" dirty="0">
                <a:cs typeface="2  Traffic" pitchFamily="2" charset="-78"/>
              </a:rPr>
              <a:t>آرگومانهای </a:t>
            </a:r>
            <a:r>
              <a:rPr lang="fa-IR" sz="2400" dirty="0" smtClean="0">
                <a:cs typeface="2  Traffic" pitchFamily="2" charset="-78"/>
              </a:rPr>
              <a:t>ضمنی  </a:t>
            </a:r>
            <a:endParaRPr lang="fa-IR" sz="2400" dirty="0">
              <a:cs typeface="2  Traffic" pitchFamily="2" charset="-78"/>
            </a:endParaRPr>
          </a:p>
          <a:p>
            <a:pPr algn="r" rtl="1"/>
            <a:r>
              <a:rPr lang="fa-IR" sz="2400" dirty="0">
                <a:cs typeface="2  Traffic" pitchFamily="2" charset="-78"/>
              </a:rPr>
              <a:t>اثرات جانبی (نتایج ضمنی</a:t>
            </a:r>
            <a:r>
              <a:rPr lang="fa-IR" sz="2400" dirty="0" smtClean="0">
                <a:cs typeface="2  Traffic" pitchFamily="2" charset="-78"/>
              </a:rPr>
              <a:t>):مانند تغییر ورودیهای تابع</a:t>
            </a:r>
            <a:endParaRPr lang="fa-IR" sz="2400" dirty="0">
              <a:cs typeface="2  Traffic" pitchFamily="2" charset="-78"/>
            </a:endParaRPr>
          </a:p>
          <a:p>
            <a:pPr algn="r" rtl="1"/>
            <a:r>
              <a:rPr lang="fa-IR" sz="2400" dirty="0">
                <a:cs typeface="2  Traffic" pitchFamily="2" charset="-78"/>
              </a:rPr>
              <a:t>خود </a:t>
            </a:r>
            <a:r>
              <a:rPr lang="fa-IR" sz="2400" dirty="0" smtClean="0">
                <a:cs typeface="2  Traffic" pitchFamily="2" charset="-78"/>
              </a:rPr>
              <a:t>اصلاحی (حساسیت به سابقه)</a:t>
            </a:r>
            <a:endParaRPr lang="fa-IR" sz="2400" dirty="0">
              <a:cs typeface="2  Traffic" pitchFamily="2" charset="-78"/>
            </a:endParaRPr>
          </a:p>
          <a:p>
            <a:pPr algn="r" rtl="1">
              <a:buFontTx/>
              <a:buNone/>
            </a:pPr>
            <a:r>
              <a:rPr lang="fa-IR" sz="2400" dirty="0">
                <a:cs typeface="2  Traffic" pitchFamily="2" charset="-78"/>
              </a:rPr>
              <a:t>اگر نوعی به عنوان بخشی از نوع بزرگتر باشد آن را </a:t>
            </a:r>
            <a:r>
              <a:rPr lang="fa-IR" sz="2400" b="1" dirty="0">
                <a:cs typeface="2  Traffic" pitchFamily="2" charset="-78"/>
              </a:rPr>
              <a:t>زیر نوع </a:t>
            </a:r>
            <a:r>
              <a:rPr lang="fa-IR" sz="2400" dirty="0">
                <a:cs typeface="2  Traffic" pitchFamily="2" charset="-78"/>
              </a:rPr>
              <a:t>و نوع بزرگتر را </a:t>
            </a:r>
            <a:r>
              <a:rPr lang="fa-IR" sz="2400" b="1" dirty="0">
                <a:cs typeface="2  Traffic" pitchFamily="2" charset="-78"/>
              </a:rPr>
              <a:t>ابرنوع </a:t>
            </a:r>
            <a:r>
              <a:rPr lang="fa-IR" sz="2400" dirty="0">
                <a:cs typeface="2  Traffic" pitchFamily="2" charset="-78"/>
              </a:rPr>
              <a:t>می گویند.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371600"/>
            <a:ext cx="7262813" cy="442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74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143000"/>
            <a:ext cx="7469088" cy="431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75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-138112"/>
            <a:ext cx="7498080" cy="1143000"/>
          </a:xfrm>
        </p:spPr>
        <p:txBody>
          <a:bodyPr/>
          <a:lstStyle/>
          <a:p>
            <a:pPr algn="ctr"/>
            <a:r>
              <a:rPr lang="fa-IR" dirty="0" smtClean="0">
                <a:cs typeface="2  Badr" panose="00000400000000000000" pitchFamily="2" charset="-78"/>
              </a:rPr>
              <a:t>اثرات جانبی</a:t>
            </a:r>
            <a:endParaRPr lang="en-US" dirty="0">
              <a:cs typeface="2  Badr" panose="00000400000000000000" pitchFamily="2" charset="-7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838200"/>
            <a:ext cx="4499434" cy="44338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5486400"/>
            <a:ext cx="6858000" cy="126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478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071" y="304800"/>
            <a:ext cx="6871153" cy="3733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886200"/>
            <a:ext cx="7634288" cy="228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71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5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233474" name="Rectangle 2"/>
          <p:cNvSpPr>
            <a:spLocks noGrp="1" noChangeArrowheads="1"/>
          </p:cNvSpPr>
          <p:nvPr>
            <p:ph idx="1"/>
          </p:nvPr>
        </p:nvSpPr>
        <p:spPr>
          <a:xfrm>
            <a:off x="1066800" y="1992313"/>
            <a:ext cx="7797800" cy="4368800"/>
          </a:xfrm>
        </p:spPr>
        <p:txBody>
          <a:bodyPr>
            <a:normAutofit fontScale="92500" lnSpcReduction="10000"/>
          </a:bodyPr>
          <a:lstStyle/>
          <a:p>
            <a:pPr algn="r" rtl="1">
              <a:lnSpc>
                <a:spcPct val="90000"/>
              </a:lnSpc>
              <a:buFontTx/>
              <a:buNone/>
            </a:pPr>
            <a:r>
              <a:rPr lang="fa-IR" dirty="0" smtClean="0">
                <a:solidFill>
                  <a:srgbClr val="FF0000"/>
                </a:solidFill>
                <a:cs typeface="2  Traffic" pitchFamily="2" charset="-78"/>
              </a:rPr>
              <a:t>پیاده </a:t>
            </a:r>
            <a:r>
              <a:rPr lang="fa-IR" dirty="0">
                <a:solidFill>
                  <a:srgbClr val="FF0000"/>
                </a:solidFill>
                <a:cs typeface="2  Traffic" pitchFamily="2" charset="-78"/>
              </a:rPr>
              <a:t>سازی انواع داده </a:t>
            </a:r>
            <a:r>
              <a:rPr lang="fa-IR" dirty="0" smtClean="0">
                <a:solidFill>
                  <a:srgbClr val="FF0000"/>
                </a:solidFill>
                <a:cs typeface="2  Traffic" pitchFamily="2" charset="-78"/>
              </a:rPr>
              <a:t>اولیه</a:t>
            </a:r>
          </a:p>
          <a:p>
            <a:pPr algn="r" rtl="1">
              <a:lnSpc>
                <a:spcPct val="90000"/>
              </a:lnSpc>
              <a:buFontTx/>
              <a:buNone/>
            </a:pPr>
            <a:r>
              <a:rPr lang="fa-IR" dirty="0" smtClean="0">
                <a:solidFill>
                  <a:srgbClr val="0000FF"/>
                </a:solidFill>
                <a:cs typeface="2  Traffic" pitchFamily="2" charset="-78"/>
              </a:rPr>
              <a:t>شامل نمایش حافظه مربوط به اشیاداده ای،مقادیر نوع داده ای و عملیاتهای دستکاری نوع داده است.</a:t>
            </a:r>
            <a:endParaRPr lang="fa-IR" dirty="0">
              <a:solidFill>
                <a:srgbClr val="0000FF"/>
              </a:solidFill>
              <a:cs typeface="2  Traffic" pitchFamily="2" charset="-78"/>
            </a:endParaRPr>
          </a:p>
          <a:p>
            <a:pPr algn="r" rtl="1">
              <a:lnSpc>
                <a:spcPct val="90000"/>
              </a:lnSpc>
            </a:pPr>
            <a:r>
              <a:rPr lang="fa-IR" dirty="0">
                <a:cs typeface="2  Traffic" pitchFamily="2" charset="-78"/>
              </a:rPr>
              <a:t>نمایش حافظه: حافظه مربوط به انواع داده اولیه تحت تاثیر کامپیوتری است که برنامه را اجرا می کند.</a:t>
            </a:r>
          </a:p>
          <a:p>
            <a:pPr algn="r" rtl="1">
              <a:lnSpc>
                <a:spcPct val="90000"/>
              </a:lnSpc>
              <a:buFontTx/>
              <a:buNone/>
            </a:pPr>
            <a:r>
              <a:rPr lang="fa-IR" dirty="0" smtClean="0">
                <a:cs typeface="2  Traffic" pitchFamily="2" charset="-78"/>
              </a:rPr>
              <a:t>صفات </a:t>
            </a:r>
            <a:r>
              <a:rPr lang="fa-IR" dirty="0">
                <a:cs typeface="2  Traffic" pitchFamily="2" charset="-78"/>
              </a:rPr>
              <a:t>اشیای داده اولیه </a:t>
            </a:r>
            <a:r>
              <a:rPr lang="fa-IR" dirty="0" smtClean="0">
                <a:cs typeface="2  Traffic" pitchFamily="2" charset="-78"/>
              </a:rPr>
              <a:t>با روشهای زیر پیاده می شوند</a:t>
            </a:r>
            <a:r>
              <a:rPr lang="fa-IR" dirty="0">
                <a:cs typeface="2  Traffic" pitchFamily="2" charset="-78"/>
              </a:rPr>
              <a:t>:</a:t>
            </a:r>
          </a:p>
          <a:p>
            <a:pPr lvl="1" algn="r" rtl="1">
              <a:lnSpc>
                <a:spcPct val="90000"/>
              </a:lnSpc>
            </a:pPr>
            <a:r>
              <a:rPr lang="fa-IR" dirty="0">
                <a:cs typeface="2  Traffic" pitchFamily="2" charset="-78"/>
              </a:rPr>
              <a:t>برای کارایی بعضی از زبانها طوری طراحی شدند که صفات داده ها توسط کامپایلر تعیین شوند</a:t>
            </a:r>
            <a:r>
              <a:rPr lang="fa-IR" dirty="0" smtClean="0">
                <a:cs typeface="2  Traffic" pitchFamily="2" charset="-78"/>
              </a:rPr>
              <a:t>. مثل </a:t>
            </a:r>
            <a:r>
              <a:rPr lang="en-US" dirty="0" smtClean="0">
                <a:cs typeface="2  Traffic" pitchFamily="2" charset="-78"/>
              </a:rPr>
              <a:t>c </a:t>
            </a:r>
            <a:r>
              <a:rPr lang="fa-IR" dirty="0" smtClean="0">
                <a:cs typeface="2  Traffic" pitchFamily="2" charset="-78"/>
              </a:rPr>
              <a:t>و پاسکال و فرترن</a:t>
            </a:r>
            <a:endParaRPr lang="fa-IR" dirty="0">
              <a:cs typeface="2  Traffic" pitchFamily="2" charset="-78"/>
            </a:endParaRPr>
          </a:p>
          <a:p>
            <a:pPr lvl="1" algn="r" rtl="1">
              <a:lnSpc>
                <a:spcPct val="90000"/>
              </a:lnSpc>
            </a:pPr>
            <a:r>
              <a:rPr lang="fa-IR" dirty="0">
                <a:cs typeface="2  Traffic" pitchFamily="2" charset="-78"/>
              </a:rPr>
              <a:t>صفات شی داده ممکن است در زمان اجرا دریک توصیف گر و به عنوان بخشی از شی داده ذخیره شود</a:t>
            </a:r>
            <a:r>
              <a:rPr lang="fa-IR" dirty="0" smtClean="0">
                <a:cs typeface="2  Traffic" pitchFamily="2" charset="-78"/>
              </a:rPr>
              <a:t>. برای انعطاف پذیری . مثل لیسپ و پرولوگ</a:t>
            </a:r>
            <a:endParaRPr lang="fa-IR" dirty="0">
              <a:cs typeface="2  Traffic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9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234498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1992313"/>
            <a:ext cx="86360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dirty="0" smtClean="0">
                <a:solidFill>
                  <a:srgbClr val="FF0000"/>
                </a:solidFill>
                <a:cs typeface="2  Traffic" pitchFamily="2" charset="-78"/>
              </a:rPr>
              <a:t>پیاده </a:t>
            </a:r>
            <a:r>
              <a:rPr lang="fa-IR" dirty="0">
                <a:solidFill>
                  <a:srgbClr val="FF0000"/>
                </a:solidFill>
                <a:cs typeface="2  Traffic" pitchFamily="2" charset="-78"/>
              </a:rPr>
              <a:t>سازی انواع داده اولیه (ادامه)</a:t>
            </a:r>
          </a:p>
          <a:p>
            <a:pPr algn="r" rtl="1"/>
            <a:r>
              <a:rPr lang="fa-IR" dirty="0">
                <a:cs typeface="2  Traffic" pitchFamily="2" charset="-78"/>
              </a:rPr>
              <a:t>پیاده سازی عملیات: هر عملیاتی که برای نوعی از اشیای داده تعریف </a:t>
            </a:r>
            <a:r>
              <a:rPr lang="fa-IR" dirty="0" smtClean="0">
                <a:cs typeface="2  Traffic" pitchFamily="2" charset="-78"/>
              </a:rPr>
              <a:t>می شود.</a:t>
            </a:r>
          </a:p>
          <a:p>
            <a:pPr algn="r" rtl="1"/>
            <a:r>
              <a:rPr lang="fa-IR" dirty="0" smtClean="0">
                <a:cs typeface="2  Traffic" pitchFamily="2" charset="-78"/>
              </a:rPr>
              <a:t> </a:t>
            </a:r>
            <a:r>
              <a:rPr lang="fa-IR" dirty="0">
                <a:cs typeface="2  Traffic" pitchFamily="2" charset="-78"/>
              </a:rPr>
              <a:t>ممکن است به یکی از سه روش زیر پیاده سازی شود: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به صورت عملیات سخت افزاری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به صورت زیر برنامه رویه یا تابع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به صورت دستوراتی در داخل برنامه نوشته شوند.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3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-152400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خواص انواع و اشیاء 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236254" y="228600"/>
            <a:ext cx="14221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buFont typeface="Wingdings" pitchFamily="2" charset="2"/>
              <a:buChar char="v"/>
            </a:pPr>
            <a:r>
              <a:rPr lang="fa-IR" sz="4000" b="1" dirty="0" smtClean="0">
                <a:solidFill>
                  <a:srgbClr val="FF0000"/>
                </a:solidFill>
                <a:cs typeface="2  Traffic" pitchFamily="2" charset="-78"/>
              </a:rPr>
              <a:t>اعلانها</a:t>
            </a:r>
            <a:endParaRPr lang="fa-IR" sz="4000" b="1" dirty="0">
              <a:solidFill>
                <a:srgbClr val="FF0000"/>
              </a:solidFill>
              <a:cs typeface="2  Traffic" pitchFamily="2" charset="-78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524000"/>
            <a:ext cx="7807779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3" name="Rectangle 3"/>
          <p:cNvSpPr>
            <a:spLocks noGrp="1" noChangeArrowheads="1"/>
          </p:cNvSpPr>
          <p:nvPr>
            <p:ph type="title"/>
          </p:nvPr>
        </p:nvSpPr>
        <p:spPr>
          <a:xfrm>
            <a:off x="711200" y="381000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خواص انواع و اشیاء 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848600" y="634425"/>
            <a:ext cx="8098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buFontTx/>
              <a:buNone/>
            </a:pPr>
            <a:r>
              <a:rPr lang="fa-IR" sz="3200" b="1" dirty="0" smtClean="0">
                <a:solidFill>
                  <a:srgbClr val="FF0000"/>
                </a:solidFill>
                <a:cs typeface="2  Traffic" pitchFamily="2" charset="-78"/>
              </a:rPr>
              <a:t>اعلانها</a:t>
            </a:r>
            <a:endParaRPr lang="fa-IR" sz="3200" b="1" dirty="0">
              <a:solidFill>
                <a:srgbClr val="FF0000"/>
              </a:solidFill>
              <a:cs typeface="2  Traffic" pitchFamily="2" charset="-78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600200"/>
            <a:ext cx="7583316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7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1992313"/>
            <a:ext cx="8636000" cy="4368800"/>
          </a:xfrm>
        </p:spPr>
        <p:txBody>
          <a:bodyPr>
            <a:normAutofit lnSpcReduction="10000"/>
          </a:bodyPr>
          <a:lstStyle/>
          <a:p>
            <a:pPr algn="r" rtl="1">
              <a:lnSpc>
                <a:spcPct val="90000"/>
              </a:lnSpc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اعلانها</a:t>
            </a:r>
          </a:p>
          <a:p>
            <a:pPr algn="r" rtl="1">
              <a:lnSpc>
                <a:spcPct val="90000"/>
              </a:lnSpc>
              <a:buFontTx/>
              <a:buNone/>
            </a:pPr>
            <a:r>
              <a:rPr lang="fa-IR" dirty="0">
                <a:solidFill>
                  <a:srgbClr val="0000FF"/>
                </a:solidFill>
                <a:cs typeface="2  Traffic" pitchFamily="2" charset="-78"/>
              </a:rPr>
              <a:t>اعلان عملیات</a:t>
            </a:r>
          </a:p>
          <a:p>
            <a:pPr algn="r" rtl="1">
              <a:lnSpc>
                <a:spcPct val="90000"/>
              </a:lnSpc>
              <a:buFontTx/>
              <a:buNone/>
            </a:pPr>
            <a:r>
              <a:rPr lang="fa-IR" dirty="0">
                <a:cs typeface="2  Traffic" pitchFamily="2" charset="-78"/>
              </a:rPr>
              <a:t>	اعلانها می توانند اطلاعاتی راجع به عملیات را برای مترجم زبان فراهم کنند.</a:t>
            </a:r>
          </a:p>
          <a:p>
            <a:pPr algn="r" rtl="1">
              <a:lnSpc>
                <a:spcPct val="90000"/>
              </a:lnSpc>
            </a:pPr>
            <a:r>
              <a:rPr lang="fa-IR" dirty="0">
                <a:cs typeface="2  Traffic" pitchFamily="2" charset="-78"/>
              </a:rPr>
              <a:t>اهداف اعلان:</a:t>
            </a:r>
          </a:p>
          <a:p>
            <a:pPr lvl="1" algn="r" rtl="1">
              <a:lnSpc>
                <a:spcPct val="90000"/>
              </a:lnSpc>
            </a:pPr>
            <a:r>
              <a:rPr lang="fa-IR" dirty="0">
                <a:cs typeface="2  Traffic" pitchFamily="2" charset="-78"/>
              </a:rPr>
              <a:t>انتخاب نمایش حافظه</a:t>
            </a:r>
          </a:p>
          <a:p>
            <a:pPr lvl="1" algn="r" rtl="1">
              <a:lnSpc>
                <a:spcPct val="90000"/>
              </a:lnSpc>
            </a:pPr>
            <a:r>
              <a:rPr lang="fa-IR" dirty="0" smtClean="0">
                <a:cs typeface="2  Traffic" pitchFamily="2" charset="-78"/>
              </a:rPr>
              <a:t>مدیریت </a:t>
            </a:r>
            <a:r>
              <a:rPr lang="fa-IR" dirty="0">
                <a:cs typeface="2  Traffic" pitchFamily="2" charset="-78"/>
              </a:rPr>
              <a:t>حافظه</a:t>
            </a:r>
          </a:p>
          <a:p>
            <a:pPr lvl="1" algn="r" rtl="1">
              <a:lnSpc>
                <a:spcPct val="90000"/>
              </a:lnSpc>
            </a:pPr>
            <a:r>
              <a:rPr lang="fa-IR" dirty="0">
                <a:cs typeface="2  Traffic" pitchFamily="2" charset="-78"/>
              </a:rPr>
              <a:t>عملیات چندریختی</a:t>
            </a:r>
          </a:p>
          <a:p>
            <a:pPr lvl="1" algn="r" rtl="1">
              <a:lnSpc>
                <a:spcPct val="90000"/>
              </a:lnSpc>
            </a:pPr>
            <a:r>
              <a:rPr lang="fa-IR" dirty="0">
                <a:cs typeface="2  Traffic" pitchFamily="2" charset="-78"/>
              </a:rPr>
              <a:t>کنترل نوع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7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371600"/>
            <a:ext cx="7795598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43000" y="1992313"/>
            <a:ext cx="7721600" cy="4368800"/>
          </a:xfrm>
        </p:spPr>
        <p:txBody>
          <a:bodyPr/>
          <a:lstStyle/>
          <a:p>
            <a:pPr algn="r" rtl="1">
              <a:buFont typeface="Wingdings" pitchFamily="2" charset="2"/>
              <a:buChar char="v"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کنترل نوع و تبدیل نوع</a:t>
            </a:r>
          </a:p>
          <a:p>
            <a:pPr algn="justLow" rtl="1"/>
            <a:r>
              <a:rPr lang="fa-IR" dirty="0" smtClean="0">
                <a:cs typeface="2  Traffic" pitchFamily="2" charset="-78"/>
              </a:rPr>
              <a:t>کنترل </a:t>
            </a:r>
            <a:r>
              <a:rPr lang="fa-IR" dirty="0">
                <a:cs typeface="2  Traffic" pitchFamily="2" charset="-78"/>
              </a:rPr>
              <a:t>نوع </a:t>
            </a:r>
            <a:r>
              <a:rPr lang="fa-IR" dirty="0" smtClean="0">
                <a:cs typeface="2  Traffic" pitchFamily="2" charset="-78"/>
              </a:rPr>
              <a:t>: یعنی هر </a:t>
            </a:r>
            <a:r>
              <a:rPr lang="fa-IR" dirty="0">
                <a:cs typeface="2  Traffic" pitchFamily="2" charset="-78"/>
              </a:rPr>
              <a:t>عملیاتی که در برنامه انجام می گیرد تعداد و نوع آرگومانهای آن درست باشد</a:t>
            </a:r>
            <a:r>
              <a:rPr lang="fa-IR" dirty="0" smtClean="0">
                <a:cs typeface="2  Traffic" pitchFamily="2" charset="-78"/>
              </a:rPr>
              <a:t>. در سخت افزار کنترل نوع داده امکان ندارد.</a:t>
            </a:r>
            <a:endParaRPr lang="fa-IR" dirty="0">
              <a:cs typeface="2  Traffic" pitchFamily="2" charset="-78"/>
            </a:endParaRPr>
          </a:p>
          <a:p>
            <a:pPr algn="justLow" rtl="1"/>
            <a:r>
              <a:rPr lang="fa-IR" dirty="0">
                <a:cs typeface="2  Traffic" pitchFamily="2" charset="-78"/>
              </a:rPr>
              <a:t>کنترل نوع ممکن است در زمان اجرا صورت گیرد(کنترل نوع پویا)</a:t>
            </a:r>
          </a:p>
          <a:p>
            <a:pPr algn="justLow" rtl="1"/>
            <a:r>
              <a:rPr lang="fa-IR" dirty="0">
                <a:cs typeface="2  Traffic" pitchFamily="2" charset="-78"/>
              </a:rPr>
              <a:t>کنترل نوع ممکن است در زمان ترجمه صورت گیرد(کنترل نوع ایستا)</a:t>
            </a:r>
          </a:p>
          <a:p>
            <a:pPr algn="r" rtl="1"/>
            <a:endParaRPr lang="fa-IR" dirty="0">
              <a:cs typeface="2  Traffic" pitchFamily="2" charset="-78"/>
            </a:endParaRP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08000" y="381000"/>
            <a:ext cx="8636000" cy="598487"/>
          </a:xfrm>
        </p:spPr>
        <p:txBody>
          <a:bodyPr>
            <a:normAutofit lnSpcReduction="10000"/>
          </a:bodyPr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کنترل نوع و تبدیل نوع (ادامه</a:t>
            </a: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)</a:t>
            </a:r>
            <a:endParaRPr lang="fa-IR" sz="3400" b="1" dirty="0">
              <a:solidFill>
                <a:srgbClr val="FF0000"/>
              </a:solidFill>
              <a:cs typeface="2  Traffic" pitchFamily="2" charset="-78"/>
            </a:endParaRP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-152400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290638"/>
            <a:ext cx="8153400" cy="549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19200" y="1992313"/>
            <a:ext cx="7645400" cy="4368800"/>
          </a:xfrm>
        </p:spPr>
        <p:txBody>
          <a:bodyPr>
            <a:normAutofit fontScale="92500"/>
          </a:bodyPr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کنترل نوع و تبدیل نوع (ادامه)</a:t>
            </a:r>
          </a:p>
          <a:p>
            <a:pPr algn="justLow" rtl="1">
              <a:buFontTx/>
              <a:buNone/>
            </a:pPr>
            <a:r>
              <a:rPr lang="fa-IR" dirty="0" smtClean="0">
                <a:cs typeface="2  Traffic" pitchFamily="2" charset="-78"/>
              </a:rPr>
              <a:t>کنترل </a:t>
            </a:r>
            <a:r>
              <a:rPr lang="fa-IR" dirty="0">
                <a:cs typeface="2  Traffic" pitchFamily="2" charset="-78"/>
              </a:rPr>
              <a:t>نوع </a:t>
            </a:r>
            <a:r>
              <a:rPr lang="fa-IR" dirty="0" smtClean="0">
                <a:cs typeface="2  Traffic" pitchFamily="2" charset="-78"/>
              </a:rPr>
              <a:t>ایستا:</a:t>
            </a:r>
          </a:p>
          <a:p>
            <a:pPr algn="justLow" rtl="1">
              <a:buFont typeface="Wingdings" pitchFamily="2" charset="2"/>
              <a:buChar char="§"/>
            </a:pPr>
            <a:r>
              <a:rPr lang="fa-IR" dirty="0" smtClean="0">
                <a:cs typeface="2  Traffic" pitchFamily="2" charset="-78"/>
              </a:rPr>
              <a:t>اطلاعات مورد نیاز در خصوص نوع ،از اعلان برنامه نویس یا از ساختار زبان بدست می آید.</a:t>
            </a:r>
            <a:endParaRPr lang="fa-IR" dirty="0">
              <a:cs typeface="2  Traffic" pitchFamily="2" charset="-78"/>
            </a:endParaRPr>
          </a:p>
          <a:p>
            <a:pPr algn="justLow" rtl="1">
              <a:buNone/>
            </a:pPr>
            <a:r>
              <a:rPr lang="fa-IR" dirty="0" smtClean="0">
                <a:cs typeface="2  Traffic" pitchFamily="2" charset="-78"/>
              </a:rPr>
              <a:t>بدست آوردن اطلاعات مورد نیاز برای کنترل نوع ایستا:</a:t>
            </a:r>
          </a:p>
          <a:p>
            <a:pPr algn="justLow" rtl="1">
              <a:buFont typeface="Wingdings" pitchFamily="2" charset="2"/>
              <a:buChar char="§"/>
            </a:pPr>
            <a:r>
              <a:rPr lang="fa-IR" dirty="0" smtClean="0">
                <a:cs typeface="2  Traffic" pitchFamily="2" charset="-78"/>
              </a:rPr>
              <a:t>برای هر عمل تعداد و ترتیب و نوع آرگومانها و نتایج</a:t>
            </a:r>
          </a:p>
          <a:p>
            <a:pPr algn="justLow" rtl="1">
              <a:buFont typeface="Wingdings" pitchFamily="2" charset="2"/>
              <a:buChar char="§"/>
            </a:pPr>
            <a:r>
              <a:rPr lang="fa-IR" dirty="0" smtClean="0">
                <a:cs typeface="2  Traffic" pitchFamily="2" charset="-78"/>
              </a:rPr>
              <a:t>برای هر متغییر نام نوع شی داده</a:t>
            </a:r>
          </a:p>
          <a:p>
            <a:pPr algn="justLow" rtl="1">
              <a:buFont typeface="Wingdings" pitchFamily="2" charset="2"/>
              <a:buChar char="§"/>
            </a:pPr>
            <a:r>
              <a:rPr lang="fa-IR" dirty="0" smtClean="0">
                <a:cs typeface="2  Traffic" pitchFamily="2" charset="-78"/>
              </a:rPr>
              <a:t>نوع هر شی داده ثابت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43000" y="1992313"/>
            <a:ext cx="7721600" cy="4368800"/>
          </a:xfrm>
        </p:spPr>
        <p:txBody>
          <a:bodyPr>
            <a:normAutofit fontScale="92500" lnSpcReduction="20000"/>
          </a:bodyPr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کنترل نوع و تبدیل نوع (ادامه)</a:t>
            </a:r>
          </a:p>
          <a:p>
            <a:pPr algn="justLow" rtl="1">
              <a:buFontTx/>
              <a:buNone/>
            </a:pPr>
            <a:r>
              <a:rPr lang="fa-IR" dirty="0" smtClean="0">
                <a:cs typeface="2  Traffic" pitchFamily="2" charset="-78"/>
              </a:rPr>
              <a:t>مزایای کنترل </a:t>
            </a:r>
            <a:r>
              <a:rPr lang="fa-IR" dirty="0">
                <a:cs typeface="2  Traffic" pitchFamily="2" charset="-78"/>
              </a:rPr>
              <a:t>نوع </a:t>
            </a:r>
            <a:r>
              <a:rPr lang="fa-IR" dirty="0" smtClean="0">
                <a:cs typeface="2  Traffic" pitchFamily="2" charset="-78"/>
              </a:rPr>
              <a:t>ایستا:</a:t>
            </a:r>
            <a:endParaRPr lang="fa-IR" dirty="0">
              <a:cs typeface="2  Traffic" pitchFamily="2" charset="-78"/>
            </a:endParaRPr>
          </a:p>
          <a:p>
            <a:pPr algn="justLow" rtl="1"/>
            <a:r>
              <a:rPr lang="fa-IR" dirty="0" smtClean="0">
                <a:cs typeface="2  Traffic" pitchFamily="2" charset="-78"/>
              </a:rPr>
              <a:t>مصرف حافظه پایین به دلیل نگه نداشتن اطلاعات نوع داده ای در زمان اجرا</a:t>
            </a:r>
            <a:endParaRPr lang="fa-IR" dirty="0">
              <a:cs typeface="2  Traffic" pitchFamily="2" charset="-78"/>
            </a:endParaRPr>
          </a:p>
          <a:p>
            <a:pPr algn="justLow" rtl="1"/>
            <a:r>
              <a:rPr lang="fa-IR" dirty="0" smtClean="0">
                <a:cs typeface="2  Traffic" pitchFamily="2" charset="-78"/>
              </a:rPr>
              <a:t>سرعت بالا</a:t>
            </a:r>
          </a:p>
          <a:p>
            <a:pPr algn="justLow" rtl="1">
              <a:buNone/>
            </a:pPr>
            <a:r>
              <a:rPr lang="fa-IR" dirty="0" smtClean="0">
                <a:cs typeface="2  Traffic" pitchFamily="2" charset="-78"/>
              </a:rPr>
              <a:t>معایب کنترل نوع ایستا:</a:t>
            </a:r>
          </a:p>
          <a:p>
            <a:pPr algn="justLow" rtl="1"/>
            <a:r>
              <a:rPr lang="fa-IR" dirty="0" smtClean="0">
                <a:cs typeface="2  Traffic" pitchFamily="2" charset="-78"/>
              </a:rPr>
              <a:t>انعطاف پایین در طراحی برنامه</a:t>
            </a:r>
          </a:p>
          <a:p>
            <a:pPr algn="justLow" rtl="1"/>
            <a:r>
              <a:rPr lang="fa-IR" dirty="0" smtClean="0">
                <a:cs typeface="2  Traffic" pitchFamily="2" charset="-78"/>
              </a:rPr>
              <a:t>بدلیل وجود برخی از ساختارهای زبان ،در بعضی از موارد کنترل نوع ایستا امکان ندارد</a:t>
            </a:r>
          </a:p>
          <a:p>
            <a:pPr algn="justLow" rtl="1"/>
            <a:r>
              <a:rPr lang="fa-IR" dirty="0" smtClean="0">
                <a:cs typeface="2  Traffic" pitchFamily="2" charset="-78"/>
              </a:rPr>
              <a:t>نیاز به تعریف اعلان برای تعریف شی داده</a:t>
            </a:r>
            <a:endParaRPr lang="fa-IR" dirty="0">
              <a:cs typeface="2  Traffic" pitchFamily="2" charset="-78"/>
            </a:endParaRP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992313"/>
            <a:ext cx="86360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کنترل نوع و تبدیل نوع (ادامه)</a:t>
            </a:r>
          </a:p>
          <a:p>
            <a:pPr algn="justLow" rtl="1">
              <a:buFontTx/>
              <a:buNone/>
            </a:pPr>
            <a:r>
              <a:rPr lang="fa-IR" dirty="0">
                <a:cs typeface="2  Traffic" pitchFamily="2" charset="-78"/>
              </a:rPr>
              <a:t>برای برطرف کردن معایب کنترل نوع ایستا دو روش:</a:t>
            </a:r>
          </a:p>
          <a:p>
            <a:pPr algn="justLow" rtl="1"/>
            <a:r>
              <a:rPr lang="fa-IR" dirty="0">
                <a:cs typeface="2  Traffic" pitchFamily="2" charset="-78"/>
              </a:rPr>
              <a:t>کنترل نوع پویا</a:t>
            </a:r>
          </a:p>
          <a:p>
            <a:pPr algn="justLow" rtl="1"/>
            <a:r>
              <a:rPr lang="fa-IR" dirty="0">
                <a:cs typeface="2  Traffic" pitchFamily="2" charset="-78"/>
              </a:rPr>
              <a:t>عملیات کنترل نشوند.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66800" y="1992313"/>
            <a:ext cx="77978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کنترل نوع و تبدیل نوع (ادامه)</a:t>
            </a:r>
          </a:p>
          <a:p>
            <a:pPr algn="justLow" rtl="1">
              <a:buFontTx/>
              <a:buNone/>
            </a:pPr>
            <a:r>
              <a:rPr lang="fa-IR" dirty="0">
                <a:solidFill>
                  <a:srgbClr val="0000FF"/>
                </a:solidFill>
                <a:cs typeface="2  Traffic" pitchFamily="2" charset="-78"/>
              </a:rPr>
              <a:t>تبدیل نوع و تبدیل نوع </a:t>
            </a:r>
            <a:r>
              <a:rPr lang="fa-IR" dirty="0" smtClean="0">
                <a:solidFill>
                  <a:srgbClr val="0000FF"/>
                </a:solidFill>
                <a:cs typeface="2  Traffic" pitchFamily="2" charset="-78"/>
              </a:rPr>
              <a:t>ضمنی</a:t>
            </a:r>
          </a:p>
          <a:p>
            <a:pPr algn="justLow" rtl="1">
              <a:buFontTx/>
              <a:buNone/>
            </a:pPr>
            <a:r>
              <a:rPr lang="fa-IR" dirty="0" smtClean="0">
                <a:solidFill>
                  <a:srgbClr val="0000FF"/>
                </a:solidFill>
                <a:cs typeface="2  Traffic" pitchFamily="2" charset="-78"/>
              </a:rPr>
              <a:t>اگر در حین کنترل نوع ،نوع مورد انتظار و نوع واقعی یکسان نباشند موارد زیر اتفاق می افتد :</a:t>
            </a:r>
            <a:endParaRPr lang="fa-IR" dirty="0">
              <a:solidFill>
                <a:srgbClr val="0000FF"/>
              </a:solidFill>
              <a:cs typeface="2  Traffic" pitchFamily="2" charset="-78"/>
            </a:endParaRPr>
          </a:p>
          <a:p>
            <a:pPr algn="justLow" rtl="1"/>
            <a:r>
              <a:rPr lang="fa-IR" dirty="0">
                <a:cs typeface="2  Traffic" pitchFamily="2" charset="-78"/>
              </a:rPr>
              <a:t>عدم تطابق نوع ممکن است به عنوان خطا اعلان شود و فعالیت مناسبی صورت گیرد.</a:t>
            </a:r>
          </a:p>
          <a:p>
            <a:pPr algn="justLow" rtl="1"/>
            <a:r>
              <a:rPr lang="fa-IR" dirty="0">
                <a:cs typeface="2  Traffic" pitchFamily="2" charset="-78"/>
              </a:rPr>
              <a:t>ممکن است تبدیل نوع ضمنی صورت گیرد تا نوع آرگومان واقعی به نوع درستی تغییر کند.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95400" y="1992313"/>
            <a:ext cx="7569200" cy="4368800"/>
          </a:xfrm>
        </p:spPr>
        <p:txBody>
          <a:bodyPr>
            <a:normAutofit fontScale="92500" lnSpcReduction="10000"/>
          </a:bodyPr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کنترل نوع و تبدیل نوع (ادامه)</a:t>
            </a:r>
          </a:p>
          <a:p>
            <a:pPr algn="justLow" rtl="1">
              <a:buFontTx/>
              <a:buNone/>
            </a:pPr>
            <a:r>
              <a:rPr lang="fa-IR" dirty="0">
                <a:solidFill>
                  <a:srgbClr val="0000FF"/>
                </a:solidFill>
                <a:cs typeface="2  Traffic" pitchFamily="2" charset="-78"/>
              </a:rPr>
              <a:t>تبدیل نوع و تبدیل نوع ضمنی (ادامه)</a:t>
            </a:r>
          </a:p>
          <a:p>
            <a:pPr algn="justLow" rtl="1">
              <a:buFontTx/>
              <a:buNone/>
            </a:pPr>
            <a:r>
              <a:rPr lang="fa-IR" dirty="0">
                <a:cs typeface="2  Traffic" pitchFamily="2" charset="-78"/>
              </a:rPr>
              <a:t>اغلب زبانها تبدیل نوع را به دو صورت انجام می دهند:</a:t>
            </a:r>
          </a:p>
          <a:p>
            <a:pPr algn="justLow" rtl="1"/>
            <a:r>
              <a:rPr lang="fa-IR" dirty="0" smtClean="0">
                <a:cs typeface="2  Traffic" pitchFamily="2" charset="-78"/>
              </a:rPr>
              <a:t>صریح: به </a:t>
            </a:r>
            <a:r>
              <a:rPr lang="fa-IR" dirty="0">
                <a:cs typeface="2  Traffic" pitchFamily="2" charset="-78"/>
              </a:rPr>
              <a:t>صورت </a:t>
            </a:r>
            <a:r>
              <a:rPr lang="fa-IR" dirty="0" smtClean="0">
                <a:cs typeface="2  Traffic" pitchFamily="2" charset="-78"/>
              </a:rPr>
              <a:t>مجموعه </a:t>
            </a:r>
            <a:r>
              <a:rPr lang="fa-IR" dirty="0">
                <a:cs typeface="2  Traffic" pitchFamily="2" charset="-78"/>
              </a:rPr>
              <a:t>ای از توابع پیش ساخته که توسط برنامه نویس فراخوانی می شود تا بر تبدیل نوع اثر بگذارند.</a:t>
            </a:r>
          </a:p>
          <a:p>
            <a:pPr algn="justLow" rtl="1"/>
            <a:r>
              <a:rPr lang="fa-IR" dirty="0">
                <a:cs typeface="2  Traffic" pitchFamily="2" charset="-78"/>
              </a:rPr>
              <a:t>در مواردی که عدم تطابق نوع صورت گرفت تبدیل ضمنی به طور خودکار فراخوانی می </a:t>
            </a:r>
            <a:r>
              <a:rPr lang="fa-IR" dirty="0" smtClean="0">
                <a:cs typeface="2  Traffic" pitchFamily="2" charset="-78"/>
              </a:rPr>
              <a:t>شود.این کار توسط مترجم زبان انجام میشود</a:t>
            </a:r>
            <a:endParaRPr lang="fa-IR" dirty="0">
              <a:cs typeface="2  Traffic" pitchFamily="2" charset="-78"/>
            </a:endParaRPr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992313"/>
            <a:ext cx="8636000" cy="4368800"/>
          </a:xfrm>
        </p:spPr>
        <p:txBody>
          <a:bodyPr/>
          <a:lstStyle/>
          <a:p>
            <a:pPr algn="r" rtl="1">
              <a:buFont typeface="Wingdings" pitchFamily="2" charset="2"/>
              <a:buChar char="v"/>
            </a:pP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  انتساب </a:t>
            </a: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و مقدار دهی اولیه</a:t>
            </a:r>
          </a:p>
          <a:p>
            <a:pPr algn="r" rtl="1"/>
            <a:r>
              <a:rPr lang="fa-IR" dirty="0">
                <a:cs typeface="2  Traffic" pitchFamily="2" charset="-78"/>
              </a:rPr>
              <a:t>انتساب عملیات اصلی برای تغییر انقیاد یک مقدار به یک شی داده است.</a:t>
            </a:r>
          </a:p>
          <a:p>
            <a:pPr algn="r" rtl="1"/>
            <a:r>
              <a:rPr lang="fa-IR" dirty="0">
                <a:cs typeface="2  Traffic" pitchFamily="2" charset="-78"/>
              </a:rPr>
              <a:t>این تغییر </a:t>
            </a:r>
            <a:r>
              <a:rPr lang="fa-IR" dirty="0" smtClean="0">
                <a:cs typeface="2  Traffic" pitchFamily="2" charset="-78"/>
              </a:rPr>
              <a:t>اثر </a:t>
            </a:r>
            <a:r>
              <a:rPr lang="fa-IR" dirty="0">
                <a:cs typeface="2  Traffic" pitchFamily="2" charset="-78"/>
              </a:rPr>
              <a:t>جنبی عملیات است.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31800" y="369887"/>
            <a:ext cx="8636000" cy="598487"/>
          </a:xfrm>
        </p:spPr>
        <p:txBody>
          <a:bodyPr>
            <a:normAutofit lnSpcReduction="10000"/>
          </a:bodyPr>
          <a:lstStyle/>
          <a:p>
            <a:pPr marL="596646" indent="-514350" algn="r" rtl="1">
              <a:buFont typeface="Wingdings" pitchFamily="2" charset="2"/>
              <a:buChar char="v"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انتساب و مقدار دهی اولیه (ادامه</a:t>
            </a: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)</a:t>
            </a:r>
            <a:endParaRPr lang="fa-IR" sz="3400" b="1" dirty="0">
              <a:solidFill>
                <a:srgbClr val="FF0000"/>
              </a:solidFill>
              <a:cs typeface="2  Traffic" pitchFamily="2" charset="-78"/>
            </a:endParaRPr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-228600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خواص انواع و اشیاء 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143000"/>
            <a:ext cx="7834313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145" y="4191000"/>
            <a:ext cx="68580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1" y="990601"/>
            <a:ext cx="79248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31800" y="304800"/>
            <a:ext cx="8636000" cy="59848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65760" marR="0" lvl="0" indent="-283464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fa-IR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2  Traffic" pitchFamily="2" charset="-78"/>
              </a:rPr>
              <a:t>انتساب و مقدار دهی اولیه (ادامه)</a:t>
            </a:r>
            <a:endParaRPr kumimoji="0" lang="fa-IR" sz="3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2  Traffic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990600"/>
            <a:ext cx="7915275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31800" y="304800"/>
            <a:ext cx="8636000" cy="59848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65760" marR="0" lvl="0" indent="-283464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fa-IR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2  Traffic" pitchFamily="2" charset="-78"/>
              </a:rPr>
              <a:t>انتساب و مقدار دهی اولیه (ادامه)</a:t>
            </a:r>
            <a:endParaRPr kumimoji="0" lang="fa-IR" sz="3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2  Traffic" pitchFamily="2" charset="-78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90600" y="1992313"/>
            <a:ext cx="7874000" cy="4368800"/>
          </a:xfrm>
        </p:spPr>
        <p:txBody>
          <a:bodyPr/>
          <a:lstStyle/>
          <a:p>
            <a:pPr algn="r" rtl="1"/>
            <a:r>
              <a:rPr lang="fa-IR" dirty="0" smtClean="0">
                <a:cs typeface="2  Traffic" pitchFamily="2" charset="-78"/>
              </a:rPr>
              <a:t>داده های اسکالر </a:t>
            </a:r>
            <a:r>
              <a:rPr lang="fa-IR" dirty="0">
                <a:cs typeface="2  Traffic" pitchFamily="2" charset="-78"/>
              </a:rPr>
              <a:t>از معماری سخت افزار کامپیوتر پیروی می کنند</a:t>
            </a:r>
            <a:r>
              <a:rPr lang="fa-IR" dirty="0" smtClean="0">
                <a:cs typeface="2  Traffic" pitchFamily="2" charset="-78"/>
              </a:rPr>
              <a:t>.</a:t>
            </a:r>
          </a:p>
          <a:p>
            <a:pPr algn="r" rtl="1"/>
            <a:r>
              <a:rPr lang="fa-IR" dirty="0" smtClean="0">
                <a:cs typeface="2  Traffic" pitchFamily="2" charset="-78"/>
              </a:rPr>
              <a:t>داده های مرکب معمولا ساختار پیچیده ای دارند که توسط کامپایلر پیاده سازی می شوند و توسط سخت افزار پیاده نمی شوند (آرایه ها، فایل ها، رشته ها و اشاره گرها)</a:t>
            </a:r>
          </a:p>
          <a:p>
            <a:pPr algn="r" rtl="1"/>
            <a:endParaRPr lang="fa-IR" dirty="0">
              <a:cs typeface="2  Traffic" pitchFamily="2" charset="-78"/>
            </a:endParaRP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انواع داده اسکالر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31800" y="533400"/>
            <a:ext cx="8636000" cy="674687"/>
          </a:xfrm>
        </p:spPr>
        <p:txBody>
          <a:bodyPr/>
          <a:lstStyle/>
          <a:p>
            <a:pPr algn="r" rtl="1">
              <a:buFont typeface="Wingdings" pitchFamily="2" charset="2"/>
              <a:buChar char="v"/>
            </a:pPr>
            <a:r>
              <a:rPr lang="fa-IR" sz="3600" b="1" dirty="0" smtClean="0">
                <a:solidFill>
                  <a:srgbClr val="FF0000"/>
                </a:solidFill>
                <a:cs typeface="2  Traffic" pitchFamily="2" charset="-78"/>
              </a:rPr>
              <a:t> انواع </a:t>
            </a:r>
            <a:r>
              <a:rPr lang="fa-IR" sz="3600" b="1" dirty="0">
                <a:solidFill>
                  <a:srgbClr val="FF0000"/>
                </a:solidFill>
                <a:cs typeface="2  Traffic" pitchFamily="2" charset="-78"/>
              </a:rPr>
              <a:t>صحیح : 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title"/>
          </p:nvPr>
        </p:nvSpPr>
        <p:spPr>
          <a:xfrm>
            <a:off x="3225800" y="152400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انواع داده اسکالر(ادامه)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143000"/>
            <a:ext cx="78390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457200"/>
            <a:ext cx="8636000" cy="1066800"/>
          </a:xfrm>
        </p:spPr>
        <p:txBody>
          <a:bodyPr>
            <a:normAutofit fontScale="85000" lnSpcReduction="20000"/>
          </a:bodyPr>
          <a:lstStyle/>
          <a:p>
            <a:pPr algn="r" rtl="1">
              <a:buNone/>
            </a:pPr>
            <a:r>
              <a:rPr lang="fa-IR" sz="3600" dirty="0" smtClean="0">
                <a:solidFill>
                  <a:srgbClr val="FF0000"/>
                </a:solidFill>
                <a:cs typeface="2  Traffic" pitchFamily="2" charset="-78"/>
              </a:rPr>
              <a:t>انواع </a:t>
            </a:r>
            <a:r>
              <a:rPr lang="fa-IR" sz="3600" dirty="0">
                <a:solidFill>
                  <a:srgbClr val="FF0000"/>
                </a:solidFill>
                <a:cs typeface="2  Traffic" pitchFamily="2" charset="-78"/>
              </a:rPr>
              <a:t>صحیح : </a:t>
            </a:r>
          </a:p>
          <a:p>
            <a:pPr algn="r" rtl="1"/>
            <a:r>
              <a:rPr lang="fa-IR" sz="2600" dirty="0" smtClean="0">
                <a:cs typeface="2  Traffic" pitchFamily="2" charset="-78"/>
              </a:rPr>
              <a:t>پیاده سازی :</a:t>
            </a:r>
            <a:r>
              <a:rPr lang="fa-IR" sz="2200" dirty="0">
                <a:cs typeface="2  Traffic" pitchFamily="2" charset="-78"/>
              </a:rPr>
              <a:t> </a:t>
            </a:r>
            <a:r>
              <a:rPr lang="fa-IR" sz="2200" dirty="0" smtClean="0">
                <a:cs typeface="2  Traffic" pitchFamily="2" charset="-78"/>
              </a:rPr>
              <a:t>بعد از تعریف در زبان، نمایش حافظه و عملیات بر روی آنها بصورت سخت افزاری پیاده می شود.</a:t>
            </a:r>
            <a:endParaRPr lang="fa-IR" sz="2600" dirty="0" smtClean="0">
              <a:cs typeface="2  Traffic" pitchFamily="2" charset="-78"/>
            </a:endParaRP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title"/>
          </p:nvPr>
        </p:nvSpPr>
        <p:spPr>
          <a:xfrm>
            <a:off x="863600" y="-76200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انواع داده اسکالر(ادامه)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1447800"/>
            <a:ext cx="79248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457200"/>
            <a:ext cx="8636000" cy="1066800"/>
          </a:xfrm>
        </p:spPr>
        <p:txBody>
          <a:bodyPr>
            <a:normAutofit/>
          </a:bodyPr>
          <a:lstStyle/>
          <a:p>
            <a:pPr algn="r" rtl="1">
              <a:buNone/>
            </a:pPr>
            <a:r>
              <a:rPr lang="fa-IR" sz="3600" dirty="0" smtClean="0">
                <a:solidFill>
                  <a:srgbClr val="0000FF"/>
                </a:solidFill>
                <a:cs typeface="2  Traffic" pitchFamily="2" charset="-78"/>
              </a:rPr>
              <a:t>انواع </a:t>
            </a:r>
            <a:r>
              <a:rPr lang="fa-IR" sz="3600" dirty="0">
                <a:solidFill>
                  <a:srgbClr val="0000FF"/>
                </a:solidFill>
                <a:cs typeface="2  Traffic" pitchFamily="2" charset="-78"/>
              </a:rPr>
              <a:t>صحیح : 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title"/>
          </p:nvPr>
        </p:nvSpPr>
        <p:spPr>
          <a:xfrm>
            <a:off x="863600" y="-76200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انواع داده اسکالر(ادامه)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1981200"/>
            <a:ext cx="79248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609600"/>
            <a:ext cx="8636000" cy="674687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sz="3600" dirty="0" smtClean="0">
                <a:solidFill>
                  <a:srgbClr val="0000FF"/>
                </a:solidFill>
                <a:cs typeface="2  Traffic" pitchFamily="2" charset="-78"/>
              </a:rPr>
              <a:t>انواع صحیح : 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انواع داده اسکالر(ادامه)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9734" y="1447800"/>
            <a:ext cx="8154266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3962400"/>
            <a:ext cx="8077201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43000" y="1992313"/>
            <a:ext cx="7721600" cy="4368800"/>
          </a:xfrm>
        </p:spPr>
        <p:txBody>
          <a:bodyPr/>
          <a:lstStyle/>
          <a:p>
            <a:pPr algn="r" rtl="1">
              <a:buFont typeface="Wingdings" pitchFamily="2" charset="2"/>
              <a:buChar char="v"/>
            </a:pPr>
            <a:r>
              <a:rPr lang="fa-IR" b="1" dirty="0" smtClean="0">
                <a:solidFill>
                  <a:srgbClr val="FF0000"/>
                </a:solidFill>
                <a:cs typeface="2  Traffic" pitchFamily="2" charset="-78"/>
              </a:rPr>
              <a:t>اعداد </a:t>
            </a:r>
            <a:r>
              <a:rPr lang="fa-IR" b="1" dirty="0">
                <a:solidFill>
                  <a:srgbClr val="FF0000"/>
                </a:solidFill>
                <a:cs typeface="2  Traffic" pitchFamily="2" charset="-78"/>
              </a:rPr>
              <a:t>حقیقی ممیز شناور</a:t>
            </a:r>
          </a:p>
          <a:p>
            <a:pPr algn="r" rtl="1"/>
            <a:r>
              <a:rPr lang="fa-IR" dirty="0">
                <a:cs typeface="2  Traffic" pitchFamily="2" charset="-78"/>
              </a:rPr>
              <a:t>مشخصات : معمولاً با صفت نوع داده مثل </a:t>
            </a:r>
            <a:r>
              <a:rPr lang="en-US" dirty="0">
                <a:cs typeface="2  Traffic" pitchFamily="2" charset="-78"/>
              </a:rPr>
              <a:t>real</a:t>
            </a:r>
            <a:r>
              <a:rPr lang="fa-IR" dirty="0">
                <a:cs typeface="2  Traffic" pitchFamily="2" charset="-78"/>
              </a:rPr>
              <a:t> در فرترن یا </a:t>
            </a:r>
            <a:r>
              <a:rPr lang="en-US" dirty="0">
                <a:cs typeface="2  Traffic" pitchFamily="2" charset="-78"/>
              </a:rPr>
              <a:t>float</a:t>
            </a:r>
            <a:r>
              <a:rPr lang="fa-IR" dirty="0">
                <a:cs typeface="2  Traffic" pitchFamily="2" charset="-78"/>
              </a:rPr>
              <a:t> در </a:t>
            </a:r>
            <a:r>
              <a:rPr lang="en-US" dirty="0">
                <a:cs typeface="2  Traffic" pitchFamily="2" charset="-78"/>
              </a:rPr>
              <a:t>C</a:t>
            </a:r>
            <a:r>
              <a:rPr lang="fa-IR" dirty="0">
                <a:cs typeface="2  Traffic" pitchFamily="2" charset="-78"/>
              </a:rPr>
              <a:t> مشخص می شود.</a:t>
            </a:r>
          </a:p>
          <a:p>
            <a:pPr algn="r" rtl="1"/>
            <a:r>
              <a:rPr lang="fa-IR" dirty="0">
                <a:cs typeface="2  Traffic" pitchFamily="2" charset="-78"/>
              </a:rPr>
              <a:t>پیاده سازی: نمایشهای حافظه برای انواع آن معمولاً به سخت افزار بستگی دارد که در آن ممیز حافظه به دو بخش مانتیس (ارقام با ارزش عدد) و توان تقسیم می شود.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انواع داده اسکالر(ادامه)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985839"/>
            <a:ext cx="7772400" cy="5719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1016000" y="304800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انواع داده اسکالر(ادامه)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40222" y="381000"/>
            <a:ext cx="22172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2  Traffic" pitchFamily="2" charset="-78"/>
              </a:rPr>
              <a:t>اعداد حقیقی ممیز شناور</a:t>
            </a:r>
            <a:endParaRPr lang="fa-IR" sz="2800" dirty="0">
              <a:solidFill>
                <a:srgbClr val="FF0000"/>
              </a:solidFill>
              <a:cs typeface="2  Traffic" pitchFamily="2" charset="-78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19200" y="1992313"/>
            <a:ext cx="7645400" cy="4368800"/>
          </a:xfrm>
        </p:spPr>
        <p:txBody>
          <a:bodyPr>
            <a:normAutofit fontScale="92500" lnSpcReduction="10000"/>
          </a:bodyPr>
          <a:lstStyle/>
          <a:p>
            <a:pPr algn="r" rtl="1">
              <a:buFont typeface="Wingdings" pitchFamily="2" charset="2"/>
              <a:buChar char="v"/>
            </a:pPr>
            <a:r>
              <a:rPr lang="fa-IR" b="1" dirty="0" smtClean="0">
                <a:solidFill>
                  <a:srgbClr val="FF0000"/>
                </a:solidFill>
                <a:cs typeface="2  Traffic" pitchFamily="2" charset="-78"/>
              </a:rPr>
              <a:t>اعداد </a:t>
            </a:r>
            <a:r>
              <a:rPr lang="fa-IR" b="1" dirty="0">
                <a:solidFill>
                  <a:srgbClr val="FF0000"/>
                </a:solidFill>
                <a:cs typeface="2  Traffic" pitchFamily="2" charset="-78"/>
              </a:rPr>
              <a:t>حقیقی ممیز </a:t>
            </a:r>
            <a:r>
              <a:rPr lang="fa-IR" b="1" dirty="0" smtClean="0">
                <a:solidFill>
                  <a:srgbClr val="FF0000"/>
                </a:solidFill>
                <a:cs typeface="2  Traffic" pitchFamily="2" charset="-78"/>
              </a:rPr>
              <a:t>ثابت</a:t>
            </a:r>
            <a:endParaRPr lang="fa-IR" sz="2800" b="1" dirty="0">
              <a:solidFill>
                <a:srgbClr val="FF0000"/>
              </a:solidFill>
              <a:cs typeface="2  Traffic" pitchFamily="2" charset="-78"/>
            </a:endParaRPr>
          </a:p>
          <a:p>
            <a:pPr algn="r" rtl="1"/>
            <a:r>
              <a:rPr lang="fa-IR" sz="2800" dirty="0">
                <a:cs typeface="2  Traffic" pitchFamily="2" charset="-78"/>
              </a:rPr>
              <a:t>مشخصات : اغلب سخت افزارها شامل اشیا داده صحیح و ممیز شناور </a:t>
            </a:r>
            <a:r>
              <a:rPr lang="fa-IR" sz="2800" dirty="0" smtClean="0">
                <a:cs typeface="2  Traffic" pitchFamily="2" charset="-78"/>
              </a:rPr>
              <a:t>هستند.ولی در بعضی از کاربردها نیاز داریم از اعداد حقیقی با ممیز ثابت استفاده کنیم. مثلا برای نمایش دلار وسنت</a:t>
            </a:r>
          </a:p>
          <a:p>
            <a:pPr lvl="4" algn="r" rtl="1"/>
            <a:r>
              <a:rPr lang="fa-IR" dirty="0" smtClean="0">
                <a:cs typeface="2  Traffic" pitchFamily="2" charset="-78"/>
              </a:rPr>
              <a:t>تعریف عدد با ممیز ثابت در کوبول </a:t>
            </a:r>
          </a:p>
          <a:p>
            <a:pPr lvl="4">
              <a:buNone/>
            </a:pPr>
            <a:r>
              <a:rPr lang="en-US" dirty="0" smtClean="0">
                <a:cs typeface="2  Traffic" pitchFamily="2" charset="-78"/>
              </a:rPr>
              <a:t>X</a:t>
            </a:r>
            <a:r>
              <a:rPr lang="fa-IR" dirty="0" smtClean="0">
                <a:cs typeface="2  Traffic" pitchFamily="2" charset="-78"/>
              </a:rPr>
              <a:t>  </a:t>
            </a:r>
            <a:r>
              <a:rPr lang="en-US" dirty="0" smtClean="0">
                <a:cs typeface="2  Traffic" pitchFamily="2" charset="-78"/>
              </a:rPr>
              <a:t> picture</a:t>
            </a:r>
            <a:r>
              <a:rPr lang="fa-IR" dirty="0" smtClean="0">
                <a:cs typeface="2  Traffic" pitchFamily="2" charset="-78"/>
              </a:rPr>
              <a:t> </a:t>
            </a:r>
            <a:r>
              <a:rPr lang="en-US" dirty="0" smtClean="0">
                <a:cs typeface="2  Traffic" pitchFamily="2" charset="-78"/>
              </a:rPr>
              <a:t> 999V99</a:t>
            </a:r>
          </a:p>
          <a:p>
            <a:pPr lvl="4" algn="r" rtl="1">
              <a:buNone/>
            </a:pPr>
            <a:r>
              <a:rPr lang="fa-IR" dirty="0" smtClean="0">
                <a:cs typeface="2  Traffic" pitchFamily="2" charset="-78"/>
              </a:rPr>
              <a:t>متغییر </a:t>
            </a:r>
            <a:r>
              <a:rPr lang="en-US" dirty="0" smtClean="0">
                <a:cs typeface="2  Traffic" pitchFamily="2" charset="-78"/>
              </a:rPr>
              <a:t>X</a:t>
            </a:r>
            <a:r>
              <a:rPr lang="fa-IR" dirty="0" smtClean="0">
                <a:cs typeface="2  Traffic" pitchFamily="2" charset="-78"/>
              </a:rPr>
              <a:t> عددی حقیقی با ممیز ثابت تعریف  می شود که سه رقم قبل و دو رقم بعد از ممیز دارد</a:t>
            </a:r>
            <a:endParaRPr lang="fa-IR" dirty="0">
              <a:cs typeface="2  Traffic" pitchFamily="2" charset="-78"/>
            </a:endParaRPr>
          </a:p>
          <a:p>
            <a:pPr algn="r" rtl="1"/>
            <a:r>
              <a:rPr lang="fa-IR" dirty="0">
                <a:cs typeface="2  Traffic" pitchFamily="2" charset="-78"/>
              </a:rPr>
              <a:t>پیاده سازی: ممکن است مستقیماً توسط سخت افزار پشتیبانی شود یا به صورت نرم افزاری شبیه سازی گردد.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انواع داده اسکالر(ادامه)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43000" y="1992313"/>
            <a:ext cx="77216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dirty="0" smtClean="0">
                <a:solidFill>
                  <a:srgbClr val="FF0000"/>
                </a:solidFill>
                <a:cs typeface="2  Traffic" pitchFamily="2" charset="-78"/>
              </a:rPr>
              <a:t>سایر </a:t>
            </a:r>
            <a:r>
              <a:rPr lang="fa-IR" dirty="0">
                <a:solidFill>
                  <a:srgbClr val="FF0000"/>
                </a:solidFill>
                <a:cs typeface="2  Traffic" pitchFamily="2" charset="-78"/>
              </a:rPr>
              <a:t>انواع داده عددی</a:t>
            </a:r>
          </a:p>
          <a:p>
            <a:pPr algn="r" rtl="1"/>
            <a:r>
              <a:rPr lang="fa-IR" sz="2600" b="1" dirty="0">
                <a:cs typeface="2  Traffic" pitchFamily="2" charset="-78"/>
              </a:rPr>
              <a:t>اعداد موهومی</a:t>
            </a:r>
            <a:r>
              <a:rPr lang="fa-IR" sz="2600" dirty="0">
                <a:cs typeface="2  Traffic" pitchFamily="2" charset="-78"/>
              </a:rPr>
              <a:t>: عدد موهومی متشکل از یک جفت از اعداد است که یکی از آنها بخش حقیقی و دیگری بخش موهومی را نشان می دهد</a:t>
            </a:r>
            <a:r>
              <a:rPr lang="fa-IR" sz="2600" dirty="0" smtClean="0">
                <a:cs typeface="2  Traffic" pitchFamily="2" charset="-78"/>
              </a:rPr>
              <a:t>.</a:t>
            </a:r>
          </a:p>
          <a:p>
            <a:pPr lvl="1" algn="r" rtl="1">
              <a:buNone/>
            </a:pPr>
            <a:r>
              <a:rPr lang="fa-IR" dirty="0" smtClean="0">
                <a:cs typeface="2  Traffic" pitchFamily="2" charset="-78"/>
              </a:rPr>
              <a:t>پیاده سازی : بصورت نرم افزاری</a:t>
            </a:r>
          </a:p>
          <a:p>
            <a:pPr lvl="1" algn="r" rtl="1">
              <a:buNone/>
            </a:pPr>
            <a:r>
              <a:rPr lang="fa-IR" dirty="0" smtClean="0">
                <a:cs typeface="2  Traffic" pitchFamily="2" charset="-78"/>
              </a:rPr>
              <a:t>نمایش حافظه : بصورت دو بلوک حافظه جدا</a:t>
            </a:r>
            <a:endParaRPr lang="fa-IR" dirty="0">
              <a:cs typeface="2  Traffic" pitchFamily="2" charset="-78"/>
            </a:endParaRPr>
          </a:p>
          <a:p>
            <a:pPr algn="r" rtl="1"/>
            <a:r>
              <a:rPr lang="fa-IR" sz="2600" b="1" dirty="0">
                <a:cs typeface="2  Traffic" pitchFamily="2" charset="-78"/>
              </a:rPr>
              <a:t>اعداد گویا</a:t>
            </a:r>
            <a:r>
              <a:rPr lang="fa-IR" sz="2600" dirty="0">
                <a:cs typeface="2  Traffic" pitchFamily="2" charset="-78"/>
              </a:rPr>
              <a:t>: عدد گویا خارج قسمت دو مقدار صحیح است</a:t>
            </a:r>
            <a:r>
              <a:rPr lang="fa-IR" sz="2600" dirty="0" smtClean="0">
                <a:cs typeface="2  Traffic" pitchFamily="2" charset="-78"/>
              </a:rPr>
              <a:t>.</a:t>
            </a:r>
          </a:p>
          <a:p>
            <a:pPr lvl="1" algn="r" rtl="1">
              <a:buNone/>
            </a:pPr>
            <a:r>
              <a:rPr lang="fa-IR" dirty="0" smtClean="0">
                <a:cs typeface="2  Traffic" pitchFamily="2" charset="-78"/>
              </a:rPr>
              <a:t>پیاده سازی : بصورت نرم افزاری</a:t>
            </a:r>
          </a:p>
          <a:p>
            <a:pPr lvl="1" algn="r" rtl="1">
              <a:buNone/>
            </a:pPr>
            <a:r>
              <a:rPr lang="fa-IR" dirty="0" smtClean="0">
                <a:cs typeface="2  Traffic" pitchFamily="2" charset="-78"/>
              </a:rPr>
              <a:t>نمایش حافظه : بصورت لیست پیوندی</a:t>
            </a:r>
          </a:p>
          <a:p>
            <a:pPr algn="r" rtl="1">
              <a:buNone/>
            </a:pPr>
            <a:endParaRPr lang="fa-IR" dirty="0">
              <a:cs typeface="2  Traffic" pitchFamily="2" charset="-78"/>
            </a:endParaRP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انواع داده اسکالر(ادامه)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19200" y="1992313"/>
            <a:ext cx="7645400" cy="4368800"/>
          </a:xfrm>
        </p:spPr>
        <p:txBody>
          <a:bodyPr>
            <a:normAutofit fontScale="92500" lnSpcReduction="10000"/>
          </a:bodyPr>
          <a:lstStyle/>
          <a:p>
            <a:pPr algn="r" rtl="1">
              <a:buFont typeface="Wingdings" pitchFamily="2" charset="2"/>
              <a:buChar char="v"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نوع شمارشی</a:t>
            </a:r>
          </a:p>
          <a:p>
            <a:pPr algn="r" rtl="1"/>
            <a:r>
              <a:rPr lang="fa-IR" dirty="0">
                <a:cs typeface="2  Traffic" pitchFamily="2" charset="-78"/>
              </a:rPr>
              <a:t>مشخصات: لیست مرتبی از مقادیر مجزا است. برنامه نویس اسامی لیترالهایی را که باید برای مقادیر مورد </a:t>
            </a:r>
            <a:r>
              <a:rPr lang="fa-IR" dirty="0" smtClean="0">
                <a:cs typeface="2  Traffic" pitchFamily="2" charset="-78"/>
              </a:rPr>
              <a:t>استفاده </a:t>
            </a:r>
            <a:r>
              <a:rPr lang="fa-IR" dirty="0">
                <a:cs typeface="2  Traffic" pitchFamily="2" charset="-78"/>
              </a:rPr>
              <a:t>قرار گیرند و همچنین ترتیب آنها را با استفاده از اعلانی مانند زیر در </a:t>
            </a:r>
            <a:r>
              <a:rPr lang="en-US" dirty="0">
                <a:cs typeface="2  Traffic" pitchFamily="2" charset="-78"/>
              </a:rPr>
              <a:t>C</a:t>
            </a:r>
            <a:r>
              <a:rPr lang="fa-IR" dirty="0">
                <a:cs typeface="2  Traffic" pitchFamily="2" charset="-78"/>
              </a:rPr>
              <a:t> مشخص می کند</a:t>
            </a:r>
            <a:r>
              <a:rPr lang="fa-IR" dirty="0" smtClean="0">
                <a:cs typeface="2  Traffic" pitchFamily="2" charset="-78"/>
              </a:rPr>
              <a:t>.</a:t>
            </a:r>
          </a:p>
          <a:p>
            <a:pPr algn="l">
              <a:buNone/>
            </a:pPr>
            <a:r>
              <a:rPr lang="en-US" dirty="0" err="1" smtClean="0">
                <a:cs typeface="2  Traffic" pitchFamily="2" charset="-78"/>
              </a:rPr>
              <a:t>enum</a:t>
            </a:r>
            <a:r>
              <a:rPr lang="en-US" dirty="0" smtClean="0">
                <a:cs typeface="2  Traffic" pitchFamily="2" charset="-78"/>
              </a:rPr>
              <a:t> emp {female, male};</a:t>
            </a:r>
            <a:endParaRPr lang="fa-IR" dirty="0">
              <a:cs typeface="2  Traffic" pitchFamily="2" charset="-78"/>
            </a:endParaRPr>
          </a:p>
          <a:p>
            <a:pPr algn="r" rtl="1"/>
            <a:r>
              <a:rPr lang="fa-IR" dirty="0">
                <a:cs typeface="2  Traffic" pitchFamily="2" charset="-78"/>
              </a:rPr>
              <a:t>پیاده سازی: نمایش حافظه برای شی داده ای از نوع شمارشی ساده است</a:t>
            </a:r>
            <a:r>
              <a:rPr lang="fa-IR" dirty="0" smtClean="0">
                <a:cs typeface="2  Traffic" pitchFamily="2" charset="-78"/>
              </a:rPr>
              <a:t>.</a:t>
            </a:r>
            <a:r>
              <a:rPr lang="en-US" dirty="0" smtClean="0">
                <a:cs typeface="2  Traffic" pitchFamily="2" charset="-78"/>
              </a:rPr>
              <a:t> </a:t>
            </a:r>
            <a:r>
              <a:rPr lang="fa-IR" dirty="0" smtClean="0">
                <a:cs typeface="2  Traffic" pitchFamily="2" charset="-78"/>
              </a:rPr>
              <a:t>هر مقدار با اعداد صحیح 0و1و2و.. در زمان اجرا نمایش داده می شود.</a:t>
            </a:r>
            <a:endParaRPr lang="fa-IR" dirty="0">
              <a:cs typeface="2  Traffic" pitchFamily="2" charset="-78"/>
            </a:endParaRP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انواع داده اسکالر(ادامه)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66800" y="1992313"/>
            <a:ext cx="7797800" cy="4368800"/>
          </a:xfrm>
        </p:spPr>
        <p:txBody>
          <a:bodyPr/>
          <a:lstStyle/>
          <a:p>
            <a:pPr algn="r" rtl="1">
              <a:lnSpc>
                <a:spcPct val="90000"/>
              </a:lnSpc>
              <a:buFont typeface="Wingdings" pitchFamily="2" charset="2"/>
              <a:buChar char="v"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نوع بولی</a:t>
            </a:r>
          </a:p>
          <a:p>
            <a:pPr algn="r" rtl="1">
              <a:lnSpc>
                <a:spcPct val="90000"/>
              </a:lnSpc>
            </a:pPr>
            <a:r>
              <a:rPr lang="fa-IR" sz="2600" dirty="0">
                <a:cs typeface="2  Traffic" pitchFamily="2" charset="-78"/>
              </a:rPr>
              <a:t>مشخصات: متشکل از اشیای داده ای است که یکی از  دو مقدار </a:t>
            </a:r>
            <a:r>
              <a:rPr lang="en-US" sz="2600" dirty="0">
                <a:cs typeface="2  Traffic" pitchFamily="2" charset="-78"/>
              </a:rPr>
              <a:t>TRUE</a:t>
            </a:r>
            <a:r>
              <a:rPr lang="fa-IR" sz="2600" dirty="0">
                <a:cs typeface="2  Traffic" pitchFamily="2" charset="-78"/>
              </a:rPr>
              <a:t> یا </a:t>
            </a:r>
            <a:r>
              <a:rPr lang="en-US" sz="2600" dirty="0">
                <a:cs typeface="2  Traffic" pitchFamily="2" charset="-78"/>
              </a:rPr>
              <a:t>FALSE</a:t>
            </a:r>
            <a:r>
              <a:rPr lang="fa-IR" sz="2600" dirty="0">
                <a:cs typeface="2  Traffic" pitchFamily="2" charset="-78"/>
              </a:rPr>
              <a:t> را می پذیرد.</a:t>
            </a:r>
          </a:p>
          <a:p>
            <a:pPr algn="justLow" rtl="1">
              <a:lnSpc>
                <a:spcPct val="90000"/>
              </a:lnSpc>
            </a:pPr>
            <a:r>
              <a:rPr lang="fa-IR" sz="2600" dirty="0">
                <a:cs typeface="2  Traffic" pitchFamily="2" charset="-78"/>
              </a:rPr>
              <a:t>پیاده سازی: نمایش حافظه برای شی داده بولی یک بیت از حافظه </a:t>
            </a:r>
            <a:r>
              <a:rPr lang="fa-IR" sz="2600" dirty="0" smtClean="0">
                <a:cs typeface="2  Traffic" pitchFamily="2" charset="-78"/>
              </a:rPr>
              <a:t>است. مقادیر </a:t>
            </a:r>
            <a:r>
              <a:rPr lang="en-US" sz="2600" dirty="0">
                <a:cs typeface="2  Traffic" pitchFamily="2" charset="-78"/>
              </a:rPr>
              <a:t>true</a:t>
            </a:r>
            <a:r>
              <a:rPr lang="fa-IR" sz="2600" dirty="0">
                <a:cs typeface="2  Traffic" pitchFamily="2" charset="-78"/>
              </a:rPr>
              <a:t> و </a:t>
            </a:r>
            <a:r>
              <a:rPr lang="en-US" sz="2600" dirty="0">
                <a:cs typeface="2  Traffic" pitchFamily="2" charset="-78"/>
              </a:rPr>
              <a:t>false</a:t>
            </a:r>
            <a:r>
              <a:rPr lang="fa-IR" sz="2600" dirty="0">
                <a:cs typeface="2  Traffic" pitchFamily="2" charset="-78"/>
              </a:rPr>
              <a:t> به دو روش در این واحد حافظه نمایش داده می شوند:</a:t>
            </a:r>
          </a:p>
          <a:p>
            <a:pPr lvl="1" algn="r" rtl="1">
              <a:lnSpc>
                <a:spcPct val="90000"/>
              </a:lnSpc>
            </a:pPr>
            <a:r>
              <a:rPr lang="fa-IR" dirty="0">
                <a:cs typeface="2  Traffic" pitchFamily="2" charset="-78"/>
              </a:rPr>
              <a:t>بیت خاصی </a:t>
            </a:r>
            <a:r>
              <a:rPr lang="fa-IR" dirty="0" smtClean="0">
                <a:cs typeface="2  Traffic" pitchFamily="2" charset="-78"/>
              </a:rPr>
              <a:t>از واحد حافظه برای </a:t>
            </a:r>
            <a:r>
              <a:rPr lang="fa-IR" dirty="0">
                <a:cs typeface="2  Traffic" pitchFamily="2" charset="-78"/>
              </a:rPr>
              <a:t>این مقادیر استفاده می شود.</a:t>
            </a:r>
          </a:p>
          <a:p>
            <a:pPr lvl="1" algn="r" rtl="1">
              <a:lnSpc>
                <a:spcPct val="90000"/>
              </a:lnSpc>
            </a:pPr>
            <a:r>
              <a:rPr lang="fa-IR" dirty="0">
                <a:cs typeface="2  Traffic" pitchFamily="2" charset="-78"/>
              </a:rPr>
              <a:t>مقدار صفر در کل واحد حافظه نشاندهنده </a:t>
            </a:r>
            <a:r>
              <a:rPr lang="en-US" dirty="0">
                <a:cs typeface="2  Traffic" pitchFamily="2" charset="-78"/>
              </a:rPr>
              <a:t>false</a:t>
            </a:r>
            <a:r>
              <a:rPr lang="fa-IR" dirty="0">
                <a:cs typeface="2  Traffic" pitchFamily="2" charset="-78"/>
              </a:rPr>
              <a:t> و مقدار غیرصفر نشاندهنده </a:t>
            </a:r>
            <a:r>
              <a:rPr lang="en-US" dirty="0">
                <a:cs typeface="2  Traffic" pitchFamily="2" charset="-78"/>
              </a:rPr>
              <a:t>true</a:t>
            </a:r>
            <a:r>
              <a:rPr lang="fa-IR" dirty="0">
                <a:cs typeface="2  Traffic" pitchFamily="2" charset="-78"/>
              </a:rPr>
              <a:t> است</a:t>
            </a:r>
            <a:r>
              <a:rPr lang="fa-IR" dirty="0" smtClean="0">
                <a:cs typeface="2  Traffic" pitchFamily="2" charset="-78"/>
              </a:rPr>
              <a:t>.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انواع داده اسکالر(ادامه)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66800" y="914400"/>
            <a:ext cx="7797800" cy="598487"/>
          </a:xfrm>
        </p:spPr>
        <p:txBody>
          <a:bodyPr>
            <a:normAutofit lnSpcReduction="10000"/>
          </a:bodyPr>
          <a:lstStyle/>
          <a:p>
            <a:pPr algn="r" rtl="1">
              <a:buFont typeface="Wingdings" pitchFamily="2" charset="2"/>
              <a:buChar char="v"/>
            </a:pP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کاراکترها</a:t>
            </a:r>
            <a:endParaRPr lang="fa-IR" sz="3400" b="1" dirty="0">
              <a:solidFill>
                <a:srgbClr val="FF0000"/>
              </a:solidFill>
              <a:cs typeface="2  Traffic" pitchFamily="2" charset="-78"/>
            </a:endParaRP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انواع داده اسکالر(ادامه)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600200"/>
            <a:ext cx="7667625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992313"/>
            <a:ext cx="86360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1) رشته </a:t>
            </a: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های کاراکتری</a:t>
            </a:r>
          </a:p>
          <a:p>
            <a:pPr algn="r" rtl="1">
              <a:buNone/>
            </a:pPr>
            <a:r>
              <a:rPr lang="fa-IR" sz="2400" b="1" dirty="0" smtClean="0">
                <a:solidFill>
                  <a:srgbClr val="FF0000"/>
                </a:solidFill>
                <a:cs typeface="2  Traffic" pitchFamily="2" charset="-78"/>
              </a:rPr>
              <a:t>شی داده ای است که از دنباله ای از کارکترها تشکیل شده است</a:t>
            </a:r>
            <a:endParaRPr lang="fa-IR" sz="2400" dirty="0" smtClean="0">
              <a:solidFill>
                <a:srgbClr val="FF0000"/>
              </a:solidFill>
              <a:cs typeface="2  Traffic" pitchFamily="2" charset="-78"/>
            </a:endParaRPr>
          </a:p>
          <a:p>
            <a:pPr algn="r" rtl="1">
              <a:buFontTx/>
              <a:buNone/>
            </a:pPr>
            <a:r>
              <a:rPr lang="fa-IR" dirty="0" smtClean="0">
                <a:solidFill>
                  <a:srgbClr val="0000FF"/>
                </a:solidFill>
                <a:cs typeface="2  Traffic" pitchFamily="2" charset="-78"/>
              </a:rPr>
              <a:t>مشخصات </a:t>
            </a:r>
            <a:r>
              <a:rPr lang="fa-IR" dirty="0">
                <a:solidFill>
                  <a:srgbClr val="0000FF"/>
                </a:solidFill>
                <a:cs typeface="2  Traffic" pitchFamily="2" charset="-78"/>
              </a:rPr>
              <a:t>و نحو</a:t>
            </a:r>
          </a:p>
          <a:p>
            <a:pPr algn="r" rtl="1">
              <a:buFontTx/>
              <a:buNone/>
            </a:pPr>
            <a:r>
              <a:rPr lang="fa-IR" dirty="0">
                <a:cs typeface="2  Traffic" pitchFamily="2" charset="-78"/>
              </a:rPr>
              <a:t>با رشته های کاراکتری حداقل به سه روش رفتار می شود:</a:t>
            </a:r>
          </a:p>
          <a:p>
            <a:pPr algn="r" rtl="1"/>
            <a:r>
              <a:rPr lang="fa-IR" dirty="0">
                <a:cs typeface="2  Traffic" pitchFamily="2" charset="-78"/>
              </a:rPr>
              <a:t>طول ثابت</a:t>
            </a:r>
          </a:p>
          <a:p>
            <a:pPr algn="r" rtl="1"/>
            <a:r>
              <a:rPr lang="fa-IR" dirty="0">
                <a:cs typeface="2  Traffic" pitchFamily="2" charset="-78"/>
              </a:rPr>
              <a:t>طول متغیر با حد بالا</a:t>
            </a:r>
          </a:p>
          <a:p>
            <a:pPr algn="r" rtl="1"/>
            <a:r>
              <a:rPr lang="fa-IR" dirty="0">
                <a:cs typeface="2  Traffic" pitchFamily="2" charset="-78"/>
              </a:rPr>
              <a:t>طول نامحدود</a:t>
            </a:r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انواع داده مرکب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797800" cy="4989513"/>
          </a:xfrm>
        </p:spPr>
        <p:txBody>
          <a:bodyPr>
            <a:normAutofit/>
          </a:bodyPr>
          <a:lstStyle/>
          <a:p>
            <a:pPr algn="r" rtl="1">
              <a:lnSpc>
                <a:spcPct val="80000"/>
              </a:lnSpc>
              <a:buFontTx/>
              <a:buNone/>
            </a:pPr>
            <a:r>
              <a:rPr lang="fa-IR" b="1" dirty="0">
                <a:solidFill>
                  <a:srgbClr val="FF0000"/>
                </a:solidFill>
                <a:cs typeface="2  Traffic" pitchFamily="2" charset="-78"/>
              </a:rPr>
              <a:t>رشته های کاراکتری (ادامه)</a:t>
            </a:r>
          </a:p>
          <a:p>
            <a:pPr algn="r" rtl="1">
              <a:lnSpc>
                <a:spcPct val="80000"/>
              </a:lnSpc>
              <a:buFontTx/>
              <a:buNone/>
            </a:pPr>
            <a:r>
              <a:rPr lang="fa-IR" sz="2600" dirty="0">
                <a:solidFill>
                  <a:srgbClr val="0000FF"/>
                </a:solidFill>
                <a:cs typeface="2  Traffic" pitchFamily="2" charset="-78"/>
              </a:rPr>
              <a:t>مشخصات و نحو (ادامه)</a:t>
            </a:r>
          </a:p>
          <a:p>
            <a:pPr algn="r" rtl="1">
              <a:lnSpc>
                <a:spcPct val="80000"/>
              </a:lnSpc>
              <a:buFontTx/>
              <a:buNone/>
            </a:pPr>
            <a:r>
              <a:rPr lang="fa-IR" dirty="0">
                <a:cs typeface="2  Traffic" pitchFamily="2" charset="-78"/>
              </a:rPr>
              <a:t>	عملیات گوناگونی بر روی رشته ها انجام پذیر است که بعضی از آنها عبارتند از:</a:t>
            </a:r>
          </a:p>
          <a:p>
            <a:pPr lvl="1" algn="r" rtl="1">
              <a:lnSpc>
                <a:spcPct val="80000"/>
              </a:lnSpc>
            </a:pPr>
            <a:r>
              <a:rPr lang="fa-IR" sz="3200" dirty="0">
                <a:cs typeface="2  Traffic" pitchFamily="2" charset="-78"/>
              </a:rPr>
              <a:t>الحاق</a:t>
            </a:r>
          </a:p>
          <a:p>
            <a:pPr lvl="1" algn="r" rtl="1">
              <a:lnSpc>
                <a:spcPct val="80000"/>
              </a:lnSpc>
            </a:pPr>
            <a:r>
              <a:rPr lang="fa-IR" sz="3200" dirty="0">
                <a:cs typeface="2  Traffic" pitchFamily="2" charset="-78"/>
              </a:rPr>
              <a:t>عملیات رابطه ای در رشته ها </a:t>
            </a:r>
          </a:p>
          <a:p>
            <a:pPr lvl="1" algn="r" rtl="1">
              <a:lnSpc>
                <a:spcPct val="80000"/>
              </a:lnSpc>
            </a:pPr>
            <a:r>
              <a:rPr lang="fa-IR" sz="3200" dirty="0">
                <a:cs typeface="2  Traffic" pitchFamily="2" charset="-78"/>
              </a:rPr>
              <a:t>انتخاب زیر رشته با استفاده از اندیس</a:t>
            </a:r>
          </a:p>
          <a:p>
            <a:pPr lvl="1" algn="r" rtl="1">
              <a:lnSpc>
                <a:spcPct val="80000"/>
              </a:lnSpc>
            </a:pPr>
            <a:r>
              <a:rPr lang="fa-IR" sz="3200" dirty="0">
                <a:cs typeface="2  Traffic" pitchFamily="2" charset="-78"/>
              </a:rPr>
              <a:t>فرمت بندی ورودی – خروجی</a:t>
            </a:r>
          </a:p>
          <a:p>
            <a:pPr lvl="1" algn="r" rtl="1">
              <a:lnSpc>
                <a:spcPct val="80000"/>
              </a:lnSpc>
            </a:pPr>
            <a:r>
              <a:rPr lang="fa-IR" sz="3200" dirty="0">
                <a:cs typeface="2  Traffic" pitchFamily="2" charset="-78"/>
              </a:rPr>
              <a:t>انتخاب زیر رشته با تطابق الگو</a:t>
            </a:r>
          </a:p>
          <a:p>
            <a:pPr lvl="1" algn="r" rtl="1">
              <a:lnSpc>
                <a:spcPct val="80000"/>
              </a:lnSpc>
            </a:pPr>
            <a:r>
              <a:rPr lang="fa-IR" sz="3200" dirty="0">
                <a:cs typeface="2  Traffic" pitchFamily="2" charset="-78"/>
              </a:rPr>
              <a:t>رشته های پویا</a:t>
            </a:r>
          </a:p>
          <a:p>
            <a:pPr algn="r" rtl="1">
              <a:lnSpc>
                <a:spcPct val="80000"/>
              </a:lnSpc>
              <a:buFontTx/>
              <a:buNone/>
            </a:pPr>
            <a:r>
              <a:rPr lang="fa-IR" sz="2600" dirty="0">
                <a:cs typeface="2  Traffic" pitchFamily="2" charset="-78"/>
              </a:rPr>
              <a:t>.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انواع داده مرکب(ادامه)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43000" y="685800"/>
            <a:ext cx="7721600" cy="533400"/>
          </a:xfrm>
        </p:spPr>
        <p:txBody>
          <a:bodyPr>
            <a:normAutofit lnSpcReduction="10000"/>
          </a:bodyPr>
          <a:lstStyle/>
          <a:p>
            <a:pPr algn="r" rtl="1">
              <a:lnSpc>
                <a:spcPct val="90000"/>
              </a:lnSpc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رشته های کاراکتری (ادامه</a:t>
            </a: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)</a:t>
            </a:r>
            <a:endParaRPr lang="fa-IR" sz="3400" b="1" dirty="0">
              <a:solidFill>
                <a:srgbClr val="FF0000"/>
              </a:solidFill>
              <a:cs typeface="2  Traffic" pitchFamily="2" charset="-78"/>
            </a:endParaRPr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-76200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انواع داده مرکب(ادامه)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" y="1333500"/>
            <a:ext cx="7924801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 smtClean="0">
                <a:solidFill>
                  <a:srgbClr val="FF0000"/>
                </a:solidFill>
              </a:rPr>
              <a:t>پیاده سازی رشته ها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276350"/>
            <a:ext cx="8229601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81646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066800"/>
            <a:ext cx="80010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431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43050" y="228600"/>
            <a:ext cx="760095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نمایش حافظه ای رشته ها</a:t>
            </a:r>
            <a:endParaRPr kumimoji="0" lang="fa-IR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829828" y="6308725"/>
            <a:ext cx="617537" cy="506413"/>
          </a:xfrm>
        </p:spPr>
        <p:txBody>
          <a:bodyPr/>
          <a:lstStyle/>
          <a:p>
            <a:pPr>
              <a:defRPr/>
            </a:pPr>
            <a:fld id="{9E51A76C-12C9-47F6-A1F6-27F5A63BB8FC}" type="slidenum">
              <a:rPr lang="ar-SA" altLang="en-US" smtClean="0"/>
              <a:pPr>
                <a:defRPr/>
              </a:pPr>
              <a:t>54</a:t>
            </a:fld>
            <a:endParaRPr lang="en-US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62140" y="6337300"/>
            <a:ext cx="7632700" cy="476250"/>
          </a:xfrm>
        </p:spPr>
        <p:txBody>
          <a:bodyPr/>
          <a:lstStyle/>
          <a:p>
            <a:pPr>
              <a:defRPr/>
            </a:pPr>
            <a:r>
              <a:rPr lang="ar-SA" smtClean="0"/>
              <a:t>سیستم هاي عامل پیشرفته</a:t>
            </a:r>
            <a:endParaRPr 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143000"/>
            <a:ext cx="8039100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609600"/>
            <a:ext cx="8636000" cy="2971800"/>
          </a:xfrm>
        </p:spPr>
        <p:txBody>
          <a:bodyPr>
            <a:normAutofit fontScale="92500" lnSpcReduction="10000"/>
          </a:bodyPr>
          <a:lstStyle/>
          <a:p>
            <a:pPr algn="r" rtl="1">
              <a:buFontTx/>
              <a:buNone/>
            </a:pP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2) اشاره </a:t>
            </a: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گرها و اشیای داده برنامه نویس</a:t>
            </a:r>
          </a:p>
          <a:p>
            <a:pPr algn="r" rtl="1">
              <a:buFontTx/>
              <a:buNone/>
            </a:pPr>
            <a:r>
              <a:rPr lang="fa-IR" dirty="0" smtClean="0">
                <a:cs typeface="2  Traffic" pitchFamily="2" charset="-78"/>
              </a:rPr>
              <a:t>برای اینکه زبان نوع اشاره گر را داشته باشد باید </a:t>
            </a:r>
            <a:r>
              <a:rPr lang="fa-IR" dirty="0">
                <a:cs typeface="2  Traffic" pitchFamily="2" charset="-78"/>
              </a:rPr>
              <a:t>ویژگیهای زیر را </a:t>
            </a:r>
            <a:r>
              <a:rPr lang="fa-IR" dirty="0" smtClean="0">
                <a:cs typeface="2  Traffic" pitchFamily="2" charset="-78"/>
              </a:rPr>
              <a:t>دارا </a:t>
            </a:r>
            <a:r>
              <a:rPr lang="fa-IR" dirty="0">
                <a:cs typeface="2  Traffic" pitchFamily="2" charset="-78"/>
              </a:rPr>
              <a:t>باشد:</a:t>
            </a:r>
          </a:p>
          <a:p>
            <a:pPr algn="r" rtl="1"/>
            <a:r>
              <a:rPr lang="fa-IR" dirty="0">
                <a:cs typeface="2  Traffic" pitchFamily="2" charset="-78"/>
              </a:rPr>
              <a:t>نوع داده اولیه اشاره گر</a:t>
            </a:r>
          </a:p>
          <a:p>
            <a:pPr algn="r" rtl="1"/>
            <a:r>
              <a:rPr lang="fa-IR" dirty="0">
                <a:cs typeface="2  Traffic" pitchFamily="2" charset="-78"/>
              </a:rPr>
              <a:t>عمل ایجاد کردن</a:t>
            </a:r>
          </a:p>
          <a:p>
            <a:pPr algn="r" rtl="1"/>
            <a:r>
              <a:rPr lang="fa-IR" dirty="0">
                <a:cs typeface="2  Traffic" pitchFamily="2" charset="-78"/>
              </a:rPr>
              <a:t>عملیات دستیابی به محتویات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0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انواع داده مرکب(ادامه)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3810000"/>
            <a:ext cx="7924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90600" y="533400"/>
            <a:ext cx="7874000" cy="6096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اشاره گرها و اشیای داده برنامه نویس (ادامه</a:t>
            </a: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)</a:t>
            </a:r>
            <a:endParaRPr lang="fa-IR" sz="3400" b="1" dirty="0">
              <a:solidFill>
                <a:srgbClr val="FF0000"/>
              </a:solidFill>
              <a:cs typeface="2  Traffic" pitchFamily="2" charset="-78"/>
            </a:endParaRPr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title"/>
          </p:nvPr>
        </p:nvSpPr>
        <p:spPr>
          <a:xfrm>
            <a:off x="1168400" y="0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انواع داده مرکب(ادامه)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56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9864" y="1295400"/>
            <a:ext cx="7855061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366838"/>
            <a:ext cx="8077201" cy="465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990600" y="533400"/>
            <a:ext cx="7874000" cy="6096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r" rtl="1">
              <a:buFontTx/>
              <a:buNone/>
            </a:pP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اشاره گرها و اشیای داده برنامه نویس (ادامه)</a:t>
            </a:r>
            <a:endParaRPr lang="fa-IR" sz="3400" b="1" dirty="0">
              <a:solidFill>
                <a:srgbClr val="FF0000"/>
              </a:solidFill>
              <a:cs typeface="2  Traffic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689786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1870365"/>
            <a:ext cx="8010237" cy="3387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990600" y="533400"/>
            <a:ext cx="7874000" cy="6096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r" rtl="1">
              <a:buFontTx/>
              <a:buNone/>
            </a:pP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اشاره گرها و اشیای داده برنامه نویس (ادامه)</a:t>
            </a:r>
            <a:endParaRPr lang="fa-IR" sz="3400" b="1" dirty="0">
              <a:solidFill>
                <a:srgbClr val="FF0000"/>
              </a:solidFill>
              <a:cs typeface="2  Traffic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221282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14400"/>
            <a:ext cx="7710065" cy="412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12147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90600" y="762001"/>
            <a:ext cx="7874000" cy="4343400"/>
          </a:xfrm>
        </p:spPr>
        <p:txBody>
          <a:bodyPr>
            <a:normAutofit/>
          </a:bodyPr>
          <a:lstStyle/>
          <a:p>
            <a:pPr algn="r" rtl="1">
              <a:buFontTx/>
              <a:buNone/>
            </a:pPr>
            <a:r>
              <a:rPr lang="fa-IR" sz="1800" b="1" dirty="0">
                <a:solidFill>
                  <a:srgbClr val="FF0000"/>
                </a:solidFill>
                <a:cs typeface="2  Traffic" pitchFamily="2" charset="-78"/>
              </a:rPr>
              <a:t>اشاره گرها و اشیای داده برنامه نویس (ادامه)</a:t>
            </a:r>
          </a:p>
          <a:p>
            <a:pPr algn="r" rtl="1">
              <a:buFontTx/>
              <a:buNone/>
            </a:pPr>
            <a:r>
              <a:rPr lang="fa-IR" sz="1800" dirty="0">
                <a:cs typeface="2  Traffic" pitchFamily="2" charset="-78"/>
              </a:rPr>
              <a:t>پیاده سازی: شی داده اشاره گر به صورت محلی از حافظه نمایش داده می شود که شامل آدرس محل دیگری از حافظه است.</a:t>
            </a:r>
          </a:p>
          <a:p>
            <a:pPr algn="r" rtl="1">
              <a:buFontTx/>
              <a:buNone/>
            </a:pPr>
            <a:r>
              <a:rPr lang="fa-IR" sz="1800" dirty="0">
                <a:cs typeface="2  Traffic" pitchFamily="2" charset="-78"/>
              </a:rPr>
              <a:t>دو نمایش حافظه برای مقادیر اشاره گر استفاده می شود:</a:t>
            </a:r>
          </a:p>
          <a:p>
            <a:pPr lvl="1" algn="r" rtl="1"/>
            <a:r>
              <a:rPr lang="fa-IR" sz="1800" dirty="0">
                <a:cs typeface="2  Traffic" pitchFamily="2" charset="-78"/>
              </a:rPr>
              <a:t>آدرس </a:t>
            </a:r>
            <a:r>
              <a:rPr lang="fa-IR" sz="1800" dirty="0" smtClean="0">
                <a:cs typeface="2  Traffic" pitchFamily="2" charset="-78"/>
              </a:rPr>
              <a:t>مطلق : آدرس واقعی</a:t>
            </a:r>
            <a:endParaRPr lang="fa-IR" sz="1800" dirty="0">
              <a:cs typeface="2  Traffic" pitchFamily="2" charset="-78"/>
            </a:endParaRPr>
          </a:p>
          <a:p>
            <a:pPr lvl="1" algn="r" rtl="1"/>
            <a:r>
              <a:rPr lang="fa-IR" sz="1800" dirty="0">
                <a:cs typeface="2  Traffic" pitchFamily="2" charset="-78"/>
              </a:rPr>
              <a:t>آدرس </a:t>
            </a:r>
            <a:r>
              <a:rPr lang="fa-IR" sz="1800" dirty="0" smtClean="0">
                <a:cs typeface="2  Traffic" pitchFamily="2" charset="-78"/>
              </a:rPr>
              <a:t>نسبی : آفستی از آدرس بلوک پایه که شی در آن ایجاد شود.</a:t>
            </a:r>
            <a:endParaRPr lang="fa-IR" sz="1800" dirty="0">
              <a:cs typeface="2  Traffic" pitchFamily="2" charset="-78"/>
            </a:endParaRPr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76200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انواع داده مرکب(ادامه)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60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509" y="2971800"/>
            <a:ext cx="78486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" y="4276725"/>
            <a:ext cx="8153401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66800" y="1992313"/>
            <a:ext cx="77978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sz="3400" b="1" dirty="0" smtClean="0">
                <a:solidFill>
                  <a:srgbClr val="FF0000"/>
                </a:solidFill>
                <a:cs typeface="2  Traffic" pitchFamily="2" charset="-78"/>
              </a:rPr>
              <a:t>3) فایلها </a:t>
            </a: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و ورودی - خروجی</a:t>
            </a:r>
          </a:p>
          <a:p>
            <a:pPr algn="r" rtl="1"/>
            <a:r>
              <a:rPr lang="fa-IR" dirty="0">
                <a:cs typeface="2  Traffic" pitchFamily="2" charset="-78"/>
              </a:rPr>
              <a:t>فایل ساختمان داده ای با دو ویژگی است:</a:t>
            </a:r>
          </a:p>
          <a:p>
            <a:pPr algn="r" rtl="1"/>
            <a:r>
              <a:rPr lang="fa-IR" dirty="0">
                <a:cs typeface="2  Traffic" pitchFamily="2" charset="-78"/>
              </a:rPr>
              <a:t>بر روی حافظه ثانویه مثل دیسک یا نوار تشکیل می شود و ممکن است بسیار بزرگتر از سایر ساختمان داده ها باشد.</a:t>
            </a:r>
          </a:p>
          <a:p>
            <a:pPr algn="r" rtl="1"/>
            <a:r>
              <a:rPr lang="fa-IR" dirty="0">
                <a:cs typeface="2  Traffic" pitchFamily="2" charset="-78"/>
              </a:rPr>
              <a:t>طول عمر آن می تواند بسیار زیاد باشد.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 dirty="0">
                <a:cs typeface="2  Titr" pitchFamily="2" charset="-78"/>
              </a:rPr>
              <a:t>انواع داده مرکب(ادامه)</a:t>
            </a:r>
            <a:endParaRPr lang="en-US" dirty="0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61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992313"/>
            <a:ext cx="86360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فایلها و ورودی – خروجی  (ادامه)</a:t>
            </a:r>
          </a:p>
          <a:p>
            <a:pPr algn="r" rtl="1"/>
            <a:r>
              <a:rPr lang="fa-IR" dirty="0">
                <a:cs typeface="2  Traffic" pitchFamily="2" charset="-78"/>
              </a:rPr>
              <a:t>متداول ترین فایلها، فایلهای ترتیبی اند. </a:t>
            </a:r>
            <a:endParaRPr lang="fa-IR" dirty="0" smtClean="0">
              <a:cs typeface="2  Traffic" pitchFamily="2" charset="-78"/>
            </a:endParaRPr>
          </a:p>
          <a:p>
            <a:pPr algn="r" rtl="1"/>
            <a:r>
              <a:rPr lang="fa-IR" dirty="0" smtClean="0">
                <a:cs typeface="2  Traffic" pitchFamily="2" charset="-78"/>
              </a:rPr>
              <a:t>فایلهای متنی</a:t>
            </a:r>
          </a:p>
          <a:p>
            <a:pPr algn="r" rtl="1"/>
            <a:r>
              <a:rPr lang="fa-IR" dirty="0" smtClean="0">
                <a:cs typeface="2  Traffic" pitchFamily="2" charset="-78"/>
              </a:rPr>
              <a:t>ورودی – خروجی محاوره ای</a:t>
            </a:r>
            <a:endParaRPr lang="fa-IR" dirty="0">
              <a:cs typeface="2  Traffic" pitchFamily="2" charset="-78"/>
            </a:endParaRPr>
          </a:p>
          <a:p>
            <a:pPr algn="r" rtl="1"/>
            <a:r>
              <a:rPr lang="fa-IR" dirty="0">
                <a:cs typeface="2  Traffic" pitchFamily="2" charset="-78"/>
              </a:rPr>
              <a:t>فایلهای دستیابی مستقیم</a:t>
            </a:r>
          </a:p>
          <a:p>
            <a:pPr algn="r" rtl="1"/>
            <a:r>
              <a:rPr lang="fa-IR" dirty="0">
                <a:cs typeface="2  Traffic" pitchFamily="2" charset="-78"/>
              </a:rPr>
              <a:t>فایلهای ترتیبی شاخص </a:t>
            </a:r>
            <a:r>
              <a:rPr lang="fa-IR" dirty="0" smtClean="0">
                <a:cs typeface="2  Traffic" pitchFamily="2" charset="-78"/>
              </a:rPr>
              <a:t>دار</a:t>
            </a:r>
            <a:endParaRPr lang="fa-IR" dirty="0">
              <a:cs typeface="2  Traffic" pitchFamily="2" charset="-78"/>
            </a:endParaRPr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انواع داده مرکب(ادامه)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1992313"/>
            <a:ext cx="7950200" cy="4256087"/>
          </a:xfrm>
        </p:spPr>
        <p:txBody>
          <a:bodyPr>
            <a:normAutofit fontScale="92500" lnSpcReduction="10000"/>
          </a:bodyPr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فایلها و ورودی – خروجی  (ادامه)</a:t>
            </a:r>
          </a:p>
          <a:p>
            <a:pPr algn="r" rtl="1">
              <a:buFontTx/>
              <a:buNone/>
            </a:pPr>
            <a:r>
              <a:rPr lang="fa-IR" dirty="0">
                <a:solidFill>
                  <a:srgbClr val="0000FF"/>
                </a:solidFill>
                <a:cs typeface="2  Traffic" pitchFamily="2" charset="-78"/>
              </a:rPr>
              <a:t>فایلهای ترتیبی </a:t>
            </a:r>
          </a:p>
          <a:p>
            <a:pPr algn="r" rtl="1"/>
            <a:r>
              <a:rPr lang="fa-IR" dirty="0">
                <a:cs typeface="2  Traffic" pitchFamily="2" charset="-78"/>
              </a:rPr>
              <a:t>ساختمان داده ای مرکب از دنباله خطی از عناصر همنوع </a:t>
            </a:r>
            <a:r>
              <a:rPr lang="fa-IR" dirty="0" smtClean="0">
                <a:cs typeface="2  Traffic" pitchFamily="2" charset="-78"/>
              </a:rPr>
              <a:t>است. </a:t>
            </a:r>
            <a:endParaRPr lang="fa-IR" dirty="0">
              <a:cs typeface="2  Traffic" pitchFamily="2" charset="-78"/>
            </a:endParaRPr>
          </a:p>
          <a:p>
            <a:pPr algn="r" rtl="1"/>
            <a:r>
              <a:rPr lang="fa-IR" dirty="0">
                <a:cs typeface="2  Traffic" pitchFamily="2" charset="-78"/>
              </a:rPr>
              <a:t>طول آن متغیر است و حد بالایی ندارد.</a:t>
            </a:r>
          </a:p>
          <a:p>
            <a:pPr algn="r" rtl="1"/>
            <a:r>
              <a:rPr lang="fa-IR" dirty="0">
                <a:cs typeface="2  Traffic" pitchFamily="2" charset="-78"/>
              </a:rPr>
              <a:t>برای </a:t>
            </a:r>
            <a:r>
              <a:rPr lang="fa-IR" dirty="0" smtClean="0">
                <a:cs typeface="2  Traffic" pitchFamily="2" charset="-78"/>
              </a:rPr>
              <a:t>ورودی–خروجی </a:t>
            </a:r>
            <a:r>
              <a:rPr lang="fa-IR" dirty="0">
                <a:cs typeface="2  Traffic" pitchFamily="2" charset="-78"/>
              </a:rPr>
              <a:t>داده ها معمولاً به صورت کاراکتری اند.</a:t>
            </a:r>
          </a:p>
          <a:p>
            <a:pPr algn="r" rtl="1"/>
            <a:r>
              <a:rPr lang="fa-IR" dirty="0">
                <a:cs typeface="2  Traffic" pitchFamily="2" charset="-78"/>
              </a:rPr>
              <a:t>فایل می تواند در حالت خواندن یا در حالت نوشتن دستیابی شود.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انواع داده مرکب(ادامه)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63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992313"/>
            <a:ext cx="86360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فایلها و ورودی - خروجی (ادامه)</a:t>
            </a:r>
          </a:p>
          <a:p>
            <a:pPr algn="r" rtl="1">
              <a:buFontTx/>
              <a:buNone/>
            </a:pPr>
            <a:r>
              <a:rPr lang="fa-IR" dirty="0">
                <a:solidFill>
                  <a:srgbClr val="0000FF"/>
                </a:solidFill>
                <a:cs typeface="2  Traffic" pitchFamily="2" charset="-78"/>
              </a:rPr>
              <a:t>فایلهای ترتیبی  (ادامه)</a:t>
            </a:r>
          </a:p>
          <a:p>
            <a:pPr algn="r" rtl="1"/>
            <a:r>
              <a:rPr lang="fa-IR" dirty="0">
                <a:cs typeface="2  Traffic" pitchFamily="2" charset="-78"/>
              </a:rPr>
              <a:t>مشخصات: عملیات اصلی بر روی فایلهای ترتیبی :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بازکردن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خواندن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نوشتن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تست </a:t>
            </a:r>
            <a:r>
              <a:rPr lang="fa-IR" dirty="0" smtClean="0">
                <a:cs typeface="2  Traffic" pitchFamily="2" charset="-78"/>
              </a:rPr>
              <a:t>انتهای </a:t>
            </a:r>
            <a:r>
              <a:rPr lang="fa-IR" dirty="0">
                <a:cs typeface="2  Traffic" pitchFamily="2" charset="-78"/>
              </a:rPr>
              <a:t>فایل</a:t>
            </a:r>
          </a:p>
          <a:p>
            <a:pPr lvl="1" algn="r" rtl="1"/>
            <a:r>
              <a:rPr lang="fa-IR" dirty="0">
                <a:cs typeface="2  Traffic" pitchFamily="2" charset="-78"/>
              </a:rPr>
              <a:t>بستن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انواع داده مرکب(ادامه)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64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992313"/>
            <a:ext cx="86360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فایلها و ورودی - خروجی (ادامه)</a:t>
            </a:r>
          </a:p>
          <a:p>
            <a:pPr algn="r" rtl="1">
              <a:buFontTx/>
              <a:buNone/>
            </a:pPr>
            <a:r>
              <a:rPr lang="fa-IR" dirty="0">
                <a:solidFill>
                  <a:srgbClr val="0000FF"/>
                </a:solidFill>
                <a:cs typeface="2  Traffic" pitchFamily="2" charset="-78"/>
              </a:rPr>
              <a:t>فایلهای ترتیبی  (ادامه)</a:t>
            </a:r>
          </a:p>
          <a:p>
            <a:pPr algn="r" rtl="1"/>
            <a:r>
              <a:rPr lang="fa-IR" dirty="0">
                <a:cs typeface="2  Traffic" pitchFamily="2" charset="-78"/>
              </a:rPr>
              <a:t>پیاده سازی: سیستم عامل مسئول پیاده سازی فایلها است.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انواع داده مرکب(ادامه)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65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992313"/>
            <a:ext cx="8636000" cy="4368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فایلها و ورودی - خروجی (ادامه)</a:t>
            </a:r>
          </a:p>
          <a:p>
            <a:pPr algn="r" rtl="1">
              <a:buFontTx/>
              <a:buNone/>
            </a:pPr>
            <a:r>
              <a:rPr lang="fa-IR" dirty="0">
                <a:solidFill>
                  <a:srgbClr val="0000FF"/>
                </a:solidFill>
                <a:cs typeface="2  Traffic" pitchFamily="2" charset="-78"/>
              </a:rPr>
              <a:t>فایلهای متنی</a:t>
            </a:r>
          </a:p>
          <a:p>
            <a:pPr algn="r" rtl="1"/>
            <a:r>
              <a:rPr lang="fa-IR" sz="2800" dirty="0">
                <a:cs typeface="2  Traffic" pitchFamily="2" charset="-78"/>
              </a:rPr>
              <a:t>فایلی از کاراکترها است . </a:t>
            </a:r>
          </a:p>
          <a:p>
            <a:pPr algn="r" rtl="1"/>
            <a:r>
              <a:rPr lang="fa-IR" sz="2800" dirty="0">
                <a:cs typeface="2  Traffic" pitchFamily="2" charset="-78"/>
              </a:rPr>
              <a:t>شکل اولیه فایل مربوط به ورودی – خروجی در اغلب زبانها است.</a:t>
            </a:r>
          </a:p>
          <a:p>
            <a:pPr algn="r" rtl="1"/>
            <a:r>
              <a:rPr lang="fa-IR" sz="2800" dirty="0">
                <a:cs typeface="2  Traffic" pitchFamily="2" charset="-78"/>
              </a:rPr>
              <a:t>فایلهای متنی را مستقیماً از طریق صفحه کلید می توان ایجاد و چاپ کرد</a:t>
            </a:r>
            <a:r>
              <a:rPr lang="fa-IR" sz="2800" dirty="0" smtClean="0">
                <a:cs typeface="2  Traffic" pitchFamily="2" charset="-78"/>
              </a:rPr>
              <a:t>.</a:t>
            </a:r>
          </a:p>
          <a:p>
            <a:pPr algn="r" rtl="1"/>
            <a:r>
              <a:rPr lang="fa-IR" sz="2800" dirty="0" smtClean="0">
                <a:cs typeface="2  Traffic" pitchFamily="2" charset="-78"/>
              </a:rPr>
              <a:t>این فایلها شکلی از انواع فایلهای ترتیبی هستند که یک سری عملیات ویژه را پشتیبانی می کنند</a:t>
            </a:r>
            <a:endParaRPr lang="fa-IR" sz="2800" dirty="0">
              <a:cs typeface="2  Traffic" pitchFamily="2" charset="-78"/>
            </a:endParaRPr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انواع داده مرکب(ادامه)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66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992313"/>
            <a:ext cx="8636000" cy="4368800"/>
          </a:xfrm>
        </p:spPr>
        <p:txBody>
          <a:bodyPr>
            <a:normAutofit lnSpcReduction="10000"/>
          </a:bodyPr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فایلها و ورودی - خروجی (ادامه)</a:t>
            </a:r>
          </a:p>
          <a:p>
            <a:pPr algn="r" rtl="1">
              <a:buFontTx/>
              <a:buNone/>
            </a:pPr>
            <a:r>
              <a:rPr lang="fa-IR" dirty="0">
                <a:solidFill>
                  <a:srgbClr val="0000FF"/>
                </a:solidFill>
                <a:cs typeface="2  Traffic" pitchFamily="2" charset="-78"/>
              </a:rPr>
              <a:t>ورودی – خروجی محاوره ای</a:t>
            </a:r>
          </a:p>
          <a:p>
            <a:pPr algn="r" rtl="1"/>
            <a:r>
              <a:rPr lang="fa-IR" dirty="0">
                <a:cs typeface="2  Traffic" pitchFamily="2" charset="-78"/>
              </a:rPr>
              <a:t>اصلاح چندین جنبه از دیدگاه معمولی فایلهای ترتیبی که در بالا مطرح شدند : </a:t>
            </a:r>
          </a:p>
          <a:p>
            <a:pPr algn="r" rtl="1"/>
            <a:r>
              <a:rPr lang="fa-IR" dirty="0">
                <a:cs typeface="2  Traffic" pitchFamily="2" charset="-78"/>
              </a:rPr>
              <a:t>فایل همزمان باید در حالت </a:t>
            </a:r>
            <a:r>
              <a:rPr lang="fa-IR" dirty="0" smtClean="0">
                <a:cs typeface="2  Traffic" pitchFamily="2" charset="-78"/>
              </a:rPr>
              <a:t>خواندن </a:t>
            </a:r>
            <a:r>
              <a:rPr lang="fa-IR" dirty="0">
                <a:cs typeface="2  Traffic" pitchFamily="2" charset="-78"/>
              </a:rPr>
              <a:t>و نوشتن باشد.</a:t>
            </a:r>
          </a:p>
          <a:p>
            <a:pPr algn="r" rtl="1"/>
            <a:r>
              <a:rPr lang="fa-IR" dirty="0">
                <a:cs typeface="2  Traffic" pitchFamily="2" charset="-78"/>
              </a:rPr>
              <a:t>بافر کردن داده در ورودی و خروجی محدود می شود.</a:t>
            </a:r>
          </a:p>
          <a:p>
            <a:pPr algn="r" rtl="1"/>
            <a:r>
              <a:rPr lang="fa-IR" dirty="0">
                <a:cs typeface="2  Traffic" pitchFamily="2" charset="-78"/>
              </a:rPr>
              <a:t>اشاره گر موقعیت فایل و تست انتهای فایل ارزش چندانی ندارند.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انواع داده مرکب(ادامه)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67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992313"/>
            <a:ext cx="8636000" cy="4368800"/>
          </a:xfrm>
        </p:spPr>
        <p:txBody>
          <a:bodyPr>
            <a:normAutofit lnSpcReduction="10000"/>
          </a:bodyPr>
          <a:lstStyle/>
          <a:p>
            <a:pPr algn="r" rtl="1">
              <a:buFontTx/>
              <a:buNone/>
            </a:pPr>
            <a:r>
              <a:rPr lang="fa-IR" sz="3400" b="1" dirty="0">
                <a:solidFill>
                  <a:srgbClr val="FF0000"/>
                </a:solidFill>
                <a:cs typeface="2  Traffic" pitchFamily="2" charset="-78"/>
              </a:rPr>
              <a:t>فایلها و ورودی - خروجی (ادامه)</a:t>
            </a:r>
          </a:p>
          <a:p>
            <a:pPr algn="r" rtl="1">
              <a:buFontTx/>
              <a:buNone/>
            </a:pPr>
            <a:r>
              <a:rPr lang="fa-IR" dirty="0">
                <a:solidFill>
                  <a:srgbClr val="0000FF"/>
                </a:solidFill>
                <a:cs typeface="2  Traffic" pitchFamily="2" charset="-78"/>
              </a:rPr>
              <a:t>فایلهای دستیابی مستقیم</a:t>
            </a:r>
          </a:p>
          <a:p>
            <a:pPr algn="r" rtl="1"/>
            <a:r>
              <a:rPr lang="fa-IR" dirty="0">
                <a:cs typeface="2  Traffic" pitchFamily="2" charset="-78"/>
              </a:rPr>
              <a:t>در فایل ترتیبی عناصر به ترتیبی که در فایل قرار دارند بازیابی می شوند .</a:t>
            </a:r>
          </a:p>
          <a:p>
            <a:pPr algn="r" rtl="1"/>
            <a:r>
              <a:rPr lang="fa-IR" dirty="0">
                <a:cs typeface="2  Traffic" pitchFamily="2" charset="-78"/>
              </a:rPr>
              <a:t>دستیابی تصادفی به عناصر غیر ممکن است.</a:t>
            </a:r>
          </a:p>
          <a:p>
            <a:pPr algn="r" rtl="1"/>
            <a:r>
              <a:rPr lang="fa-IR" dirty="0">
                <a:cs typeface="2  Traffic" pitchFamily="2" charset="-78"/>
              </a:rPr>
              <a:t>می توان به هر عنصر به طور تصادفی دست یافت.</a:t>
            </a:r>
          </a:p>
          <a:p>
            <a:pPr algn="r" rtl="1"/>
            <a:r>
              <a:rPr lang="fa-IR" dirty="0">
                <a:cs typeface="2  Traffic" pitchFamily="2" charset="-78"/>
              </a:rPr>
              <a:t>به صورت مجموعه ای از عناصر نامرتب سازماندهی می شود.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rtl="1"/>
            <a:r>
              <a:rPr lang="fa-IR">
                <a:cs typeface="2  Titr" pitchFamily="2" charset="-78"/>
              </a:rPr>
              <a:t>انواع داده مرکب(ادامه)</a:t>
            </a:r>
            <a:endParaRPr lang="en-US"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68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2305</TotalTime>
  <Words>2696</Words>
  <Application>Microsoft Office PowerPoint</Application>
  <PresentationFormat>On-screen Show (4:3)</PresentationFormat>
  <Paragraphs>369</Paragraphs>
  <Slides>68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81" baseType="lpstr">
      <vt:lpstr>2  Badr</vt:lpstr>
      <vt:lpstr>2  Titr</vt:lpstr>
      <vt:lpstr>2  Traffic</vt:lpstr>
      <vt:lpstr>Arial</vt:lpstr>
      <vt:lpstr>Calibri</vt:lpstr>
      <vt:lpstr>Gill Sans MT</vt:lpstr>
      <vt:lpstr>inherit</vt:lpstr>
      <vt:lpstr>Majalla UI</vt:lpstr>
      <vt:lpstr>Tahoma</vt:lpstr>
      <vt:lpstr>Verdana</vt:lpstr>
      <vt:lpstr>Wingdings</vt:lpstr>
      <vt:lpstr>Wingdings 2</vt:lpstr>
      <vt:lpstr>Solstice</vt:lpstr>
      <vt:lpstr>فصل چهارم  انواع داده اولیه</vt:lpstr>
      <vt:lpstr>فهرست مطالب</vt:lpstr>
      <vt:lpstr>مقدمه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Define vs Constant</vt:lpstr>
      <vt:lpstr> 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PowerPoint Presentation</vt:lpstr>
      <vt:lpstr>PowerPoint Presentation</vt:lpstr>
      <vt:lpstr>اثرات جانبی</vt:lpstr>
      <vt:lpstr>PowerPoint Presentation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خواص انواع و اشیاء (ادامه)</vt:lpstr>
      <vt:lpstr>PowerPoint Presentation</vt:lpstr>
      <vt:lpstr>PowerPoint Presentation</vt:lpstr>
      <vt:lpstr>انواع داده اسکالر</vt:lpstr>
      <vt:lpstr>انواع داده اسکالر(ادامه)</vt:lpstr>
      <vt:lpstr>انواع داده اسکالر(ادامه)</vt:lpstr>
      <vt:lpstr>انواع داده اسکالر(ادامه)</vt:lpstr>
      <vt:lpstr>انواع داده اسکالر(ادامه)</vt:lpstr>
      <vt:lpstr>انواع داده اسکالر(ادامه)</vt:lpstr>
      <vt:lpstr>انواع داده اسکالر(ادامه)</vt:lpstr>
      <vt:lpstr>انواع داده اسکالر(ادامه)</vt:lpstr>
      <vt:lpstr>انواع داده اسکالر(ادامه)</vt:lpstr>
      <vt:lpstr>انواع داده اسکالر(ادامه)</vt:lpstr>
      <vt:lpstr>انواع داده اسکالر(ادامه)</vt:lpstr>
      <vt:lpstr>انواع داده اسکالر(ادامه)</vt:lpstr>
      <vt:lpstr>انواع داده مرکب</vt:lpstr>
      <vt:lpstr>انواع داده مرکب(ادامه)</vt:lpstr>
      <vt:lpstr>انواع داده مرکب(ادامه)</vt:lpstr>
      <vt:lpstr>پیاده سازی رشته ها</vt:lpstr>
      <vt:lpstr>PowerPoint Presentation</vt:lpstr>
      <vt:lpstr>PowerPoint Presentation</vt:lpstr>
      <vt:lpstr>انواع داده مرکب(ادامه)</vt:lpstr>
      <vt:lpstr>انواع داده مرکب(ادامه)</vt:lpstr>
      <vt:lpstr>PowerPoint Presentation</vt:lpstr>
      <vt:lpstr>PowerPoint Presentation</vt:lpstr>
      <vt:lpstr>PowerPoint Presentation</vt:lpstr>
      <vt:lpstr>انواع داده مرکب(ادامه)</vt:lpstr>
      <vt:lpstr>انواع داده مرکب(ادامه)</vt:lpstr>
      <vt:lpstr>انواع داده مرکب(ادامه)</vt:lpstr>
      <vt:lpstr>انواع داده مرکب(ادامه)</vt:lpstr>
      <vt:lpstr>انواع داده مرکب(ادامه)</vt:lpstr>
      <vt:lpstr>انواع داده مرکب(ادامه)</vt:lpstr>
      <vt:lpstr>انواع داده مرکب(ادامه)</vt:lpstr>
      <vt:lpstr>انواع داده مرکب(ادامه)</vt:lpstr>
      <vt:lpstr>انواع داده مرکب(ادامه)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فصل چهارم  انواع داده اولیه</dc:title>
  <dc:creator>Saman</dc:creator>
  <cp:lastModifiedBy>Microsoft Surface</cp:lastModifiedBy>
  <cp:revision>62</cp:revision>
  <dcterms:created xsi:type="dcterms:W3CDTF">2015-03-06T03:35:22Z</dcterms:created>
  <dcterms:modified xsi:type="dcterms:W3CDTF">2025-04-11T18:10:30Z</dcterms:modified>
</cp:coreProperties>
</file>